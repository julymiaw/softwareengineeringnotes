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582" r:id="rId3"/>
    <p:sldId id="794" r:id="rId5"/>
    <p:sldId id="792" r:id="rId6"/>
    <p:sldId id="793" r:id="rId7"/>
    <p:sldId id="637" r:id="rId8"/>
    <p:sldId id="638" r:id="rId9"/>
    <p:sldId id="642" r:id="rId10"/>
    <p:sldId id="652" r:id="rId11"/>
    <p:sldId id="675" r:id="rId12"/>
    <p:sldId id="689" r:id="rId13"/>
    <p:sldId id="644" r:id="rId14"/>
    <p:sldId id="647" r:id="rId15"/>
    <p:sldId id="648" r:id="rId16"/>
    <p:sldId id="654" r:id="rId17"/>
    <p:sldId id="655" r:id="rId18"/>
    <p:sldId id="677" r:id="rId19"/>
    <p:sldId id="678" r:id="rId20"/>
    <p:sldId id="690" r:id="rId21"/>
    <p:sldId id="692" r:id="rId22"/>
    <p:sldId id="695" r:id="rId23"/>
    <p:sldId id="696" r:id="rId24"/>
    <p:sldId id="697" r:id="rId25"/>
    <p:sldId id="790" r:id="rId26"/>
    <p:sldId id="783" r:id="rId27"/>
    <p:sldId id="784" r:id="rId28"/>
    <p:sldId id="785" r:id="rId29"/>
    <p:sldId id="698" r:id="rId30"/>
    <p:sldId id="699" r:id="rId31"/>
    <p:sldId id="700" r:id="rId32"/>
    <p:sldId id="743" r:id="rId33"/>
    <p:sldId id="791" r:id="rId34"/>
    <p:sldId id="744" r:id="rId35"/>
    <p:sldId id="768" r:id="rId36"/>
    <p:sldId id="769" r:id="rId37"/>
    <p:sldId id="770" r:id="rId38"/>
    <p:sldId id="771" r:id="rId39"/>
    <p:sldId id="703" r:id="rId40"/>
    <p:sldId id="704" r:id="rId41"/>
    <p:sldId id="705" r:id="rId42"/>
    <p:sldId id="706" r:id="rId43"/>
    <p:sldId id="745" r:id="rId44"/>
    <p:sldId id="774" r:id="rId45"/>
    <p:sldId id="782" r:id="rId46"/>
    <p:sldId id="773" r:id="rId47"/>
    <p:sldId id="775" r:id="rId48"/>
    <p:sldId id="708" r:id="rId49"/>
    <p:sldId id="710" r:id="rId50"/>
    <p:sldId id="716" r:id="rId51"/>
    <p:sldId id="711" r:id="rId52"/>
    <p:sldId id="776" r:id="rId53"/>
    <p:sldId id="777" r:id="rId54"/>
    <p:sldId id="712" r:id="rId55"/>
    <p:sldId id="713" r:id="rId56"/>
    <p:sldId id="714" r:id="rId57"/>
    <p:sldId id="778" r:id="rId58"/>
    <p:sldId id="779" r:id="rId59"/>
    <p:sldId id="780" r:id="rId60"/>
    <p:sldId id="781" r:id="rId61"/>
    <p:sldId id="715" r:id="rId62"/>
    <p:sldId id="717" r:id="rId63"/>
    <p:sldId id="718" r:id="rId64"/>
    <p:sldId id="719" r:id="rId65"/>
    <p:sldId id="786" r:id="rId66"/>
    <p:sldId id="720" r:id="rId67"/>
    <p:sldId id="787" r:id="rId68"/>
    <p:sldId id="721" r:id="rId69"/>
    <p:sldId id="722" r:id="rId70"/>
    <p:sldId id="788" r:id="rId71"/>
    <p:sldId id="789" r:id="rId72"/>
    <p:sldId id="723" r:id="rId73"/>
    <p:sldId id="724" r:id="rId74"/>
    <p:sldId id="725" r:id="rId75"/>
    <p:sldId id="726" r:id="rId76"/>
    <p:sldId id="727" r:id="rId77"/>
    <p:sldId id="545" r:id="rId78"/>
    <p:sldId id="674" r:id="rId79"/>
    <p:sldId id="584" r:id="rId80"/>
    <p:sldId id="585" r:id="rId81"/>
    <p:sldId id="616" r:id="rId82"/>
    <p:sldId id="586" r:id="rId83"/>
    <p:sldId id="587" r:id="rId84"/>
    <p:sldId id="588" r:id="rId85"/>
    <p:sldId id="589" r:id="rId86"/>
    <p:sldId id="590" r:id="rId87"/>
    <p:sldId id="591" r:id="rId88"/>
    <p:sldId id="592" r:id="rId89"/>
    <p:sldId id="593" r:id="rId90"/>
    <p:sldId id="728" r:id="rId91"/>
    <p:sldId id="729" r:id="rId92"/>
    <p:sldId id="730" r:id="rId93"/>
    <p:sldId id="731" r:id="rId94"/>
    <p:sldId id="732" r:id="rId95"/>
    <p:sldId id="596" r:id="rId96"/>
    <p:sldId id="597" r:id="rId97"/>
    <p:sldId id="598" r:id="rId98"/>
    <p:sldId id="680" r:id="rId99"/>
    <p:sldId id="681" r:id="rId100"/>
    <p:sldId id="764" r:id="rId101"/>
    <p:sldId id="683" r:id="rId102"/>
    <p:sldId id="684" r:id="rId103"/>
    <p:sldId id="733" r:id="rId10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77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343" autoAdjust="0"/>
    <p:restoredTop sz="86372"/>
  </p:normalViewPr>
  <p:slideViewPr>
    <p:cSldViewPr snapToGrid="0">
      <p:cViewPr varScale="1">
        <p:scale>
          <a:sx n="176" d="100"/>
          <a:sy n="176" d="100"/>
        </p:scale>
        <p:origin x="3760" y="72"/>
      </p:cViewPr>
      <p:guideLst/>
    </p:cSldViewPr>
  </p:slideViewPr>
  <p:outlineViewPr>
    <p:cViewPr>
      <p:scale>
        <a:sx n="33" d="100"/>
        <a:sy n="33" d="100"/>
      </p:scale>
      <p:origin x="0" y="-71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7" Type="http://schemas.openxmlformats.org/officeDocument/2006/relationships/tableStyles" Target="tableStyles.xml"/><Relationship Id="rId106" Type="http://schemas.openxmlformats.org/officeDocument/2006/relationships/viewProps" Target="viewProps.xml"/><Relationship Id="rId105" Type="http://schemas.openxmlformats.org/officeDocument/2006/relationships/presProps" Target="presProps.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AB7413-AF54-469D-ABFD-75D5619B000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0A31E6-CBE9-40EA-A2F4-8D17CCD5DDD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7" Type="http://schemas.openxmlformats.org/officeDocument/2006/relationships/hyperlink" Target="https://zhuanlan.zhihu.com/p/335298500" TargetMode="External"/><Relationship Id="rId6" Type="http://schemas.openxmlformats.org/officeDocument/2006/relationships/hyperlink" Target="https://weibo.com/p/1005052284144087/photos?type=photo" TargetMode="External"/><Relationship Id="rId5" Type="http://schemas.openxmlformats.org/officeDocument/2006/relationships/hyperlink" Target="https://www.seu.edu.cn/bsxtwxw/main.htm" TargetMode="External"/><Relationship Id="rId4" Type="http://schemas.openxmlformats.org/officeDocument/2006/relationships/hyperlink" Target="https://mp.weixin.qq.com/mp/profile_ext?action=home&amp;__biz=MzA4MzM3Mzc3Ng==&amp;scene=124#wechat_redirect" TargetMode="External"/><Relationship Id="rId3" Type="http://schemas.openxmlformats.org/officeDocument/2006/relationships/hyperlink" Target="http://www.officeplus.cn/p/51/102751.shtml" TargetMode="External"/><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nSpc>
                <a:spcPct val="150000"/>
              </a:lnSpc>
              <a:buFont typeface="Arial" panose="020B0604020202090204" pitchFamily="34" charset="0"/>
              <a:buChar char="•"/>
            </a:pPr>
            <a:r>
              <a:rPr lang="zh-CN" altLang="en-US" dirty="0">
                <a:cs typeface="+mn-ea"/>
                <a:sym typeface="+mn-lt"/>
              </a:rPr>
              <a:t>本模板基于“</a:t>
            </a:r>
            <a:r>
              <a:rPr lang="zh-CN" altLang="en-US" dirty="0">
                <a:hlinkClick r:id="rId3"/>
              </a:rPr>
              <a:t>中国科学院大学</a:t>
            </a:r>
            <a:r>
              <a:rPr lang="en-US" altLang="zh-CN" dirty="0">
                <a:hlinkClick r:id="rId3"/>
              </a:rPr>
              <a:t>-</a:t>
            </a:r>
            <a:r>
              <a:rPr lang="zh-CN" altLang="en-US" dirty="0">
                <a:hlinkClick r:id="rId3"/>
              </a:rPr>
              <a:t>路人丁</a:t>
            </a:r>
            <a:r>
              <a:rPr lang="en-US" altLang="zh-CN" dirty="0">
                <a:hlinkClick r:id="rId3"/>
              </a:rPr>
              <a:t>-PPT</a:t>
            </a:r>
            <a:r>
              <a:rPr lang="zh-CN" altLang="en-US" dirty="0">
                <a:hlinkClick r:id="rId3"/>
              </a:rPr>
              <a:t>模板</a:t>
            </a:r>
            <a:r>
              <a:rPr lang="zh-CN" altLang="en-US" dirty="0"/>
              <a:t>”魔改而成，著作权归该作者所有。</a:t>
            </a:r>
            <a:endParaRPr lang="en-US" altLang="zh-CN" dirty="0"/>
          </a:p>
          <a:p>
            <a:pPr marL="285750" indent="-285750">
              <a:lnSpc>
                <a:spcPct val="150000"/>
              </a:lnSpc>
              <a:buFont typeface="Arial" panose="020B0604020202090204" pitchFamily="34" charset="0"/>
              <a:buChar char="•"/>
            </a:pPr>
            <a:r>
              <a:rPr lang="zh-CN" altLang="en-US" dirty="0"/>
              <a:t>本模板中使用的东南大学校徽、校标文字组合、校训文字等素材来自于微信公众号“</a:t>
            </a:r>
            <a:r>
              <a:rPr lang="zh-CN" altLang="en-US" dirty="0">
                <a:hlinkClick r:id="rId4"/>
              </a:rPr>
              <a:t>金木屋</a:t>
            </a:r>
            <a:r>
              <a:rPr lang="zh-CN" altLang="en-US" dirty="0"/>
              <a:t>”。</a:t>
            </a:r>
            <a:endParaRPr lang="en-US" altLang="zh-CN" dirty="0"/>
          </a:p>
          <a:p>
            <a:pPr marL="285750" indent="-285750">
              <a:lnSpc>
                <a:spcPct val="150000"/>
              </a:lnSpc>
              <a:buFont typeface="Arial" panose="020B0604020202090204" pitchFamily="34" charset="0"/>
              <a:buChar char="•"/>
            </a:pPr>
            <a:r>
              <a:rPr lang="zh-CN" altLang="en-US" dirty="0"/>
              <a:t>本模板的视觉设计参考了“</a:t>
            </a:r>
            <a:r>
              <a:rPr lang="zh-CN" altLang="en-US" dirty="0">
                <a:hlinkClick r:id="rId5"/>
              </a:rPr>
              <a:t>东南大学视觉识别系统</a:t>
            </a:r>
            <a:r>
              <a:rPr lang="zh-CN" altLang="en-US" dirty="0"/>
              <a:t>”。</a:t>
            </a:r>
            <a:endParaRPr lang="en-US" altLang="zh-CN" dirty="0"/>
          </a:p>
          <a:p>
            <a:pPr marL="285750" indent="-285750">
              <a:lnSpc>
                <a:spcPct val="150000"/>
              </a:lnSpc>
              <a:buFont typeface="Arial" panose="020B0604020202090204" pitchFamily="34" charset="0"/>
              <a:buChar char="•"/>
            </a:pPr>
            <a:r>
              <a:rPr lang="zh-CN" altLang="en-US" dirty="0"/>
              <a:t>人物介绍页头像素材来自 </a:t>
            </a:r>
            <a:r>
              <a:rPr lang="zh-CN" altLang="en-US" dirty="0">
                <a:hlinkClick r:id="rId6"/>
              </a:rPr>
              <a:t>小肥柴</a:t>
            </a:r>
            <a:r>
              <a:rPr lang="zh-CN" altLang="en-US" dirty="0"/>
              <a:t>。</a:t>
            </a:r>
            <a:endParaRPr lang="en-US" altLang="zh-CN" dirty="0"/>
          </a:p>
          <a:p>
            <a:pPr marL="285750" indent="-285750">
              <a:lnSpc>
                <a:spcPct val="150000"/>
              </a:lnSpc>
              <a:buFont typeface="Arial" panose="020B0604020202090204" pitchFamily="34" charset="0"/>
              <a:buChar char="•"/>
            </a:pPr>
            <a:endParaRPr lang="en-US" altLang="zh-CN" sz="800" dirty="0"/>
          </a:p>
          <a:p>
            <a:pPr marL="285750" indent="-285750">
              <a:lnSpc>
                <a:spcPct val="150000"/>
              </a:lnSpc>
              <a:buFont typeface="Arial" panose="020B0604020202090204" pitchFamily="34" charset="0"/>
              <a:buChar char="•"/>
            </a:pPr>
            <a:r>
              <a:rPr lang="zh-CN" altLang="en-US" dirty="0"/>
              <a:t>本模板力求简洁，布局合理，主次分明。以学术风为设计理念，适用于学术报告与论文答辩等相关应用场景。模板未使用任何动画效果。</a:t>
            </a:r>
            <a:endParaRPr lang="en-US" altLang="zh-CN" dirty="0"/>
          </a:p>
          <a:p>
            <a:pPr marL="285750" indent="-285750">
              <a:lnSpc>
                <a:spcPct val="150000"/>
              </a:lnSpc>
              <a:buFont typeface="Arial" panose="020B0604020202090204" pitchFamily="34" charset="0"/>
              <a:buChar char="•"/>
            </a:pPr>
            <a:r>
              <a:rPr lang="zh-CN" altLang="en-US" dirty="0"/>
              <a:t>您仅可以以个人非商业用途使用本</a:t>
            </a:r>
            <a:r>
              <a:rPr lang="en-US" altLang="zh-CN" dirty="0"/>
              <a:t>PPT</a:t>
            </a:r>
            <a:r>
              <a:rPr lang="zh-CN" altLang="en-US" dirty="0"/>
              <a:t>模板，不可将信息内容的全部或部分用以出售，或以出租、出借、转让、分销、发布等其他任何方式供其他人使用。</a:t>
            </a:r>
            <a:endParaRPr lang="en-US" altLang="zh-CN" dirty="0"/>
          </a:p>
          <a:p>
            <a:pPr marL="285750" indent="-285750">
              <a:lnSpc>
                <a:spcPct val="150000"/>
              </a:lnSpc>
              <a:buFont typeface="Arial" panose="020B0604020202090204" pitchFamily="34" charset="0"/>
              <a:buChar char="•"/>
            </a:pPr>
            <a:endParaRPr lang="en-US" altLang="zh-CN" sz="800" dirty="0"/>
          </a:p>
          <a:p>
            <a:pPr marL="285750" indent="-285750">
              <a:lnSpc>
                <a:spcPct val="150000"/>
              </a:lnSpc>
              <a:buFont typeface="Arial" panose="020B0604020202090204" pitchFamily="34" charset="0"/>
              <a:buChar char="•"/>
            </a:pPr>
            <a:r>
              <a:rPr lang="zh-CN" altLang="en-US" dirty="0"/>
              <a:t>欢迎 </a:t>
            </a:r>
            <a:r>
              <a:rPr lang="zh-CN" altLang="en-US" dirty="0">
                <a:hlinkClick r:id="rId7"/>
              </a:rPr>
              <a:t>持续关注东南大学止于至善学术风</a:t>
            </a:r>
            <a:r>
              <a:rPr lang="en-US" altLang="zh-CN" dirty="0">
                <a:hlinkClick r:id="rId7"/>
              </a:rPr>
              <a:t> PPT </a:t>
            </a:r>
            <a:r>
              <a:rPr lang="zh-CN" altLang="en-US" dirty="0">
                <a:hlinkClick r:id="rId7"/>
              </a:rPr>
              <a:t>模板</a:t>
            </a:r>
            <a:r>
              <a:rPr lang="zh-CN" altLang="en-US" dirty="0"/>
              <a:t> （</a:t>
            </a:r>
            <a:r>
              <a:rPr lang="en-US" altLang="zh-CN" sz="1200" b="0" i="0" kern="1200" dirty="0">
                <a:solidFill>
                  <a:schemeClr val="tx1"/>
                </a:solidFill>
                <a:effectLst/>
                <a:latin typeface="+mn-lt"/>
                <a:ea typeface="+mn-ea"/>
                <a:cs typeface="+mn-cs"/>
              </a:rPr>
              <a:t>https://</a:t>
            </a:r>
            <a:r>
              <a:rPr lang="en-US" altLang="zh-CN" sz="1200" b="0" i="0" kern="1200" dirty="0" err="1">
                <a:solidFill>
                  <a:schemeClr val="tx1"/>
                </a:solidFill>
                <a:effectLst/>
                <a:latin typeface="+mn-lt"/>
                <a:ea typeface="+mn-ea"/>
                <a:cs typeface="+mn-cs"/>
              </a:rPr>
              <a:t>zhuanlan.zhihu.com</a:t>
            </a:r>
            <a:r>
              <a:rPr lang="en-US" altLang="zh-CN" sz="1200" b="0" i="0" kern="1200" dirty="0">
                <a:solidFill>
                  <a:schemeClr val="tx1"/>
                </a:solidFill>
                <a:effectLst/>
                <a:latin typeface="+mn-lt"/>
                <a:ea typeface="+mn-ea"/>
                <a:cs typeface="+mn-cs"/>
              </a:rPr>
              <a:t>/p/335298500</a:t>
            </a:r>
            <a:r>
              <a:rPr lang="zh-CN" altLang="en-US" dirty="0"/>
              <a:t>）后续的功能优化及多语言更新版本。</a:t>
            </a:r>
            <a:endParaRPr lang="en-US" altLang="zh-CN" dirty="0"/>
          </a:p>
          <a:p>
            <a:pPr marL="285750" indent="-285750">
              <a:lnSpc>
                <a:spcPct val="150000"/>
              </a:lnSpc>
              <a:buFont typeface="Arial" panose="020B0604020202090204" pitchFamily="34" charset="0"/>
              <a:buChar char="•"/>
            </a:pPr>
            <a:r>
              <a:rPr lang="zh-CN" altLang="en-US" dirty="0"/>
              <a:t>最后，祝汇报顺利，马到成功！</a:t>
            </a:r>
            <a:endParaRPr lang="en-US" altLang="zh-CN" dirty="0"/>
          </a:p>
          <a:p>
            <a:pPr marL="285750" indent="-285750">
              <a:lnSpc>
                <a:spcPct val="150000"/>
              </a:lnSpc>
              <a:buFont typeface="Arial" panose="020B0604020202090204" pitchFamily="34" charset="0"/>
              <a:buChar char="•"/>
            </a:pPr>
            <a:endParaRPr lang="en-US" altLang="zh-CN" dirty="0"/>
          </a:p>
          <a:p>
            <a:pPr marL="285750" marR="0" lvl="0" indent="-285750" algn="l" defTabSz="914400" rtl="0" eaLnBrk="1" fontAlgn="auto" latinLnBrk="0" hangingPunct="1">
              <a:lnSpc>
                <a:spcPct val="150000"/>
              </a:lnSpc>
              <a:spcBef>
                <a:spcPts val="0"/>
              </a:spcBef>
              <a:spcAft>
                <a:spcPts val="0"/>
              </a:spcAft>
              <a:buClrTx/>
              <a:buSzTx/>
              <a:buFont typeface="Arial" panose="020B0604020202090204" pitchFamily="34" charset="0"/>
              <a:buChar char="•"/>
              <a:defRPr/>
            </a:pPr>
            <a:r>
              <a:rPr kumimoji="1" lang="en-US" altLang="zh-CN" dirty="0">
                <a:latin typeface="+mn-ea"/>
                <a:cs typeface="Arial" panose="020B0604020202090204" pitchFamily="34" charset="0"/>
              </a:rPr>
              <a:t>Version:</a:t>
            </a:r>
            <a:r>
              <a:rPr kumimoji="1" lang="zh-CN" altLang="en-US" dirty="0">
                <a:latin typeface="+mn-ea"/>
                <a:cs typeface="Arial" panose="020B0604020202090204" pitchFamily="34" charset="0"/>
              </a:rPr>
              <a:t> </a:t>
            </a:r>
            <a:r>
              <a:rPr kumimoji="1" lang="en-US" altLang="zh-CN" dirty="0">
                <a:latin typeface="+mn-ea"/>
                <a:cs typeface="Arial" panose="020B0604020202090204" pitchFamily="34" charset="0"/>
              </a:rPr>
              <a:t>(2021) v1.5-en.</a:t>
            </a:r>
            <a:endParaRPr kumimoji="1" lang="zh-CN" altLang="en-US" dirty="0">
              <a:latin typeface="+mn-ea"/>
              <a:cs typeface="Arial" panose="020B0604020202090204" pitchFamily="34" charset="0"/>
            </a:endParaRPr>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幻灯片1">
    <p:bg>
      <p:bgPr>
        <a:solidFill>
          <a:schemeClr val="bg1"/>
        </a:solidFill>
        <a:effectLst/>
      </p:bgPr>
    </p:bg>
    <p:spTree>
      <p:nvGrpSpPr>
        <p:cNvPr id="1" name=""/>
        <p:cNvGrpSpPr/>
        <p:nvPr/>
      </p:nvGrpSpPr>
      <p:grpSpPr>
        <a:xfrm>
          <a:off x="0" y="0"/>
          <a:ext cx="0" cy="0"/>
          <a:chOff x="0" y="0"/>
          <a:chExt cx="0" cy="0"/>
        </a:xfrm>
      </p:grpSpPr>
      <p:sp>
        <p:nvSpPr>
          <p:cNvPr id="47" name="箭头: 五边形 46"/>
          <p:cNvSpPr/>
          <p:nvPr userDrawn="1"/>
        </p:nvSpPr>
        <p:spPr>
          <a:xfrm rot="5400000">
            <a:off x="-1070579" y="2025798"/>
            <a:ext cx="6858002" cy="2806406"/>
          </a:xfrm>
          <a:prstGeom prst="homePlate">
            <a:avLst>
              <a:gd name="adj" fmla="val 32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solidFill>
                <a:schemeClr val="accent6"/>
              </a:solidFill>
              <a:latin typeface="Helvetica Regular" pitchFamily="2" charset="0"/>
            </a:endParaRPr>
          </a:p>
        </p:txBody>
      </p:sp>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3142" y="2263721"/>
            <a:ext cx="2330560" cy="233056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版式">
    <p:bg>
      <p:bgPr>
        <a:solidFill>
          <a:schemeClr val="bg1"/>
        </a:solidFill>
        <a:effectLst/>
      </p:bgPr>
    </p:bg>
    <p:spTree>
      <p:nvGrpSpPr>
        <p:cNvPr id="1" name=""/>
        <p:cNvGrpSpPr/>
        <p:nvPr/>
      </p:nvGrpSpPr>
      <p:grpSpPr>
        <a:xfrm>
          <a:off x="0" y="0"/>
          <a:ext cx="0" cy="0"/>
          <a:chOff x="0" y="0"/>
          <a:chExt cx="0" cy="0"/>
        </a:xfrm>
      </p:grpSpPr>
      <p:sp>
        <p:nvSpPr>
          <p:cNvPr id="85" name="任意多边形: 形状 84"/>
          <p:cNvSpPr/>
          <p:nvPr userDrawn="1"/>
        </p:nvSpPr>
        <p:spPr bwMode="auto">
          <a:xfrm rot="5400000">
            <a:off x="4539448" y="-380490"/>
            <a:ext cx="3113105" cy="2609911"/>
          </a:xfrm>
          <a:custGeom>
            <a:avLst/>
            <a:gdLst>
              <a:gd name="connsiteX0" fmla="*/ 0 w 3113105"/>
              <a:gd name="connsiteY0" fmla="*/ 2609911 h 2609911"/>
              <a:gd name="connsiteX1" fmla="*/ 0 w 3113105"/>
              <a:gd name="connsiteY1" fmla="*/ 0 h 2609911"/>
              <a:gd name="connsiteX2" fmla="*/ 2301594 w 3113105"/>
              <a:gd name="connsiteY2" fmla="*/ 0 h 2609911"/>
              <a:gd name="connsiteX3" fmla="*/ 3113105 w 3113105"/>
              <a:gd name="connsiteY3" fmla="*/ 1304956 h 2609911"/>
              <a:gd name="connsiteX4" fmla="*/ 2301594 w 3113105"/>
              <a:gd name="connsiteY4" fmla="*/ 2609910 h 2609911"/>
              <a:gd name="connsiteX5" fmla="*/ 2301594 w 3113105"/>
              <a:gd name="connsiteY5" fmla="*/ 2609911 h 260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13105" h="2609911">
                <a:moveTo>
                  <a:pt x="0" y="2609911"/>
                </a:moveTo>
                <a:lnTo>
                  <a:pt x="0" y="0"/>
                </a:lnTo>
                <a:lnTo>
                  <a:pt x="2301594" y="0"/>
                </a:lnTo>
                <a:lnTo>
                  <a:pt x="3113105" y="1304956"/>
                </a:lnTo>
                <a:lnTo>
                  <a:pt x="2301594" y="2609910"/>
                </a:lnTo>
                <a:lnTo>
                  <a:pt x="2301594" y="2609911"/>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sp>
        <p:nvSpPr>
          <p:cNvPr id="86" name="文本框 85"/>
          <p:cNvSpPr txBox="1"/>
          <p:nvPr userDrawn="1"/>
        </p:nvSpPr>
        <p:spPr>
          <a:xfrm>
            <a:off x="4781377" y="483991"/>
            <a:ext cx="2629246" cy="908262"/>
          </a:xfrm>
          <a:prstGeom prst="rect">
            <a:avLst/>
          </a:prstGeom>
          <a:noFill/>
        </p:spPr>
        <p:txBody>
          <a:bodyPr wrap="none" rtlCol="0">
            <a:spAutoFit/>
          </a:bodyPr>
          <a:lstStyle/>
          <a:p>
            <a:pPr>
              <a:lnSpc>
                <a:spcPct val="130000"/>
              </a:lnSpc>
            </a:pPr>
            <a:r>
              <a:rPr lang="en-US" altLang="zh-CN" sz="4400" b="1" i="0" dirty="0">
                <a:solidFill>
                  <a:schemeClr val="bg1"/>
                </a:solidFill>
                <a:latin typeface="Helvetica" pitchFamily="2" charset="0"/>
                <a:cs typeface="Arial" panose="020B0604020202090204" pitchFamily="34" charset="0"/>
                <a:sym typeface="+mn-lt"/>
              </a:rPr>
              <a:t>Contents</a:t>
            </a:r>
            <a:endParaRPr lang="zh-CN" altLang="en-US" sz="4400" b="1" i="0" dirty="0">
              <a:solidFill>
                <a:schemeClr val="bg1"/>
              </a:solidFill>
              <a:latin typeface="Helvetica" pitchFamily="2" charset="0"/>
              <a:cs typeface="Arial" panose="020B0604020202090204" pitchFamily="34" charset="0"/>
              <a:sym typeface="+mn-lt"/>
            </a:endParaRPr>
          </a:p>
        </p:txBody>
      </p:sp>
      <p:sp>
        <p:nvSpPr>
          <p:cNvPr id="87" name="任意多边形: 形状 86"/>
          <p:cNvSpPr/>
          <p:nvPr userDrawn="1"/>
        </p:nvSpPr>
        <p:spPr bwMode="auto">
          <a:xfrm rot="5400000">
            <a:off x="4384812" y="-485285"/>
            <a:ext cx="3422377" cy="3128773"/>
          </a:xfrm>
          <a:custGeom>
            <a:avLst/>
            <a:gdLst>
              <a:gd name="connsiteX0" fmla="*/ 0 w 3422377"/>
              <a:gd name="connsiteY0" fmla="*/ 3128773 h 3128773"/>
              <a:gd name="connsiteX1" fmla="*/ 0 w 3422377"/>
              <a:gd name="connsiteY1" fmla="*/ 0 h 3128773"/>
              <a:gd name="connsiteX2" fmla="*/ 2449535 w 3422377"/>
              <a:gd name="connsiteY2" fmla="*/ 0 h 3128773"/>
              <a:gd name="connsiteX3" fmla="*/ 3422377 w 3422377"/>
              <a:gd name="connsiteY3" fmla="*/ 1564387 h 3128773"/>
              <a:gd name="connsiteX4" fmla="*/ 2449535 w 3422377"/>
              <a:gd name="connsiteY4" fmla="*/ 3128772 h 3128773"/>
              <a:gd name="connsiteX5" fmla="*/ 2449535 w 3422377"/>
              <a:gd name="connsiteY5" fmla="*/ 3128773 h 312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2377" h="3128773">
                <a:moveTo>
                  <a:pt x="0" y="3128773"/>
                </a:moveTo>
                <a:lnTo>
                  <a:pt x="0" y="0"/>
                </a:lnTo>
                <a:lnTo>
                  <a:pt x="2449535" y="0"/>
                </a:lnTo>
                <a:lnTo>
                  <a:pt x="3422377" y="1564387"/>
                </a:lnTo>
                <a:lnTo>
                  <a:pt x="2449535" y="3128772"/>
                </a:lnTo>
                <a:lnTo>
                  <a:pt x="2449535" y="3128773"/>
                </a:lnTo>
                <a:close/>
              </a:path>
            </a:pathLst>
          </a:custGeom>
          <a:noFill/>
          <a:ln w="12700">
            <a:solidFill>
              <a:schemeClr val="accent1"/>
            </a:solidFill>
            <a:prstDash val="lgDash"/>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pic>
        <p:nvPicPr>
          <p:cNvPr id="89" name="图片 88"/>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3428999" y="0"/>
            <a:ext cx="6858000" cy="6858000"/>
          </a:xfrm>
          <a:prstGeom prst="rect">
            <a:avLst/>
          </a:prstGeom>
        </p:spPr>
      </p:pic>
      <p:pic>
        <p:nvPicPr>
          <p:cNvPr id="90" name="图片 89"/>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8763000" y="0"/>
            <a:ext cx="6858000"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转场-短标题1">
    <p:spTree>
      <p:nvGrpSpPr>
        <p:cNvPr id="1" name=""/>
        <p:cNvGrpSpPr/>
        <p:nvPr/>
      </p:nvGrpSpPr>
      <p:grpSpPr>
        <a:xfrm>
          <a:off x="0" y="0"/>
          <a:ext cx="0" cy="0"/>
          <a:chOff x="0" y="0"/>
          <a:chExt cx="0" cy="0"/>
        </a:xfrm>
      </p:grpSpPr>
      <p:sp>
        <p:nvSpPr>
          <p:cNvPr id="6" name="椭圆 5"/>
          <p:cNvSpPr/>
          <p:nvPr userDrawn="1"/>
        </p:nvSpPr>
        <p:spPr>
          <a:xfrm>
            <a:off x="3997387" y="1330387"/>
            <a:ext cx="4197226" cy="41972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7" name="文本框 6"/>
          <p:cNvSpPr txBox="1"/>
          <p:nvPr userDrawn="1"/>
        </p:nvSpPr>
        <p:spPr>
          <a:xfrm>
            <a:off x="5093161" y="3044279"/>
            <a:ext cx="2068195" cy="769441"/>
          </a:xfrm>
          <a:prstGeom prst="rect">
            <a:avLst/>
          </a:prstGeom>
          <a:noFill/>
        </p:spPr>
        <p:txBody>
          <a:bodyPr wrap="none" rtlCol="0">
            <a:spAutoFit/>
          </a:bodyPr>
          <a:lstStyle/>
          <a:p>
            <a:pPr algn="ctr"/>
            <a:r>
              <a:rPr lang="en-US" altLang="zh-CN" sz="4400" b="1" i="0" dirty="0">
                <a:solidFill>
                  <a:schemeClr val="bg1"/>
                </a:solidFill>
                <a:latin typeface="Helvetica" pitchFamily="2" charset="0"/>
                <a:cs typeface="Arial" panose="020B0604020202090204" pitchFamily="34" charset="0"/>
              </a:rPr>
              <a:t>Part 01</a:t>
            </a:r>
            <a:endParaRPr lang="zh-CN" altLang="en-US" sz="4400" b="1" i="0" dirty="0">
              <a:solidFill>
                <a:schemeClr val="bg1"/>
              </a:solidFill>
              <a:latin typeface="Helvetica" pitchFamily="2" charset="0"/>
              <a:cs typeface="Arial" panose="020B060402020209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椭圆 9"/>
          <p:cNvSpPr/>
          <p:nvPr userDrawn="1"/>
        </p:nvSpPr>
        <p:spPr>
          <a:xfrm>
            <a:off x="3775702" y="1108702"/>
            <a:ext cx="4640596" cy="4640596"/>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1" name="椭圆 10"/>
          <p:cNvSpPr/>
          <p:nvPr userDrawn="1"/>
        </p:nvSpPr>
        <p:spPr>
          <a:xfrm>
            <a:off x="9613900" y="5273613"/>
            <a:ext cx="764381" cy="76438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2" name="椭圆 11"/>
          <p:cNvSpPr/>
          <p:nvPr userDrawn="1"/>
        </p:nvSpPr>
        <p:spPr>
          <a:xfrm>
            <a:off x="2209800" y="6134100"/>
            <a:ext cx="1130300" cy="11303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3" name="椭圆 12"/>
          <p:cNvSpPr/>
          <p:nvPr userDrawn="1"/>
        </p:nvSpPr>
        <p:spPr>
          <a:xfrm>
            <a:off x="10818188" y="-911691"/>
            <a:ext cx="2092326" cy="2092326"/>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4" name="椭圆 13"/>
          <p:cNvSpPr/>
          <p:nvPr userDrawn="1"/>
        </p:nvSpPr>
        <p:spPr>
          <a:xfrm>
            <a:off x="-1048048" y="-250249"/>
            <a:ext cx="2861767" cy="286176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7" name="文本占位符 16"/>
          <p:cNvSpPr>
            <a:spLocks noGrp="1"/>
          </p:cNvSpPr>
          <p:nvPr>
            <p:ph type="body" sz="quarter" idx="10" hasCustomPrompt="1"/>
          </p:nvPr>
        </p:nvSpPr>
        <p:spPr>
          <a:xfrm>
            <a:off x="4098000" y="3951320"/>
            <a:ext cx="3996000" cy="914400"/>
          </a:xfrm>
        </p:spPr>
        <p:txBody>
          <a:bodyPr anchor="ctr" anchorCtr="0">
            <a:normAutofit/>
          </a:bodyPr>
          <a:lstStyle>
            <a:lvl1pPr marL="0" indent="0" algn="ctr">
              <a:buNone/>
              <a:defRPr sz="3200"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转场-短标题2">
    <p:spTree>
      <p:nvGrpSpPr>
        <p:cNvPr id="1" name=""/>
        <p:cNvGrpSpPr/>
        <p:nvPr/>
      </p:nvGrpSpPr>
      <p:grpSpPr>
        <a:xfrm>
          <a:off x="0" y="0"/>
          <a:ext cx="0" cy="0"/>
          <a:chOff x="0" y="0"/>
          <a:chExt cx="0" cy="0"/>
        </a:xfrm>
      </p:grpSpPr>
      <p:sp>
        <p:nvSpPr>
          <p:cNvPr id="6" name="等腰三角形 5"/>
          <p:cNvSpPr/>
          <p:nvPr userDrawn="1"/>
        </p:nvSpPr>
        <p:spPr>
          <a:xfrm>
            <a:off x="4000500" y="1050677"/>
            <a:ext cx="4191000" cy="409786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02</a:t>
            </a:r>
            <a:endParaRPr lang="zh-CN" altLang="en-US" sz="4400" b="1" i="0" dirty="0">
              <a:solidFill>
                <a:schemeClr val="bg1"/>
              </a:solidFill>
              <a:latin typeface="Helvetica" pitchFamily="2" charset="0"/>
              <a:cs typeface="Arial" panose="020B060402020209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等腰三角形 8"/>
          <p:cNvSpPr/>
          <p:nvPr userDrawn="1"/>
        </p:nvSpPr>
        <p:spPr>
          <a:xfrm>
            <a:off x="3564087" y="505131"/>
            <a:ext cx="5063826" cy="4951296"/>
          </a:xfrm>
          <a:prstGeom prst="triangle">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等腰三角形 9"/>
          <p:cNvSpPr/>
          <p:nvPr userDrawn="1"/>
        </p:nvSpPr>
        <p:spPr>
          <a:xfrm rot="10800000">
            <a:off x="1390650" y="6496115"/>
            <a:ext cx="1493560" cy="1460370"/>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等腰三角形 10"/>
          <p:cNvSpPr/>
          <p:nvPr userDrawn="1"/>
        </p:nvSpPr>
        <p:spPr>
          <a:xfrm>
            <a:off x="11153775" y="1013971"/>
            <a:ext cx="2076450" cy="2030307"/>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等腰三角形 11"/>
          <p:cNvSpPr/>
          <p:nvPr userDrawn="1"/>
        </p:nvSpPr>
        <p:spPr>
          <a:xfrm rot="10800000">
            <a:off x="-414337" y="-187450"/>
            <a:ext cx="2386788" cy="2333749"/>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等腰三角形 12"/>
          <p:cNvSpPr/>
          <p:nvPr userDrawn="1"/>
        </p:nvSpPr>
        <p:spPr>
          <a:xfrm rot="5400000">
            <a:off x="9449232" y="5270665"/>
            <a:ext cx="883117" cy="863492"/>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8" name="文本占位符 17"/>
          <p:cNvSpPr>
            <a:spLocks noGrp="1"/>
          </p:cNvSpPr>
          <p:nvPr>
            <p:ph type="body" sz="quarter" idx="11" hasCustomPrompt="1"/>
          </p:nvPr>
        </p:nvSpPr>
        <p:spPr>
          <a:xfrm>
            <a:off x="4098000" y="3959372"/>
            <a:ext cx="3996000" cy="914400"/>
          </a:xfrm>
        </p:spPr>
        <p:txBody>
          <a:bodyPr anchor="ctr" anchorCtr="0"/>
          <a:lstStyle>
            <a:lvl1pPr marL="0" indent="0" algn="ctr">
              <a:buNone/>
              <a:defRPr b="1">
                <a:solidFill>
                  <a:schemeClr val="bg1"/>
                </a:solidFill>
                <a:latin typeface="Helvetica" pitchFamily="2" charset="0"/>
              </a:defRPr>
            </a:lvl1pPr>
            <a:lvl3pPr marL="914400" indent="0">
              <a:buNone/>
              <a:defRPr/>
            </a:lvl3pPr>
          </a:lstStyle>
          <a:p>
            <a:pPr lvl="0"/>
            <a:r>
              <a:rPr lang="en-US" altLang="zh-CN" dirty="0"/>
              <a:t>Edit Here</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转场-短标题3">
    <p:spTree>
      <p:nvGrpSpPr>
        <p:cNvPr id="1" name=""/>
        <p:cNvGrpSpPr/>
        <p:nvPr/>
      </p:nvGrpSpPr>
      <p:grpSpPr>
        <a:xfrm>
          <a:off x="0" y="0"/>
          <a:ext cx="0" cy="0"/>
          <a:chOff x="0" y="0"/>
          <a:chExt cx="0" cy="0"/>
        </a:xfrm>
      </p:grpSpPr>
      <p:sp>
        <p:nvSpPr>
          <p:cNvPr id="6" name="矩形 5"/>
          <p:cNvSpPr/>
          <p:nvPr userDrawn="1"/>
        </p:nvSpPr>
        <p:spPr>
          <a:xfrm rot="18893364">
            <a:off x="4380710" y="1706822"/>
            <a:ext cx="3444573" cy="34445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矩形 6"/>
          <p:cNvSpPr/>
          <p:nvPr userDrawn="1"/>
        </p:nvSpPr>
        <p:spPr>
          <a:xfrm rot="18893364">
            <a:off x="4161891" y="1495013"/>
            <a:ext cx="3868219" cy="3868219"/>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03</a:t>
            </a:r>
            <a:endParaRPr lang="zh-CN" altLang="en-US" sz="4400" b="1" i="0" dirty="0">
              <a:solidFill>
                <a:schemeClr val="bg1"/>
              </a:solidFill>
              <a:latin typeface="Helvetica" pitchFamily="2" charset="0"/>
              <a:cs typeface="Arial" panose="020B060402020209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矩形 9"/>
          <p:cNvSpPr/>
          <p:nvPr userDrawn="1"/>
        </p:nvSpPr>
        <p:spPr>
          <a:xfrm rot="18893364">
            <a:off x="-897505" y="-513190"/>
            <a:ext cx="2663805" cy="2663805"/>
          </a:xfrm>
          <a:prstGeom prst="rect">
            <a:avLst/>
          </a:prstGeom>
          <a:solidFill>
            <a:srgbClr val="A4A8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矩形 10"/>
          <p:cNvSpPr/>
          <p:nvPr userDrawn="1"/>
        </p:nvSpPr>
        <p:spPr>
          <a:xfrm rot="18893364">
            <a:off x="725976" y="6497388"/>
            <a:ext cx="1300124" cy="1300124"/>
          </a:xfrm>
          <a:prstGeom prst="rect">
            <a:avLst/>
          </a:prstGeom>
          <a:solidFill>
            <a:srgbClr val="C3C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矩形 11"/>
          <p:cNvSpPr/>
          <p:nvPr userDrawn="1"/>
        </p:nvSpPr>
        <p:spPr>
          <a:xfrm rot="18893364">
            <a:off x="11407699" y="1261300"/>
            <a:ext cx="1568601" cy="156860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矩形 12"/>
          <p:cNvSpPr/>
          <p:nvPr userDrawn="1"/>
        </p:nvSpPr>
        <p:spPr>
          <a:xfrm rot="18893364">
            <a:off x="9270159" y="5188596"/>
            <a:ext cx="861175" cy="861175"/>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userDrawn="1">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vl2pPr marL="457200" indent="0">
              <a:buNone/>
              <a:defRPr/>
            </a:lvl2pPr>
          </a:lstStyle>
          <a:p>
            <a:pPr lvl="0"/>
            <a:r>
              <a:rPr lang="en-US" altLang="zh-CN" dirty="0"/>
              <a:t>Edit Here</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转场-短标题4">
    <p:spTree>
      <p:nvGrpSpPr>
        <p:cNvPr id="1" name=""/>
        <p:cNvGrpSpPr/>
        <p:nvPr/>
      </p:nvGrpSpPr>
      <p:grpSpPr>
        <a:xfrm>
          <a:off x="0" y="0"/>
          <a:ext cx="0" cy="0"/>
          <a:chOff x="0" y="0"/>
          <a:chExt cx="0" cy="0"/>
        </a:xfrm>
      </p:grpSpPr>
      <p:sp>
        <p:nvSpPr>
          <p:cNvPr id="6" name="五边形 5"/>
          <p:cNvSpPr>
            <a:spLocks noChangeAspect="1"/>
          </p:cNvSpPr>
          <p:nvPr userDrawn="1"/>
        </p:nvSpPr>
        <p:spPr>
          <a:xfrm>
            <a:off x="3870642" y="1106412"/>
            <a:ext cx="4450715" cy="4238776"/>
          </a:xfrm>
          <a:prstGeom prst="pen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04</a:t>
            </a:r>
            <a:endParaRPr lang="zh-CN" altLang="en-US" sz="4400" b="1" i="0" dirty="0">
              <a:solidFill>
                <a:schemeClr val="bg1"/>
              </a:solidFill>
              <a:latin typeface="Helvetica" pitchFamily="2" charset="0"/>
              <a:cs typeface="Arial" panose="020B060402020209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五边形 8"/>
          <p:cNvSpPr>
            <a:spLocks noChangeAspect="1"/>
          </p:cNvSpPr>
          <p:nvPr userDrawn="1"/>
        </p:nvSpPr>
        <p:spPr>
          <a:xfrm>
            <a:off x="3575685" y="806045"/>
            <a:ext cx="5040628" cy="4800598"/>
          </a:xfrm>
          <a:prstGeom prst="pentagon">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五边形 9"/>
          <p:cNvSpPr>
            <a:spLocks noChangeAspect="1"/>
          </p:cNvSpPr>
          <p:nvPr userDrawn="1"/>
        </p:nvSpPr>
        <p:spPr>
          <a:xfrm rot="18978551">
            <a:off x="1199607" y="5189314"/>
            <a:ext cx="1114961" cy="1061868"/>
          </a:xfrm>
          <a:prstGeom prst="pentagon">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五边形 10"/>
          <p:cNvSpPr>
            <a:spLocks noChangeAspect="1"/>
          </p:cNvSpPr>
          <p:nvPr userDrawn="1"/>
        </p:nvSpPr>
        <p:spPr>
          <a:xfrm>
            <a:off x="-1122630" y="516786"/>
            <a:ext cx="2245259" cy="2138343"/>
          </a:xfrm>
          <a:prstGeom prst="pentag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五边形 11"/>
          <p:cNvSpPr>
            <a:spLocks noChangeAspect="1"/>
          </p:cNvSpPr>
          <p:nvPr userDrawn="1"/>
        </p:nvSpPr>
        <p:spPr>
          <a:xfrm rot="6589711">
            <a:off x="10153440" y="4944146"/>
            <a:ext cx="2774574" cy="2642453"/>
          </a:xfrm>
          <a:prstGeom prst="pentagon">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五边形 12"/>
          <p:cNvSpPr>
            <a:spLocks noChangeAspect="1"/>
          </p:cNvSpPr>
          <p:nvPr userDrawn="1"/>
        </p:nvSpPr>
        <p:spPr>
          <a:xfrm rot="10800000">
            <a:off x="9654125" y="-530934"/>
            <a:ext cx="1114961" cy="1061868"/>
          </a:xfrm>
          <a:prstGeom prst="pentag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转场-短标题5">
    <p:spTree>
      <p:nvGrpSpPr>
        <p:cNvPr id="1" name=""/>
        <p:cNvGrpSpPr/>
        <p:nvPr/>
      </p:nvGrpSpPr>
      <p:grpSpPr>
        <a:xfrm>
          <a:off x="0" y="0"/>
          <a:ext cx="0" cy="0"/>
          <a:chOff x="0" y="0"/>
          <a:chExt cx="0" cy="0"/>
        </a:xfrm>
      </p:grpSpPr>
      <p:sp>
        <p:nvSpPr>
          <p:cNvPr id="6" name="六边形 5"/>
          <p:cNvSpPr>
            <a:spLocks noChangeAspect="1"/>
          </p:cNvSpPr>
          <p:nvPr userDrawn="1"/>
        </p:nvSpPr>
        <p:spPr>
          <a:xfrm rot="16200000">
            <a:off x="3978962" y="1603967"/>
            <a:ext cx="4234076" cy="365006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05</a:t>
            </a:r>
            <a:endParaRPr lang="zh-CN" altLang="en-US" sz="4400" b="1" i="0" dirty="0">
              <a:solidFill>
                <a:schemeClr val="bg1"/>
              </a:solidFill>
              <a:latin typeface="Helvetica" pitchFamily="2" charset="0"/>
              <a:cs typeface="Arial" panose="020B060402020209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六边形 9"/>
          <p:cNvSpPr/>
          <p:nvPr userDrawn="1"/>
        </p:nvSpPr>
        <p:spPr>
          <a:xfrm rot="16200000">
            <a:off x="3695701" y="1359776"/>
            <a:ext cx="4800598" cy="4138446"/>
          </a:xfrm>
          <a:prstGeom prst="hex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六边形 10"/>
          <p:cNvSpPr>
            <a:spLocks noChangeAspect="1"/>
          </p:cNvSpPr>
          <p:nvPr userDrawn="1"/>
        </p:nvSpPr>
        <p:spPr>
          <a:xfrm rot="16200000">
            <a:off x="-687663" y="4872077"/>
            <a:ext cx="2798353" cy="2412373"/>
          </a:xfrm>
          <a:prstGeom prst="hexagon">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六边形 11"/>
          <p:cNvSpPr>
            <a:spLocks noChangeAspect="1"/>
          </p:cNvSpPr>
          <p:nvPr userDrawn="1"/>
        </p:nvSpPr>
        <p:spPr>
          <a:xfrm rot="16200000">
            <a:off x="9480973" y="5159003"/>
            <a:ext cx="1015781" cy="875673"/>
          </a:xfrm>
          <a:prstGeom prst="hexag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六边形 12"/>
          <p:cNvSpPr>
            <a:spLocks noChangeAspect="1"/>
          </p:cNvSpPr>
          <p:nvPr userDrawn="1"/>
        </p:nvSpPr>
        <p:spPr>
          <a:xfrm rot="16200000">
            <a:off x="11493500" y="210644"/>
            <a:ext cx="1397000" cy="1204310"/>
          </a:xfrm>
          <a:prstGeom prst="hexagon">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六边形 13"/>
          <p:cNvSpPr>
            <a:spLocks noChangeAspect="1"/>
          </p:cNvSpPr>
          <p:nvPr userDrawn="1"/>
        </p:nvSpPr>
        <p:spPr>
          <a:xfrm rot="16200000">
            <a:off x="641459" y="-437837"/>
            <a:ext cx="1015781" cy="875673"/>
          </a:xfrm>
          <a:prstGeom prst="hexag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转场-短标题6">
    <p:spTree>
      <p:nvGrpSpPr>
        <p:cNvPr id="1" name=""/>
        <p:cNvGrpSpPr/>
        <p:nvPr/>
      </p:nvGrpSpPr>
      <p:grpSpPr>
        <a:xfrm>
          <a:off x="0" y="0"/>
          <a:ext cx="0" cy="0"/>
          <a:chOff x="0" y="0"/>
          <a:chExt cx="0" cy="0"/>
        </a:xfrm>
      </p:grpSpPr>
      <p:sp>
        <p:nvSpPr>
          <p:cNvPr id="6" name="七边形 5"/>
          <p:cNvSpPr>
            <a:spLocks noChangeAspect="1"/>
          </p:cNvSpPr>
          <p:nvPr userDrawn="1"/>
        </p:nvSpPr>
        <p:spPr>
          <a:xfrm>
            <a:off x="3972000" y="1047224"/>
            <a:ext cx="4248000" cy="4248000"/>
          </a:xfrm>
          <a:prstGeom prst="hep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1"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06</a:t>
            </a:r>
            <a:endParaRPr lang="zh-CN" altLang="en-US" sz="4400" b="1" i="0" dirty="0">
              <a:solidFill>
                <a:schemeClr val="bg1"/>
              </a:solidFill>
              <a:latin typeface="Helvetica" pitchFamily="2" charset="0"/>
              <a:cs typeface="Arial" panose="020B060402020209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七边形 9"/>
          <p:cNvSpPr/>
          <p:nvPr userDrawn="1"/>
        </p:nvSpPr>
        <p:spPr>
          <a:xfrm rot="1563509">
            <a:off x="10682028" y="-776191"/>
            <a:ext cx="3268663" cy="3268663"/>
          </a:xfrm>
          <a:prstGeom prst="heptagon">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七边形 10"/>
          <p:cNvSpPr/>
          <p:nvPr userDrawn="1"/>
        </p:nvSpPr>
        <p:spPr>
          <a:xfrm>
            <a:off x="1384129" y="5078241"/>
            <a:ext cx="1047921" cy="1047921"/>
          </a:xfrm>
          <a:prstGeom prst="heptagon">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七边形 11"/>
          <p:cNvSpPr/>
          <p:nvPr userDrawn="1"/>
        </p:nvSpPr>
        <p:spPr>
          <a:xfrm rot="20151602">
            <a:off x="-1111336" y="360448"/>
            <a:ext cx="2222671" cy="2222671"/>
          </a:xfrm>
          <a:prstGeom prst="heptagon">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七边形 12"/>
          <p:cNvSpPr/>
          <p:nvPr userDrawn="1"/>
        </p:nvSpPr>
        <p:spPr>
          <a:xfrm rot="20592885">
            <a:off x="8879510" y="6235700"/>
            <a:ext cx="2222671" cy="2222671"/>
          </a:xfrm>
          <a:prstGeom prst="heptagon">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七边形 13"/>
          <p:cNvSpPr>
            <a:spLocks noChangeAspect="1"/>
          </p:cNvSpPr>
          <p:nvPr userDrawn="1"/>
        </p:nvSpPr>
        <p:spPr>
          <a:xfrm>
            <a:off x="3683000" y="774700"/>
            <a:ext cx="4826000" cy="4826000"/>
          </a:xfrm>
          <a:prstGeom prst="hept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66909"/>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目录页-长标题">
    <p:bg>
      <p:bgPr>
        <a:solidFill>
          <a:schemeClr val="bg1"/>
        </a:solidFill>
        <a:effectLst/>
      </p:bgPr>
    </p:bg>
    <p:spTree>
      <p:nvGrpSpPr>
        <p:cNvPr id="1" name=""/>
        <p:cNvGrpSpPr/>
        <p:nvPr/>
      </p:nvGrpSpPr>
      <p:grpSpPr>
        <a:xfrm>
          <a:off x="0" y="0"/>
          <a:ext cx="0" cy="0"/>
          <a:chOff x="0" y="0"/>
          <a:chExt cx="0" cy="0"/>
        </a:xfrm>
      </p:grpSpPr>
      <p:sp>
        <p:nvSpPr>
          <p:cNvPr id="6" name="箭头: 五边形 5"/>
          <p:cNvSpPr/>
          <p:nvPr userDrawn="1"/>
        </p:nvSpPr>
        <p:spPr>
          <a:xfrm>
            <a:off x="2" y="0"/>
            <a:ext cx="2835871" cy="6858000"/>
          </a:xfrm>
          <a:prstGeom prst="homePlat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54" name="矩形 53"/>
          <p:cNvSpPr/>
          <p:nvPr/>
        </p:nvSpPr>
        <p:spPr>
          <a:xfrm>
            <a:off x="140677" y="3106616"/>
            <a:ext cx="2520462" cy="1066800"/>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Helvetica" pitchFamily="2" charset="0"/>
            </a:endParaRPr>
          </a:p>
        </p:txBody>
      </p:sp>
      <p:sp>
        <p:nvSpPr>
          <p:cNvPr id="2" name="矩形 1"/>
          <p:cNvSpPr/>
          <p:nvPr userDrawn="1"/>
        </p:nvSpPr>
        <p:spPr>
          <a:xfrm>
            <a:off x="2782511" y="612708"/>
            <a:ext cx="8695230" cy="5632585"/>
          </a:xfrm>
          <a:prstGeom prst="rect">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50" name="文本框 49"/>
          <p:cNvSpPr txBox="1"/>
          <p:nvPr/>
        </p:nvSpPr>
        <p:spPr>
          <a:xfrm>
            <a:off x="23448" y="2848709"/>
            <a:ext cx="2782509" cy="1574934"/>
          </a:xfrm>
          <a:prstGeom prst="rect">
            <a:avLst/>
          </a:prstGeom>
          <a:noFill/>
        </p:spPr>
        <p:txBody>
          <a:bodyPr wrap="square" lIns="0" tIns="0" rIns="0" bIns="0" rtlCol="0" anchor="ctr" anchorCtr="0">
            <a:normAutofit/>
          </a:bodyPr>
          <a:lstStyle/>
          <a:p>
            <a:pPr algn="ctr"/>
            <a:r>
              <a:rPr lang="en-US" altLang="zh-CN" sz="4400" b="1" i="0" dirty="0">
                <a:solidFill>
                  <a:schemeClr val="bg1"/>
                </a:solidFill>
                <a:latin typeface="Helvetica" pitchFamily="2" charset="0"/>
                <a:ea typeface="+mj-ea"/>
                <a:cs typeface="Arial" panose="020B0604020202090204" pitchFamily="34" charset="0"/>
              </a:rPr>
              <a:t>Contents</a:t>
            </a:r>
            <a:endParaRPr lang="zh-CN" altLang="en-US" sz="4000" b="1" i="0" dirty="0">
              <a:solidFill>
                <a:schemeClr val="bg1"/>
              </a:solidFill>
              <a:latin typeface="Helvetica" pitchFamily="2" charset="0"/>
              <a:ea typeface="+mj-ea"/>
              <a:cs typeface="Arial" panose="020B0604020202090204" pitchFamily="34" charset="0"/>
            </a:endParaRPr>
          </a:p>
        </p:txBody>
      </p:sp>
      <p:pic>
        <p:nvPicPr>
          <p:cNvPr id="47" name="图片 46"/>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转场-长标题">
    <p:spTree>
      <p:nvGrpSpPr>
        <p:cNvPr id="1" name=""/>
        <p:cNvGrpSpPr/>
        <p:nvPr/>
      </p:nvGrpSpPr>
      <p:grpSpPr>
        <a:xfrm>
          <a:off x="0" y="0"/>
          <a:ext cx="0" cy="0"/>
          <a:chOff x="0" y="0"/>
          <a:chExt cx="0" cy="0"/>
        </a:xfrm>
      </p:grpSpPr>
      <p:sp>
        <p:nvSpPr>
          <p:cNvPr id="7" name="箭头: 五边形 6"/>
          <p:cNvSpPr/>
          <p:nvPr userDrawn="1"/>
        </p:nvSpPr>
        <p:spPr>
          <a:xfrm rot="19659736">
            <a:off x="-59387" y="6355211"/>
            <a:ext cx="1593667" cy="240022"/>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5" name="箭头: 五边形 24"/>
          <p:cNvSpPr/>
          <p:nvPr userDrawn="1"/>
        </p:nvSpPr>
        <p:spPr>
          <a:xfrm rot="19659736">
            <a:off x="501875" y="5626509"/>
            <a:ext cx="1198809" cy="202681"/>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6" name="箭头: 五边形 25"/>
          <p:cNvSpPr/>
          <p:nvPr userDrawn="1"/>
        </p:nvSpPr>
        <p:spPr>
          <a:xfrm rot="19659736">
            <a:off x="11343042" y="442070"/>
            <a:ext cx="869215" cy="124045"/>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7" name="箭头: 五边形 26"/>
          <p:cNvSpPr/>
          <p:nvPr userDrawn="1"/>
        </p:nvSpPr>
        <p:spPr>
          <a:xfrm rot="19659736">
            <a:off x="10829985" y="427917"/>
            <a:ext cx="542830" cy="99029"/>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任意多边形: 形状 11"/>
          <p:cNvSpPr/>
          <p:nvPr/>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pic>
        <p:nvPicPr>
          <p:cNvPr id="6" name="图片 5"/>
          <p:cNvPicPr>
            <a:picLocks noChangeAspect="1"/>
          </p:cNvPicPr>
          <p:nvPr userDrawn="1"/>
        </p:nvPicPr>
        <p:blipFill>
          <a:blip r:embed="rId2"/>
          <a:stretch>
            <a:fillRect/>
          </a:stretch>
        </p:blipFill>
        <p:spPr>
          <a:xfrm>
            <a:off x="744128" y="6420492"/>
            <a:ext cx="958362" cy="236837"/>
          </a:xfrm>
          <a:prstGeom prst="rect">
            <a:avLst/>
          </a:prstGeom>
        </p:spPr>
      </p:pic>
      <p:pic>
        <p:nvPicPr>
          <p:cNvPr id="11" name="图片 10"/>
          <p:cNvPicPr>
            <a:picLocks noChangeAspect="1"/>
          </p:cNvPicPr>
          <p:nvPr userDrawn="1"/>
        </p:nvPicPr>
        <p:blipFill>
          <a:blip r:embed="rId3"/>
          <a:stretch>
            <a:fillRect/>
          </a:stretch>
        </p:blipFill>
        <p:spPr>
          <a:xfrm>
            <a:off x="9966201" y="381027"/>
            <a:ext cx="1552699" cy="494974"/>
          </a:xfrm>
          <a:prstGeom prst="rect">
            <a:avLst/>
          </a:prstGeom>
        </p:spPr>
      </p:pic>
      <p:sp>
        <p:nvSpPr>
          <p:cNvPr id="8" name="标题 1"/>
          <p:cNvSpPr>
            <a:spLocks noGrp="1"/>
          </p:cNvSpPr>
          <p:nvPr>
            <p:ph type="title" hasCustomPrompt="1"/>
          </p:nvPr>
        </p:nvSpPr>
        <p:spPr>
          <a:xfrm>
            <a:off x="1091255" y="237834"/>
            <a:ext cx="8168208" cy="790865"/>
          </a:xfrm>
        </p:spPr>
        <p:txBody>
          <a:bodyPr wrap="square" lIns="0" tIns="0" rIns="0" bIns="0">
            <a:normAutofit/>
          </a:bodyPr>
          <a:lstStyle>
            <a:lvl1pPr>
              <a:defRPr sz="3600" b="1" i="0">
                <a:solidFill>
                  <a:schemeClr val="accent1"/>
                </a:solidFill>
                <a:latin typeface="Helvetica" pitchFamily="2" charset="0"/>
                <a:cs typeface="Arial" panose="020B0604020202090204" pitchFamily="34"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13" name="日期占位符 12"/>
          <p:cNvSpPr>
            <a:spLocks noGrp="1"/>
          </p:cNvSpPr>
          <p:nvPr>
            <p:ph type="dt" sz="half" idx="10"/>
          </p:nvPr>
        </p:nvSpPr>
        <p:spPr/>
        <p:txBody>
          <a:bodyPr/>
          <a:lstStyle/>
          <a:p>
            <a:endParaRPr lang="zh-CN" altLang="en-US"/>
          </a:p>
        </p:txBody>
      </p:sp>
      <p:sp>
        <p:nvSpPr>
          <p:cNvPr id="14" name="页脚占位符 13"/>
          <p:cNvSpPr>
            <a:spLocks noGrp="1"/>
          </p:cNvSpPr>
          <p:nvPr>
            <p:ph type="ftr" sz="quarter" idx="11"/>
          </p:nvPr>
        </p:nvSpPr>
        <p:spPr/>
        <p:txBody>
          <a:bodyPr/>
          <a:lstStyle/>
          <a:p>
            <a:endParaRPr lang="zh-CN" altLang="en-US" dirty="0"/>
          </a:p>
        </p:txBody>
      </p:sp>
      <p:sp>
        <p:nvSpPr>
          <p:cNvPr id="15" name="灯片编号占位符 14"/>
          <p:cNvSpPr>
            <a:spLocks noGrp="1"/>
          </p:cNvSpPr>
          <p:nvPr>
            <p:ph type="sldNum" sz="quarter" idx="12"/>
          </p:nvPr>
        </p:nvSpPr>
        <p:spPr/>
        <p:txBody>
          <a:bodyPr/>
          <a:lstStyle>
            <a:lvl1pPr>
              <a:defRPr>
                <a:solidFill>
                  <a:schemeClr val="tx1"/>
                </a:solidFill>
              </a:defRPr>
            </a:lvl1pPr>
          </a:lstStyle>
          <a:p>
            <a:fld id="{2515AB8F-1C56-49E9-90C8-78D22B0C1B97}" type="slidenum">
              <a:rPr lang="zh-CN" altLang="en-US" smtClean="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横向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图片占位符 90"/>
          <p:cNvSpPr>
            <a:spLocks noGrp="1" noChangeAspect="1"/>
          </p:cNvSpPr>
          <p:nvPr>
            <p:ph type="pic" sz="quarter" idx="13"/>
          </p:nvPr>
        </p:nvSpPr>
        <p:spPr>
          <a:xfrm>
            <a:off x="862171" y="1825888"/>
            <a:ext cx="4826535" cy="2736000"/>
          </a:xfrm>
          <a:custGeom>
            <a:avLst/>
            <a:gdLst>
              <a:gd name="connsiteX0" fmla="*/ 0 w 4241800"/>
              <a:gd name="connsiteY0" fmla="*/ 0 h 2404533"/>
              <a:gd name="connsiteX1" fmla="*/ 4241800 w 4241800"/>
              <a:gd name="connsiteY1" fmla="*/ 0 h 2404533"/>
              <a:gd name="connsiteX2" fmla="*/ 4241800 w 4241800"/>
              <a:gd name="connsiteY2" fmla="*/ 2404533 h 2404533"/>
              <a:gd name="connsiteX3" fmla="*/ 0 w 4241800"/>
              <a:gd name="connsiteY3" fmla="*/ 2404533 h 2404533"/>
            </a:gdLst>
            <a:ahLst/>
            <a:cxnLst>
              <a:cxn ang="0">
                <a:pos x="connsiteX0" y="connsiteY0"/>
              </a:cxn>
              <a:cxn ang="0">
                <a:pos x="connsiteX1" y="connsiteY1"/>
              </a:cxn>
              <a:cxn ang="0">
                <a:pos x="connsiteX2" y="connsiteY2"/>
              </a:cxn>
              <a:cxn ang="0">
                <a:pos x="connsiteX3" y="connsiteY3"/>
              </a:cxn>
            </a:cxnLst>
            <a:rect l="l" t="t" r="r" b="b"/>
            <a:pathLst>
              <a:path w="4241800" h="2404533">
                <a:moveTo>
                  <a:pt x="0" y="0"/>
                </a:moveTo>
                <a:lnTo>
                  <a:pt x="4241800" y="0"/>
                </a:lnTo>
                <a:lnTo>
                  <a:pt x="4241800" y="2404533"/>
                </a:lnTo>
                <a:lnTo>
                  <a:pt x="0" y="2404533"/>
                </a:lnTo>
                <a:close/>
              </a:path>
            </a:pathLst>
          </a:custGeom>
        </p:spPr>
        <p:txBody>
          <a:bodyPr wrap="square">
            <a:noAutofit/>
          </a:bodyPr>
          <a:lstStyle/>
          <a:p>
            <a:endParaRPr lang="zh-CN" altLang="en-US"/>
          </a:p>
        </p:txBody>
      </p:sp>
      <p:sp>
        <p:nvSpPr>
          <p:cNvPr id="90" name="任意多边形: 形状 89"/>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0" name="图片占位符 6"/>
          <p:cNvSpPr>
            <a:spLocks noGrp="1" noChangeAspect="1"/>
          </p:cNvSpPr>
          <p:nvPr>
            <p:ph type="pic" sz="quarter" idx="10"/>
          </p:nvPr>
        </p:nvSpPr>
        <p:spPr>
          <a:xfrm>
            <a:off x="1692274" y="1541374"/>
            <a:ext cx="3238088" cy="4320000"/>
          </a:xfrm>
        </p:spPr>
        <p:txBody>
          <a:bodyPr/>
          <a:lstStyle/>
          <a:p>
            <a:endParaRPr lang="zh-CN" altLang="en-US" dirty="0"/>
          </a:p>
        </p:txBody>
      </p:sp>
      <p:sp>
        <p:nvSpPr>
          <p:cNvPr id="91" name="任意多边形: 形状 90"/>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图片-圆形">
    <p:spTree>
      <p:nvGrpSpPr>
        <p:cNvPr id="1" name=""/>
        <p:cNvGrpSpPr/>
        <p:nvPr/>
      </p:nvGrpSpPr>
      <p:grpSpPr>
        <a:xfrm>
          <a:off x="0" y="0"/>
          <a:ext cx="0" cy="0"/>
          <a:chOff x="0" y="0"/>
          <a:chExt cx="0" cy="0"/>
        </a:xfrm>
      </p:grpSpPr>
      <p:sp>
        <p:nvSpPr>
          <p:cNvPr id="93" name="任意多边形: 形状 92"/>
          <p:cNvSpPr/>
          <p:nvPr userDrawn="1"/>
        </p:nvSpPr>
        <p:spPr>
          <a:xfrm>
            <a:off x="660400" y="1531871"/>
            <a:ext cx="10858500" cy="4491875"/>
          </a:xfrm>
          <a:custGeom>
            <a:avLst/>
            <a:gdLst>
              <a:gd name="connsiteX0" fmla="*/ 2682382 w 10858500"/>
              <a:gd name="connsiteY0" fmla="*/ 0 h 4491875"/>
              <a:gd name="connsiteX1" fmla="*/ 4661514 w 10858500"/>
              <a:gd name="connsiteY1" fmla="*/ 1979131 h 4491875"/>
              <a:gd name="connsiteX2" fmla="*/ 4081840 w 10858500"/>
              <a:gd name="connsiteY2" fmla="*/ 3378588 h 4491875"/>
              <a:gd name="connsiteX3" fmla="*/ 3948253 w 10858500"/>
              <a:gd name="connsiteY3" fmla="*/ 3500000 h 4491875"/>
              <a:gd name="connsiteX4" fmla="*/ 10858500 w 10858500"/>
              <a:gd name="connsiteY4" fmla="*/ 3500000 h 4491875"/>
              <a:gd name="connsiteX5" fmla="*/ 10858500 w 10858500"/>
              <a:gd name="connsiteY5" fmla="*/ 4491875 h 4491875"/>
              <a:gd name="connsiteX6" fmla="*/ 0 w 10858500"/>
              <a:gd name="connsiteY6" fmla="*/ 4491875 h 4491875"/>
              <a:gd name="connsiteX7" fmla="*/ 0 w 10858500"/>
              <a:gd name="connsiteY7" fmla="*/ 3500000 h 4491875"/>
              <a:gd name="connsiteX8" fmla="*/ 1416512 w 10858500"/>
              <a:gd name="connsiteY8" fmla="*/ 3500000 h 4491875"/>
              <a:gd name="connsiteX9" fmla="*/ 1282925 w 10858500"/>
              <a:gd name="connsiteY9" fmla="*/ 3378588 h 4491875"/>
              <a:gd name="connsiteX10" fmla="*/ 703250 w 10858500"/>
              <a:gd name="connsiteY10" fmla="*/ 1979131 h 4491875"/>
              <a:gd name="connsiteX11" fmla="*/ 2682382 w 10858500"/>
              <a:gd name="connsiteY11" fmla="*/ 0 h 449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58500" h="4491875">
                <a:moveTo>
                  <a:pt x="2682382" y="0"/>
                </a:moveTo>
                <a:cubicBezTo>
                  <a:pt x="3775426" y="0"/>
                  <a:pt x="4661514" y="886087"/>
                  <a:pt x="4661514" y="1979131"/>
                </a:cubicBezTo>
                <a:cubicBezTo>
                  <a:pt x="4661514" y="2525653"/>
                  <a:pt x="4439992" y="3020436"/>
                  <a:pt x="4081840" y="3378588"/>
                </a:cubicBezTo>
                <a:lnTo>
                  <a:pt x="3948253" y="3500000"/>
                </a:lnTo>
                <a:lnTo>
                  <a:pt x="10858500" y="3500000"/>
                </a:lnTo>
                <a:lnTo>
                  <a:pt x="10858500" y="4491875"/>
                </a:lnTo>
                <a:lnTo>
                  <a:pt x="0" y="4491875"/>
                </a:lnTo>
                <a:lnTo>
                  <a:pt x="0" y="3500000"/>
                </a:lnTo>
                <a:lnTo>
                  <a:pt x="1416512" y="3500000"/>
                </a:lnTo>
                <a:lnTo>
                  <a:pt x="1282925" y="3378588"/>
                </a:lnTo>
                <a:cubicBezTo>
                  <a:pt x="924772" y="3020436"/>
                  <a:pt x="703250" y="2525653"/>
                  <a:pt x="703250" y="1979131"/>
                </a:cubicBezTo>
                <a:cubicBezTo>
                  <a:pt x="703250" y="886087"/>
                  <a:pt x="1589338" y="0"/>
                  <a:pt x="2682382" y="0"/>
                </a:cubicBezTo>
                <a:close/>
              </a:path>
            </a:pathLst>
          </a:custGeom>
          <a:solidFill>
            <a:schemeClr val="accent1"/>
          </a:solidFill>
          <a:ln w="19050">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dirty="0">
              <a:latin typeface="Helvetica Regular" pitchFamily="2" charset="0"/>
              <a:cs typeface="+mn-ea"/>
              <a:sym typeface="+mn-lt"/>
            </a:endParaRPr>
          </a:p>
        </p:txBody>
      </p:sp>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任意多边形: 形状 90"/>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图片占位符 91"/>
          <p:cNvSpPr>
            <a:spLocks noGrp="1" noChangeAspect="1"/>
          </p:cNvSpPr>
          <p:nvPr>
            <p:ph type="pic" sz="quarter" idx="13"/>
          </p:nvPr>
        </p:nvSpPr>
        <p:spPr>
          <a:xfrm>
            <a:off x="1451524" y="1608975"/>
            <a:ext cx="3780000" cy="3780000"/>
          </a:xfrm>
          <a:custGeom>
            <a:avLst/>
            <a:gdLst>
              <a:gd name="connsiteX0" fmla="*/ 1657350 w 3314700"/>
              <a:gd name="connsiteY0" fmla="*/ 0 h 3314700"/>
              <a:gd name="connsiteX1" fmla="*/ 3314700 w 3314700"/>
              <a:gd name="connsiteY1" fmla="*/ 1657350 h 3314700"/>
              <a:gd name="connsiteX2" fmla="*/ 1657350 w 3314700"/>
              <a:gd name="connsiteY2" fmla="*/ 3314700 h 3314700"/>
              <a:gd name="connsiteX3" fmla="*/ 0 w 3314700"/>
              <a:gd name="connsiteY3" fmla="*/ 1657350 h 3314700"/>
              <a:gd name="connsiteX4" fmla="*/ 1657350 w 3314700"/>
              <a:gd name="connsiteY4" fmla="*/ 0 h 331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700" h="3314700">
                <a:moveTo>
                  <a:pt x="1657350" y="0"/>
                </a:moveTo>
                <a:cubicBezTo>
                  <a:pt x="2572679" y="0"/>
                  <a:pt x="3314700" y="742021"/>
                  <a:pt x="3314700" y="1657350"/>
                </a:cubicBezTo>
                <a:cubicBezTo>
                  <a:pt x="3314700" y="2572679"/>
                  <a:pt x="2572679" y="3314700"/>
                  <a:pt x="1657350" y="3314700"/>
                </a:cubicBezTo>
                <a:cubicBezTo>
                  <a:pt x="742021" y="3314700"/>
                  <a:pt x="0" y="2572679"/>
                  <a:pt x="0" y="1657350"/>
                </a:cubicBezTo>
                <a:cubicBezTo>
                  <a:pt x="0" y="742021"/>
                  <a:pt x="742021" y="0"/>
                  <a:pt x="1657350" y="0"/>
                </a:cubicBezTo>
                <a:close/>
              </a:path>
            </a:pathLst>
          </a:custGeom>
        </p:spPr>
        <p:txBody>
          <a:bodyPr wrap="square" anchor="ctr" anchorCtr="0">
            <a:noAutofit/>
          </a:bodyPr>
          <a:lstStyle/>
          <a:p>
            <a:endParaRPr lang="zh-CN" altLang="en-US" dirty="0"/>
          </a:p>
        </p:txBody>
      </p:sp>
      <p:sp>
        <p:nvSpPr>
          <p:cNvPr id="90"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0" name="图片占位符 6"/>
          <p:cNvSpPr>
            <a:spLocks noGrp="1" noChangeAspect="1"/>
          </p:cNvSpPr>
          <p:nvPr>
            <p:ph type="pic" sz="quarter" idx="10"/>
          </p:nvPr>
        </p:nvSpPr>
        <p:spPr>
          <a:xfrm>
            <a:off x="1114722" y="1132945"/>
            <a:ext cx="1735608" cy="2315510"/>
          </a:xfrm>
        </p:spPr>
        <p:txBody>
          <a:bodyPr/>
          <a:lstStyle/>
          <a:p>
            <a:endParaRPr lang="zh-CN" altLang="en-US" dirty="0"/>
          </a:p>
        </p:txBody>
      </p:sp>
      <p:sp>
        <p:nvSpPr>
          <p:cNvPr id="91" name="图片占位符 6"/>
          <p:cNvSpPr>
            <a:spLocks noGrp="1" noChangeAspect="1"/>
          </p:cNvSpPr>
          <p:nvPr>
            <p:ph type="pic" sz="quarter" idx="13"/>
          </p:nvPr>
        </p:nvSpPr>
        <p:spPr>
          <a:xfrm>
            <a:off x="9351363" y="3674135"/>
            <a:ext cx="1755000" cy="2341381"/>
          </a:xfrm>
        </p:spPr>
        <p:txBody>
          <a:bodyPr/>
          <a:lstStyle/>
          <a:p>
            <a:endParaRPr lang="zh-CN" altLang="en-US" dirty="0"/>
          </a:p>
        </p:txBody>
      </p:sp>
      <p:sp>
        <p:nvSpPr>
          <p:cNvPr id="92" name="任意多边形: 形状 91"/>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3"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图片占位符 90"/>
          <p:cNvSpPr>
            <a:spLocks noGrp="1"/>
          </p:cNvSpPr>
          <p:nvPr>
            <p:ph type="pic" sz="quarter" idx="13"/>
          </p:nvPr>
        </p:nvSpPr>
        <p:spPr>
          <a:xfrm>
            <a:off x="1219984"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5" name="图片占位符 94"/>
          <p:cNvSpPr>
            <a:spLocks noGrp="1"/>
          </p:cNvSpPr>
          <p:nvPr>
            <p:ph type="pic" sz="quarter" idx="14"/>
          </p:nvPr>
        </p:nvSpPr>
        <p:spPr>
          <a:xfrm>
            <a:off x="9369946"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8" name="图片占位符 97"/>
          <p:cNvSpPr>
            <a:spLocks noGrp="1"/>
          </p:cNvSpPr>
          <p:nvPr>
            <p:ph type="pic" sz="quarter" idx="15"/>
          </p:nvPr>
        </p:nvSpPr>
        <p:spPr>
          <a:xfrm>
            <a:off x="3936638"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9" name="图片占位符 98"/>
          <p:cNvSpPr>
            <a:spLocks noGrp="1"/>
          </p:cNvSpPr>
          <p:nvPr>
            <p:ph type="pic" sz="quarter" idx="16"/>
          </p:nvPr>
        </p:nvSpPr>
        <p:spPr>
          <a:xfrm>
            <a:off x="6653292"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0" name="任意多边形: 形状 89"/>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空白版式">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结束页 幻灯片">
    <p:bg>
      <p:bgPr>
        <a:solidFill>
          <a:schemeClr val="bg1"/>
        </a:solidFill>
        <a:effectLst/>
      </p:bgPr>
    </p:bg>
    <p:spTree>
      <p:nvGrpSpPr>
        <p:cNvPr id="1" name=""/>
        <p:cNvGrpSpPr/>
        <p:nvPr/>
      </p:nvGrpSpPr>
      <p:grpSpPr>
        <a:xfrm>
          <a:off x="0" y="0"/>
          <a:ext cx="0" cy="0"/>
          <a:chOff x="0" y="0"/>
          <a:chExt cx="0" cy="0"/>
        </a:xfrm>
      </p:grpSpPr>
      <p:sp>
        <p:nvSpPr>
          <p:cNvPr id="7" name="文本占位符 6"/>
          <p:cNvSpPr>
            <a:spLocks noGrp="1"/>
          </p:cNvSpPr>
          <p:nvPr>
            <p:ph type="body" sz="quarter" idx="10" hasCustomPrompt="1"/>
          </p:nvPr>
        </p:nvSpPr>
        <p:spPr>
          <a:xfrm>
            <a:off x="3735420" y="2971800"/>
            <a:ext cx="7783479" cy="914400"/>
          </a:xfrm>
        </p:spPr>
        <p:txBody>
          <a:bodyPr anchor="ctr" anchorCtr="0">
            <a:normAutofit/>
          </a:bodyPr>
          <a:lstStyle>
            <a:lvl1pPr marL="0" indent="0" algn="ctr">
              <a:buNone/>
              <a:defRPr sz="5400" b="1">
                <a:solidFill>
                  <a:schemeClr val="accent1"/>
                </a:solidFill>
                <a:latin typeface="Helvetica" pitchFamily="2" charset="0"/>
              </a:defRPr>
            </a:lvl1pPr>
          </a:lstStyle>
          <a:p>
            <a:pPr lvl="0"/>
            <a:r>
              <a:rPr lang="en-US" altLang="zh-CN" dirty="0"/>
              <a:t>Here</a:t>
            </a:r>
            <a:r>
              <a:rPr lang="zh-CN" altLang="en-US" dirty="0"/>
              <a:t> </a:t>
            </a:r>
            <a:r>
              <a:rPr lang="en-US" altLang="zh-CN" dirty="0"/>
              <a:t>is</a:t>
            </a:r>
            <a:r>
              <a:rPr lang="zh-CN" altLang="en-US" dirty="0"/>
              <a:t> </a:t>
            </a:r>
            <a:r>
              <a:rPr lang="en-US" altLang="zh-CN" dirty="0"/>
              <a:t>text</a:t>
            </a:r>
            <a:r>
              <a:rPr lang="zh-CN" altLang="en-US" dirty="0"/>
              <a:t> </a:t>
            </a:r>
            <a:endParaRPr lang="en-US" altLang="zh-CN" dirty="0"/>
          </a:p>
          <a:p>
            <a:pPr lvl="0"/>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6" name="箭头: 五边形 5"/>
          <p:cNvSpPr/>
          <p:nvPr userDrawn="1"/>
        </p:nvSpPr>
        <p:spPr>
          <a:xfrm rot="16200000">
            <a:off x="10605854" y="5156200"/>
            <a:ext cx="2879387" cy="3403600"/>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箭头: 五边形 7"/>
          <p:cNvSpPr/>
          <p:nvPr userDrawn="1"/>
        </p:nvSpPr>
        <p:spPr>
          <a:xfrm>
            <a:off x="-2680781" y="0"/>
            <a:ext cx="5753100" cy="9620654"/>
          </a:xfrm>
          <a:prstGeom prst="homePlate">
            <a:avLst>
              <a:gd name="adj" fmla="val 508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5" name="箭头: 五边形 4"/>
          <p:cNvSpPr/>
          <p:nvPr userDrawn="1"/>
        </p:nvSpPr>
        <p:spPr>
          <a:xfrm rot="5400000">
            <a:off x="7310335" y="-1872573"/>
            <a:ext cx="2616740" cy="4241259"/>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结束页2">
    <p:spTree>
      <p:nvGrpSpPr>
        <p:cNvPr id="1" name=""/>
        <p:cNvGrpSpPr/>
        <p:nvPr/>
      </p:nvGrpSpPr>
      <p:grpSpPr>
        <a:xfrm>
          <a:off x="0" y="0"/>
          <a:ext cx="0" cy="0"/>
          <a:chOff x="0" y="0"/>
          <a:chExt cx="0" cy="0"/>
        </a:xfrm>
      </p:grpSpPr>
      <p:sp>
        <p:nvSpPr>
          <p:cNvPr id="6" name="椭圆 5"/>
          <p:cNvSpPr/>
          <p:nvPr userDrawn="1"/>
        </p:nvSpPr>
        <p:spPr>
          <a:xfrm>
            <a:off x="-2319371" y="4211980"/>
            <a:ext cx="5113371" cy="5113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
        <p:nvSpPr>
          <p:cNvPr id="7" name="椭圆 6"/>
          <p:cNvSpPr/>
          <p:nvPr userDrawn="1"/>
        </p:nvSpPr>
        <p:spPr>
          <a:xfrm>
            <a:off x="10560051" y="-2647819"/>
            <a:ext cx="4418254" cy="44182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217487"/>
            <a:ext cx="10858500" cy="811213"/>
          </a:xfrm>
          <a:prstGeom prst="rect">
            <a:avLst/>
          </a:prstGeom>
        </p:spPr>
        <p:txBody>
          <a:bodyPr vert="horz" lIns="0" tIns="0" rIns="0" bIns="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604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Helvetica Regular" pitchFamily="2" charset="0"/>
              </a:defRPr>
            </a:lvl1pPr>
          </a:lstStyle>
          <a:p>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Helvetica Regular" pitchFamily="2" charset="0"/>
              </a:defRPr>
            </a:lvl1pPr>
          </a:lstStyle>
          <a:p>
            <a:endParaRPr lang="zh-CN" altLang="en-US" dirty="0"/>
          </a:p>
        </p:txBody>
      </p:sp>
      <p:sp>
        <p:nvSpPr>
          <p:cNvPr id="6" name="灯片编号占位符 5"/>
          <p:cNvSpPr>
            <a:spLocks noGrp="1"/>
          </p:cNvSpPr>
          <p:nvPr>
            <p:ph type="sldNum" sz="quarter" idx="4"/>
          </p:nvPr>
        </p:nvSpPr>
        <p:spPr>
          <a:xfrm>
            <a:off x="8775700" y="6356349"/>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Helvetica Regular" pitchFamily="2" charset="0"/>
              </a:defRPr>
            </a:lvl1pPr>
          </a:lstStyle>
          <a:p>
            <a:fld id="{2515AB8F-1C56-49E9-90C8-78D22B0C1B97}" type="slidenum">
              <a:rPr lang="zh-CN" altLang="en-US" smtClean="0"/>
            </a:fld>
            <a:endParaRPr lang="zh-CN" altLang="en-US" dirty="0"/>
          </a:p>
        </p:txBody>
      </p:sp>
      <p:sp>
        <p:nvSpPr>
          <p:cNvPr id="7" name="椭圆 6"/>
          <p:cNvSpPr/>
          <p:nvPr userDrawn="1"/>
        </p:nvSpPr>
        <p:spPr>
          <a:xfrm>
            <a:off x="4749800" y="-45720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椭圆 7"/>
          <p:cNvSpPr/>
          <p:nvPr userDrawn="1"/>
        </p:nvSpPr>
        <p:spPr>
          <a:xfrm>
            <a:off x="4572000" y="90932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7.png"/><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9.png"/><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12.png"/><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1.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12.png"/><Relationship Id="rId1"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18.png"/><Relationship Id="rId1" Type="http://schemas.openxmlformats.org/officeDocument/2006/relationships/image" Target="../media/image17.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1.png"/><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2.png"/><Relationship Id="rId1" Type="http://schemas.openxmlformats.org/officeDocument/2006/relationships/image" Target="../media/image20.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3.png"/><Relationship Id="rId1" Type="http://schemas.openxmlformats.org/officeDocument/2006/relationships/image" Target="../media/image20.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4.png"/><Relationship Id="rId1"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5.png"/><Relationship Id="rId1"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6.png"/><Relationship Id="rId1" Type="http://schemas.openxmlformats.org/officeDocument/2006/relationships/image" Target="../media/image20.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7.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8.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9.png"/><Relationship Id="rId1" Type="http://schemas.openxmlformats.org/officeDocument/2006/relationships/image" Target="../media/image28.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30.png"/><Relationship Id="rId1" Type="http://schemas.openxmlformats.org/officeDocument/2006/relationships/image" Target="../media/image28.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31.png"/><Relationship Id="rId1" Type="http://schemas.openxmlformats.org/officeDocument/2006/relationships/image" Target="../media/image28.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32.png"/><Relationship Id="rId1" Type="http://schemas.openxmlformats.org/officeDocument/2006/relationships/image" Target="../media/image28.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3.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35.png"/><Relationship Id="rId1" Type="http://schemas.openxmlformats.org/officeDocument/2006/relationships/image" Target="../media/image34.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36.png"/><Relationship Id="rId1" Type="http://schemas.openxmlformats.org/officeDocument/2006/relationships/image" Target="../media/image3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7.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8.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40.png"/><Relationship Id="rId1" Type="http://schemas.openxmlformats.org/officeDocument/2006/relationships/image" Target="../media/image39.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41.png"/><Relationship Id="rId1" Type="http://schemas.openxmlformats.org/officeDocument/2006/relationships/image" Target="../media/image39.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42.png"/><Relationship Id="rId1" Type="http://schemas.openxmlformats.org/officeDocument/2006/relationships/image" Target="../media/image39.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43.png"/><Relationship Id="rId1" Type="http://schemas.openxmlformats.org/officeDocument/2006/relationships/image" Target="../media/image3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4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45.pn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46.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1"/>
          <p:cNvSpPr txBox="1"/>
          <p:nvPr/>
        </p:nvSpPr>
        <p:spPr>
          <a:xfrm>
            <a:off x="3791712" y="1239205"/>
            <a:ext cx="8191129" cy="2189795"/>
          </a:xfrm>
          <a:prstGeom prst="rect">
            <a:avLst/>
          </a:prstGeom>
        </p:spPr>
        <p:txBody>
          <a:bodyPr lIns="0" rIns="0" anchor="ctr" anchorCtr="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r">
              <a:lnSpc>
                <a:spcPct val="100000"/>
              </a:lnSpc>
              <a:buNone/>
            </a:pPr>
            <a:r>
              <a:rPr lang="en-US" sz="4000" b="1" dirty="0">
                <a:solidFill>
                  <a:schemeClr val="accent1"/>
                </a:solidFill>
                <a:latin typeface="Helvetica" pitchFamily="2" charset="0"/>
                <a:cs typeface="Arial" panose="020B0604020202090204" pitchFamily="34" charset="0"/>
              </a:rPr>
              <a:t>B09S0061</a:t>
            </a:r>
            <a:r>
              <a:rPr lang="en-US" sz="4000" b="1" dirty="0">
                <a:solidFill>
                  <a:schemeClr val="accent1"/>
                </a:solidFill>
                <a:latin typeface="Helvetica" pitchFamily="2" charset="0"/>
                <a:cs typeface="Arial" panose="020B0604020202090204" pitchFamily="34" charset="0"/>
              </a:rPr>
              <a:t> </a:t>
            </a:r>
            <a:r>
              <a:rPr lang="en-US" altLang="zh-CN" sz="4000" b="1" dirty="0">
                <a:solidFill>
                  <a:schemeClr val="accent1"/>
                </a:solidFill>
                <a:latin typeface="Helvetica" pitchFamily="2" charset="0"/>
                <a:cs typeface="Arial" panose="020B0604020202090204" pitchFamily="34" charset="0"/>
                <a:sym typeface="+mn-lt"/>
              </a:rPr>
              <a:t>Software Engineering</a:t>
            </a:r>
            <a:endParaRPr lang="en-US" altLang="zh-CN" sz="4000" b="1" dirty="0">
              <a:solidFill>
                <a:schemeClr val="accent1"/>
              </a:solidFill>
              <a:latin typeface="Helvetica" pitchFamily="2" charset="0"/>
              <a:cs typeface="Arial" panose="020B0604020202090204" pitchFamily="34" charset="0"/>
              <a:sym typeface="+mn-lt"/>
            </a:endParaRPr>
          </a:p>
          <a:p>
            <a:pPr marL="0" indent="0" algn="r">
              <a:lnSpc>
                <a:spcPct val="100000"/>
              </a:lnSpc>
              <a:buNone/>
            </a:pPr>
            <a:r>
              <a:rPr lang="en-US" altLang="zh-CN" sz="4000" b="1" dirty="0">
                <a:solidFill>
                  <a:schemeClr val="accent1"/>
                </a:solidFill>
                <a:latin typeface="Helvetica" pitchFamily="2" charset="0"/>
                <a:cs typeface="Arial" panose="020B0604020202090204" pitchFamily="34" charset="0"/>
                <a:sym typeface="+mn-lt"/>
              </a:rPr>
              <a:t>Lecture 9</a:t>
            </a:r>
            <a:endParaRPr lang="zh-CN" altLang="en-US" sz="4000" b="1" dirty="0">
              <a:solidFill>
                <a:schemeClr val="accent1"/>
              </a:solidFill>
              <a:latin typeface="Helvetica" pitchFamily="2" charset="0"/>
              <a:cs typeface="Arial" panose="020B0604020202090204" pitchFamily="34" charset="0"/>
              <a:sym typeface="+mn-lt"/>
            </a:endParaRPr>
          </a:p>
        </p:txBody>
      </p:sp>
      <p:sp>
        <p:nvSpPr>
          <p:cNvPr id="64" name="矩形 63"/>
          <p:cNvSpPr/>
          <p:nvPr/>
        </p:nvSpPr>
        <p:spPr>
          <a:xfrm>
            <a:off x="8750859" y="4819809"/>
            <a:ext cx="3003067" cy="650875"/>
          </a:xfrm>
          <a:prstGeom prst="rect">
            <a:avLst/>
          </a:prstGeom>
        </p:spPr>
        <p:txBody>
          <a:bodyPr wrap="square" lIns="0" rIns="0">
            <a:spAutoFit/>
          </a:bodyPr>
          <a:lstStyle/>
          <a:p>
            <a:pPr algn="r">
              <a:lnSpc>
                <a:spcPct val="130000"/>
              </a:lnSpc>
            </a:pPr>
            <a:r>
              <a:rPr lang="en-US" altLang="zh-CN" sz="2800" dirty="0">
                <a:solidFill>
                  <a:schemeClr val="accent1"/>
                </a:solidFill>
                <a:latin typeface="Helvetica" pitchFamily="2" charset="0"/>
                <a:cs typeface="Arial" panose="020B0604020202090204" pitchFamily="34" charset="0"/>
                <a:sym typeface="+mn-lt"/>
              </a:rPr>
              <a:t>2025/04/25</a:t>
            </a:r>
            <a:endParaRPr lang="zh-CN" altLang="en-US" sz="2800" dirty="0">
              <a:solidFill>
                <a:schemeClr val="accent1"/>
              </a:solidFill>
              <a:latin typeface="Helvetica" pitchFamily="2" charset="0"/>
              <a:cs typeface="Arial" panose="020B0604020202090204" pitchFamily="34" charset="0"/>
              <a:sym typeface="+mn-lt"/>
            </a:endParaRPr>
          </a:p>
        </p:txBody>
      </p:sp>
      <p:sp>
        <p:nvSpPr>
          <p:cNvPr id="67" name="矩形 66"/>
          <p:cNvSpPr/>
          <p:nvPr/>
        </p:nvSpPr>
        <p:spPr>
          <a:xfrm>
            <a:off x="5002654" y="4381010"/>
            <a:ext cx="6751272" cy="611514"/>
          </a:xfrm>
          <a:prstGeom prst="rect">
            <a:avLst/>
          </a:prstGeom>
        </p:spPr>
        <p:txBody>
          <a:bodyPr wrap="square">
            <a:spAutoFit/>
          </a:bodyPr>
          <a:lstStyle/>
          <a:p>
            <a:pPr algn="r">
              <a:lnSpc>
                <a:spcPct val="130000"/>
              </a:lnSpc>
            </a:pPr>
            <a:r>
              <a:rPr lang="en-US" altLang="zh-CN" sz="2800" dirty="0">
                <a:solidFill>
                  <a:schemeClr val="accent1"/>
                </a:solidFill>
                <a:latin typeface="Helvetica" pitchFamily="2" charset="0"/>
                <a:cs typeface="Arial" panose="020B0604020202090204" pitchFamily="34" charset="0"/>
                <a:sym typeface="+mn-lt"/>
              </a:rPr>
              <a:t>Instructor: Liu, </a:t>
            </a:r>
            <a:r>
              <a:rPr lang="en-US" altLang="zh-CN" sz="2800" dirty="0" err="1">
                <a:solidFill>
                  <a:schemeClr val="accent1"/>
                </a:solidFill>
                <a:latin typeface="Helvetica" pitchFamily="2" charset="0"/>
                <a:cs typeface="Arial" panose="020B0604020202090204" pitchFamily="34" charset="0"/>
                <a:sym typeface="+mn-lt"/>
              </a:rPr>
              <a:t>Guangchi</a:t>
            </a:r>
            <a:r>
              <a:rPr lang="en-US" altLang="zh-CN" sz="2800" dirty="0">
                <a:solidFill>
                  <a:schemeClr val="accent1"/>
                </a:solidFill>
                <a:latin typeface="Helvetica" pitchFamily="2" charset="0"/>
                <a:cs typeface="Arial" panose="020B0604020202090204" pitchFamily="34" charset="0"/>
                <a:sym typeface="+mn-lt"/>
              </a:rPr>
              <a:t> Ph.D.</a:t>
            </a:r>
            <a:endParaRPr lang="en-US" altLang="zh-CN" sz="2800" dirty="0">
              <a:solidFill>
                <a:schemeClr val="accent1"/>
              </a:solidFill>
              <a:latin typeface="Helvetica" pitchFamily="2" charset="0"/>
              <a:cs typeface="Arial" panose="020B0604020202090204" pitchFamily="34" charset="0"/>
              <a:sym typeface="+mn-lt"/>
            </a:endParaRPr>
          </a:p>
        </p:txBody>
      </p:sp>
      <p:cxnSp>
        <p:nvCxnSpPr>
          <p:cNvPr id="3" name="直接连接符 2"/>
          <p:cNvCxnSpPr/>
          <p:nvPr/>
        </p:nvCxnSpPr>
        <p:spPr>
          <a:xfrm>
            <a:off x="11842946" y="4575127"/>
            <a:ext cx="0" cy="752777"/>
          </a:xfrm>
          <a:prstGeom prst="line">
            <a:avLst/>
          </a:prstGeom>
          <a:ln w="50800" cmpd="thickThi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966387" cy="790865"/>
          </a:xfrm>
        </p:spPr>
        <p:txBody>
          <a:bodyPr>
            <a:normAutofit/>
          </a:bodyPr>
          <a:lstStyle/>
          <a:p>
            <a:r>
              <a:rPr lang="en-US" altLang="zh-CN" dirty="0"/>
              <a:t>Heads Up</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8" y="1128862"/>
            <a:ext cx="10946524" cy="706755"/>
          </a:xfrm>
          <a:prstGeom prst="rect">
            <a:avLst/>
          </a:prstGeom>
          <a:noFill/>
        </p:spPr>
        <p:txBody>
          <a:bodyPr wrap="square">
            <a:spAutoFit/>
          </a:bodyPr>
          <a:lstStyle/>
          <a:p>
            <a:r>
              <a:rPr lang="en-US" altLang="zh-CN" sz="2000" b="1" dirty="0">
                <a:solidFill>
                  <a:srgbClr val="C00000"/>
                </a:solidFill>
                <a:latin typeface="Helvetica" pitchFamily="2" charset="0"/>
                <a:cs typeface="Arial" panose="020B0604020202090204" pitchFamily="34" charset="0"/>
              </a:rPr>
              <a:t>3</a:t>
            </a:r>
            <a:r>
              <a:rPr lang="en-US" altLang="zh-CN" sz="2000" b="1" baseline="30000" dirty="0">
                <a:solidFill>
                  <a:srgbClr val="C00000"/>
                </a:solidFill>
                <a:latin typeface="Helvetica" pitchFamily="2" charset="0"/>
                <a:cs typeface="Arial" panose="020B0604020202090204" pitchFamily="34" charset="0"/>
              </a:rPr>
              <a:t>rd</a:t>
            </a:r>
            <a:r>
              <a:rPr lang="en-US" altLang="zh-CN" sz="2000" b="1" dirty="0">
                <a:solidFill>
                  <a:srgbClr val="C00000"/>
                </a:solidFill>
                <a:latin typeface="Helvetica" pitchFamily="2" charset="0"/>
                <a:cs typeface="Arial" panose="020B0604020202090204" pitchFamily="34" charset="0"/>
              </a:rPr>
              <a:t> Assignment</a:t>
            </a:r>
            <a:r>
              <a:rPr lang="en-US" altLang="zh-CN" sz="2000" b="1" dirty="0">
                <a:solidFill>
                  <a:srgbClr val="515223"/>
                </a:solidFill>
                <a:latin typeface="Helvetica" pitchFamily="2" charset="0"/>
                <a:cs typeface="Arial" panose="020B0604020202090204" pitchFamily="34" charset="0"/>
              </a:rPr>
              <a:t>: will be released on </a:t>
            </a:r>
            <a:r>
              <a:rPr lang="en-US" altLang="zh-CN" sz="2000" b="1" dirty="0">
                <a:solidFill>
                  <a:srgbClr val="C00000"/>
                </a:solidFill>
                <a:latin typeface="Helvetica" pitchFamily="2" charset="0"/>
                <a:cs typeface="Arial" panose="020B0604020202090204" pitchFamily="34" charset="0"/>
              </a:rPr>
              <a:t>May 5th (Monday), 23:55 pm</a:t>
            </a:r>
            <a:r>
              <a:rPr lang="en-US" altLang="zh-CN" sz="2000" b="1" dirty="0">
                <a:solidFill>
                  <a:srgbClr val="515223"/>
                </a:solidFill>
                <a:latin typeface="Helvetica" pitchFamily="2" charset="0"/>
                <a:cs typeface="Arial" panose="020B0604020202090204" pitchFamily="34" charset="0"/>
              </a:rPr>
              <a:t>,  </a:t>
            </a:r>
            <a:r>
              <a:rPr lang="en-US" altLang="zh-CN" sz="2000" b="1" dirty="0">
                <a:solidFill>
                  <a:srgbClr val="C00000"/>
                </a:solidFill>
                <a:latin typeface="Helvetica" pitchFamily="2" charset="0"/>
                <a:cs typeface="Arial" panose="020B0604020202090204" pitchFamily="34" charset="0"/>
              </a:rPr>
              <a:t>Due on May 12</a:t>
            </a:r>
            <a:r>
              <a:rPr lang="en-US" altLang="zh-CN" sz="2000" b="1" baseline="30000" dirty="0">
                <a:solidFill>
                  <a:srgbClr val="C00000"/>
                </a:solidFill>
                <a:latin typeface="Helvetica" pitchFamily="2" charset="0"/>
                <a:cs typeface="Arial" panose="020B0604020202090204" pitchFamily="34" charset="0"/>
                <a:sym typeface="+mn-ea"/>
              </a:rPr>
              <a:t>nd </a:t>
            </a:r>
            <a:r>
              <a:rPr lang="en-US" altLang="zh-CN" sz="2000" b="1" dirty="0">
                <a:solidFill>
                  <a:srgbClr val="C00000"/>
                </a:solidFill>
                <a:latin typeface="Helvetica" pitchFamily="2" charset="0"/>
                <a:cs typeface="Arial" panose="020B0604020202090204" pitchFamily="34" charset="0"/>
                <a:sym typeface="+mn-ea"/>
              </a:rPr>
              <a:t>(Monday), 23:55 pm</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966387" cy="790865"/>
          </a:xfrm>
        </p:spPr>
        <p:txBody>
          <a:bodyPr>
            <a:normAutofit/>
          </a:bodyPr>
          <a:lstStyle/>
          <a:p>
            <a:r>
              <a:rPr lang="en-US" altLang="zh-CN" dirty="0"/>
              <a:t>Heads Up</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8" y="1128862"/>
            <a:ext cx="10946524" cy="39878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2</a:t>
            </a:r>
            <a:r>
              <a:rPr lang="en-US" altLang="zh-CN" sz="2000" b="1" baseline="30000" dirty="0">
                <a:solidFill>
                  <a:srgbClr val="515223"/>
                </a:solidFill>
                <a:latin typeface="Helvetica" pitchFamily="2" charset="0"/>
                <a:cs typeface="Arial" panose="020B0604020202090204" pitchFamily="34" charset="0"/>
              </a:rPr>
              <a:t>nd</a:t>
            </a:r>
            <a:r>
              <a:rPr lang="en-US" altLang="zh-CN" sz="2000" b="1" dirty="0">
                <a:solidFill>
                  <a:srgbClr val="515223"/>
                </a:solidFill>
                <a:latin typeface="Helvetica" pitchFamily="2" charset="0"/>
                <a:cs typeface="Arial" panose="020B0604020202090204" pitchFamily="34" charset="0"/>
              </a:rPr>
              <a:t> Lab: </a:t>
            </a:r>
            <a:r>
              <a:rPr lang="en-US" altLang="zh-CN" sz="2000" b="1" dirty="0">
                <a:solidFill>
                  <a:srgbClr val="C00000"/>
                </a:solidFill>
                <a:latin typeface="Helvetica" pitchFamily="2" charset="0"/>
                <a:cs typeface="Arial" panose="020B0604020202090204" pitchFamily="34" charset="0"/>
              </a:rPr>
              <a:t>Apr 26</a:t>
            </a:r>
            <a:r>
              <a:rPr lang="en-US" altLang="zh-CN" sz="2000" b="1" baseline="30000" dirty="0">
                <a:solidFill>
                  <a:srgbClr val="C00000"/>
                </a:solidFill>
                <a:latin typeface="Helvetica" pitchFamily="2" charset="0"/>
                <a:cs typeface="Arial" panose="020B0604020202090204" pitchFamily="34" charset="0"/>
              </a:rPr>
              <a:t>th </a:t>
            </a:r>
            <a:r>
              <a:rPr lang="en-US" altLang="zh-CN" sz="2000" b="1" dirty="0">
                <a:solidFill>
                  <a:srgbClr val="C00000"/>
                </a:solidFill>
                <a:latin typeface="Helvetica" pitchFamily="2" charset="0"/>
                <a:cs typeface="Arial" panose="020B0604020202090204" pitchFamily="34" charset="0"/>
              </a:rPr>
              <a:t>(</a:t>
            </a:r>
            <a:r>
              <a:rPr lang="en-US" altLang="zh-CN" sz="2000" b="1" dirty="0">
                <a:solidFill>
                  <a:srgbClr val="C00000"/>
                </a:solidFill>
                <a:latin typeface="Helvetica" pitchFamily="2" charset="0"/>
                <a:cs typeface="Arial" panose="020B0604020202090204" pitchFamily="34" charset="0"/>
              </a:rPr>
              <a:t>Saturday), 14:00 – 17:25,  J6-101 </a:t>
            </a:r>
            <a:r>
              <a:rPr lang="en-US" altLang="zh-CN" sz="2000" b="1" dirty="0">
                <a:solidFill>
                  <a:srgbClr val="515223"/>
                </a:solidFill>
                <a:latin typeface="Helvetica" pitchFamily="2" charset="0"/>
                <a:cs typeface="Arial" panose="020B0604020202090204" pitchFamily="34" charset="0"/>
              </a:rPr>
              <a:t>(Lecture Classroom)</a:t>
            </a:r>
            <a:endParaRPr lang="en-US" altLang="zh-CN" sz="2000" b="1" dirty="0">
              <a:solidFill>
                <a:srgbClr val="515223"/>
              </a:solidFill>
              <a:latin typeface="Helvetica" pitchFamily="2" charset="0"/>
              <a:cs typeface="Arial" panose="020B0604020202090204" pitchFamily="34" charset="0"/>
            </a:endParaRPr>
          </a:p>
        </p:txBody>
      </p:sp>
      <p:sp>
        <p:nvSpPr>
          <p:cNvPr id="4" name="TextBox 3"/>
          <p:cNvSpPr txBox="1"/>
          <p:nvPr/>
        </p:nvSpPr>
        <p:spPr>
          <a:xfrm>
            <a:off x="622738" y="1708859"/>
            <a:ext cx="10946524" cy="193899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Each team will </a:t>
            </a:r>
            <a:r>
              <a:rPr lang="en-US" altLang="zh-CN" sz="2000" b="1" u="sng" dirty="0">
                <a:solidFill>
                  <a:srgbClr val="515223"/>
                </a:solidFill>
                <a:latin typeface="Helvetica" pitchFamily="2" charset="0"/>
                <a:cs typeface="Arial" panose="020B0604020202090204" pitchFamily="34" charset="0"/>
              </a:rPr>
              <a:t>take your laptop </a:t>
            </a:r>
            <a:r>
              <a:rPr lang="en-US" altLang="zh-CN" sz="2000" b="1" dirty="0">
                <a:solidFill>
                  <a:srgbClr val="515223"/>
                </a:solidFill>
                <a:latin typeface="Helvetica" pitchFamily="2" charset="0"/>
                <a:cs typeface="Arial" panose="020B0604020202090204" pitchFamily="34" charset="0"/>
              </a:rPr>
              <a:t>and present to TA or Instructor:</a:t>
            </a:r>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	</a:t>
            </a:r>
            <a:r>
              <a:rPr lang="en-US" altLang="zh-CN" sz="2000" dirty="0"/>
              <a:t>User Experience Design</a:t>
            </a:r>
            <a:endParaRPr lang="en-US" altLang="zh-CN" sz="2000" dirty="0"/>
          </a:p>
          <a:p>
            <a:r>
              <a:rPr lang="en-US" altLang="zh-CN" sz="2000" dirty="0"/>
              <a:t>	System Architecture</a:t>
            </a:r>
            <a:endParaRPr lang="en-US" altLang="zh-CN" sz="2000" dirty="0"/>
          </a:p>
          <a:p>
            <a:r>
              <a:rPr lang="en-US" altLang="zh-CN" sz="2000" dirty="0"/>
              <a:t>	Specific design for security</a:t>
            </a:r>
            <a:endParaRPr lang="en-US" altLang="zh-CN" sz="2000" dirty="0"/>
          </a:p>
          <a:p>
            <a:r>
              <a:rPr lang="en-US" altLang="zh-CN" sz="2000" dirty="0"/>
              <a:t>	Specific design for performance</a:t>
            </a:r>
            <a:endParaRPr lang="en-US" altLang="zh-CN" sz="2000" dirty="0"/>
          </a:p>
          <a:p>
            <a:r>
              <a:rPr lang="en-US" sz="2000" dirty="0"/>
              <a:t>	</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Heads Up</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622738" y="1261527"/>
            <a:ext cx="10946524" cy="707886"/>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Prepare the following questions (10 pts for each question )</a:t>
            </a:r>
            <a:endParaRPr lang="en-US" altLang="zh-CN" sz="2000" b="1" dirty="0">
              <a:solidFill>
                <a:srgbClr val="515223"/>
              </a:solidFill>
              <a:latin typeface="Helvetica" pitchFamily="2" charset="0"/>
              <a:cs typeface="Arial" panose="020B0604020202090204" pitchFamily="34" charset="0"/>
            </a:endParaRPr>
          </a:p>
          <a:p>
            <a:endParaRPr lang="en-US" sz="2000" dirty="0"/>
          </a:p>
        </p:txBody>
      </p:sp>
      <p:sp>
        <p:nvSpPr>
          <p:cNvPr id="7" name="TextBox 6"/>
          <p:cNvSpPr txBox="1"/>
          <p:nvPr/>
        </p:nvSpPr>
        <p:spPr>
          <a:xfrm>
            <a:off x="622738" y="1758176"/>
            <a:ext cx="11271040" cy="338554"/>
          </a:xfrm>
          <a:prstGeom prst="rect">
            <a:avLst/>
          </a:prstGeom>
          <a:noFill/>
        </p:spPr>
        <p:txBody>
          <a:bodyPr wrap="square">
            <a:spAutoFit/>
          </a:bodyPr>
          <a:lstStyle/>
          <a:p>
            <a:r>
              <a:rPr lang="en-US" sz="1600" dirty="0">
                <a:solidFill>
                  <a:srgbClr val="C00000"/>
                </a:solidFill>
              </a:rPr>
              <a:t>Q1 </a:t>
            </a:r>
            <a:r>
              <a:rPr lang="en-US" sz="1600" dirty="0"/>
              <a:t>Have your designed any paper prototype/wireframe/mock-up/operational prototype for the frontend of your project ?</a:t>
            </a:r>
            <a:endParaRPr lang="en-US" sz="1600" dirty="0"/>
          </a:p>
        </p:txBody>
      </p:sp>
      <p:sp>
        <p:nvSpPr>
          <p:cNvPr id="8" name="TextBox 7"/>
          <p:cNvSpPr txBox="1"/>
          <p:nvPr/>
        </p:nvSpPr>
        <p:spPr>
          <a:xfrm>
            <a:off x="622738" y="2469568"/>
            <a:ext cx="11271040" cy="338554"/>
          </a:xfrm>
          <a:prstGeom prst="rect">
            <a:avLst/>
          </a:prstGeom>
          <a:noFill/>
        </p:spPr>
        <p:txBody>
          <a:bodyPr wrap="square">
            <a:spAutoFit/>
          </a:bodyPr>
          <a:lstStyle/>
          <a:p>
            <a:r>
              <a:rPr lang="en-US" sz="1600" dirty="0">
                <a:solidFill>
                  <a:srgbClr val="C00000"/>
                </a:solidFill>
              </a:rPr>
              <a:t>Q3</a:t>
            </a:r>
            <a:r>
              <a:rPr lang="en-US" sz="1600" dirty="0"/>
              <a:t> What is your plan for evaluating/testing the user experience of your project? </a:t>
            </a:r>
            <a:endParaRPr lang="en-US" sz="1600" dirty="0"/>
          </a:p>
        </p:txBody>
      </p:sp>
      <p:sp>
        <p:nvSpPr>
          <p:cNvPr id="9" name="TextBox 8"/>
          <p:cNvSpPr txBox="1"/>
          <p:nvPr/>
        </p:nvSpPr>
        <p:spPr>
          <a:xfrm>
            <a:off x="622738" y="2113872"/>
            <a:ext cx="11271040" cy="338554"/>
          </a:xfrm>
          <a:prstGeom prst="rect">
            <a:avLst/>
          </a:prstGeom>
          <a:noFill/>
        </p:spPr>
        <p:txBody>
          <a:bodyPr wrap="square">
            <a:spAutoFit/>
          </a:bodyPr>
          <a:lstStyle/>
          <a:p>
            <a:r>
              <a:rPr lang="en-US" sz="1600" dirty="0">
                <a:solidFill>
                  <a:srgbClr val="C00000"/>
                </a:solidFill>
              </a:rPr>
              <a:t>Q2</a:t>
            </a:r>
            <a:r>
              <a:rPr lang="en-US" sz="1600" dirty="0"/>
              <a:t> What are the MVC components (if any) of your frontend?</a:t>
            </a:r>
            <a:endParaRPr lang="en-US" sz="1600" dirty="0"/>
          </a:p>
        </p:txBody>
      </p:sp>
      <p:sp>
        <p:nvSpPr>
          <p:cNvPr id="10" name="TextBox 9"/>
          <p:cNvSpPr txBox="1"/>
          <p:nvPr/>
        </p:nvSpPr>
        <p:spPr>
          <a:xfrm>
            <a:off x="622738" y="2832315"/>
            <a:ext cx="11271040" cy="338554"/>
          </a:xfrm>
          <a:prstGeom prst="rect">
            <a:avLst/>
          </a:prstGeom>
          <a:noFill/>
        </p:spPr>
        <p:txBody>
          <a:bodyPr wrap="square">
            <a:spAutoFit/>
          </a:bodyPr>
          <a:lstStyle/>
          <a:p>
            <a:r>
              <a:rPr lang="en-US" sz="1600" dirty="0">
                <a:solidFill>
                  <a:srgbClr val="C00000"/>
                </a:solidFill>
              </a:rPr>
              <a:t>Q4</a:t>
            </a:r>
            <a:r>
              <a:rPr lang="en-US" sz="1600" dirty="0"/>
              <a:t> What is the component diagram of your project like?</a:t>
            </a:r>
            <a:endParaRPr lang="en-US" sz="1600" dirty="0"/>
          </a:p>
        </p:txBody>
      </p:sp>
      <p:sp>
        <p:nvSpPr>
          <p:cNvPr id="11" name="TextBox 10"/>
          <p:cNvSpPr txBox="1"/>
          <p:nvPr/>
        </p:nvSpPr>
        <p:spPr>
          <a:xfrm>
            <a:off x="622738" y="3179074"/>
            <a:ext cx="11271040" cy="338554"/>
          </a:xfrm>
          <a:prstGeom prst="rect">
            <a:avLst/>
          </a:prstGeom>
          <a:noFill/>
        </p:spPr>
        <p:txBody>
          <a:bodyPr wrap="square">
            <a:spAutoFit/>
          </a:bodyPr>
          <a:lstStyle/>
          <a:p>
            <a:r>
              <a:rPr lang="en-US" sz="1600" dirty="0">
                <a:solidFill>
                  <a:srgbClr val="C00000"/>
                </a:solidFill>
              </a:rPr>
              <a:t>Q5</a:t>
            </a:r>
            <a:r>
              <a:rPr lang="en-US" sz="1600" dirty="0"/>
              <a:t> What is the deployment diagram of your project like?</a:t>
            </a:r>
            <a:endParaRPr lang="en-US" sz="1600" dirty="0"/>
          </a:p>
        </p:txBody>
      </p:sp>
      <p:sp>
        <p:nvSpPr>
          <p:cNvPr id="12" name="TextBox 11"/>
          <p:cNvSpPr txBox="1"/>
          <p:nvPr/>
        </p:nvSpPr>
        <p:spPr>
          <a:xfrm>
            <a:off x="622738" y="3514620"/>
            <a:ext cx="11271040" cy="338554"/>
          </a:xfrm>
          <a:prstGeom prst="rect">
            <a:avLst/>
          </a:prstGeom>
          <a:noFill/>
        </p:spPr>
        <p:txBody>
          <a:bodyPr wrap="square">
            <a:spAutoFit/>
          </a:bodyPr>
          <a:lstStyle/>
          <a:p>
            <a:r>
              <a:rPr lang="en-US" sz="1600" dirty="0">
                <a:solidFill>
                  <a:srgbClr val="C00000"/>
                </a:solidFill>
              </a:rPr>
              <a:t>Q6</a:t>
            </a:r>
            <a:r>
              <a:rPr lang="en-US" sz="1600" dirty="0"/>
              <a:t> What is the package diagram of your project like?</a:t>
            </a:r>
            <a:endParaRPr lang="en-US" sz="1600" dirty="0"/>
          </a:p>
        </p:txBody>
      </p:sp>
      <p:sp>
        <p:nvSpPr>
          <p:cNvPr id="13" name="TextBox 12"/>
          <p:cNvSpPr txBox="1"/>
          <p:nvPr/>
        </p:nvSpPr>
        <p:spPr>
          <a:xfrm>
            <a:off x="622738" y="3862076"/>
            <a:ext cx="11271040" cy="338554"/>
          </a:xfrm>
          <a:prstGeom prst="rect">
            <a:avLst/>
          </a:prstGeom>
          <a:noFill/>
        </p:spPr>
        <p:txBody>
          <a:bodyPr wrap="square">
            <a:spAutoFit/>
          </a:bodyPr>
          <a:lstStyle/>
          <a:p>
            <a:r>
              <a:rPr lang="en-US" sz="1600" dirty="0">
                <a:solidFill>
                  <a:srgbClr val="C00000"/>
                </a:solidFill>
              </a:rPr>
              <a:t>Q7</a:t>
            </a:r>
            <a:r>
              <a:rPr lang="en-US" sz="1600" dirty="0"/>
              <a:t> Any plan of using virtualization technologies?</a:t>
            </a:r>
            <a:endParaRPr lang="en-US" sz="1600" dirty="0"/>
          </a:p>
        </p:txBody>
      </p:sp>
      <p:sp>
        <p:nvSpPr>
          <p:cNvPr id="14" name="TextBox 13"/>
          <p:cNvSpPr txBox="1"/>
          <p:nvPr/>
        </p:nvSpPr>
        <p:spPr>
          <a:xfrm>
            <a:off x="622738" y="4195347"/>
            <a:ext cx="11271040" cy="338554"/>
          </a:xfrm>
          <a:prstGeom prst="rect">
            <a:avLst/>
          </a:prstGeom>
          <a:noFill/>
        </p:spPr>
        <p:txBody>
          <a:bodyPr wrap="square">
            <a:spAutoFit/>
          </a:bodyPr>
          <a:lstStyle/>
          <a:p>
            <a:r>
              <a:rPr lang="en-US" sz="1600" dirty="0">
                <a:solidFill>
                  <a:srgbClr val="C00000"/>
                </a:solidFill>
              </a:rPr>
              <a:t>Q8</a:t>
            </a:r>
            <a:r>
              <a:rPr lang="en-US" sz="1600" dirty="0"/>
              <a:t> Any possible security risk in your project? How will you minimize them?</a:t>
            </a:r>
            <a:endParaRPr lang="en-US" sz="1600" dirty="0"/>
          </a:p>
        </p:txBody>
      </p:sp>
      <p:sp>
        <p:nvSpPr>
          <p:cNvPr id="15" name="TextBox 14"/>
          <p:cNvSpPr txBox="1"/>
          <p:nvPr/>
        </p:nvSpPr>
        <p:spPr>
          <a:xfrm>
            <a:off x="622738" y="4547917"/>
            <a:ext cx="11271040" cy="338554"/>
          </a:xfrm>
          <a:prstGeom prst="rect">
            <a:avLst/>
          </a:prstGeom>
          <a:noFill/>
        </p:spPr>
        <p:txBody>
          <a:bodyPr wrap="square">
            <a:spAutoFit/>
          </a:bodyPr>
          <a:lstStyle/>
          <a:p>
            <a:r>
              <a:rPr lang="en-US" sz="1600" dirty="0">
                <a:solidFill>
                  <a:srgbClr val="C00000"/>
                </a:solidFill>
              </a:rPr>
              <a:t>Q9</a:t>
            </a:r>
            <a:r>
              <a:rPr lang="en-US" sz="1600" dirty="0"/>
              <a:t> What will the peak demand/capacity of your product be in the future?</a:t>
            </a:r>
            <a:endParaRPr lang="en-US" sz="1600" dirty="0"/>
          </a:p>
        </p:txBody>
      </p:sp>
      <p:sp>
        <p:nvSpPr>
          <p:cNvPr id="16" name="TextBox 15"/>
          <p:cNvSpPr txBox="1"/>
          <p:nvPr/>
        </p:nvSpPr>
        <p:spPr>
          <a:xfrm>
            <a:off x="622738" y="4909622"/>
            <a:ext cx="11271040" cy="338554"/>
          </a:xfrm>
          <a:prstGeom prst="rect">
            <a:avLst/>
          </a:prstGeom>
          <a:noFill/>
        </p:spPr>
        <p:txBody>
          <a:bodyPr wrap="square">
            <a:spAutoFit/>
          </a:bodyPr>
          <a:lstStyle/>
          <a:p>
            <a:r>
              <a:rPr lang="en-US" sz="1600" dirty="0">
                <a:solidFill>
                  <a:srgbClr val="C00000"/>
                </a:solidFill>
              </a:rPr>
              <a:t>Q10</a:t>
            </a:r>
            <a:r>
              <a:rPr lang="en-US" sz="1600" dirty="0"/>
              <a:t> Based on the potential demand/capacity, any performance bottleneck in your project? How will you improve them?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9" name="图片 8"/>
          <p:cNvPicPr>
            <a:picLocks noChangeAspect="1"/>
          </p:cNvPicPr>
          <p:nvPr/>
        </p:nvPicPr>
        <p:blipFill>
          <a:blip r:embed="rId1"/>
          <a:stretch>
            <a:fillRect/>
          </a:stretch>
        </p:blipFill>
        <p:spPr>
          <a:xfrm>
            <a:off x="918355" y="461846"/>
            <a:ext cx="9248857" cy="574099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Advanced Development Environments</a:t>
            </a:r>
            <a:endParaRPr lang="en-US" sz="5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572375" y="1397620"/>
            <a:ext cx="11109085" cy="440120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An advanced development environment is intended to provide everything that a developer needs.</a:t>
            </a:r>
            <a:endParaRPr lang="en-US" altLang="zh-CN" sz="2000" b="1" dirty="0">
              <a:solidFill>
                <a:srgbClr val="515223"/>
              </a:solidFill>
              <a:latin typeface="Helvetica" pitchFamily="2" charset="0"/>
              <a:cs typeface="Arial" panose="020B0604020202090204" pitchFamily="34" charset="0"/>
            </a:endParaRPr>
          </a:p>
          <a:p>
            <a:endParaRPr lang="en-US" altLang="zh-CN" sz="2000" dirty="0"/>
          </a:p>
          <a:p>
            <a:r>
              <a:rPr lang="en-US" altLang="zh-CN" sz="2000" dirty="0">
                <a:solidFill>
                  <a:srgbClr val="FF0000"/>
                </a:solidFill>
              </a:rPr>
              <a:t>The developer is expected to follow the program choices that are provided. </a:t>
            </a:r>
            <a:endParaRPr lang="en-US" altLang="zh-CN" sz="2000" dirty="0">
              <a:solidFill>
                <a:srgbClr val="FF0000"/>
              </a:solidFill>
            </a:endParaRPr>
          </a:p>
          <a:p>
            <a:endParaRPr lang="en-US" altLang="zh-CN" sz="2000" dirty="0"/>
          </a:p>
          <a:p>
            <a:r>
              <a:rPr lang="en-US" altLang="zh-CN" sz="2000" dirty="0"/>
              <a:t>For example, when Xcode is used with iOS it has a very specific purpose: mobile apps for Apple devices such as iPhones, iPads.</a:t>
            </a:r>
            <a:endParaRPr lang="en-US" altLang="zh-CN" sz="2000" dirty="0"/>
          </a:p>
          <a:p>
            <a:pPr marL="800100" lvl="1" indent="-342900">
              <a:buFont typeface="Arial" panose="020B0604020202090204" pitchFamily="34" charset="0"/>
              <a:buChar char="•"/>
            </a:pPr>
            <a:r>
              <a:rPr lang="en-US" altLang="zh-CN" sz="2000" dirty="0"/>
              <a:t>Special programming language (Swift or Objective C)</a:t>
            </a:r>
            <a:endParaRPr lang="en-US" altLang="zh-CN" sz="2000" dirty="0"/>
          </a:p>
          <a:p>
            <a:pPr marL="800100" lvl="1" indent="-342900">
              <a:buFont typeface="Arial" panose="020B0604020202090204" pitchFamily="34" charset="0"/>
              <a:buChar char="•"/>
            </a:pPr>
            <a:r>
              <a:rPr lang="en-US" altLang="zh-CN" sz="2000" dirty="0"/>
              <a:t>MVC framework </a:t>
            </a:r>
            <a:endParaRPr lang="en-US" altLang="zh-CN" sz="2000" dirty="0"/>
          </a:p>
          <a:p>
            <a:endParaRPr lang="en-US" altLang="zh-CN" sz="2000" dirty="0"/>
          </a:p>
          <a:p>
            <a:r>
              <a:rPr lang="en-US" altLang="zh-CN" sz="2000" dirty="0"/>
              <a:t>If you accept the overall program design it is very powerful:</a:t>
            </a:r>
            <a:endParaRPr lang="en-US" altLang="zh-CN" sz="2000" dirty="0"/>
          </a:p>
          <a:p>
            <a:pPr marL="800100" lvl="1" indent="-342900">
              <a:buFont typeface="Arial" panose="020B0604020202090204" pitchFamily="34" charset="0"/>
              <a:buChar char="•"/>
            </a:pPr>
            <a:r>
              <a:rPr lang="en-US" altLang="zh-CN" sz="2000" dirty="0"/>
              <a:t>Auto layout of graphical interfaces</a:t>
            </a:r>
            <a:endParaRPr lang="en-US" altLang="zh-CN" sz="2000" dirty="0"/>
          </a:p>
          <a:p>
            <a:pPr marL="800100" lvl="1" indent="-342900">
              <a:buFont typeface="Arial" panose="020B0604020202090204" pitchFamily="34" charset="0"/>
              <a:buChar char="•"/>
            </a:pPr>
            <a:r>
              <a:rPr lang="en-US" altLang="zh-CN" sz="2000" dirty="0"/>
              <a:t>Comprehensive set of classes for user interfaces and navigation</a:t>
            </a:r>
            <a:endParaRPr lang="en-US" altLang="zh-CN" sz="2000" dirty="0"/>
          </a:p>
          <a:p>
            <a:pPr marL="800100" lvl="1" indent="-342900">
              <a:buFont typeface="Arial" panose="020B0604020202090204" pitchFamily="34" charset="0"/>
              <a:buChar char="•"/>
            </a:pPr>
            <a:r>
              <a:rPr lang="en-US" altLang="zh-CN" sz="2000" dirty="0"/>
              <a:t>Simulators for all Apple devices</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Using Development Frameworks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467066"/>
            <a:ext cx="11163995" cy="34778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Development frameworks are powerful and flexible. </a:t>
            </a:r>
            <a:endParaRPr lang="en-US" altLang="zh-CN" sz="2000" b="1" dirty="0">
              <a:solidFill>
                <a:srgbClr val="515223"/>
              </a:solidFill>
              <a:latin typeface="Helvetica" pitchFamily="2" charset="0"/>
              <a:cs typeface="Arial" panose="020B0604020202090204" pitchFamily="34" charset="0"/>
            </a:endParaRPr>
          </a:p>
          <a:p>
            <a:endParaRPr lang="en-US" altLang="zh-CN" sz="2000" dirty="0"/>
          </a:p>
          <a:p>
            <a:r>
              <a:rPr lang="en-US" altLang="zh-CN" sz="2000" dirty="0"/>
              <a:t>If your application fits the framework, they do much of the program design and provide high quality code for many of the standard parts of any application. </a:t>
            </a:r>
            <a:endParaRPr lang="en-US" altLang="zh-CN" sz="2000" dirty="0"/>
          </a:p>
          <a:p>
            <a:endParaRPr lang="en-US" altLang="zh-CN" sz="2000" dirty="0"/>
          </a:p>
          <a:p>
            <a:r>
              <a:rPr lang="en-US" altLang="zh-CN" sz="2000" dirty="0"/>
              <a:t>Some parts of the application may need be designed separately. </a:t>
            </a:r>
            <a:endParaRPr lang="en-US" altLang="zh-CN" sz="2000" dirty="0"/>
          </a:p>
          <a:p>
            <a:endParaRPr lang="en-US" altLang="zh-CN" sz="2000" dirty="0"/>
          </a:p>
          <a:p>
            <a:r>
              <a:rPr lang="en-US" altLang="zh-CN" sz="2000" dirty="0"/>
              <a:t>But beware:</a:t>
            </a:r>
            <a:endParaRPr lang="en-US" altLang="zh-CN" sz="2000" dirty="0"/>
          </a:p>
          <a:p>
            <a:pPr marL="800100" lvl="1" indent="-342900">
              <a:buFont typeface="Arial" panose="020B0604020202090204" pitchFamily="34" charset="0"/>
              <a:buChar char="•"/>
            </a:pPr>
            <a:r>
              <a:rPr lang="en-US" altLang="zh-CN" sz="2000" dirty="0"/>
              <a:t> You are forced to build your application within the framework that is provided.</a:t>
            </a:r>
            <a:endParaRPr lang="en-US" altLang="zh-CN" sz="2000" dirty="0"/>
          </a:p>
          <a:p>
            <a:pPr marL="800100" lvl="1" indent="-342900">
              <a:buFont typeface="Arial" panose="020B0604020202090204" pitchFamily="34" charset="0"/>
              <a:buChar char="•"/>
            </a:pPr>
            <a:r>
              <a:rPr lang="en-US" altLang="zh-CN" sz="2000" dirty="0"/>
              <a:t> The frameworks are continually modified. </a:t>
            </a:r>
            <a:endParaRPr lang="en-US" altLang="zh-CN" sz="2000" dirty="0"/>
          </a:p>
          <a:p>
            <a:pPr marL="800100" lvl="1" indent="-342900">
              <a:buFont typeface="Arial" panose="020B0604020202090204" pitchFamily="34" charset="0"/>
              <a:buChar char="•"/>
            </a:pPr>
            <a:r>
              <a:rPr lang="en-US" altLang="zh-CN" sz="2000" dirty="0"/>
              <a:t> </a:t>
            </a:r>
            <a:r>
              <a:rPr lang="en-US" altLang="zh-CN" sz="2000" dirty="0">
                <a:solidFill>
                  <a:srgbClr val="FF0000"/>
                </a:solidFill>
              </a:rPr>
              <a:t>These frameworks are complex and take a long time to learn.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itle 1"/>
          <p:cNvSpPr>
            <a:spLocks noGrp="1"/>
          </p:cNvSpPr>
          <p:nvPr>
            <p:ph type="title"/>
          </p:nvPr>
        </p:nvSpPr>
        <p:spPr>
          <a:xfrm>
            <a:off x="1091254" y="237834"/>
            <a:ext cx="9099225" cy="790865"/>
          </a:xfrm>
        </p:spPr>
        <p:txBody>
          <a:bodyPr>
            <a:normAutofit/>
          </a:bodyPr>
          <a:lstStyle/>
          <a:p>
            <a:r>
              <a:rPr lang="en-US" altLang="zh-CN" dirty="0"/>
              <a:t>Production Programming</a:t>
            </a:r>
            <a:endParaRPr lang="en-US" sz="6000" dirty="0"/>
          </a:p>
        </p:txBody>
      </p:sp>
      <p:sp>
        <p:nvSpPr>
          <p:cNvPr id="5" name="TextBox 3"/>
          <p:cNvSpPr txBox="1"/>
          <p:nvPr/>
        </p:nvSpPr>
        <p:spPr>
          <a:xfrm>
            <a:off x="572375" y="1687791"/>
            <a:ext cx="11163995"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Murphy's Law: </a:t>
            </a:r>
            <a:endParaRPr lang="en-US" altLang="zh-CN" sz="2000" b="1" dirty="0">
              <a:solidFill>
                <a:srgbClr val="515223"/>
              </a:solidFill>
              <a:latin typeface="Helvetica" pitchFamily="2" charset="0"/>
              <a:cs typeface="Arial" panose="020B0604020202090204" pitchFamily="34" charset="0"/>
            </a:endParaRPr>
          </a:p>
          <a:p>
            <a:r>
              <a:rPr lang="en-US" altLang="zh-CN" sz="2000" dirty="0">
                <a:solidFill>
                  <a:srgbClr val="FF0000"/>
                </a:solidFill>
              </a:rPr>
              <a:t>If anything can go wrong, it will. </a:t>
            </a:r>
            <a:endParaRPr lang="en-US" altLang="zh-CN" sz="2000" dirty="0">
              <a:solidFill>
                <a:srgbClr val="FF0000"/>
              </a:solidFill>
            </a:endParaRPr>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Challenges: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Code has to be maintained over the long term, with different system software.</a:t>
            </a:r>
            <a:endParaRPr lang="en-US" altLang="zh-CN" sz="2000" dirty="0"/>
          </a:p>
          <a:p>
            <a:pPr marL="800100" lvl="1" indent="-342900">
              <a:buFont typeface="Arial" panose="020B0604020202090204" pitchFamily="34" charset="0"/>
              <a:buChar char="•"/>
            </a:pPr>
            <a:r>
              <a:rPr lang="en-US" altLang="zh-CN" sz="2000" dirty="0"/>
              <a:t>Interfaces will be used in new and unexpected ways.</a:t>
            </a:r>
            <a:endParaRPr lang="en-US" altLang="zh-CN" sz="2000" dirty="0"/>
          </a:p>
          <a:p>
            <a:pPr marL="800100" lvl="1" indent="-342900">
              <a:buFont typeface="Arial" panose="020B0604020202090204" pitchFamily="34" charset="0"/>
              <a:buChar char="•"/>
            </a:pPr>
            <a:r>
              <a:rPr lang="en-US" altLang="zh-CN" sz="2000" dirty="0"/>
              <a:t>Every possible error will eventually occur at the worst possible time (bad data, failures of hardware and system software). </a:t>
            </a:r>
            <a:endParaRPr lang="en-US" altLang="zh-CN" sz="2000" dirty="0"/>
          </a:p>
          <a:p>
            <a:pPr marL="800100" lvl="1" indent="-342900">
              <a:buFont typeface="Arial" panose="020B0604020202090204" pitchFamily="34" charset="0"/>
              <a:buChar char="•"/>
            </a:pPr>
            <a:r>
              <a:rPr lang="en-US" altLang="zh-CN" sz="2000" dirty="0"/>
              <a:t>There are likely to be security attacks.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Production Programming</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282669"/>
            <a:ext cx="9618104" cy="378565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Robust programming:</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Write simple code. </a:t>
            </a:r>
            <a:endParaRPr lang="en-US" altLang="zh-CN" sz="2000" dirty="0"/>
          </a:p>
          <a:p>
            <a:pPr marL="800100" lvl="1" indent="-342900">
              <a:buFont typeface="Arial" panose="020B0604020202090204" pitchFamily="34" charset="0"/>
              <a:buChar char="•"/>
            </a:pPr>
            <a:r>
              <a:rPr lang="en-US" altLang="zh-CN" sz="2000" dirty="0"/>
              <a:t>Avoid risky programming constructs.</a:t>
            </a:r>
            <a:endParaRPr lang="en-US" altLang="zh-CN" sz="2000" dirty="0"/>
          </a:p>
          <a:p>
            <a:pPr marL="800100" lvl="1" indent="-342900">
              <a:buFont typeface="Arial" panose="020B0604020202090204" pitchFamily="34" charset="0"/>
              <a:buChar char="•"/>
            </a:pPr>
            <a:r>
              <a:rPr lang="en-US" altLang="zh-CN" sz="2000" dirty="0"/>
              <a:t>If code is difficult to read, rewrite it.</a:t>
            </a:r>
            <a:endParaRPr lang="en-US" altLang="zh-CN" sz="2000" dirty="0"/>
          </a:p>
          <a:p>
            <a:pPr marL="800100" lvl="1" indent="-342900">
              <a:buFont typeface="Arial" panose="020B0604020202090204" pitchFamily="34" charset="0"/>
              <a:buChar char="•"/>
            </a:pPr>
            <a:r>
              <a:rPr lang="en-US" altLang="zh-CN" sz="2000" dirty="0"/>
              <a:t>Incorporate redundant code to check system state after modifications.</a:t>
            </a:r>
            <a:endParaRPr lang="en-US" altLang="zh-CN" sz="2000" dirty="0"/>
          </a:p>
          <a:p>
            <a:pPr marL="800100" lvl="1" indent="-342900">
              <a:buFont typeface="Arial" panose="020B0604020202090204" pitchFamily="34" charset="0"/>
              <a:buChar char="•"/>
            </a:pPr>
            <a:r>
              <a:rPr lang="en-US" altLang="zh-CN" sz="2000" dirty="0"/>
              <a:t>Test implicit assumptions explicitly, e.g., check all parameters received from other routines.</a:t>
            </a:r>
            <a:endParaRPr lang="en-US" altLang="zh-CN" sz="2000" dirty="0"/>
          </a:p>
          <a:p>
            <a:pPr marL="800100" lvl="1" indent="-342900">
              <a:buFont typeface="Arial" panose="020B0604020202090204" pitchFamily="34" charset="0"/>
              <a:buChar char="•"/>
            </a:pPr>
            <a:r>
              <a:rPr lang="en-US" altLang="zh-CN" sz="2000" dirty="0"/>
              <a:t>Eliminate all warnings from source code.</a:t>
            </a:r>
            <a:endParaRPr lang="en-US" altLang="zh-CN" sz="2000" dirty="0"/>
          </a:p>
          <a:p>
            <a:pPr marL="800100" lvl="1" indent="-342900">
              <a:buFont typeface="Arial" panose="020B0604020202090204" pitchFamily="34" charset="0"/>
              <a:buChar char="•"/>
            </a:pPr>
            <a:r>
              <a:rPr lang="en-US" altLang="zh-CN" sz="2000" dirty="0"/>
              <a:t>Have a thorough set of test cases for all your code. </a:t>
            </a:r>
            <a:endParaRPr lang="en-US" altLang="zh-CN" sz="2000" dirty="0"/>
          </a:p>
          <a:p>
            <a:endParaRPr lang="en-US" altLang="zh-CN" sz="2000" dirty="0"/>
          </a:p>
          <a:p>
            <a:r>
              <a:rPr lang="en-US" altLang="zh-CN" sz="2000" dirty="0">
                <a:solidFill>
                  <a:srgbClr val="FF0000"/>
                </a:solidFill>
              </a:rPr>
              <a:t>In a production environment, expect to spend longer on coding and </a:t>
            </a:r>
            <a:r>
              <a:rPr lang="en-US" altLang="zh-CN" sz="2000" dirty="0" err="1">
                <a:solidFill>
                  <a:srgbClr val="FF0000"/>
                </a:solidFill>
              </a:rPr>
              <a:t>tesMng</a:t>
            </a:r>
            <a:r>
              <a:rPr lang="en-US" altLang="zh-CN" sz="2000" dirty="0">
                <a:solidFill>
                  <a:srgbClr val="FF0000"/>
                </a:solidFill>
              </a:rPr>
              <a:t> than in an academic setting.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335087" y="3977885"/>
            <a:ext cx="9521825" cy="644144"/>
          </a:xfrm>
          <a:prstGeom prst="rect">
            <a:avLst/>
          </a:prstGeom>
        </p:spPr>
        <p:txBody>
          <a:bodyPr wrap="square">
            <a:normAutofit lnSpcReduction="10000"/>
          </a:bodyPr>
          <a:lstStyle/>
          <a:p>
            <a:pPr algn="ctr"/>
            <a:r>
              <a:rPr lang="en-US" altLang="zh-CN" sz="3700" b="1" dirty="0">
                <a:solidFill>
                  <a:schemeClr val="accent1"/>
                </a:solidFill>
                <a:latin typeface="Helvetica" pitchFamily="2" charset="0"/>
                <a:cs typeface="+mn-ea"/>
              </a:rPr>
              <a:t>Reuse and Design Patterns</a:t>
            </a:r>
            <a:endParaRPr lang="zh-CN" altLang="en-US" sz="3700" b="1" dirty="0">
              <a:solidFill>
                <a:schemeClr val="accent1"/>
              </a:solidFill>
              <a:latin typeface="Helvetica" pitchFamily="2" charset="0"/>
              <a:cs typeface="+mn-ea"/>
              <a:sym typeface="+mn-lt"/>
            </a:endParaRPr>
          </a:p>
        </p:txBody>
      </p:sp>
      <p:grpSp>
        <p:nvGrpSpPr>
          <p:cNvPr id="4" name="组合 3"/>
          <p:cNvGrpSpPr/>
          <p:nvPr/>
        </p:nvGrpSpPr>
        <p:grpSpPr>
          <a:xfrm>
            <a:off x="4819048" y="1319889"/>
            <a:ext cx="2553904" cy="2646878"/>
            <a:chOff x="5865211" y="1319889"/>
            <a:chExt cx="2553904" cy="2646878"/>
          </a:xfrm>
        </p:grpSpPr>
        <p:sp>
          <p:nvSpPr>
            <p:cNvPr id="2" name="文本框 1"/>
            <p:cNvSpPr txBox="1"/>
            <p:nvPr/>
          </p:nvSpPr>
          <p:spPr>
            <a:xfrm>
              <a:off x="5865211" y="1319889"/>
              <a:ext cx="2553904" cy="2646878"/>
            </a:xfrm>
            <a:prstGeom prst="rect">
              <a:avLst/>
            </a:prstGeom>
            <a:noFill/>
          </p:spPr>
          <p:txBody>
            <a:bodyPr wrap="none" rtlCol="0">
              <a:spAutoFit/>
            </a:bodyPr>
            <a:lstStyle/>
            <a:p>
              <a:r>
                <a:rPr lang="en-US" altLang="zh-CN" sz="16600" dirty="0">
                  <a:solidFill>
                    <a:schemeClr val="accent1"/>
                  </a:solidFill>
                  <a:latin typeface="Helvetica" pitchFamily="2" charset="0"/>
                  <a:cs typeface="+mn-ea"/>
                  <a:sym typeface="+mn-lt"/>
                </a:rPr>
                <a:t>01</a:t>
              </a:r>
              <a:endParaRPr lang="zh-CN" altLang="en-US" sz="16600" dirty="0">
                <a:solidFill>
                  <a:schemeClr val="accent1"/>
                </a:solidFill>
                <a:latin typeface="Helvetica" pitchFamily="2" charset="0"/>
                <a:cs typeface="+mn-ea"/>
                <a:sym typeface="+mn-lt"/>
              </a:endParaRPr>
            </a:p>
          </p:txBody>
        </p:sp>
        <p:sp>
          <p:nvSpPr>
            <p:cNvPr id="3" name="文本框 2"/>
            <p:cNvSpPr txBox="1"/>
            <p:nvPr/>
          </p:nvSpPr>
          <p:spPr>
            <a:xfrm>
              <a:off x="5865211" y="2574748"/>
              <a:ext cx="2553904" cy="461665"/>
            </a:xfrm>
            <a:prstGeom prst="rect">
              <a:avLst/>
            </a:prstGeom>
            <a:solidFill>
              <a:schemeClr val="bg1"/>
            </a:solidFill>
          </p:spPr>
          <p:txBody>
            <a:bodyPr wrap="square" rtlCol="0">
              <a:spAutoFit/>
            </a:bodyPr>
            <a:lstStyle/>
            <a:p>
              <a:pPr algn="dist"/>
              <a:r>
                <a:rPr lang="en-US" altLang="zh-CN" sz="2400" dirty="0">
                  <a:solidFill>
                    <a:schemeClr val="accent1"/>
                  </a:solidFill>
                  <a:latin typeface="Helvetica" pitchFamily="2" charset="0"/>
                  <a:cs typeface="Arial" panose="020B0604020202090204" pitchFamily="34" charset="0"/>
                  <a:sym typeface="+mn-lt"/>
                </a:rPr>
                <a:t>PART</a:t>
              </a:r>
              <a:r>
                <a:rPr lang="zh-CN" altLang="en-US" sz="2400" dirty="0">
                  <a:solidFill>
                    <a:schemeClr val="accent1"/>
                  </a:solidFill>
                  <a:latin typeface="Helvetica" pitchFamily="2" charset="0"/>
                  <a:cs typeface="Arial" panose="020B0604020202090204" pitchFamily="34" charset="0"/>
                  <a:sym typeface="+mn-lt"/>
                </a:rPr>
                <a:t> </a:t>
              </a:r>
              <a:r>
                <a:rPr lang="en-US" altLang="zh-CN" sz="2400" dirty="0">
                  <a:solidFill>
                    <a:schemeClr val="accent1"/>
                  </a:solidFill>
                  <a:latin typeface="Helvetica" pitchFamily="2" charset="0"/>
                  <a:cs typeface="Arial" panose="020B0604020202090204" pitchFamily="34" charset="0"/>
                  <a:sym typeface="+mn-lt"/>
                </a:rPr>
                <a:t>FOUR </a:t>
              </a:r>
              <a:endParaRPr lang="zh-CN" altLang="en-US" sz="2400" dirty="0">
                <a:solidFill>
                  <a:schemeClr val="accent1"/>
                </a:solidFill>
                <a:latin typeface="Helvetica" pitchFamily="2" charset="0"/>
                <a:cs typeface="Arial" panose="020B0604020202090204" pitchFamily="34" charset="0"/>
                <a:sym typeface="+mn-lt"/>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Software Reuse</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419975" y="1202126"/>
            <a:ext cx="11663168" cy="4708981"/>
          </a:xfrm>
          <a:prstGeom prst="rect">
            <a:avLst/>
          </a:prstGeom>
          <a:noFill/>
        </p:spPr>
        <p:txBody>
          <a:bodyPr wrap="square">
            <a:spAutoFit/>
          </a:bodyPr>
          <a:lstStyle/>
          <a:p>
            <a:r>
              <a:rPr lang="en-US" altLang="zh-CN" sz="2000" dirty="0"/>
              <a:t>It is often good to design a program to reuse existing components. This can lead to better software at lower cost.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Potential benefits of reuse </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Reduced development time and cost</a:t>
            </a:r>
            <a:endParaRPr lang="en-US" altLang="zh-CN" sz="2000" dirty="0"/>
          </a:p>
          <a:p>
            <a:pPr marL="800100" lvl="1" indent="-342900">
              <a:buFont typeface="Arial" panose="020B0604020202090204" pitchFamily="34" charset="0"/>
              <a:buChar char="•"/>
            </a:pPr>
            <a:r>
              <a:rPr lang="en-US" altLang="zh-CN" sz="2000" dirty="0"/>
              <a:t>Improved reliability of mature components</a:t>
            </a:r>
            <a:endParaRPr lang="en-US" altLang="zh-CN" sz="2000" dirty="0"/>
          </a:p>
          <a:p>
            <a:pPr marL="800100" lvl="1" indent="-342900">
              <a:buFont typeface="Arial" panose="020B0604020202090204" pitchFamily="34" charset="0"/>
              <a:buChar char="•"/>
            </a:pPr>
            <a:r>
              <a:rPr lang="en-US" altLang="zh-CN" sz="2000" dirty="0"/>
              <a:t>Shared maintenance cost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Potential disadvantages of reuse</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Difficulty in finding appropriate components</a:t>
            </a:r>
            <a:endParaRPr lang="en-US" altLang="zh-CN" sz="2000" dirty="0"/>
          </a:p>
          <a:p>
            <a:pPr marL="800100" lvl="1" indent="-342900">
              <a:buFont typeface="Arial" panose="020B0604020202090204" pitchFamily="34" charset="0"/>
              <a:buChar char="•"/>
            </a:pPr>
            <a:r>
              <a:rPr lang="en-US" altLang="zh-CN" sz="2000" dirty="0"/>
              <a:t>Components may be a poor fit for application</a:t>
            </a:r>
            <a:endParaRPr lang="en-US" altLang="zh-CN" sz="2000" dirty="0"/>
          </a:p>
          <a:p>
            <a:pPr marL="800100" lvl="1" indent="-342900">
              <a:buFont typeface="Arial" panose="020B0604020202090204" pitchFamily="34" charset="0"/>
              <a:buChar char="•"/>
            </a:pPr>
            <a:r>
              <a:rPr lang="en-US" altLang="zh-CN" sz="2000" dirty="0"/>
              <a:t>Quality control and security may be unknown</a:t>
            </a:r>
            <a:endParaRPr lang="en-US" altLang="zh-CN" sz="2000" dirty="0"/>
          </a:p>
          <a:p>
            <a:pPr marL="800100" lvl="1" indent="-342900">
              <a:buFont typeface="Arial" panose="020B0604020202090204" pitchFamily="34" charset="0"/>
              <a:buChar char="•"/>
            </a:pPr>
            <a:endParaRPr lang="en-US" altLang="zh-CN" sz="2000" b="1" dirty="0">
              <a:solidFill>
                <a:srgbClr val="515223"/>
              </a:solidFill>
              <a:latin typeface="Helvetica" pitchFamily="2" charset="0"/>
              <a:cs typeface="Arial" panose="020B0604020202090204" pitchFamily="34" charset="0"/>
            </a:endParaRPr>
          </a:p>
          <a:p>
            <a:pPr lvl="1"/>
            <a:endParaRPr lang="en-US" altLang="zh-CN" sz="2000" b="1" dirty="0">
              <a:solidFill>
                <a:srgbClr val="515223"/>
              </a:solidFill>
              <a:latin typeface="Helvetica" pitchFamily="2" charset="0"/>
              <a:cs typeface="Arial" panose="020B0604020202090204" pitchFamily="34" charset="0"/>
            </a:endParaRPr>
          </a:p>
          <a:p>
            <a:pPr lvl="1"/>
            <a:r>
              <a:rPr lang="en-US" altLang="zh-CN" sz="2000" b="1" dirty="0">
                <a:solidFill>
                  <a:srgbClr val="C00000"/>
                </a:solidFill>
                <a:latin typeface="Helvetica" pitchFamily="2" charset="0"/>
                <a:cs typeface="Arial" panose="020B0604020202090204" pitchFamily="34" charset="0"/>
              </a:rPr>
              <a:t>Software Reuse -&gt; Component Reuse (Architecture Level) -&gt; Pattern Reuse (Program Level)  </a:t>
            </a:r>
            <a:endParaRPr lang="en-US" altLang="zh-CN" sz="2000" b="1" dirty="0">
              <a:solidFill>
                <a:srgbClr val="C00000"/>
              </a:solidFill>
              <a:latin typeface="Helvetica" pitchFamily="2" charset="0"/>
              <a:cs typeface="Arial" panose="020B060402020209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Evaluating Software</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689853"/>
            <a:ext cx="11163995" cy="3477875"/>
          </a:xfrm>
          <a:prstGeom prst="rect">
            <a:avLst/>
          </a:prstGeom>
          <a:noFill/>
        </p:spPr>
        <p:txBody>
          <a:bodyPr wrap="square">
            <a:spAutoFit/>
          </a:bodyPr>
          <a:lstStyle/>
          <a:p>
            <a:r>
              <a:rPr lang="en-US" altLang="zh-CN" sz="2000" dirty="0"/>
              <a:t>Software from well established developers is likely to be well written and tested, but still will have bugs and security weaknesses, especially when incorporated in unusual applications.</a:t>
            </a:r>
            <a:endParaRPr lang="en-US" altLang="zh-CN" sz="2000" dirty="0"/>
          </a:p>
          <a:p>
            <a:endParaRPr lang="en-US" altLang="zh-CN" sz="2000" dirty="0"/>
          </a:p>
          <a:p>
            <a:r>
              <a:rPr lang="en-US" altLang="zh-CN" sz="2000" dirty="0"/>
              <a:t>The software is likely to be much better than a new development team would write. </a:t>
            </a:r>
            <a:endParaRPr lang="en-US" altLang="zh-CN" sz="2000" dirty="0"/>
          </a:p>
          <a:p>
            <a:endParaRPr lang="en-US" altLang="zh-CN" sz="2000" dirty="0"/>
          </a:p>
          <a:p>
            <a:r>
              <a:rPr lang="en-US" altLang="zh-CN" sz="2000" dirty="0"/>
              <a:t>But sometimes it is sensible to write code for a narrowly defined purpose rather than use general purpose software.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Maintenance </a:t>
            </a:r>
            <a:endParaRPr lang="en-US" altLang="zh-CN" sz="2000" b="1" dirty="0">
              <a:solidFill>
                <a:srgbClr val="515223"/>
              </a:solidFill>
              <a:latin typeface="Helvetica" pitchFamily="2" charset="0"/>
              <a:cs typeface="Arial" panose="020B0604020202090204" pitchFamily="34" charset="0"/>
            </a:endParaRPr>
          </a:p>
          <a:p>
            <a:r>
              <a:rPr lang="en-US" altLang="zh-CN" sz="2000" dirty="0"/>
              <a:t>When evaluating software, both commercial and open source, pay attention to maintenance. Is the software supported by an organization that will continue maintenance over the long term?</a:t>
            </a:r>
            <a:endParaRPr lang="en-US" altLang="zh-CN" sz="2000" dirty="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Reuse: Open Source Software</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548448"/>
            <a:ext cx="11163995" cy="3170099"/>
          </a:xfrm>
          <a:prstGeom prst="rect">
            <a:avLst/>
          </a:prstGeom>
          <a:noFill/>
        </p:spPr>
        <p:txBody>
          <a:bodyPr wrap="square">
            <a:spAutoFit/>
          </a:bodyPr>
          <a:lstStyle/>
          <a:p>
            <a:r>
              <a:rPr lang="en-US" altLang="zh-CN" sz="2000" dirty="0"/>
              <a:t>Open source software varies enormously in quality.</a:t>
            </a:r>
            <a:endParaRPr lang="en-US" altLang="zh-CN" sz="2000" dirty="0"/>
          </a:p>
          <a:p>
            <a:pPr marL="800100" lvl="1" indent="-342900">
              <a:buFont typeface="Arial" panose="020B0604020202090204" pitchFamily="34" charset="0"/>
              <a:buChar char="•"/>
            </a:pPr>
            <a:r>
              <a:rPr lang="en-US" altLang="zh-CN" sz="2000" dirty="0"/>
              <a:t>Because of the processes for reporting and fixing problems, major systems such as Linux, Apache, Python, Lucene, etc. tend to be very robust and free from problems. They are often better than the commercial equivalents.</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More experimental systems, such as Hadoop, have solid cores, but their lesser used features have not been subject to the rigorous quality control of the best software products.</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Other open source software is of poor quality and should not be incorporated in production systems. </a:t>
            </a:r>
            <a:endParaRPr lang="en-US" altLang="zh-CN"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Evaluating Applications Packages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62948" y="1341058"/>
            <a:ext cx="11163995" cy="3477875"/>
          </a:xfrm>
          <a:prstGeom prst="rect">
            <a:avLst/>
          </a:prstGeom>
          <a:noFill/>
        </p:spPr>
        <p:txBody>
          <a:bodyPr wrap="square">
            <a:spAutoFit/>
          </a:bodyPr>
          <a:lstStyle/>
          <a:p>
            <a:r>
              <a:rPr lang="en-US" altLang="zh-CN" sz="2000" dirty="0"/>
              <a:t>Applications packages for business functions are provided by companies like cloud providers. They provide </a:t>
            </a:r>
            <a:r>
              <a:rPr lang="en-US" altLang="zh-CN" sz="2000" dirty="0">
                <a:solidFill>
                  <a:srgbClr val="FF0000"/>
                </a:solidFill>
              </a:rPr>
              <a:t>enormous capabilities </a:t>
            </a:r>
            <a:r>
              <a:rPr lang="en-US" altLang="zh-CN" sz="2000" dirty="0"/>
              <a:t>and relieve an organization from such tasks as updating financial systems when laws change.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They are very expensive:</a:t>
            </a:r>
            <a:endParaRPr lang="en-US" altLang="zh-CN" sz="2000" b="1" dirty="0">
              <a:solidFill>
                <a:srgbClr val="515223"/>
              </a:solidFill>
              <a:latin typeface="Helvetica" pitchFamily="2" charset="0"/>
              <a:cs typeface="Arial" panose="020B0604020202090204" pitchFamily="34" charset="0"/>
            </a:endParaRPr>
          </a:p>
          <a:p>
            <a:r>
              <a:rPr lang="en-US" altLang="zh-CN" sz="2000" dirty="0"/>
              <a:t>Subscription fees to the vendor.</a:t>
            </a:r>
            <a:endParaRPr lang="en-US" altLang="zh-CN" sz="2000" dirty="0"/>
          </a:p>
          <a:p>
            <a:r>
              <a:rPr lang="en-US" altLang="zh-CN" sz="2000" dirty="0"/>
              <a:t>Modifications to existing systems and special code from the vendor.</a:t>
            </a:r>
            <a:endParaRPr lang="en-US" altLang="zh-CN" sz="2000" dirty="0"/>
          </a:p>
          <a:p>
            <a:r>
              <a:rPr lang="en-US" altLang="zh-CN" sz="2000" dirty="0"/>
              <a:t>Disruption to the organization when installing them.</a:t>
            </a:r>
            <a:endParaRPr lang="en-US" altLang="zh-CN" sz="2000" dirty="0"/>
          </a:p>
          <a:p>
            <a:r>
              <a:rPr lang="en-US" altLang="zh-CN" sz="2000" dirty="0"/>
              <a:t>Long term maintenance costs.</a:t>
            </a:r>
            <a:endParaRPr lang="en-US" altLang="zh-CN" sz="2000" dirty="0"/>
          </a:p>
          <a:p>
            <a:r>
              <a:rPr lang="en-US" altLang="zh-CN" sz="2000" dirty="0"/>
              <a:t>The costs of changing to a different vendor are huge. </a:t>
            </a:r>
            <a:endParaRPr lang="en-US" altLang="zh-CN" sz="2000" dirty="0"/>
          </a:p>
          <a:p>
            <a:endParaRPr lang="en-US" altLang="zh-CN" sz="2000"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754977" y="3724745"/>
            <a:ext cx="3971966" cy="2405383"/>
          </a:xfrm>
          <a:prstGeom prst="rect">
            <a:avLst/>
          </a:prstGeom>
        </p:spPr>
      </p:pic>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6976" y="4895462"/>
            <a:ext cx="4935490" cy="191744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t>Design for Change: Replacement of Components</a:t>
            </a:r>
            <a:endParaRPr lang="en-US" sz="48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745995" y="1353472"/>
            <a:ext cx="11163995" cy="2554545"/>
          </a:xfrm>
          <a:prstGeom prst="rect">
            <a:avLst/>
          </a:prstGeom>
          <a:noFill/>
        </p:spPr>
        <p:txBody>
          <a:bodyPr wrap="square">
            <a:spAutoFit/>
          </a:bodyPr>
          <a:lstStyle/>
          <a:p>
            <a:r>
              <a:rPr lang="en-US" altLang="zh-CN" sz="2000" dirty="0"/>
              <a:t>The software design should anticipate possible changes in the system over its life-cycle.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New vendor or new technology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Components are replaced because its supplier goes out of business, ceases to provide adequate support, increases its price, etc., or because software from another source provides better functionality, support, pricing, etc. </a:t>
            </a:r>
            <a:endParaRPr lang="en-US" altLang="zh-CN" sz="2000" dirty="0"/>
          </a:p>
          <a:p>
            <a:endParaRPr lang="en-US" altLang="zh-CN" sz="2000" dirty="0"/>
          </a:p>
          <a:p>
            <a:r>
              <a:rPr lang="en-US" altLang="zh-CN" sz="2000" dirty="0"/>
              <a:t>This can apply to either </a:t>
            </a:r>
            <a:r>
              <a:rPr lang="en-US" altLang="zh-CN" sz="2000" dirty="0">
                <a:solidFill>
                  <a:srgbClr val="FF0000"/>
                </a:solidFill>
              </a:rPr>
              <a:t>open source </a:t>
            </a:r>
            <a:r>
              <a:rPr lang="en-US" altLang="zh-CN" sz="2000" dirty="0"/>
              <a:t>or </a:t>
            </a:r>
            <a:r>
              <a:rPr lang="en-US" altLang="zh-CN" sz="2000" dirty="0">
                <a:solidFill>
                  <a:srgbClr val="FF0000"/>
                </a:solidFill>
              </a:rPr>
              <a:t>vendor (cloud) supplied </a:t>
            </a:r>
            <a:r>
              <a:rPr lang="en-US" altLang="zh-CN" sz="2000" dirty="0"/>
              <a:t>components. </a:t>
            </a:r>
            <a:endParaRPr lang="en-US" altLang="zh-CN" sz="2000" b="1" dirty="0">
              <a:solidFill>
                <a:srgbClr val="FF0000"/>
              </a:solidFill>
              <a:latin typeface="Helvetica" pitchFamily="2" charset="0"/>
              <a:cs typeface="Arial" panose="020B0604020202090204" pitchFamily="34" charset="0"/>
            </a:endParaRPr>
          </a:p>
        </p:txBody>
      </p:sp>
      <p:sp>
        <p:nvSpPr>
          <p:cNvPr id="4" name="文本框 5"/>
          <p:cNvSpPr txBox="1"/>
          <p:nvPr/>
        </p:nvSpPr>
        <p:spPr>
          <a:xfrm>
            <a:off x="745995" y="4232790"/>
            <a:ext cx="9550399" cy="1631216"/>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New implementation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The original implementation may be problematic, e.g., poor performance, inadequate back-up and recovery, difficult to troubleshoot, or unable to support growth and new features added to the system. </a:t>
            </a:r>
            <a:endParaRPr lang="en-US" altLang="zh-CN" sz="2000" dirty="0"/>
          </a:p>
          <a:p>
            <a:endParaRPr lang="en-US" altLang="zh-CN"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t>Design for Change: Replacement of Components</a:t>
            </a:r>
            <a:endParaRPr lang="en-US" sz="48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02898"/>
            <a:ext cx="9550399"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Additions to the requirements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When a system goes into production, it is usual to reveal both </a:t>
            </a:r>
            <a:r>
              <a:rPr lang="en-US" altLang="zh-CN" sz="2000" dirty="0">
                <a:solidFill>
                  <a:srgbClr val="FF0000"/>
                </a:solidFill>
              </a:rPr>
              <a:t>weaknesses</a:t>
            </a:r>
            <a:r>
              <a:rPr lang="en-US" altLang="zh-CN" sz="2000" dirty="0"/>
              <a:t> and </a:t>
            </a:r>
            <a:r>
              <a:rPr lang="en-US" altLang="zh-CN" sz="2000" dirty="0">
                <a:solidFill>
                  <a:srgbClr val="FF0000"/>
                </a:solidFill>
              </a:rPr>
              <a:t>opportunities</a:t>
            </a:r>
            <a:r>
              <a:rPr lang="en-US" altLang="zh-CN" sz="2000" dirty="0"/>
              <a:t> for extra functionality and enhancement to the user interface design. </a:t>
            </a:r>
            <a:endParaRPr lang="en-US" altLang="zh-CN" sz="2000" dirty="0"/>
          </a:p>
          <a:p>
            <a:pPr lvl="1"/>
            <a:r>
              <a:rPr lang="en-US" altLang="zh-CN" sz="2000" dirty="0"/>
              <a:t>For example, in a data-intensive system it is almost certain that there will be requests for extra reports and ways of analyzing the data. </a:t>
            </a:r>
            <a:endParaRPr lang="en-US" altLang="zh-CN" sz="2000" dirty="0"/>
          </a:p>
          <a:p>
            <a:endParaRPr lang="en-US" altLang="zh-CN" sz="2000" dirty="0"/>
          </a:p>
          <a:p>
            <a:endParaRPr lang="en-US" altLang="zh-CN" sz="2000" dirty="0"/>
          </a:p>
          <a:p>
            <a:r>
              <a:rPr lang="en-US" altLang="zh-CN" sz="2000" dirty="0">
                <a:solidFill>
                  <a:srgbClr val="FF0000"/>
                </a:solidFill>
              </a:rPr>
              <a:t>Requests for enhancements are often the sign of a successful system. Clients recognize latent possibilities.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t>Design for Change: Replacement of Components</a:t>
            </a:r>
            <a:endParaRPr lang="en-US" sz="48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Changes in the application domain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Most application domains change continually, e.g., because of business opportunities, external changes (such as new laws), mergers and take-overs, new groups of users, new technology, etc. </a:t>
            </a:r>
            <a:endParaRPr lang="en-US" altLang="zh-CN" sz="2000" dirty="0"/>
          </a:p>
          <a:p>
            <a:endParaRPr lang="en-US" altLang="zh-CN" sz="2000" dirty="0"/>
          </a:p>
          <a:p>
            <a:endParaRPr lang="en-US" altLang="zh-CN" sz="2000" dirty="0"/>
          </a:p>
          <a:p>
            <a:r>
              <a:rPr lang="en-US" altLang="zh-CN" sz="2000" dirty="0"/>
              <a:t>It is rarely feasible to implement a completely new system when the application domain changes. Therefore existing systems must be modified. </a:t>
            </a:r>
            <a:r>
              <a:rPr lang="en-US" altLang="zh-CN" sz="2000" dirty="0">
                <a:solidFill>
                  <a:srgbClr val="FF0000"/>
                </a:solidFill>
              </a:rPr>
              <a:t>This may involve extensive restructuring, but it is important to reuse existing code as much as possible.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Design Patterns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48304" y="2572201"/>
            <a:ext cx="9550399" cy="132343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Design patterns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solidFill>
                  <a:srgbClr val="FF0000"/>
                </a:solidFill>
              </a:rPr>
              <a:t>Design patterns </a:t>
            </a:r>
            <a:r>
              <a:rPr lang="en-US" altLang="zh-CN" sz="2000" dirty="0"/>
              <a:t>are template designs that can be used in a variety of systems. They are particularly appropriate in situations where classes are likely to be reused in a </a:t>
            </a:r>
            <a:r>
              <a:rPr lang="en-US" altLang="zh-CN" sz="2000" dirty="0">
                <a:solidFill>
                  <a:srgbClr val="FF0000"/>
                </a:solidFill>
              </a:rPr>
              <a:t>system that evolves over time</a:t>
            </a:r>
            <a:r>
              <a:rPr lang="en-US" altLang="zh-CN" sz="2000" dirty="0"/>
              <a:t>.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Inheritance and Abstract Classes</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3477875"/>
          </a:xfrm>
          <a:prstGeom prst="rect">
            <a:avLst/>
          </a:prstGeom>
          <a:noFill/>
        </p:spPr>
        <p:txBody>
          <a:bodyPr wrap="square">
            <a:spAutoFit/>
          </a:bodyPr>
          <a:lstStyle/>
          <a:p>
            <a:r>
              <a:rPr lang="en-US" altLang="zh-CN" sz="2000" dirty="0"/>
              <a:t>Design patterns make extensive use of </a:t>
            </a:r>
            <a:r>
              <a:rPr lang="en-US" altLang="zh-CN" sz="2000" dirty="0">
                <a:solidFill>
                  <a:srgbClr val="FF0000"/>
                </a:solidFill>
              </a:rPr>
              <a:t>inheritance</a:t>
            </a:r>
            <a:r>
              <a:rPr lang="en-US" altLang="zh-CN" sz="2000" dirty="0"/>
              <a:t> and </a:t>
            </a:r>
            <a:r>
              <a:rPr lang="en-US" altLang="zh-CN" sz="2000" dirty="0">
                <a:solidFill>
                  <a:srgbClr val="FF0000"/>
                </a:solidFill>
              </a:rPr>
              <a:t>abstract classes</a:t>
            </a:r>
            <a:r>
              <a:rPr lang="en-US" altLang="zh-CN" sz="2000" dirty="0"/>
              <a:t>. </a:t>
            </a:r>
            <a:endParaRPr lang="en-US" altLang="zh-CN" sz="2000" dirty="0"/>
          </a:p>
          <a:p>
            <a:endParaRPr lang="en-US" altLang="zh-CN" sz="2000" dirty="0"/>
          </a:p>
          <a:p>
            <a:r>
              <a:rPr lang="en-US" altLang="zh-CN" sz="2000" dirty="0"/>
              <a:t>Classes can be defined in terms of other classes using </a:t>
            </a:r>
            <a:r>
              <a:rPr lang="en-US" altLang="zh-CN" sz="2000" dirty="0">
                <a:solidFill>
                  <a:srgbClr val="FF0000"/>
                </a:solidFill>
              </a:rPr>
              <a:t>inheritance</a:t>
            </a:r>
            <a:r>
              <a:rPr lang="en-US" altLang="zh-CN" sz="2000" dirty="0"/>
              <a:t>. The generalization class is called the </a:t>
            </a:r>
            <a:r>
              <a:rPr lang="en-US" altLang="zh-CN" sz="2000" dirty="0">
                <a:solidFill>
                  <a:srgbClr val="FF0000"/>
                </a:solidFill>
              </a:rPr>
              <a:t>superclass</a:t>
            </a:r>
            <a:r>
              <a:rPr lang="en-US" altLang="zh-CN" sz="2000" dirty="0"/>
              <a:t> and the specialization is called the </a:t>
            </a:r>
            <a:r>
              <a:rPr lang="en-US" altLang="zh-CN" sz="2000" dirty="0">
                <a:solidFill>
                  <a:srgbClr val="FF0000"/>
                </a:solidFill>
              </a:rPr>
              <a:t>subclass</a:t>
            </a:r>
            <a:r>
              <a:rPr lang="en-US" altLang="zh-CN" sz="2000" dirty="0"/>
              <a:t>. </a:t>
            </a:r>
            <a:endParaRPr lang="en-US" altLang="zh-CN" sz="2000" dirty="0"/>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Abstract class </a:t>
            </a:r>
            <a:endParaRPr lang="en-US" altLang="zh-CN" sz="2000" b="1" dirty="0">
              <a:solidFill>
                <a:srgbClr val="515223"/>
              </a:solidFill>
              <a:latin typeface="Helvetica" pitchFamily="2" charset="0"/>
              <a:cs typeface="Arial" panose="020B0604020202090204" pitchFamily="34" charset="0"/>
            </a:endParaRPr>
          </a:p>
          <a:p>
            <a:r>
              <a:rPr lang="en-US" altLang="zh-CN" sz="2000" dirty="0"/>
              <a:t>Abstract classes are </a:t>
            </a:r>
            <a:r>
              <a:rPr lang="en-US" altLang="zh-CN" sz="2000" dirty="0" err="1">
                <a:solidFill>
                  <a:srgbClr val="FF0000"/>
                </a:solidFill>
              </a:rPr>
              <a:t>superclasses</a:t>
            </a:r>
            <a:r>
              <a:rPr lang="en-US" altLang="zh-CN" sz="2000" dirty="0"/>
              <a:t> which contain </a:t>
            </a:r>
            <a:r>
              <a:rPr lang="en-US" altLang="zh-CN" sz="2000" dirty="0">
                <a:solidFill>
                  <a:srgbClr val="FF0000"/>
                </a:solidFill>
              </a:rPr>
              <a:t>abstract methods </a:t>
            </a:r>
            <a:r>
              <a:rPr lang="en-US" altLang="zh-CN" sz="2000" dirty="0"/>
              <a:t>and are defined such that concrete </a:t>
            </a:r>
            <a:r>
              <a:rPr lang="en-US" altLang="zh-CN" sz="2000" dirty="0">
                <a:solidFill>
                  <a:srgbClr val="FF0000"/>
                </a:solidFill>
              </a:rPr>
              <a:t>subclasses</a:t>
            </a:r>
            <a:r>
              <a:rPr lang="en-US" altLang="zh-CN" sz="2000" dirty="0"/>
              <a:t> extend them by implementing the abstract methods. Before a class derived from an abstract class can be instantiated it must implement </a:t>
            </a:r>
            <a:r>
              <a:rPr lang="en-US" altLang="zh-CN" sz="2000" dirty="0">
                <a:solidFill>
                  <a:srgbClr val="FF0000"/>
                </a:solidFill>
              </a:rPr>
              <a:t>concrete methods </a:t>
            </a:r>
            <a:r>
              <a:rPr lang="en-US" altLang="zh-CN" sz="2000" dirty="0"/>
              <a:t>for all the abstract methods of its parent classes.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t>Adapter (Wrapper): Wrapping Around Legacy Code</a:t>
            </a:r>
            <a:endParaRPr lang="en-US" sz="8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34778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Problem description: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Convert the </a:t>
            </a:r>
            <a:r>
              <a:rPr lang="en-US" altLang="zh-CN" sz="2000" dirty="0">
                <a:solidFill>
                  <a:srgbClr val="FF0000"/>
                </a:solidFill>
              </a:rPr>
              <a:t>interface</a:t>
            </a:r>
            <a:r>
              <a:rPr lang="en-US" altLang="zh-CN" sz="2000" dirty="0"/>
              <a:t> of a </a:t>
            </a:r>
            <a:r>
              <a:rPr lang="en-US" altLang="zh-CN" sz="2000" dirty="0">
                <a:solidFill>
                  <a:srgbClr val="FF0000"/>
                </a:solidFill>
              </a:rPr>
              <a:t>legacy class </a:t>
            </a:r>
            <a:r>
              <a:rPr lang="en-US" altLang="zh-CN" sz="2000" dirty="0"/>
              <a:t>into a different interface expected by the client, so that the client and the legacy class can work together without changes. </a:t>
            </a:r>
            <a:endParaRPr lang="en-US" altLang="zh-CN" sz="2000" dirty="0"/>
          </a:p>
          <a:p>
            <a:pPr lvl="1"/>
            <a:r>
              <a:rPr lang="en-US" altLang="zh-CN" sz="2000" dirty="0"/>
              <a:t>This problem often occurs during a transitional period, when the long</a:t>
            </a:r>
            <a:r>
              <a:rPr lang="zh-CN" altLang="en-US" sz="2000" dirty="0"/>
              <a:t> </a:t>
            </a:r>
            <a:r>
              <a:rPr lang="en-US" altLang="zh-CN" sz="2000" dirty="0"/>
              <a:t>term plan is to phase out the legacy system. </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Example: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How do you use a web browser to access an information retrieval system that was designed for a different client?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Adapter Design Pattern: The Problem</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40275" y="1401690"/>
            <a:ext cx="5305373" cy="2498979"/>
          </a:xfrm>
          <a:prstGeom prst="rect">
            <a:avLst/>
          </a:prstGeom>
        </p:spPr>
      </p:pic>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5648" y="3315478"/>
            <a:ext cx="4291486" cy="291263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t>Adapter Design Pattern: Object Diagram</a:t>
            </a:r>
            <a:endParaRPr lang="en-US" sz="16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04781" y="1729967"/>
            <a:ext cx="5575402" cy="3226421"/>
          </a:xfrm>
          <a:prstGeom prst="rect">
            <a:avLst/>
          </a:prstGeom>
        </p:spPr>
      </p:pic>
      <p:sp>
        <p:nvSpPr>
          <p:cNvPr id="8" name="TextBox 7"/>
          <p:cNvSpPr txBox="1"/>
          <p:nvPr/>
        </p:nvSpPr>
        <p:spPr>
          <a:xfrm>
            <a:off x="478680" y="1526827"/>
            <a:ext cx="6094854" cy="4401205"/>
          </a:xfrm>
          <a:prstGeom prst="rect">
            <a:avLst/>
          </a:prstGeom>
          <a:noFill/>
        </p:spPr>
        <p:txBody>
          <a:bodyPr wrap="square">
            <a:spAutoFit/>
          </a:bodyPr>
          <a:lstStyle/>
          <a:p>
            <a:pPr algn="l">
              <a:buFont typeface="+mj-lt"/>
              <a:buAutoNum type="arabicPeriod"/>
            </a:pPr>
            <a:r>
              <a:rPr lang="en-US" sz="2000" dirty="0"/>
              <a:t>The </a:t>
            </a:r>
            <a:r>
              <a:rPr lang="en-US" sz="2000" dirty="0">
                <a:solidFill>
                  <a:srgbClr val="C00000"/>
                </a:solidFill>
              </a:rPr>
              <a:t>Client</a:t>
            </a:r>
            <a:r>
              <a:rPr lang="en-US" sz="2000" dirty="0"/>
              <a:t> is a class that contains the existing business logic of the program.</a:t>
            </a:r>
            <a:endParaRPr lang="en-US" sz="2000" dirty="0"/>
          </a:p>
          <a:p>
            <a:pPr algn="l">
              <a:buFont typeface="+mj-lt"/>
              <a:buAutoNum type="arabicPeriod"/>
            </a:pPr>
            <a:endParaRPr lang="en-US" sz="2000" dirty="0"/>
          </a:p>
          <a:p>
            <a:pPr algn="l">
              <a:buFont typeface="+mj-lt"/>
              <a:buAutoNum type="arabicPeriod"/>
            </a:pPr>
            <a:r>
              <a:rPr lang="en-US" sz="2000" dirty="0"/>
              <a:t>The </a:t>
            </a:r>
            <a:r>
              <a:rPr lang="en-US" sz="2000" dirty="0">
                <a:solidFill>
                  <a:srgbClr val="C00000"/>
                </a:solidFill>
              </a:rPr>
              <a:t>Client Interface </a:t>
            </a:r>
            <a:r>
              <a:rPr lang="en-US" sz="2000" dirty="0"/>
              <a:t>describes a protocol that other classes must follow to be able to collaborate with the client code.</a:t>
            </a:r>
            <a:endParaRPr lang="en-US" sz="2000" dirty="0"/>
          </a:p>
          <a:p>
            <a:pPr algn="l">
              <a:buFont typeface="+mj-lt"/>
              <a:buAutoNum type="arabicPeriod"/>
            </a:pPr>
            <a:endParaRPr lang="en-US" sz="2000" dirty="0"/>
          </a:p>
          <a:p>
            <a:pPr algn="l">
              <a:buFont typeface="+mj-lt"/>
              <a:buAutoNum type="arabicPeriod"/>
            </a:pPr>
            <a:r>
              <a:rPr lang="en-US" sz="2000" dirty="0"/>
              <a:t>The </a:t>
            </a:r>
            <a:r>
              <a:rPr lang="en-US" sz="2000" dirty="0">
                <a:solidFill>
                  <a:srgbClr val="C00000"/>
                </a:solidFill>
              </a:rPr>
              <a:t>Service (</a:t>
            </a:r>
            <a:r>
              <a:rPr lang="en-US" sz="2000" dirty="0" err="1">
                <a:solidFill>
                  <a:srgbClr val="C00000"/>
                </a:solidFill>
              </a:rPr>
              <a:t>Adaptee</a:t>
            </a:r>
            <a:r>
              <a:rPr lang="en-US" sz="2000" dirty="0">
                <a:solidFill>
                  <a:srgbClr val="C00000"/>
                </a:solidFill>
              </a:rPr>
              <a:t>)</a:t>
            </a:r>
            <a:r>
              <a:rPr lang="en-US" sz="2000" dirty="0"/>
              <a:t> is some useful class (usually 3rd-party or legacy). The client can’t use this class directly because it has an incompatible interface.</a:t>
            </a:r>
            <a:endParaRPr lang="en-US" sz="2000" dirty="0"/>
          </a:p>
          <a:p>
            <a:pPr algn="l">
              <a:buFont typeface="+mj-lt"/>
              <a:buAutoNum type="arabicPeriod"/>
            </a:pPr>
            <a:endParaRPr lang="en-US" sz="2000" dirty="0"/>
          </a:p>
          <a:p>
            <a:pPr algn="l">
              <a:buFont typeface="+mj-lt"/>
              <a:buAutoNum type="arabicPeriod"/>
            </a:pPr>
            <a:r>
              <a:rPr lang="en-US" sz="2000" dirty="0"/>
              <a:t>The </a:t>
            </a:r>
            <a:r>
              <a:rPr lang="en-US" sz="2000" dirty="0">
                <a:solidFill>
                  <a:srgbClr val="C00000"/>
                </a:solidFill>
              </a:rPr>
              <a:t>Adapter</a:t>
            </a:r>
            <a:r>
              <a:rPr lang="en-US" sz="2000" dirty="0"/>
              <a:t> is a class that’s able to work with both the client and the service.</a:t>
            </a:r>
            <a:endParaRPr lang="en-US" sz="2000" dirty="0"/>
          </a:p>
        </p:txBody>
      </p:sp>
      <p:sp>
        <p:nvSpPr>
          <p:cNvPr id="5" name="TextBox 4"/>
          <p:cNvSpPr txBox="1"/>
          <p:nvPr/>
        </p:nvSpPr>
        <p:spPr>
          <a:xfrm>
            <a:off x="10330406" y="2973845"/>
            <a:ext cx="1035934" cy="369332"/>
          </a:xfrm>
          <a:prstGeom prst="rect">
            <a:avLst/>
          </a:prstGeom>
          <a:noFill/>
        </p:spPr>
        <p:txBody>
          <a:bodyPr wrap="square">
            <a:spAutoFit/>
          </a:bodyPr>
          <a:lstStyle/>
          <a:p>
            <a:r>
              <a:rPr lang="en-US" sz="1800" dirty="0" err="1">
                <a:solidFill>
                  <a:srgbClr val="C00000"/>
                </a:solidFill>
              </a:rPr>
              <a:t>Adaptee</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6613" y="1049168"/>
            <a:ext cx="6716469" cy="4228888"/>
          </a:xfrm>
          <a:prstGeom prst="rect">
            <a:avLst/>
          </a:prstGeom>
        </p:spPr>
      </p:pic>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9488" y="1328863"/>
            <a:ext cx="5345899" cy="3057942"/>
          </a:xfrm>
          <a:prstGeom prst="rect">
            <a:avLst/>
          </a:prstGeom>
        </p:spPr>
      </p:pic>
      <p:sp>
        <p:nvSpPr>
          <p:cNvPr id="2" name="Rectangle 1"/>
          <p:cNvSpPr/>
          <p:nvPr/>
        </p:nvSpPr>
        <p:spPr>
          <a:xfrm>
            <a:off x="6699488" y="1415744"/>
            <a:ext cx="5345899" cy="182094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2331" y="1199638"/>
            <a:ext cx="6716469" cy="4228888"/>
          </a:xfrm>
          <a:prstGeom prst="rect">
            <a:avLst/>
          </a:prstGeom>
        </p:spPr>
      </p:pic>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8800" y="1671040"/>
            <a:ext cx="5283200" cy="2730500"/>
          </a:xfrm>
          <a:prstGeom prst="rect">
            <a:avLst/>
          </a:prstGeom>
        </p:spPr>
      </p:pic>
      <p:sp>
        <p:nvSpPr>
          <p:cNvPr id="5" name="Rectangle 4"/>
          <p:cNvSpPr/>
          <p:nvPr/>
        </p:nvSpPr>
        <p:spPr>
          <a:xfrm>
            <a:off x="1072157" y="1444772"/>
            <a:ext cx="5023843" cy="1591518"/>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8800" y="4532910"/>
            <a:ext cx="4076700" cy="13081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291" y="1211213"/>
            <a:ext cx="6716469" cy="4228888"/>
          </a:xfrm>
          <a:prstGeom prst="rect">
            <a:avLst/>
          </a:prstGeom>
        </p:spPr>
      </p:pic>
      <p:sp>
        <p:nvSpPr>
          <p:cNvPr id="5" name="Rectangle 4"/>
          <p:cNvSpPr/>
          <p:nvPr/>
        </p:nvSpPr>
        <p:spPr>
          <a:xfrm>
            <a:off x="865603" y="3325657"/>
            <a:ext cx="5567948" cy="1963973"/>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4761" y="653970"/>
            <a:ext cx="4622800" cy="1587500"/>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761" y="2476821"/>
            <a:ext cx="5567948" cy="372720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6613" y="1049168"/>
            <a:ext cx="6716469" cy="4228888"/>
          </a:xfrm>
          <a:prstGeom prst="rect">
            <a:avLst/>
          </a:prstGeom>
        </p:spPr>
      </p:pic>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9488" y="1328863"/>
            <a:ext cx="5345899" cy="3057942"/>
          </a:xfrm>
          <a:prstGeom prst="rect">
            <a:avLst/>
          </a:prstGeom>
        </p:spPr>
      </p:pic>
      <p:sp>
        <p:nvSpPr>
          <p:cNvPr id="2" name="Rectangle 1"/>
          <p:cNvSpPr/>
          <p:nvPr/>
        </p:nvSpPr>
        <p:spPr>
          <a:xfrm>
            <a:off x="6699487" y="3346144"/>
            <a:ext cx="5345899" cy="97185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Adapter Design Pattern: Consequences</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246769"/>
          </a:xfrm>
          <a:prstGeom prst="rect">
            <a:avLst/>
          </a:prstGeom>
          <a:noFill/>
        </p:spPr>
        <p:txBody>
          <a:bodyPr wrap="square">
            <a:spAutoFit/>
          </a:bodyPr>
          <a:lstStyle/>
          <a:p>
            <a:r>
              <a:rPr lang="en-US" altLang="zh-CN" sz="2000" dirty="0"/>
              <a:t>The following </a:t>
            </a:r>
            <a:r>
              <a:rPr lang="en-US" altLang="zh-CN" sz="2000" dirty="0">
                <a:solidFill>
                  <a:srgbClr val="FF0000"/>
                </a:solidFill>
              </a:rPr>
              <a:t>consequences</a:t>
            </a:r>
            <a:r>
              <a:rPr lang="en-US" altLang="zh-CN" sz="2000" dirty="0"/>
              <a:t> apply whenever the Adapter design pattern is used.</a:t>
            </a:r>
            <a:endParaRPr lang="en-US" altLang="zh-CN" sz="2000" dirty="0"/>
          </a:p>
          <a:p>
            <a:r>
              <a:rPr lang="en-US" altLang="zh-CN" sz="2000" dirty="0"/>
              <a:t> </a:t>
            </a:r>
            <a:endParaRPr lang="en-US" altLang="zh-CN" sz="2000" dirty="0"/>
          </a:p>
          <a:p>
            <a:pPr marL="800100" lvl="1" indent="-342900">
              <a:buFont typeface="Arial" panose="020B0604020202090204" pitchFamily="34" charset="0"/>
              <a:buChar char="•"/>
            </a:pPr>
            <a:r>
              <a:rPr lang="en-US" altLang="zh-CN" sz="2000" dirty="0">
                <a:solidFill>
                  <a:srgbClr val="FF0000"/>
                </a:solidFill>
              </a:rPr>
              <a:t>Client</a:t>
            </a:r>
            <a:r>
              <a:rPr lang="en-US" altLang="zh-CN" sz="2000" dirty="0"/>
              <a:t> and </a:t>
            </a:r>
            <a:r>
              <a:rPr lang="en-US" altLang="zh-CN" sz="2000" dirty="0" err="1">
                <a:solidFill>
                  <a:srgbClr val="FF0000"/>
                </a:solidFill>
              </a:rPr>
              <a:t>Adaptee</a:t>
            </a:r>
            <a:r>
              <a:rPr lang="en-US" altLang="zh-CN" sz="2000" dirty="0"/>
              <a:t> work together without modification of either.</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solidFill>
                  <a:srgbClr val="FF0000"/>
                </a:solidFill>
              </a:rPr>
              <a:t>Adapter</a:t>
            </a:r>
            <a:r>
              <a:rPr lang="en-US" altLang="zh-CN" sz="2000" dirty="0"/>
              <a:t> works with </a:t>
            </a:r>
            <a:r>
              <a:rPr lang="en-US" altLang="zh-CN" sz="2000" dirty="0" err="1">
                <a:solidFill>
                  <a:srgbClr val="FF0000"/>
                </a:solidFill>
              </a:rPr>
              <a:t>Adaptee</a:t>
            </a:r>
            <a:r>
              <a:rPr lang="en-US" altLang="zh-CN" sz="2000" dirty="0"/>
              <a:t> and all of its subclasses.</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A new </a:t>
            </a:r>
            <a:r>
              <a:rPr lang="en-US" altLang="zh-CN" sz="2000" dirty="0">
                <a:solidFill>
                  <a:srgbClr val="FF0000"/>
                </a:solidFill>
              </a:rPr>
              <a:t>Adapter</a:t>
            </a:r>
            <a:r>
              <a:rPr lang="en-US" altLang="zh-CN" sz="2000" dirty="0"/>
              <a:t> needs to be written if </a:t>
            </a:r>
            <a:r>
              <a:rPr lang="en-US" altLang="zh-CN" sz="2000" dirty="0">
                <a:solidFill>
                  <a:srgbClr val="FF0000"/>
                </a:solidFill>
              </a:rPr>
              <a:t>Client</a:t>
            </a:r>
            <a:r>
              <a:rPr lang="en-US" altLang="zh-CN" sz="2000" dirty="0"/>
              <a:t> is replaced by a subclass.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t>Bridge: Allowing for Alternate Implementations</a:t>
            </a:r>
            <a:endParaRPr lang="en-US" sz="16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Name: </a:t>
            </a:r>
            <a:r>
              <a:rPr lang="en-US" altLang="zh-CN" sz="2000" dirty="0"/>
              <a:t>Bridge design pattern </a:t>
            </a:r>
            <a:endParaRPr lang="en-US" altLang="zh-CN" sz="2000" dirty="0"/>
          </a:p>
          <a:p>
            <a:r>
              <a:rPr lang="en-US" altLang="zh-CN" sz="2000" b="1" dirty="0">
                <a:solidFill>
                  <a:srgbClr val="515223"/>
                </a:solidFill>
                <a:latin typeface="Helvetica" pitchFamily="2" charset="0"/>
                <a:cs typeface="Arial" panose="020B0604020202090204" pitchFamily="34" charset="0"/>
              </a:rPr>
              <a:t>Problem description: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Decouple an interface from an implementation so that a different implementation can be substituted, possibly at runtime (e.g., testing different implementations of the same interface). </a:t>
            </a:r>
            <a:endParaRPr lang="en-US" altLang="zh-CN" sz="2000" dirty="0"/>
          </a:p>
          <a:p>
            <a:endParaRPr lang="en-US" altLang="zh-CN" sz="2000" dirty="0"/>
          </a:p>
          <a:p>
            <a:r>
              <a:rPr lang="en-US" altLang="zh-CN" sz="2000" dirty="0">
                <a:solidFill>
                  <a:srgbClr val="FF0000"/>
                </a:solidFill>
              </a:rPr>
              <a:t>Comparison of bridge and adapter design patterns</a:t>
            </a:r>
            <a:endParaRPr lang="en-US" altLang="zh-CN" sz="2000" dirty="0">
              <a:solidFill>
                <a:srgbClr val="FF0000"/>
              </a:solidFill>
            </a:endParaRPr>
          </a:p>
          <a:p>
            <a:pPr marL="800100" lvl="1" indent="-342900">
              <a:buFont typeface="Arial" panose="020B0604020202090204" pitchFamily="34" charset="0"/>
              <a:buChar char="•"/>
            </a:pPr>
            <a:r>
              <a:rPr lang="en-US" altLang="zh-CN" sz="2000" dirty="0"/>
              <a:t>Bridge: defined interfaces that do not change</a:t>
            </a:r>
            <a:endParaRPr lang="en-US" altLang="zh-CN" sz="2000" dirty="0"/>
          </a:p>
          <a:p>
            <a:pPr marL="800100" lvl="1" indent="-342900">
              <a:buFont typeface="Arial" panose="020B0604020202090204" pitchFamily="34" charset="0"/>
              <a:buChar char="•"/>
            </a:pPr>
            <a:r>
              <a:rPr lang="en-US" altLang="zh-CN" sz="2000" dirty="0"/>
              <a:t>Adapter: legacy and new interfaces that have to work together </a:t>
            </a:r>
            <a:r>
              <a:rPr lang="en-US" altLang="zh-CN" sz="2000" b="1" dirty="0">
                <a:solidFill>
                  <a:srgbClr val="515223"/>
                </a:solidFill>
                <a:latin typeface="Helvetica" pitchFamily="2" charset="0"/>
                <a:cs typeface="Arial" panose="020B0604020202090204" pitchFamily="34" charset="0"/>
              </a:rPr>
              <a:t>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Bridge</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4575" y="1536557"/>
            <a:ext cx="4021409" cy="2877314"/>
          </a:xfrm>
          <a:prstGeom prst="rect">
            <a:avLst/>
          </a:prstGeom>
        </p:spPr>
      </p:pic>
      <p:sp>
        <p:nvSpPr>
          <p:cNvPr id="8" name="Rectangle 7"/>
          <p:cNvSpPr/>
          <p:nvPr/>
        </p:nvSpPr>
        <p:spPr>
          <a:xfrm>
            <a:off x="983150" y="1317457"/>
            <a:ext cx="2145059" cy="9487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10" name="TextBox 9"/>
          <p:cNvSpPr txBox="1"/>
          <p:nvPr/>
        </p:nvSpPr>
        <p:spPr>
          <a:xfrm>
            <a:off x="983150" y="1317457"/>
            <a:ext cx="920989" cy="369332"/>
          </a:xfrm>
          <a:prstGeom prst="rect">
            <a:avLst/>
          </a:prstGeom>
          <a:noFill/>
        </p:spPr>
        <p:txBody>
          <a:bodyPr wrap="square">
            <a:spAutoFit/>
          </a:bodyPr>
          <a:lstStyle/>
          <a:p>
            <a:r>
              <a:rPr lang="en-US" altLang="zh-CN" sz="1800" dirty="0">
                <a:solidFill>
                  <a:srgbClr val="C00000"/>
                </a:solidFill>
              </a:rPr>
              <a:t>Legacy</a:t>
            </a:r>
            <a:endParaRPr lang="en-US" dirty="0">
              <a:solidFill>
                <a:srgbClr val="C00000"/>
              </a:solidFill>
            </a:endParaRPr>
          </a:p>
        </p:txBody>
      </p:sp>
      <p:sp>
        <p:nvSpPr>
          <p:cNvPr id="12" name="TextBox 11"/>
          <p:cNvSpPr txBox="1"/>
          <p:nvPr/>
        </p:nvSpPr>
        <p:spPr>
          <a:xfrm>
            <a:off x="3427842" y="1289956"/>
            <a:ext cx="920989" cy="369332"/>
          </a:xfrm>
          <a:prstGeom prst="rect">
            <a:avLst/>
          </a:prstGeom>
          <a:noFill/>
        </p:spPr>
        <p:txBody>
          <a:bodyPr wrap="square">
            <a:spAutoFit/>
          </a:bodyPr>
          <a:lstStyle/>
          <a:p>
            <a:r>
              <a:rPr lang="en-US" altLang="zh-CN" sz="1800" dirty="0">
                <a:solidFill>
                  <a:schemeClr val="accent1"/>
                </a:solidFill>
              </a:rPr>
              <a:t>New</a:t>
            </a:r>
            <a:endParaRPr lang="en-US" dirty="0">
              <a:solidFill>
                <a:schemeClr val="accent1"/>
              </a:solidFill>
            </a:endParaRPr>
          </a:p>
        </p:txBody>
      </p:sp>
      <p:sp>
        <p:nvSpPr>
          <p:cNvPr id="13" name="Rectangle 12"/>
          <p:cNvSpPr/>
          <p:nvPr/>
        </p:nvSpPr>
        <p:spPr>
          <a:xfrm>
            <a:off x="3455362" y="1317456"/>
            <a:ext cx="893469" cy="94877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2508" y="1985378"/>
            <a:ext cx="4418268" cy="197967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Bridge</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04551" y="1419917"/>
            <a:ext cx="5106403" cy="3558231"/>
          </a:xfrm>
          <a:prstGeom prst="rect">
            <a:avLst/>
          </a:prstGeom>
        </p:spPr>
      </p:pic>
      <p:sp>
        <p:nvSpPr>
          <p:cNvPr id="9" name="TextBox 8"/>
          <p:cNvSpPr txBox="1"/>
          <p:nvPr/>
        </p:nvSpPr>
        <p:spPr>
          <a:xfrm>
            <a:off x="572359" y="1028699"/>
            <a:ext cx="6094854" cy="5324535"/>
          </a:xfrm>
          <a:prstGeom prst="rect">
            <a:avLst/>
          </a:prstGeom>
          <a:noFill/>
        </p:spPr>
        <p:txBody>
          <a:bodyPr wrap="square">
            <a:spAutoFit/>
          </a:bodyPr>
          <a:lstStyle/>
          <a:p>
            <a:pPr algn="l">
              <a:buFont typeface="+mj-lt"/>
              <a:buAutoNum type="arabicPeriod"/>
            </a:pPr>
            <a:r>
              <a:rPr lang="en-US" sz="2000" dirty="0"/>
              <a:t>The </a:t>
            </a:r>
            <a:r>
              <a:rPr lang="en-US" sz="2000" dirty="0">
                <a:solidFill>
                  <a:srgbClr val="C00000"/>
                </a:solidFill>
              </a:rPr>
              <a:t>Abstraction</a:t>
            </a:r>
            <a:r>
              <a:rPr lang="en-US" sz="2000" dirty="0"/>
              <a:t> provides high-level control logic. It relies on the implementation object to do the actual low-level work</a:t>
            </a:r>
            <a:endParaRPr lang="en-US" sz="2000" dirty="0"/>
          </a:p>
          <a:p>
            <a:pPr algn="l">
              <a:buFont typeface="+mj-lt"/>
              <a:buAutoNum type="arabicPeriod"/>
            </a:pPr>
            <a:endParaRPr lang="en-US" sz="2000" dirty="0"/>
          </a:p>
          <a:p>
            <a:pPr algn="l">
              <a:buFont typeface="+mj-lt"/>
              <a:buAutoNum type="arabicPeriod"/>
            </a:pPr>
            <a:r>
              <a:rPr lang="en-US" sz="2000" dirty="0"/>
              <a:t>The </a:t>
            </a:r>
            <a:r>
              <a:rPr lang="en-US" sz="2000" dirty="0">
                <a:solidFill>
                  <a:srgbClr val="C00000"/>
                </a:solidFill>
              </a:rPr>
              <a:t>Implementation</a:t>
            </a:r>
            <a:r>
              <a:rPr lang="en-US" sz="2000" dirty="0"/>
              <a:t> declares the interface that’s common for all concrete implementations. An abstraction can only communicate with an implementation object via methods that are declared here.</a:t>
            </a:r>
            <a:endParaRPr lang="en-US" sz="2000" dirty="0"/>
          </a:p>
          <a:p>
            <a:pPr algn="l">
              <a:buFont typeface="+mj-lt"/>
              <a:buAutoNum type="arabicPeriod"/>
            </a:pPr>
            <a:endParaRPr lang="en-US" sz="2000" dirty="0"/>
          </a:p>
          <a:p>
            <a:pPr algn="l">
              <a:buFont typeface="+mj-lt"/>
              <a:buAutoNum type="arabicPeriod"/>
            </a:pPr>
            <a:r>
              <a:rPr lang="en-US" sz="2000" dirty="0">
                <a:solidFill>
                  <a:srgbClr val="C00000"/>
                </a:solidFill>
              </a:rPr>
              <a:t>Concrete Implementations</a:t>
            </a:r>
            <a:r>
              <a:rPr lang="en-US" sz="2000" dirty="0"/>
              <a:t> contain platform-specific code</a:t>
            </a:r>
            <a:endParaRPr lang="en-US" sz="2000" dirty="0"/>
          </a:p>
          <a:p>
            <a:pPr algn="l">
              <a:buFont typeface="+mj-lt"/>
              <a:buAutoNum type="arabicPeriod"/>
            </a:pPr>
            <a:endParaRPr lang="en-US" sz="2000" dirty="0"/>
          </a:p>
          <a:p>
            <a:pPr algn="l">
              <a:buFont typeface="+mj-lt"/>
              <a:buAutoNum type="arabicPeriod"/>
            </a:pPr>
            <a:r>
              <a:rPr lang="en-US" sz="2000" dirty="0">
                <a:solidFill>
                  <a:srgbClr val="C00000"/>
                </a:solidFill>
              </a:rPr>
              <a:t>Refined Abstractions</a:t>
            </a:r>
            <a:r>
              <a:rPr lang="en-US" sz="2000" dirty="0"/>
              <a:t> provide variants of implementations via the general implementation interface.</a:t>
            </a:r>
            <a:endParaRPr lang="en-US" sz="2000" dirty="0"/>
          </a:p>
          <a:p>
            <a:pPr algn="l">
              <a:buFont typeface="+mj-lt"/>
              <a:buAutoNum type="arabicPeriod"/>
            </a:pP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4936" y="1146412"/>
            <a:ext cx="5504521" cy="4243423"/>
          </a:xfrm>
          <a:prstGeom prst="rect">
            <a:avLst/>
          </a:prstGeom>
        </p:spPr>
      </p:pic>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5885" y="1363528"/>
            <a:ext cx="4165600" cy="17907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5061" y="1398895"/>
            <a:ext cx="5504521" cy="4243423"/>
          </a:xfrm>
          <a:prstGeom prst="rect">
            <a:avLst/>
          </a:prstGeom>
        </p:spPr>
      </p:pic>
      <p:sp>
        <p:nvSpPr>
          <p:cNvPr id="15" name="Title 1"/>
          <p:cNvSpPr>
            <a:spLocks noGrp="1"/>
          </p:cNvSpPr>
          <p:nvPr>
            <p:ph type="title"/>
          </p:nvPr>
        </p:nvSpPr>
        <p:spPr>
          <a:xfrm>
            <a:off x="1091254" y="237834"/>
            <a:ext cx="9099225" cy="790865"/>
          </a:xfrm>
        </p:spPr>
        <p:txBody>
          <a:bodyPr>
            <a:noAutofit/>
          </a:bodyPr>
          <a:lstStyle/>
          <a:p>
            <a:r>
              <a:rPr lang="en-US" altLang="zh-CN" dirty="0"/>
              <a:t>Bridge</a:t>
            </a:r>
            <a:r>
              <a:rPr lang="zh-CN" altLang="en-US" dirty="0"/>
              <a:t> </a:t>
            </a:r>
            <a:r>
              <a:rPr lang="en-US" altLang="zh-CN" dirty="0"/>
              <a:t>Example</a:t>
            </a:r>
            <a:endParaRPr lang="en-US" sz="23900" dirty="0"/>
          </a:p>
        </p:txBody>
      </p:sp>
      <p:sp>
        <p:nvSpPr>
          <p:cNvPr id="16" name="Rectangle 15"/>
          <p:cNvSpPr/>
          <p:nvPr/>
        </p:nvSpPr>
        <p:spPr>
          <a:xfrm>
            <a:off x="3447143" y="2040339"/>
            <a:ext cx="2408084" cy="3540403"/>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6774" y="1451428"/>
            <a:ext cx="4737511" cy="433251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5061" y="1398895"/>
            <a:ext cx="5504521" cy="4243423"/>
          </a:xfrm>
          <a:prstGeom prst="rect">
            <a:avLst/>
          </a:prstGeom>
        </p:spPr>
      </p:pic>
      <p:sp>
        <p:nvSpPr>
          <p:cNvPr id="15" name="Title 1"/>
          <p:cNvSpPr>
            <a:spLocks noGrp="1"/>
          </p:cNvSpPr>
          <p:nvPr>
            <p:ph type="title"/>
          </p:nvPr>
        </p:nvSpPr>
        <p:spPr>
          <a:xfrm>
            <a:off x="1091254" y="237834"/>
            <a:ext cx="9099225" cy="790865"/>
          </a:xfrm>
        </p:spPr>
        <p:txBody>
          <a:bodyPr>
            <a:noAutofit/>
          </a:bodyPr>
          <a:lstStyle/>
          <a:p>
            <a:r>
              <a:rPr lang="en-US" altLang="zh-CN" dirty="0"/>
              <a:t>Bridge</a:t>
            </a:r>
            <a:r>
              <a:rPr lang="zh-CN" altLang="en-US" dirty="0"/>
              <a:t> </a:t>
            </a:r>
            <a:r>
              <a:rPr lang="en-US" altLang="zh-CN" dirty="0"/>
              <a:t>Example</a:t>
            </a:r>
            <a:endParaRPr lang="en-US" sz="23900" dirty="0"/>
          </a:p>
        </p:txBody>
      </p:sp>
      <p:sp>
        <p:nvSpPr>
          <p:cNvPr id="4" name="Rectangle 3"/>
          <p:cNvSpPr/>
          <p:nvPr/>
        </p:nvSpPr>
        <p:spPr>
          <a:xfrm>
            <a:off x="1740089" y="2204113"/>
            <a:ext cx="1644556" cy="206081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8979" y="1764020"/>
            <a:ext cx="4264934" cy="3576061"/>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5061" y="1398895"/>
            <a:ext cx="5504521" cy="4243423"/>
          </a:xfrm>
          <a:prstGeom prst="rect">
            <a:avLst/>
          </a:prstGeom>
        </p:spPr>
      </p:pic>
      <p:sp>
        <p:nvSpPr>
          <p:cNvPr id="15" name="Title 1"/>
          <p:cNvSpPr>
            <a:spLocks noGrp="1"/>
          </p:cNvSpPr>
          <p:nvPr>
            <p:ph type="title"/>
          </p:nvPr>
        </p:nvSpPr>
        <p:spPr>
          <a:xfrm>
            <a:off x="1091254" y="237834"/>
            <a:ext cx="9099225" cy="790865"/>
          </a:xfrm>
        </p:spPr>
        <p:txBody>
          <a:bodyPr>
            <a:noAutofit/>
          </a:bodyPr>
          <a:lstStyle/>
          <a:p>
            <a:r>
              <a:rPr lang="en-US" altLang="zh-CN" dirty="0"/>
              <a:t>Bridge</a:t>
            </a:r>
            <a:r>
              <a:rPr lang="zh-CN" altLang="en-US" dirty="0"/>
              <a:t> </a:t>
            </a:r>
            <a:r>
              <a:rPr lang="en-US" altLang="zh-CN" dirty="0"/>
              <a:t>Example</a:t>
            </a:r>
            <a:endParaRPr lang="en-US" sz="23900" dirty="0"/>
          </a:p>
        </p:txBody>
      </p:sp>
      <p:sp>
        <p:nvSpPr>
          <p:cNvPr id="4" name="Rectangle 3"/>
          <p:cNvSpPr/>
          <p:nvPr/>
        </p:nvSpPr>
        <p:spPr>
          <a:xfrm>
            <a:off x="3275462" y="4353636"/>
            <a:ext cx="2141196" cy="4572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22591" y="2555406"/>
            <a:ext cx="4203700" cy="19304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91254" y="1378424"/>
            <a:ext cx="5504521" cy="4243423"/>
          </a:xfrm>
          <a:prstGeom prst="rect">
            <a:avLst/>
          </a:prstGeom>
        </p:spPr>
      </p:pic>
      <p:sp>
        <p:nvSpPr>
          <p:cNvPr id="15" name="Title 1"/>
          <p:cNvSpPr>
            <a:spLocks noGrp="1"/>
          </p:cNvSpPr>
          <p:nvPr>
            <p:ph type="title"/>
          </p:nvPr>
        </p:nvSpPr>
        <p:spPr>
          <a:xfrm>
            <a:off x="1091254" y="237834"/>
            <a:ext cx="9099225" cy="790865"/>
          </a:xfrm>
        </p:spPr>
        <p:txBody>
          <a:bodyPr>
            <a:noAutofit/>
          </a:bodyPr>
          <a:lstStyle/>
          <a:p>
            <a:r>
              <a:rPr lang="en-US" altLang="zh-CN" dirty="0"/>
              <a:t>Bridge</a:t>
            </a:r>
            <a:r>
              <a:rPr lang="zh-CN" altLang="en-US" dirty="0"/>
              <a:t> </a:t>
            </a:r>
            <a:r>
              <a:rPr lang="en-US" altLang="zh-CN" dirty="0"/>
              <a:t>Example</a:t>
            </a:r>
            <a:endParaRPr lang="en-US" sz="23900" dirty="0"/>
          </a:p>
        </p:txBody>
      </p:sp>
      <p:sp>
        <p:nvSpPr>
          <p:cNvPr id="4" name="Rectangle 3"/>
          <p:cNvSpPr/>
          <p:nvPr/>
        </p:nvSpPr>
        <p:spPr>
          <a:xfrm>
            <a:off x="5206181" y="4346812"/>
            <a:ext cx="1057702" cy="4572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09912" y="1574800"/>
            <a:ext cx="2890834" cy="300061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6345" y="1307288"/>
            <a:ext cx="5504521" cy="4243423"/>
          </a:xfrm>
          <a:prstGeom prst="rect">
            <a:avLst/>
          </a:prstGeom>
        </p:spPr>
      </p:pic>
      <p:sp>
        <p:nvSpPr>
          <p:cNvPr id="15" name="Title 1"/>
          <p:cNvSpPr>
            <a:spLocks noGrp="1"/>
          </p:cNvSpPr>
          <p:nvPr>
            <p:ph type="title"/>
          </p:nvPr>
        </p:nvSpPr>
        <p:spPr>
          <a:xfrm>
            <a:off x="1091254" y="237834"/>
            <a:ext cx="9099225" cy="790865"/>
          </a:xfrm>
        </p:spPr>
        <p:txBody>
          <a:bodyPr>
            <a:noAutofit/>
          </a:bodyPr>
          <a:lstStyle/>
          <a:p>
            <a:r>
              <a:rPr lang="en-US" altLang="zh-CN" dirty="0"/>
              <a:t>Bridge</a:t>
            </a:r>
            <a:r>
              <a:rPr lang="zh-CN" altLang="en-US" dirty="0"/>
              <a:t> </a:t>
            </a:r>
            <a:r>
              <a:rPr lang="en-US" altLang="zh-CN" dirty="0"/>
              <a:t>Example</a:t>
            </a:r>
            <a:endParaRPr lang="en-US" sz="23900" dirty="0"/>
          </a:p>
        </p:txBody>
      </p:sp>
      <p:sp>
        <p:nvSpPr>
          <p:cNvPr id="4" name="Rectangle 3"/>
          <p:cNvSpPr/>
          <p:nvPr/>
        </p:nvSpPr>
        <p:spPr>
          <a:xfrm>
            <a:off x="1799057" y="2358166"/>
            <a:ext cx="1388129" cy="292675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6966" y="1215163"/>
            <a:ext cx="4457219" cy="4954722"/>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t>Bridge: Allowing for Alternate Implementations</a:t>
            </a:r>
            <a:endParaRPr lang="en-US" sz="16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Solution:</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 The </a:t>
            </a:r>
            <a:r>
              <a:rPr lang="en-US" altLang="zh-CN" sz="2000" dirty="0">
                <a:solidFill>
                  <a:srgbClr val="FF0000"/>
                </a:solidFill>
              </a:rPr>
              <a:t>Abstraction</a:t>
            </a:r>
            <a:r>
              <a:rPr lang="en-US" altLang="zh-CN" sz="2000" dirty="0"/>
              <a:t> class defines the interface visible to the client.</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 </a:t>
            </a:r>
            <a:r>
              <a:rPr lang="en-US" altLang="zh-CN" sz="2000" dirty="0">
                <a:solidFill>
                  <a:srgbClr val="FF0000"/>
                </a:solidFill>
              </a:rPr>
              <a:t>Implementor</a:t>
            </a:r>
            <a:r>
              <a:rPr lang="en-US" altLang="zh-CN" sz="2000" dirty="0"/>
              <a:t> is an abstract class that defines the lower-level methods available to </a:t>
            </a:r>
            <a:r>
              <a:rPr lang="en-US" altLang="zh-CN" sz="2000" dirty="0">
                <a:solidFill>
                  <a:srgbClr val="FF0000"/>
                </a:solidFill>
              </a:rPr>
              <a:t>Abstraction</a:t>
            </a:r>
            <a:r>
              <a:rPr lang="en-US" altLang="zh-CN" sz="2000" dirty="0"/>
              <a:t>.</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 An </a:t>
            </a:r>
            <a:r>
              <a:rPr lang="en-US" altLang="zh-CN" sz="2000" dirty="0">
                <a:solidFill>
                  <a:srgbClr val="FF0000"/>
                </a:solidFill>
              </a:rPr>
              <a:t>Abstraction</a:t>
            </a:r>
            <a:r>
              <a:rPr lang="en-US" altLang="zh-CN" sz="2000" dirty="0"/>
              <a:t> instance maintains a reference to its corresponding </a:t>
            </a:r>
            <a:r>
              <a:rPr lang="en-US" altLang="zh-CN" sz="2000" dirty="0">
                <a:solidFill>
                  <a:srgbClr val="FF0000"/>
                </a:solidFill>
              </a:rPr>
              <a:t>Implementor</a:t>
            </a:r>
            <a:r>
              <a:rPr lang="en-US" altLang="zh-CN" sz="2000" dirty="0"/>
              <a:t> instance.</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 </a:t>
            </a:r>
            <a:r>
              <a:rPr lang="en-US" altLang="zh-CN" sz="2000" dirty="0">
                <a:solidFill>
                  <a:srgbClr val="FF0000"/>
                </a:solidFill>
              </a:rPr>
              <a:t>Abstraction</a:t>
            </a:r>
            <a:r>
              <a:rPr lang="en-US" altLang="zh-CN" sz="2000" dirty="0"/>
              <a:t> and </a:t>
            </a:r>
            <a:r>
              <a:rPr lang="en-US" altLang="zh-CN" sz="2000" dirty="0">
                <a:solidFill>
                  <a:srgbClr val="FF0000"/>
                </a:solidFill>
              </a:rPr>
              <a:t>Implementor</a:t>
            </a:r>
            <a:r>
              <a:rPr lang="en-US" altLang="zh-CN" sz="2000" dirty="0"/>
              <a:t> can be refined independently.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Bridge: Consequences</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132343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Consequences: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 </a:t>
            </a:r>
            <a:r>
              <a:rPr lang="en-US" altLang="zh-CN" sz="2000" dirty="0">
                <a:solidFill>
                  <a:srgbClr val="FF0000"/>
                </a:solidFill>
              </a:rPr>
              <a:t>Client</a:t>
            </a:r>
            <a:r>
              <a:rPr lang="en-US" altLang="zh-CN" sz="2000" dirty="0"/>
              <a:t> is shielded from abstract and concrete implementations</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 Interfaces and implementations can be tested separately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Strategy: Encapsulating Algorithms</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Name</a:t>
            </a:r>
            <a:r>
              <a:rPr lang="en-US" altLang="zh-CN" sz="2000" dirty="0"/>
              <a:t>: Strategy design pattern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Example: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In a calculator, you need to build various operations (add, multiply, </a:t>
            </a:r>
            <a:r>
              <a:rPr lang="en-US" altLang="zh-CN" sz="2000" dirty="0" err="1"/>
              <a:t>substract</a:t>
            </a:r>
            <a:r>
              <a:rPr lang="en-US" altLang="zh-CN" sz="2000" dirty="0"/>
              <a:t>, divide, </a:t>
            </a:r>
            <a:r>
              <a:rPr lang="en-US" altLang="zh-CN" sz="2000" dirty="0" err="1"/>
              <a:t>etc</a:t>
            </a:r>
            <a:r>
              <a:rPr lang="en-US" altLang="zh-CN" sz="2000" dirty="0"/>
              <a:t>). </a:t>
            </a:r>
            <a:endParaRPr lang="en-US" altLang="zh-CN" sz="2000" dirty="0"/>
          </a:p>
          <a:p>
            <a:pPr lvl="1"/>
            <a:endParaRPr lang="en-US" altLang="zh-CN" sz="2000" dirty="0"/>
          </a:p>
          <a:p>
            <a:r>
              <a:rPr lang="en-US" altLang="zh-CN" sz="2000" b="1" dirty="0">
                <a:solidFill>
                  <a:srgbClr val="515223"/>
                </a:solidFill>
                <a:latin typeface="Helvetica" pitchFamily="2" charset="0"/>
                <a:cs typeface="Arial" panose="020B0604020202090204" pitchFamily="34" charset="0"/>
              </a:rPr>
              <a:t>Problem description: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Decouple a </a:t>
            </a:r>
            <a:r>
              <a:rPr lang="en-US" altLang="zh-CN" sz="2000" dirty="0">
                <a:solidFill>
                  <a:srgbClr val="FF0000"/>
                </a:solidFill>
              </a:rPr>
              <a:t>policy-deciding</a:t>
            </a:r>
            <a:r>
              <a:rPr lang="en-US" altLang="zh-CN" sz="2000" dirty="0"/>
              <a:t> </a:t>
            </a:r>
            <a:r>
              <a:rPr lang="en-US" altLang="zh-CN" sz="2000" dirty="0">
                <a:solidFill>
                  <a:srgbClr val="FF0000"/>
                </a:solidFill>
              </a:rPr>
              <a:t>class</a:t>
            </a:r>
            <a:r>
              <a:rPr lang="en-US" altLang="zh-CN" sz="2000" dirty="0"/>
              <a:t> from </a:t>
            </a:r>
            <a:r>
              <a:rPr lang="en-US" altLang="zh-CN" sz="2000" dirty="0">
                <a:solidFill>
                  <a:srgbClr val="FF0000"/>
                </a:solidFill>
              </a:rPr>
              <a:t>a set of mechanisms</a:t>
            </a:r>
            <a:r>
              <a:rPr lang="en-US" altLang="zh-CN" sz="2000" dirty="0"/>
              <a:t>, so that different mechanisms can be changed transparently.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Strategy Example</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19367" y="2387600"/>
            <a:ext cx="6565900" cy="3302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54666" y="1500353"/>
            <a:ext cx="7772400" cy="4291830"/>
          </a:xfrm>
          <a:prstGeom prst="rect">
            <a:avLst/>
          </a:prstGeom>
        </p:spPr>
      </p:pic>
      <p:sp>
        <p:nvSpPr>
          <p:cNvPr id="6" name="Title 1"/>
          <p:cNvSpPr txBox="1"/>
          <p:nvPr/>
        </p:nvSpPr>
        <p:spPr>
          <a:xfrm>
            <a:off x="1207370" y="136526"/>
            <a:ext cx="9099225" cy="790865"/>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600" b="1" i="0" kern="1200">
                <a:solidFill>
                  <a:schemeClr val="accent1"/>
                </a:solidFill>
                <a:latin typeface="Helvetica" pitchFamily="2" charset="0"/>
                <a:ea typeface="微软雅黑" panose="020B0503020204020204" pitchFamily="34" charset="-122"/>
                <a:cs typeface="Arial" panose="020B0604020202090204" pitchFamily="34" charset="0"/>
              </a:defRPr>
            </a:lvl1pPr>
          </a:lstStyle>
          <a:p>
            <a:r>
              <a:rPr lang="en-US" altLang="zh-CN" dirty="0"/>
              <a:t>Strategy Example</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400" dirty="0"/>
              <a:t>Design Pattern: Strategy</a:t>
            </a:r>
            <a:endParaRPr lang="en-US" sz="2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24028" y="1469356"/>
            <a:ext cx="7772400" cy="4291830"/>
          </a:xfrm>
          <a:prstGeom prst="rect">
            <a:avLst/>
          </a:prstGeom>
        </p:spPr>
      </p:pic>
      <p:sp>
        <p:nvSpPr>
          <p:cNvPr id="6" name="Rectangle 5"/>
          <p:cNvSpPr/>
          <p:nvPr/>
        </p:nvSpPr>
        <p:spPr>
          <a:xfrm>
            <a:off x="2917818" y="1903615"/>
            <a:ext cx="1615436" cy="1087558"/>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9990" y="1712561"/>
            <a:ext cx="4308025" cy="3235379"/>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400" dirty="0"/>
              <a:t>Design Pattern: Strategy</a:t>
            </a:r>
            <a:endParaRPr lang="en-US" sz="2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24028" y="1469356"/>
            <a:ext cx="7772400" cy="4291830"/>
          </a:xfrm>
          <a:prstGeom prst="rect">
            <a:avLst/>
          </a:prstGeom>
        </p:spPr>
      </p:pic>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6051" y="3287869"/>
            <a:ext cx="5445023" cy="1528229"/>
          </a:xfrm>
          <a:prstGeom prst="rect">
            <a:avLst/>
          </a:prstGeom>
        </p:spPr>
      </p:pic>
      <p:sp>
        <p:nvSpPr>
          <p:cNvPr id="6" name="Rectangle 5"/>
          <p:cNvSpPr/>
          <p:nvPr/>
        </p:nvSpPr>
        <p:spPr>
          <a:xfrm>
            <a:off x="4827922" y="1965622"/>
            <a:ext cx="1388129" cy="88159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400" dirty="0"/>
              <a:t>Design Pattern: Strategy</a:t>
            </a:r>
            <a:endParaRPr lang="en-US" sz="2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24028" y="1469356"/>
            <a:ext cx="7772400" cy="4291830"/>
          </a:xfrm>
          <a:prstGeom prst="rect">
            <a:avLst/>
          </a:prstGeom>
        </p:spPr>
      </p:pic>
      <p:sp>
        <p:nvSpPr>
          <p:cNvPr id="6" name="Rectangle 5"/>
          <p:cNvSpPr/>
          <p:nvPr/>
        </p:nvSpPr>
        <p:spPr>
          <a:xfrm>
            <a:off x="4669126" y="3174476"/>
            <a:ext cx="1491451" cy="88159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7889" y="78568"/>
            <a:ext cx="4862857" cy="29591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400" dirty="0"/>
              <a:t>Design Pattern: Strategy</a:t>
            </a:r>
            <a:endParaRPr lang="en-US" sz="2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24028" y="1469356"/>
            <a:ext cx="7772400" cy="4291830"/>
          </a:xfrm>
          <a:prstGeom prst="rect">
            <a:avLst/>
          </a:prstGeom>
        </p:spPr>
      </p:pic>
      <p:sp>
        <p:nvSpPr>
          <p:cNvPr id="6" name="Rectangle 5"/>
          <p:cNvSpPr/>
          <p:nvPr/>
        </p:nvSpPr>
        <p:spPr>
          <a:xfrm>
            <a:off x="2817079" y="3337208"/>
            <a:ext cx="1708426" cy="1761734"/>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4256" y="1504227"/>
            <a:ext cx="4982887" cy="429183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Strategy: Encapsulating Algorithms</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24676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Solution: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A </a:t>
            </a:r>
            <a:r>
              <a:rPr lang="en-US" altLang="zh-CN" sz="2000" dirty="0">
                <a:solidFill>
                  <a:srgbClr val="FF0000"/>
                </a:solidFill>
              </a:rPr>
              <a:t>Client</a:t>
            </a:r>
            <a:r>
              <a:rPr lang="en-US" altLang="zh-CN" sz="2000" dirty="0"/>
              <a:t> accesses services provided by a Context. </a:t>
            </a:r>
            <a:endParaRPr lang="en-US" altLang="zh-CN" sz="2000" dirty="0"/>
          </a:p>
          <a:p>
            <a:pPr lvl="1"/>
            <a:endParaRPr lang="en-US" altLang="zh-CN" sz="2000" dirty="0"/>
          </a:p>
          <a:p>
            <a:pPr lvl="1"/>
            <a:r>
              <a:rPr lang="en-US" altLang="zh-CN" sz="2000" dirty="0"/>
              <a:t>The </a:t>
            </a:r>
            <a:r>
              <a:rPr lang="en-US" altLang="zh-CN" sz="2000" dirty="0">
                <a:solidFill>
                  <a:srgbClr val="FF0000"/>
                </a:solidFill>
              </a:rPr>
              <a:t>Context</a:t>
            </a:r>
            <a:r>
              <a:rPr lang="en-US" altLang="zh-CN" sz="2000" dirty="0"/>
              <a:t> services are realized using one of several mechanisms</a:t>
            </a:r>
            <a:endParaRPr lang="en-US" altLang="zh-CN" sz="2000" dirty="0"/>
          </a:p>
          <a:p>
            <a:pPr lvl="1"/>
            <a:endParaRPr lang="en-US" altLang="zh-CN" sz="2000" dirty="0"/>
          </a:p>
          <a:p>
            <a:pPr lvl="1"/>
            <a:r>
              <a:rPr lang="en-US" altLang="zh-CN" sz="2000" dirty="0"/>
              <a:t>The abstract class </a:t>
            </a:r>
            <a:r>
              <a:rPr lang="en-US" altLang="zh-CN" sz="2000" dirty="0">
                <a:solidFill>
                  <a:srgbClr val="FF0000"/>
                </a:solidFill>
              </a:rPr>
              <a:t>Strategy</a:t>
            </a:r>
            <a:r>
              <a:rPr lang="en-US" altLang="zh-CN" sz="2000" dirty="0"/>
              <a:t> describes the interface that is common to all mechanisms that </a:t>
            </a:r>
            <a:r>
              <a:rPr lang="en-US" altLang="zh-CN" sz="2000" dirty="0">
                <a:solidFill>
                  <a:srgbClr val="FF0000"/>
                </a:solidFill>
              </a:rPr>
              <a:t>Context</a:t>
            </a:r>
            <a:r>
              <a:rPr lang="en-US" altLang="zh-CN" sz="2000" dirty="0"/>
              <a:t> can use.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Strategy: Consequences</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193899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Consequences: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err="1">
                <a:solidFill>
                  <a:srgbClr val="FF0000"/>
                </a:solidFill>
              </a:rPr>
              <a:t>ConcreteStrategies</a:t>
            </a:r>
            <a:r>
              <a:rPr lang="en-US" altLang="zh-CN" sz="2000" dirty="0"/>
              <a:t> can be substituted transparently from </a:t>
            </a:r>
            <a:r>
              <a:rPr lang="en-US" altLang="zh-CN" sz="2000" dirty="0">
                <a:solidFill>
                  <a:srgbClr val="FF0000"/>
                </a:solidFill>
              </a:rPr>
              <a:t>Context</a:t>
            </a:r>
            <a:r>
              <a:rPr lang="en-US" altLang="zh-CN" sz="2000" dirty="0"/>
              <a:t>.</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solidFill>
                  <a:srgbClr val="FF0000"/>
                </a:solidFill>
              </a:rPr>
              <a:t>Policy</a:t>
            </a:r>
            <a:r>
              <a:rPr lang="en-US" altLang="zh-CN" sz="2000" dirty="0"/>
              <a:t> decides which </a:t>
            </a:r>
            <a:r>
              <a:rPr lang="en-US" altLang="zh-CN" sz="2000" dirty="0">
                <a:solidFill>
                  <a:srgbClr val="FF0000"/>
                </a:solidFill>
              </a:rPr>
              <a:t>Strategy</a:t>
            </a:r>
            <a:r>
              <a:rPr lang="en-US" altLang="zh-CN" sz="2000" dirty="0"/>
              <a:t> is best, given the current circumstances.</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New policy algorithms can be added without modifying </a:t>
            </a:r>
            <a:r>
              <a:rPr lang="en-US" altLang="zh-CN" sz="2000" dirty="0">
                <a:solidFill>
                  <a:srgbClr val="FF0000"/>
                </a:solidFill>
              </a:rPr>
              <a:t>Context</a:t>
            </a:r>
            <a:r>
              <a:rPr lang="en-US" altLang="zh-CN" sz="2000" dirty="0"/>
              <a:t> or </a:t>
            </a:r>
            <a:r>
              <a:rPr lang="en-US" altLang="zh-CN" sz="2000" dirty="0">
                <a:solidFill>
                  <a:srgbClr val="FF0000"/>
                </a:solidFill>
              </a:rPr>
              <a:t>Client</a:t>
            </a:r>
            <a:r>
              <a:rPr lang="en-US" altLang="zh-CN" sz="2000" dirty="0"/>
              <a:t>.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Facade: Encapsulating Subsystems</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582387"/>
            <a:ext cx="9550399" cy="4093428"/>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Name</a:t>
            </a:r>
            <a:r>
              <a:rPr lang="en-US" altLang="zh-CN" sz="2000" dirty="0"/>
              <a:t>: Facade design pattern</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Problem description: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Reduce coupling between a set of related classes and the rest of the system.</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Example: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An </a:t>
            </a:r>
            <a:r>
              <a:rPr lang="en-US" altLang="zh-CN" sz="2000" dirty="0">
                <a:solidFill>
                  <a:srgbClr val="FF0000"/>
                </a:solidFill>
              </a:rPr>
              <a:t>audio player</a:t>
            </a:r>
            <a:r>
              <a:rPr lang="en-US" altLang="zh-CN" sz="2000" dirty="0"/>
              <a:t> is composed of several decoder classes: </a:t>
            </a:r>
            <a:r>
              <a:rPr lang="en-US" altLang="zh-CN" sz="2000" dirty="0">
                <a:solidFill>
                  <a:srgbClr val="FF0000"/>
                </a:solidFill>
              </a:rPr>
              <a:t>MP3</a:t>
            </a:r>
            <a:r>
              <a:rPr lang="en-US" altLang="zh-CN" sz="2000" dirty="0"/>
              <a:t>, </a:t>
            </a:r>
            <a:r>
              <a:rPr lang="en-US" altLang="zh-CN" sz="2000" dirty="0">
                <a:solidFill>
                  <a:srgbClr val="FF0000"/>
                </a:solidFill>
              </a:rPr>
              <a:t>WAV</a:t>
            </a:r>
            <a:r>
              <a:rPr lang="en-US" altLang="zh-CN" sz="2000" dirty="0"/>
              <a:t>, </a:t>
            </a:r>
            <a:r>
              <a:rPr lang="en-US" altLang="zh-CN" sz="2000" dirty="0">
                <a:solidFill>
                  <a:srgbClr val="FF0000"/>
                </a:solidFill>
              </a:rPr>
              <a:t>OGG</a:t>
            </a:r>
            <a:r>
              <a:rPr lang="en-US" altLang="zh-CN" sz="2000" dirty="0"/>
              <a:t>, etc. A caller invokes only the </a:t>
            </a:r>
            <a:r>
              <a:rPr lang="en-US" altLang="zh-CN" sz="2000" dirty="0">
                <a:solidFill>
                  <a:srgbClr val="FF0000"/>
                </a:solidFill>
              </a:rPr>
              <a:t>player</a:t>
            </a:r>
            <a:r>
              <a:rPr lang="en-US" altLang="zh-CN" sz="2000" dirty="0"/>
              <a:t> (</a:t>
            </a:r>
            <a:r>
              <a:rPr lang="en-US" altLang="zh-CN" sz="2000" dirty="0">
                <a:solidFill>
                  <a:srgbClr val="FF0000"/>
                </a:solidFill>
              </a:rPr>
              <a:t>Facade</a:t>
            </a:r>
            <a:r>
              <a:rPr lang="en-US" altLang="zh-CN" sz="2000" dirty="0"/>
              <a:t>) class, which invokes the contained classes.</a:t>
            </a:r>
            <a:endParaRPr lang="en-US" altLang="zh-CN" sz="2000" dirty="0"/>
          </a:p>
          <a:p>
            <a:pPr lvl="1"/>
            <a:endParaRPr lang="en-US" altLang="zh-CN" sz="2000" dirty="0"/>
          </a:p>
          <a:p>
            <a:r>
              <a:rPr lang="en-US" altLang="zh-CN" sz="2000" b="1" dirty="0">
                <a:solidFill>
                  <a:srgbClr val="515223"/>
                </a:solidFill>
                <a:latin typeface="Helvetica" pitchFamily="2" charset="0"/>
                <a:cs typeface="Arial" panose="020B0604020202090204" pitchFamily="34" charset="0"/>
              </a:rPr>
              <a:t>Problem description: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A single </a:t>
            </a:r>
            <a:r>
              <a:rPr lang="en-US" altLang="zh-CN" sz="2000" dirty="0">
                <a:solidFill>
                  <a:srgbClr val="FF0000"/>
                </a:solidFill>
              </a:rPr>
              <a:t>Facade</a:t>
            </a:r>
            <a:r>
              <a:rPr lang="en-US" altLang="zh-CN" sz="2000" dirty="0"/>
              <a:t> class implements a high-level interface for a subsystem by invoking the methods of the lower-level classes.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Facade</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61176" y="3157774"/>
            <a:ext cx="4851380" cy="3393536"/>
          </a:xfrm>
          <a:prstGeom prst="rect">
            <a:avLst/>
          </a:prstGeom>
        </p:spPr>
      </p:pic>
      <p:sp>
        <p:nvSpPr>
          <p:cNvPr id="8" name="TextBox 7"/>
          <p:cNvSpPr txBox="1"/>
          <p:nvPr/>
        </p:nvSpPr>
        <p:spPr>
          <a:xfrm>
            <a:off x="-56826" y="1105965"/>
            <a:ext cx="12248826" cy="2246769"/>
          </a:xfrm>
          <a:prstGeom prst="rect">
            <a:avLst/>
          </a:prstGeom>
          <a:noFill/>
        </p:spPr>
        <p:txBody>
          <a:bodyPr wrap="square">
            <a:spAutoFit/>
          </a:bodyPr>
          <a:lstStyle/>
          <a:p>
            <a:pPr lvl="1"/>
            <a:r>
              <a:rPr lang="en-US" sz="2000" dirty="0"/>
              <a:t>Convenient access to a particular part of the subsystem’s functionality</a:t>
            </a:r>
            <a:endParaRPr lang="en-US" sz="2000" dirty="0"/>
          </a:p>
          <a:p>
            <a:pPr lvl="1"/>
            <a:endParaRPr lang="en-US" sz="2000" dirty="0"/>
          </a:p>
          <a:p>
            <a:pPr lvl="1"/>
            <a:r>
              <a:rPr lang="en-US" sz="2000" dirty="0"/>
              <a:t>Additional Facade class can be created to prevent polluting a single facade </a:t>
            </a:r>
            <a:endParaRPr lang="en-US" sz="2000" dirty="0"/>
          </a:p>
          <a:p>
            <a:pPr lvl="1"/>
            <a:endParaRPr lang="en-US" sz="2000" dirty="0"/>
          </a:p>
          <a:p>
            <a:pPr lvl="1"/>
            <a:r>
              <a:rPr lang="en-US" sz="2000" dirty="0"/>
              <a:t>Subsystem classes aren’t aware of the facade’s existence </a:t>
            </a:r>
            <a:endParaRPr lang="en-US" sz="2000" dirty="0"/>
          </a:p>
          <a:p>
            <a:pPr lvl="1"/>
            <a:endParaRPr lang="en-US" sz="2000" dirty="0"/>
          </a:p>
          <a:p>
            <a:pPr lvl="1"/>
            <a:r>
              <a:rPr lang="en-US" sz="2000" dirty="0"/>
              <a:t>Client uses the facade instead of calling the subsystem objects directly</a:t>
            </a:r>
            <a:endParaRPr lang="en-US" sz="2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Facade</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984165" y="1247936"/>
            <a:ext cx="4058125" cy="3595284"/>
          </a:xfrm>
          <a:prstGeom prst="rect">
            <a:avLst/>
          </a:prstGeom>
        </p:spPr>
      </p:pic>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603" y="965846"/>
            <a:ext cx="5722904" cy="4311327"/>
          </a:xfrm>
          <a:prstGeom prst="rect">
            <a:avLst/>
          </a:prstGeom>
        </p:spPr>
      </p:pic>
      <p:sp>
        <p:nvSpPr>
          <p:cNvPr id="10" name="Rectangle 9"/>
          <p:cNvSpPr/>
          <p:nvPr/>
        </p:nvSpPr>
        <p:spPr>
          <a:xfrm>
            <a:off x="3235085" y="3045578"/>
            <a:ext cx="3909634" cy="189063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Facade</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55739" y="1547033"/>
            <a:ext cx="5722904" cy="4311327"/>
          </a:xfrm>
          <a:prstGeom prst="rect">
            <a:avLst/>
          </a:prstGeom>
        </p:spPr>
      </p:pic>
      <p:sp>
        <p:nvSpPr>
          <p:cNvPr id="10" name="Rectangle 9"/>
          <p:cNvSpPr/>
          <p:nvPr/>
        </p:nvSpPr>
        <p:spPr>
          <a:xfrm>
            <a:off x="2347994" y="1759057"/>
            <a:ext cx="2766447" cy="123211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4121" y="1438384"/>
            <a:ext cx="4393350" cy="4419976"/>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Facade: Consequences</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24676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Consequences: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Shields a client from the low-level classes of a subsystem.</a:t>
            </a:r>
            <a:endParaRPr lang="en-US" altLang="zh-CN" sz="2000" dirty="0"/>
          </a:p>
          <a:p>
            <a:pPr marL="800100" lvl="1" indent="-342900">
              <a:buFont typeface="Arial" panose="020B0604020202090204" pitchFamily="34" charset="0"/>
              <a:buChar char="•"/>
            </a:pPr>
            <a:r>
              <a:rPr lang="en-US" altLang="zh-CN" sz="2000" dirty="0"/>
              <a:t>Simplifies the use of a subsystem by providing higher-level methods.</a:t>
            </a:r>
            <a:endParaRPr lang="en-US" altLang="zh-CN" sz="2000" dirty="0"/>
          </a:p>
          <a:p>
            <a:pPr marL="800100" lvl="1" indent="-342900">
              <a:buFont typeface="Arial" panose="020B0604020202090204" pitchFamily="34" charset="0"/>
              <a:buChar char="•"/>
            </a:pPr>
            <a:r>
              <a:rPr lang="en-US" altLang="zh-CN" sz="2000" dirty="0"/>
              <a:t>Enables lower-level classes to be restructured without changes to clients. </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Note</a:t>
            </a:r>
            <a:r>
              <a:rPr lang="en-US" altLang="zh-CN" sz="2000" dirty="0"/>
              <a:t>. The repeated use of </a:t>
            </a:r>
            <a:r>
              <a:rPr lang="en-US" altLang="zh-CN" sz="2000" dirty="0">
                <a:solidFill>
                  <a:srgbClr val="FF0000"/>
                </a:solidFill>
              </a:rPr>
              <a:t>Facade</a:t>
            </a:r>
            <a:r>
              <a:rPr lang="en-US" altLang="zh-CN" sz="2000" dirty="0"/>
              <a:t> patterns yields a layered system.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t>Composite: Representing Recursive Hierarchies</a:t>
            </a:r>
            <a:endParaRPr lang="en-US" sz="16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596901" y="1261352"/>
            <a:ext cx="9550399" cy="224676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Name</a:t>
            </a:r>
            <a:r>
              <a:rPr lang="en-US" altLang="zh-CN" sz="2000" dirty="0"/>
              <a:t>: Composite design pattern</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Example: </a:t>
            </a:r>
            <a:r>
              <a:rPr lang="en-US" altLang="zh-CN" sz="2000" dirty="0"/>
              <a:t>GUIs contained in a GUI</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Problem description: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Represent a hierarchy of variable width and depth, so that the leaves and composites can be treated uniformly through a common interface. </a:t>
            </a:r>
            <a:endParaRPr lang="en-US" altLang="zh-CN" sz="2000"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069849" y="3704653"/>
            <a:ext cx="3860893" cy="2664632"/>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Composite: Class Diagram</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981267" y="2951422"/>
            <a:ext cx="3135931" cy="3404927"/>
          </a:xfrm>
          <a:prstGeom prst="rect">
            <a:avLst/>
          </a:prstGeom>
        </p:spPr>
      </p:pic>
      <p:sp>
        <p:nvSpPr>
          <p:cNvPr id="8" name="TextBox 7"/>
          <p:cNvSpPr txBox="1"/>
          <p:nvPr/>
        </p:nvSpPr>
        <p:spPr>
          <a:xfrm>
            <a:off x="0" y="1194949"/>
            <a:ext cx="14617591" cy="2246769"/>
          </a:xfrm>
          <a:prstGeom prst="rect">
            <a:avLst/>
          </a:prstGeom>
          <a:noFill/>
        </p:spPr>
        <p:txBody>
          <a:bodyPr wrap="square">
            <a:spAutoFit/>
          </a:bodyPr>
          <a:lstStyle/>
          <a:p>
            <a:pPr lvl="1"/>
            <a:r>
              <a:rPr lang="en-US" sz="2000" dirty="0"/>
              <a:t>The Component interface describes common operations</a:t>
            </a:r>
            <a:endParaRPr lang="en-US" sz="2000" dirty="0"/>
          </a:p>
          <a:p>
            <a:pPr lvl="1">
              <a:buFont typeface="+mj-lt"/>
              <a:buAutoNum type="arabicPeriod"/>
            </a:pPr>
            <a:endParaRPr lang="en-US" sz="2000" dirty="0"/>
          </a:p>
          <a:p>
            <a:pPr lvl="1"/>
            <a:r>
              <a:rPr lang="en-US" sz="2000" dirty="0"/>
              <a:t>The Leaf is a basic element of a tree that doesn’t have sub-elements</a:t>
            </a:r>
            <a:endParaRPr lang="en-US" sz="2000" dirty="0"/>
          </a:p>
          <a:p>
            <a:pPr lvl="1">
              <a:buFont typeface="+mj-lt"/>
              <a:buAutoNum type="arabicPeriod"/>
            </a:pPr>
            <a:endParaRPr lang="en-US" sz="2000" dirty="0"/>
          </a:p>
          <a:p>
            <a:pPr lvl="1"/>
            <a:r>
              <a:rPr lang="en-US" sz="2000" dirty="0"/>
              <a:t>The Container (aka composite) is an element that has sub-elements: leaves or other containers. </a:t>
            </a:r>
            <a:endParaRPr lang="en-US" sz="2000" dirty="0"/>
          </a:p>
          <a:p>
            <a:pPr lvl="1"/>
            <a:endParaRPr lang="en-US" sz="2000" dirty="0"/>
          </a:p>
          <a:p>
            <a:pPr lvl="1"/>
            <a:r>
              <a:rPr lang="en-US" sz="2000" dirty="0"/>
              <a:t>The Client works with all elements through the component interface</a:t>
            </a:r>
            <a:endParaRPr lang="en-US" sz="2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Composite: Class Diagram</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91254" y="1209675"/>
            <a:ext cx="3892507" cy="4438650"/>
          </a:xfrm>
          <a:prstGeom prst="rect">
            <a:avLst/>
          </a:prstGeom>
        </p:spPr>
      </p:pic>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0866" y="1297553"/>
            <a:ext cx="5981700" cy="1473200"/>
          </a:xfrm>
          <a:prstGeom prst="rect">
            <a:avLst/>
          </a:prstGeom>
        </p:spPr>
      </p:pic>
      <p:sp>
        <p:nvSpPr>
          <p:cNvPr id="10" name="Rectangle 9"/>
          <p:cNvSpPr/>
          <p:nvPr/>
        </p:nvSpPr>
        <p:spPr>
          <a:xfrm>
            <a:off x="1480088" y="1297552"/>
            <a:ext cx="1216617" cy="1112433"/>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Composite: Class Diagram</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91254" y="1209675"/>
            <a:ext cx="3892507" cy="4438650"/>
          </a:xfrm>
          <a:prstGeom prst="rect">
            <a:avLst/>
          </a:prstGeom>
        </p:spPr>
      </p:pic>
      <p:sp>
        <p:nvSpPr>
          <p:cNvPr id="10" name="Rectangle 9"/>
          <p:cNvSpPr/>
          <p:nvPr/>
        </p:nvSpPr>
        <p:spPr>
          <a:xfrm>
            <a:off x="1263975" y="2707898"/>
            <a:ext cx="1610961" cy="2940427"/>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9133" y="1028699"/>
            <a:ext cx="5114648" cy="4848153"/>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Composite: Class Diagram</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91254" y="1209675"/>
            <a:ext cx="3892507" cy="4438650"/>
          </a:xfrm>
          <a:prstGeom prst="rect">
            <a:avLst/>
          </a:prstGeom>
        </p:spPr>
      </p:pic>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7030" y="1394846"/>
            <a:ext cx="4293449" cy="4843220"/>
          </a:xfrm>
          <a:prstGeom prst="rect">
            <a:avLst/>
          </a:prstGeom>
        </p:spPr>
      </p:pic>
      <p:sp>
        <p:nvSpPr>
          <p:cNvPr id="8" name="Rectangle 7"/>
          <p:cNvSpPr/>
          <p:nvPr/>
        </p:nvSpPr>
        <p:spPr>
          <a:xfrm>
            <a:off x="2945541" y="2707899"/>
            <a:ext cx="1967422" cy="173236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6182226" y="3969658"/>
            <a:ext cx="3934231" cy="216988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Composite: Class Diagram</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91254" y="1209675"/>
            <a:ext cx="3892507" cy="4438650"/>
          </a:xfrm>
          <a:prstGeom prst="rect">
            <a:avLst/>
          </a:prstGeom>
        </p:spPr>
      </p:pic>
      <p:sp>
        <p:nvSpPr>
          <p:cNvPr id="8" name="Rectangle 7"/>
          <p:cNvSpPr/>
          <p:nvPr/>
        </p:nvSpPr>
        <p:spPr>
          <a:xfrm>
            <a:off x="3456121" y="1266557"/>
            <a:ext cx="1131377" cy="461504"/>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5137688" y="5455403"/>
            <a:ext cx="184731" cy="369332"/>
          </a:xfrm>
          <a:prstGeom prst="rect">
            <a:avLst/>
          </a:prstGeom>
          <a:noFill/>
        </p:spPr>
        <p:txBody>
          <a:bodyPr wrap="none" rtlCol="0">
            <a:spAutoFit/>
          </a:bodyPr>
          <a:lstStyle/>
          <a:p>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6346" y="1371760"/>
            <a:ext cx="4964144" cy="4641527"/>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t>Composite: Representing Recursive Hierarchies</a:t>
            </a:r>
            <a:endParaRPr lang="en-US" sz="16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Solution:</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The </a:t>
            </a:r>
            <a:r>
              <a:rPr lang="en-US" altLang="zh-CN" sz="2000" dirty="0">
                <a:solidFill>
                  <a:srgbClr val="FF0000"/>
                </a:solidFill>
              </a:rPr>
              <a:t>Component</a:t>
            </a:r>
            <a:r>
              <a:rPr lang="en-US" altLang="zh-CN" sz="2000" dirty="0"/>
              <a:t> interface specifies the services that are shared between </a:t>
            </a:r>
            <a:r>
              <a:rPr lang="en-US" altLang="zh-CN" sz="2000" dirty="0">
                <a:solidFill>
                  <a:srgbClr val="FF0000"/>
                </a:solidFill>
              </a:rPr>
              <a:t>Leaf</a:t>
            </a:r>
            <a:r>
              <a:rPr lang="en-US" altLang="zh-CN" sz="2000" dirty="0"/>
              <a:t> and </a:t>
            </a:r>
            <a:r>
              <a:rPr lang="en-US" altLang="zh-CN" sz="2000" dirty="0">
                <a:solidFill>
                  <a:srgbClr val="FF0000"/>
                </a:solidFill>
              </a:rPr>
              <a:t>Composite</a:t>
            </a:r>
            <a:r>
              <a:rPr lang="en-US" altLang="zh-CN" sz="2000" dirty="0"/>
              <a:t>.</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A </a:t>
            </a:r>
            <a:r>
              <a:rPr lang="en-US" altLang="zh-CN" sz="2000" dirty="0">
                <a:solidFill>
                  <a:srgbClr val="FF0000"/>
                </a:solidFill>
              </a:rPr>
              <a:t>Composite</a:t>
            </a:r>
            <a:r>
              <a:rPr lang="en-US" altLang="zh-CN" sz="2000" dirty="0"/>
              <a:t> has an aggregation association with </a:t>
            </a:r>
            <a:r>
              <a:rPr lang="en-US" altLang="zh-CN" sz="2000" dirty="0">
                <a:solidFill>
                  <a:srgbClr val="FF0000"/>
                </a:solidFill>
              </a:rPr>
              <a:t>Components</a:t>
            </a:r>
            <a:r>
              <a:rPr lang="en-US" altLang="zh-CN" sz="2000" dirty="0"/>
              <a:t> and implements each service by iterating over each contained </a:t>
            </a:r>
            <a:r>
              <a:rPr lang="en-US" altLang="zh-CN" sz="2000" dirty="0">
                <a:solidFill>
                  <a:srgbClr val="FF0000"/>
                </a:solidFill>
              </a:rPr>
              <a:t>Component</a:t>
            </a:r>
            <a:r>
              <a:rPr lang="en-US" altLang="zh-CN" sz="2000" dirty="0"/>
              <a:t>.</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The </a:t>
            </a:r>
            <a:r>
              <a:rPr lang="en-US" altLang="zh-CN" sz="2000" dirty="0">
                <a:solidFill>
                  <a:srgbClr val="FF0000"/>
                </a:solidFill>
              </a:rPr>
              <a:t>Leaf</a:t>
            </a:r>
            <a:r>
              <a:rPr lang="en-US" altLang="zh-CN" sz="2000" dirty="0"/>
              <a:t> services do the actual work.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Composite: Consequences</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193899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Consequences: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solidFill>
                  <a:srgbClr val="FF0000"/>
                </a:solidFill>
              </a:rPr>
              <a:t>Client</a:t>
            </a:r>
            <a:r>
              <a:rPr lang="en-US" altLang="zh-CN" sz="2000" dirty="0"/>
              <a:t> uses the same code for dealing with </a:t>
            </a:r>
            <a:r>
              <a:rPr lang="en-US" altLang="zh-CN" sz="2000" dirty="0">
                <a:solidFill>
                  <a:srgbClr val="FF0000"/>
                </a:solidFill>
              </a:rPr>
              <a:t>Leaves</a:t>
            </a:r>
            <a:r>
              <a:rPr lang="en-US" altLang="zh-CN" sz="2000" dirty="0"/>
              <a:t> or </a:t>
            </a:r>
            <a:r>
              <a:rPr lang="en-US" altLang="zh-CN" sz="2000" dirty="0">
                <a:solidFill>
                  <a:srgbClr val="FF0000"/>
                </a:solidFill>
              </a:rPr>
              <a:t>Composites</a:t>
            </a:r>
            <a:r>
              <a:rPr lang="en-US" altLang="zh-CN" sz="2000" dirty="0"/>
              <a:t>.</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solidFill>
                  <a:srgbClr val="FF0000"/>
                </a:solidFill>
              </a:rPr>
              <a:t>Leaf-specific</a:t>
            </a:r>
            <a:r>
              <a:rPr lang="en-US" altLang="zh-CN" sz="2000" dirty="0"/>
              <a:t> behavior can be changed without changing the hierarchy.</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New classes of </a:t>
            </a:r>
            <a:r>
              <a:rPr lang="en-US" altLang="zh-CN" sz="2000" dirty="0">
                <a:solidFill>
                  <a:srgbClr val="FF0000"/>
                </a:solidFill>
              </a:rPr>
              <a:t>Leaves</a:t>
            </a:r>
            <a:r>
              <a:rPr lang="en-US" altLang="zh-CN" sz="2000" dirty="0"/>
              <a:t> can be added without changing the hierarchy.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Discussion</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24676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Discussion</a:t>
            </a:r>
            <a:r>
              <a:rPr lang="en-US" altLang="zh-CN" sz="2000" dirty="0"/>
              <a:t> </a:t>
            </a:r>
            <a:endParaRPr lang="en-US" altLang="zh-CN" sz="2000" dirty="0"/>
          </a:p>
          <a:p>
            <a:pPr lvl="1"/>
            <a:r>
              <a:rPr lang="en-US" altLang="zh-CN" sz="2000" dirty="0"/>
              <a:t>See the interesting discussion in Wikipedia (2019):</a:t>
            </a:r>
            <a:endParaRPr lang="en-US" altLang="zh-CN" sz="2000" dirty="0"/>
          </a:p>
          <a:p>
            <a:pPr lvl="1"/>
            <a:endParaRPr lang="en-US" altLang="zh-CN" sz="2000" dirty="0"/>
          </a:p>
          <a:p>
            <a:pPr lvl="1"/>
            <a:r>
              <a:rPr lang="en-US" altLang="zh-CN" sz="2000" dirty="0"/>
              <a:t>"Use of this pattern makes it possible to interchange concrete classes without changing the code that uses them, even at runtime. However, employment of this pattern, as with similar design patterns, may result in unnecessary complexity and extra work in the initial writing of code."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An Old Exam Question</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3477875"/>
          </a:xfrm>
          <a:prstGeom prst="rect">
            <a:avLst/>
          </a:prstGeom>
          <a:noFill/>
        </p:spPr>
        <p:txBody>
          <a:bodyPr wrap="square">
            <a:spAutoFit/>
          </a:bodyPr>
          <a:lstStyle/>
          <a:p>
            <a:r>
              <a:rPr lang="en-US" altLang="zh-CN" sz="2000" i="1" dirty="0"/>
              <a:t>A company that makes sports equipment decides to create a system for selling sports equipment online. The company already has a </a:t>
            </a:r>
            <a:r>
              <a:rPr lang="en-US" altLang="zh-CN" sz="2000" i="1" dirty="0">
                <a:solidFill>
                  <a:srgbClr val="FF0000"/>
                </a:solidFill>
              </a:rPr>
              <a:t>product database </a:t>
            </a:r>
            <a:r>
              <a:rPr lang="en-US" altLang="zh-CN" sz="2000" i="1" dirty="0"/>
              <a:t>with specification, marketing information, and prices of the equipment that it manufactures. </a:t>
            </a:r>
            <a:endParaRPr lang="en-US" altLang="zh-CN" sz="2000" i="1" dirty="0"/>
          </a:p>
          <a:p>
            <a:endParaRPr lang="en-US" altLang="zh-CN" sz="2000" i="1" dirty="0"/>
          </a:p>
          <a:p>
            <a:r>
              <a:rPr lang="en-US" altLang="zh-CN" sz="2000" i="1" dirty="0"/>
              <a:t>To sell equipment online the company will need to create: a </a:t>
            </a:r>
            <a:r>
              <a:rPr lang="en-US" altLang="zh-CN" sz="2000" i="1" dirty="0">
                <a:solidFill>
                  <a:srgbClr val="FF0000"/>
                </a:solidFill>
              </a:rPr>
              <a:t>customer database</a:t>
            </a:r>
            <a:r>
              <a:rPr lang="en-US" altLang="zh-CN" sz="2000" i="1" dirty="0"/>
              <a:t>, and an </a:t>
            </a:r>
            <a:r>
              <a:rPr lang="en-US" altLang="zh-CN" sz="2000" i="1" dirty="0">
                <a:solidFill>
                  <a:srgbClr val="FF0000"/>
                </a:solidFill>
              </a:rPr>
              <a:t>ordering system </a:t>
            </a:r>
            <a:r>
              <a:rPr lang="en-US" altLang="zh-CN" sz="2000" i="1" dirty="0"/>
              <a:t>for online customers. </a:t>
            </a:r>
            <a:endParaRPr lang="en-US" altLang="zh-CN" sz="2000" i="1" dirty="0"/>
          </a:p>
          <a:p>
            <a:endParaRPr lang="en-US" altLang="zh-CN" sz="2000" i="1" dirty="0"/>
          </a:p>
          <a:p>
            <a:r>
              <a:rPr lang="en-US" altLang="zh-CN" sz="2000" i="1" dirty="0"/>
              <a:t>The plan is to develop the system in two phases. During Phase 1, simple versions of the customer database and ordering system will be brought into production. In Phase 2, major enhancements will be made to these components. </a:t>
            </a:r>
            <a:endParaRPr lang="en-US" altLang="zh-CN" sz="2000" b="1" i="1" dirty="0">
              <a:solidFill>
                <a:srgbClr val="515223"/>
              </a:solidFill>
              <a:latin typeface="Helvetica" pitchFamily="2" charset="0"/>
              <a:cs typeface="Arial" panose="020B0604020202090204"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An Old Exam Question</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073339"/>
            <a:ext cx="9550399" cy="5016758"/>
          </a:xfrm>
          <a:prstGeom prst="rect">
            <a:avLst/>
          </a:prstGeom>
          <a:noFill/>
        </p:spPr>
        <p:txBody>
          <a:bodyPr wrap="square">
            <a:spAutoFit/>
          </a:bodyPr>
          <a:lstStyle/>
          <a:p>
            <a:r>
              <a:rPr lang="en-US" altLang="zh-CN" sz="2000" dirty="0"/>
              <a:t>Careful design during Phase 1 will help the subsequent development of new components in Phase 2. </a:t>
            </a:r>
            <a:endParaRPr lang="en-US" altLang="zh-CN" sz="2000" dirty="0"/>
          </a:p>
          <a:p>
            <a:pPr marL="914400" lvl="1" indent="-457200">
              <a:buAutoNum type="alphaLcParenBoth"/>
            </a:pPr>
            <a:r>
              <a:rPr lang="en-US" altLang="zh-CN" sz="2000" dirty="0"/>
              <a:t>For the interface between the ordering system and the customer database:</a:t>
            </a:r>
            <a:endParaRPr lang="en-US" altLang="zh-CN" sz="2000" dirty="0"/>
          </a:p>
          <a:p>
            <a:pPr lvl="1"/>
            <a:r>
              <a:rPr lang="en-US" altLang="zh-CN" sz="2000" dirty="0"/>
              <a:t> </a:t>
            </a:r>
            <a:endParaRPr lang="en-US" altLang="zh-CN" sz="2000" dirty="0"/>
          </a:p>
          <a:p>
            <a:pPr lvl="2"/>
            <a:r>
              <a:rPr lang="en-US" altLang="zh-CN" sz="2000" dirty="0" err="1"/>
              <a:t>i</a:t>
            </a:r>
            <a:r>
              <a:rPr lang="en-US" altLang="zh-CN" sz="2000" dirty="0"/>
              <a:t> Select a design pattern that will allow a gradual transition from Phase 1 to Phase 2. </a:t>
            </a:r>
            <a:endParaRPr lang="en-US" altLang="zh-CN" sz="2000" dirty="0"/>
          </a:p>
          <a:p>
            <a:pPr lvl="2"/>
            <a:endParaRPr lang="en-US" altLang="zh-CN" sz="2000" dirty="0"/>
          </a:p>
          <a:p>
            <a:pPr lvl="2"/>
            <a:endParaRPr lang="en-US" altLang="zh-CN" sz="2000" dirty="0"/>
          </a:p>
          <a:p>
            <a:pPr lvl="2"/>
            <a:endParaRPr lang="en-US" altLang="zh-CN" sz="2000" dirty="0"/>
          </a:p>
          <a:p>
            <a:pPr lvl="2"/>
            <a:r>
              <a:rPr lang="en-US" altLang="zh-CN" sz="2000" dirty="0"/>
              <a:t>ii Draw a UML class diagram that shows how this design pattern will be used in Phase 1. </a:t>
            </a:r>
            <a:endParaRPr lang="en-US" altLang="zh-CN" sz="2000" dirty="0"/>
          </a:p>
          <a:p>
            <a:pPr lvl="2"/>
            <a:endParaRPr lang="en-US" altLang="zh-CN" sz="2000" dirty="0"/>
          </a:p>
          <a:p>
            <a:pPr lvl="3"/>
            <a:r>
              <a:rPr lang="en-US" altLang="zh-CN" sz="2000" i="1" dirty="0"/>
              <a:t>If your diagram relies on abstract classes, inheritance, delegation or similar properties be sure that this is clear on your diagram. </a:t>
            </a:r>
            <a:endParaRPr lang="en-US" altLang="zh-CN" sz="2000" i="1" dirty="0"/>
          </a:p>
          <a:p>
            <a:pPr lvl="3"/>
            <a:endParaRPr lang="en-US" altLang="zh-CN" sz="2000" dirty="0"/>
          </a:p>
          <a:p>
            <a:pPr lvl="3"/>
            <a:endParaRPr lang="en-US" altLang="zh-CN" sz="2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An Old Exam Question</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073339"/>
            <a:ext cx="9550399" cy="5016758"/>
          </a:xfrm>
          <a:prstGeom prst="rect">
            <a:avLst/>
          </a:prstGeom>
          <a:noFill/>
        </p:spPr>
        <p:txBody>
          <a:bodyPr wrap="square">
            <a:spAutoFit/>
          </a:bodyPr>
          <a:lstStyle/>
          <a:p>
            <a:r>
              <a:rPr lang="en-US" altLang="zh-CN" sz="2000" dirty="0"/>
              <a:t>Careful design during Phase 1 will help the subsequent development of new components in Phase 2. </a:t>
            </a:r>
            <a:endParaRPr lang="en-US" altLang="zh-CN" sz="2000" dirty="0"/>
          </a:p>
          <a:p>
            <a:pPr marL="914400" lvl="1" indent="-457200">
              <a:buAutoNum type="alphaLcParenBoth"/>
            </a:pPr>
            <a:r>
              <a:rPr lang="en-US" altLang="zh-CN" sz="2000" dirty="0"/>
              <a:t>For the interface between the ordering system and the customer database:</a:t>
            </a:r>
            <a:endParaRPr lang="en-US" altLang="zh-CN" sz="2000" dirty="0"/>
          </a:p>
          <a:p>
            <a:pPr lvl="1"/>
            <a:r>
              <a:rPr lang="en-US" altLang="zh-CN" sz="2000" dirty="0"/>
              <a:t> </a:t>
            </a:r>
            <a:endParaRPr lang="en-US" altLang="zh-CN" sz="2000" dirty="0"/>
          </a:p>
          <a:p>
            <a:pPr lvl="2"/>
            <a:r>
              <a:rPr lang="en-US" altLang="zh-CN" sz="2000" dirty="0" err="1"/>
              <a:t>i</a:t>
            </a:r>
            <a:r>
              <a:rPr lang="en-US" altLang="zh-CN" sz="2000" dirty="0"/>
              <a:t> Select a design pattern that will allow a gradual transition from Phase 1 to Phase 2. </a:t>
            </a:r>
            <a:endParaRPr lang="en-US" altLang="zh-CN" sz="2000" dirty="0"/>
          </a:p>
          <a:p>
            <a:pPr lvl="2"/>
            <a:endParaRPr lang="en-US" altLang="zh-CN" sz="2000" dirty="0"/>
          </a:p>
          <a:p>
            <a:pPr lvl="3"/>
            <a:r>
              <a:rPr lang="en-US" altLang="zh-CN" sz="2000" dirty="0">
                <a:solidFill>
                  <a:srgbClr val="FF0000"/>
                </a:solidFill>
              </a:rPr>
              <a:t>Bridge design pattern </a:t>
            </a:r>
            <a:endParaRPr lang="en-US" altLang="zh-CN" sz="2000" dirty="0">
              <a:solidFill>
                <a:srgbClr val="FF0000"/>
              </a:solidFill>
            </a:endParaRPr>
          </a:p>
          <a:p>
            <a:pPr lvl="2"/>
            <a:endParaRPr lang="en-US" altLang="zh-CN" sz="2000" dirty="0"/>
          </a:p>
          <a:p>
            <a:pPr lvl="2"/>
            <a:r>
              <a:rPr lang="en-US" altLang="zh-CN" sz="2000" dirty="0"/>
              <a:t>ii Draw a UML class diagram that shows how this design pattern will be used in Phase 1. </a:t>
            </a:r>
            <a:endParaRPr lang="en-US" altLang="zh-CN" sz="2000" dirty="0"/>
          </a:p>
          <a:p>
            <a:pPr lvl="2"/>
            <a:endParaRPr lang="en-US" altLang="zh-CN" sz="2000" dirty="0"/>
          </a:p>
          <a:p>
            <a:pPr lvl="3"/>
            <a:r>
              <a:rPr lang="en-US" altLang="zh-CN" sz="2000" i="1" dirty="0"/>
              <a:t>If your diagram relies on abstract classes, inheritance, delegation or similar properties be sure that this is clear on your diagram. </a:t>
            </a:r>
            <a:endParaRPr lang="en-US" altLang="zh-CN" sz="2000" i="1" dirty="0"/>
          </a:p>
          <a:p>
            <a:pPr lvl="3"/>
            <a:endParaRPr lang="en-US" altLang="zh-CN" sz="2000" dirty="0"/>
          </a:p>
          <a:p>
            <a:pPr lvl="3"/>
            <a:endParaRPr lang="en-US" altLang="zh-CN" sz="2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An Old Exam Question</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073339"/>
            <a:ext cx="9550399" cy="5016758"/>
          </a:xfrm>
          <a:prstGeom prst="rect">
            <a:avLst/>
          </a:prstGeom>
          <a:noFill/>
        </p:spPr>
        <p:txBody>
          <a:bodyPr wrap="square">
            <a:spAutoFit/>
          </a:bodyPr>
          <a:lstStyle/>
          <a:p>
            <a:r>
              <a:rPr lang="en-US" altLang="zh-CN" sz="2000" dirty="0"/>
              <a:t>Careful design during Phase 1 will help the subsequent development of new components in Phase 2. </a:t>
            </a:r>
            <a:endParaRPr lang="en-US" altLang="zh-CN" sz="2000" dirty="0"/>
          </a:p>
          <a:p>
            <a:pPr marL="914400" lvl="1" indent="-457200">
              <a:buAutoNum type="alphaLcParenBoth"/>
            </a:pPr>
            <a:r>
              <a:rPr lang="en-US" altLang="zh-CN" sz="2000" dirty="0"/>
              <a:t>For the interface between the ordering system and the customer database:</a:t>
            </a:r>
            <a:endParaRPr lang="en-US" altLang="zh-CN" sz="2000" dirty="0"/>
          </a:p>
          <a:p>
            <a:pPr lvl="1"/>
            <a:r>
              <a:rPr lang="en-US" altLang="zh-CN" sz="2000" dirty="0"/>
              <a:t> </a:t>
            </a:r>
            <a:endParaRPr lang="en-US" altLang="zh-CN" sz="2000" dirty="0"/>
          </a:p>
          <a:p>
            <a:pPr lvl="2"/>
            <a:r>
              <a:rPr lang="en-US" altLang="zh-CN" sz="2000" dirty="0" err="1"/>
              <a:t>i</a:t>
            </a:r>
            <a:r>
              <a:rPr lang="en-US" altLang="zh-CN" sz="2000" dirty="0"/>
              <a:t> Select a design pattern that will allow a gradual transition from Phase 1 to Phase 2. </a:t>
            </a:r>
            <a:endParaRPr lang="en-US" altLang="zh-CN" sz="2000" dirty="0"/>
          </a:p>
          <a:p>
            <a:pPr lvl="2"/>
            <a:endParaRPr lang="en-US" altLang="zh-CN" sz="2000" dirty="0"/>
          </a:p>
          <a:p>
            <a:pPr lvl="3"/>
            <a:r>
              <a:rPr lang="en-US" altLang="zh-CN" sz="2000" dirty="0">
                <a:solidFill>
                  <a:srgbClr val="FF0000"/>
                </a:solidFill>
              </a:rPr>
              <a:t>Bridge design pattern </a:t>
            </a:r>
            <a:endParaRPr lang="en-US" altLang="zh-CN" sz="2000" dirty="0">
              <a:solidFill>
                <a:srgbClr val="FF0000"/>
              </a:solidFill>
            </a:endParaRPr>
          </a:p>
          <a:p>
            <a:pPr lvl="2"/>
            <a:endParaRPr lang="en-US" altLang="zh-CN" sz="2000" dirty="0"/>
          </a:p>
          <a:p>
            <a:pPr lvl="2"/>
            <a:r>
              <a:rPr lang="en-US" altLang="zh-CN" sz="2000" dirty="0"/>
              <a:t>ii Draw a UML class diagram that shows how this design pattern will be used in Phase 1. </a:t>
            </a:r>
            <a:endParaRPr lang="en-US" altLang="zh-CN" sz="2000" dirty="0"/>
          </a:p>
          <a:p>
            <a:pPr lvl="2"/>
            <a:endParaRPr lang="en-US" altLang="zh-CN" sz="2000" dirty="0"/>
          </a:p>
          <a:p>
            <a:pPr lvl="3"/>
            <a:r>
              <a:rPr lang="en-US" altLang="zh-CN" sz="2000" i="1" dirty="0"/>
              <a:t>If your diagram relies on abstract classes, inheritance, delegation or similar properties be sure that this is clear on your diagram. </a:t>
            </a:r>
            <a:endParaRPr lang="en-US" altLang="zh-CN" sz="2000" i="1" dirty="0"/>
          </a:p>
          <a:p>
            <a:pPr lvl="3"/>
            <a:endParaRPr lang="en-US" altLang="zh-CN" sz="2000" dirty="0"/>
          </a:p>
          <a:p>
            <a:pPr lvl="3"/>
            <a:r>
              <a:rPr lang="en-US" altLang="zh-CN" sz="2000" dirty="0">
                <a:solidFill>
                  <a:srgbClr val="FF0000"/>
                </a:solidFill>
              </a:rPr>
              <a:t>[See next slide]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An Old Exam Question</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1250156" y="1149946"/>
            <a:ext cx="9691687" cy="4932069"/>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An Old Exam Question</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554545"/>
          </a:xfrm>
          <a:prstGeom prst="rect">
            <a:avLst/>
          </a:prstGeom>
          <a:noFill/>
        </p:spPr>
        <p:txBody>
          <a:bodyPr wrap="square">
            <a:spAutoFit/>
          </a:bodyPr>
          <a:lstStyle/>
          <a:p>
            <a:r>
              <a:rPr lang="en-US" altLang="zh-CN" sz="2000" dirty="0"/>
              <a:t>(c) How does this design pattern support: </a:t>
            </a:r>
            <a:endParaRPr lang="en-US" altLang="zh-CN" sz="2000" dirty="0"/>
          </a:p>
          <a:p>
            <a:pPr lvl="1"/>
            <a:r>
              <a:rPr lang="en-US" altLang="zh-CN" sz="2000" dirty="0" err="1"/>
              <a:t>i</a:t>
            </a:r>
            <a:r>
              <a:rPr lang="en-US" altLang="zh-CN" sz="2000" dirty="0"/>
              <a:t> Enhancements to the ordering system in Phase 2? </a:t>
            </a:r>
            <a:endParaRPr lang="en-US" altLang="zh-CN" sz="2000" dirty="0"/>
          </a:p>
          <a:p>
            <a:pPr lvl="1"/>
            <a:endParaRPr lang="en-US" altLang="zh-CN" sz="2000" dirty="0"/>
          </a:p>
          <a:p>
            <a:pPr lvl="2"/>
            <a:r>
              <a:rPr lang="en-US" altLang="zh-CN" sz="2000" dirty="0">
                <a:solidFill>
                  <a:srgbClr val="FF0000"/>
                </a:solidFill>
              </a:rPr>
              <a:t> </a:t>
            </a:r>
            <a:endParaRPr lang="en-US" altLang="zh-CN" sz="2000" dirty="0">
              <a:solidFill>
                <a:srgbClr val="FF0000"/>
              </a:solidFill>
            </a:endParaRPr>
          </a:p>
          <a:p>
            <a:pPr lvl="2"/>
            <a:endParaRPr lang="en-US" altLang="zh-CN" sz="2000" dirty="0"/>
          </a:p>
          <a:p>
            <a:pPr lvl="1"/>
            <a:r>
              <a:rPr lang="en-US" altLang="zh-CN" sz="2000" dirty="0"/>
              <a:t>ii A possible replacement of the customer database in Phase 2?</a:t>
            </a:r>
            <a:endParaRPr lang="en-US" altLang="zh-CN" sz="2000" dirty="0"/>
          </a:p>
          <a:p>
            <a:pPr lvl="1"/>
            <a:r>
              <a:rPr lang="en-US" altLang="zh-CN" sz="2000" dirty="0"/>
              <a:t> </a:t>
            </a:r>
            <a:endParaRPr lang="en-US" altLang="zh-CN" sz="2000" dirty="0"/>
          </a:p>
          <a:p>
            <a:pPr lvl="2"/>
            <a:r>
              <a:rPr lang="en-US" altLang="zh-CN" sz="2000" dirty="0">
                <a:solidFill>
                  <a:srgbClr val="FF0000"/>
                </a:solidFill>
              </a:rPr>
              <a:t>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An Old Exam Question</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554545"/>
          </a:xfrm>
          <a:prstGeom prst="rect">
            <a:avLst/>
          </a:prstGeom>
          <a:noFill/>
        </p:spPr>
        <p:txBody>
          <a:bodyPr wrap="square">
            <a:spAutoFit/>
          </a:bodyPr>
          <a:lstStyle/>
          <a:p>
            <a:r>
              <a:rPr lang="en-US" altLang="zh-CN" sz="2000" dirty="0"/>
              <a:t>(c) How does this design pattern support: </a:t>
            </a:r>
            <a:endParaRPr lang="en-US" altLang="zh-CN" sz="2000" dirty="0"/>
          </a:p>
          <a:p>
            <a:pPr lvl="1"/>
            <a:r>
              <a:rPr lang="en-US" altLang="zh-CN" sz="2000" dirty="0" err="1"/>
              <a:t>i</a:t>
            </a:r>
            <a:r>
              <a:rPr lang="en-US" altLang="zh-CN" sz="2000" dirty="0"/>
              <a:t> Enhancements to the ordering system in Phase 2? </a:t>
            </a:r>
            <a:endParaRPr lang="en-US" altLang="zh-CN" sz="2000" dirty="0"/>
          </a:p>
          <a:p>
            <a:pPr lvl="1"/>
            <a:endParaRPr lang="en-US" altLang="zh-CN" sz="2000" dirty="0"/>
          </a:p>
          <a:p>
            <a:pPr lvl="2"/>
            <a:r>
              <a:rPr lang="en-US" altLang="zh-CN" sz="2000" dirty="0">
                <a:solidFill>
                  <a:srgbClr val="FF0000"/>
                </a:solidFill>
              </a:rPr>
              <a:t>By subclassing </a:t>
            </a:r>
            <a:r>
              <a:rPr lang="en-US" altLang="zh-CN" sz="2000" dirty="0" err="1">
                <a:solidFill>
                  <a:srgbClr val="FF0000"/>
                </a:solidFill>
              </a:rPr>
              <a:t>OrderingAbstraction</a:t>
            </a:r>
            <a:r>
              <a:rPr lang="en-US" altLang="zh-CN" sz="2000" dirty="0">
                <a:solidFill>
                  <a:srgbClr val="FF0000"/>
                </a:solidFill>
              </a:rPr>
              <a:t> </a:t>
            </a:r>
            <a:endParaRPr lang="en-US" altLang="zh-CN" sz="2000" dirty="0">
              <a:solidFill>
                <a:srgbClr val="FF0000"/>
              </a:solidFill>
            </a:endParaRPr>
          </a:p>
          <a:p>
            <a:pPr lvl="2"/>
            <a:endParaRPr lang="en-US" altLang="zh-CN" sz="2000" dirty="0"/>
          </a:p>
          <a:p>
            <a:pPr lvl="1"/>
            <a:r>
              <a:rPr lang="en-US" altLang="zh-CN" sz="2000" dirty="0"/>
              <a:t>ii A possible replacement of the customer database in Phase 2?</a:t>
            </a:r>
            <a:endParaRPr lang="en-US" altLang="zh-CN" sz="2000" dirty="0"/>
          </a:p>
          <a:p>
            <a:pPr lvl="1"/>
            <a:r>
              <a:rPr lang="en-US" altLang="zh-CN" sz="2000" dirty="0"/>
              <a:t> </a:t>
            </a:r>
            <a:endParaRPr lang="en-US" altLang="zh-CN" sz="2000" dirty="0"/>
          </a:p>
          <a:p>
            <a:pPr lvl="2"/>
            <a:r>
              <a:rPr lang="en-US" altLang="zh-CN" sz="2000" dirty="0">
                <a:solidFill>
                  <a:srgbClr val="FF0000"/>
                </a:solidFill>
              </a:rPr>
              <a:t>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An Old Exam Question</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11276604" cy="2554545"/>
          </a:xfrm>
          <a:prstGeom prst="rect">
            <a:avLst/>
          </a:prstGeom>
          <a:noFill/>
        </p:spPr>
        <p:txBody>
          <a:bodyPr wrap="square">
            <a:spAutoFit/>
          </a:bodyPr>
          <a:lstStyle/>
          <a:p>
            <a:r>
              <a:rPr lang="en-US" altLang="zh-CN" sz="2000" dirty="0"/>
              <a:t>(c) How does this design pattern support: </a:t>
            </a:r>
            <a:endParaRPr lang="en-US" altLang="zh-CN" sz="2000" dirty="0"/>
          </a:p>
          <a:p>
            <a:pPr lvl="1"/>
            <a:r>
              <a:rPr lang="en-US" altLang="zh-CN" sz="2000" dirty="0" err="1"/>
              <a:t>i</a:t>
            </a:r>
            <a:r>
              <a:rPr lang="en-US" altLang="zh-CN" sz="2000" dirty="0"/>
              <a:t> Enhancements to the ordering system in Phase 2? </a:t>
            </a:r>
            <a:endParaRPr lang="en-US" altLang="zh-CN" sz="2000" dirty="0"/>
          </a:p>
          <a:p>
            <a:pPr lvl="1"/>
            <a:endParaRPr lang="en-US" altLang="zh-CN" sz="2000" dirty="0"/>
          </a:p>
          <a:p>
            <a:pPr lvl="2"/>
            <a:r>
              <a:rPr lang="en-US" altLang="zh-CN" sz="2000" dirty="0">
                <a:solidFill>
                  <a:srgbClr val="FF0000"/>
                </a:solidFill>
              </a:rPr>
              <a:t>By subclassing </a:t>
            </a:r>
            <a:r>
              <a:rPr lang="en-US" altLang="zh-CN" sz="2000" dirty="0" err="1">
                <a:solidFill>
                  <a:srgbClr val="FF0000"/>
                </a:solidFill>
              </a:rPr>
              <a:t>OrderingAbstraction</a:t>
            </a:r>
            <a:r>
              <a:rPr lang="en-US" altLang="zh-CN" sz="2000" dirty="0">
                <a:solidFill>
                  <a:srgbClr val="FF0000"/>
                </a:solidFill>
              </a:rPr>
              <a:t> </a:t>
            </a:r>
            <a:endParaRPr lang="en-US" altLang="zh-CN" sz="2000" dirty="0">
              <a:solidFill>
                <a:srgbClr val="FF0000"/>
              </a:solidFill>
            </a:endParaRPr>
          </a:p>
          <a:p>
            <a:pPr lvl="2"/>
            <a:endParaRPr lang="en-US" altLang="zh-CN" sz="2000" dirty="0"/>
          </a:p>
          <a:p>
            <a:pPr lvl="1"/>
            <a:r>
              <a:rPr lang="en-US" altLang="zh-CN" sz="2000" dirty="0"/>
              <a:t>ii A possible replacement of the customer database in Phase 2?</a:t>
            </a:r>
            <a:endParaRPr lang="en-US" altLang="zh-CN" sz="2000" dirty="0"/>
          </a:p>
          <a:p>
            <a:pPr lvl="1"/>
            <a:r>
              <a:rPr lang="en-US" altLang="zh-CN" sz="2000" dirty="0"/>
              <a:t> </a:t>
            </a:r>
            <a:endParaRPr lang="en-US" altLang="zh-CN" sz="2000" dirty="0"/>
          </a:p>
          <a:p>
            <a:pPr lvl="2"/>
            <a:r>
              <a:rPr lang="en-US" altLang="zh-CN" sz="2000" dirty="0">
                <a:solidFill>
                  <a:srgbClr val="FF0000"/>
                </a:solidFill>
              </a:rPr>
              <a:t>By allowing several </a:t>
            </a:r>
            <a:r>
              <a:rPr lang="en-US" altLang="zh-CN" sz="2000" dirty="0" err="1">
                <a:solidFill>
                  <a:srgbClr val="FF0000"/>
                </a:solidFill>
              </a:rPr>
              <a:t>ConcreteDBImplementor</a:t>
            </a:r>
            <a:r>
              <a:rPr lang="en-US" altLang="zh-CN" sz="2000" dirty="0">
                <a:solidFill>
                  <a:srgbClr val="FF0000"/>
                </a:solidFill>
              </a:rPr>
              <a:t> classes   (with Adapter pattern)</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Legacy Systems </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620095"/>
            <a:ext cx="9550399" cy="4093428"/>
          </a:xfrm>
          <a:prstGeom prst="rect">
            <a:avLst/>
          </a:prstGeom>
          <a:noFill/>
        </p:spPr>
        <p:txBody>
          <a:bodyPr wrap="square">
            <a:spAutoFit/>
          </a:bodyPr>
          <a:lstStyle/>
          <a:p>
            <a:r>
              <a:rPr lang="en-US" altLang="zh-CN" sz="2000" dirty="0"/>
              <a:t>Many data intensive systems, e.g., those used by banks, universities, etc. are </a:t>
            </a:r>
            <a:r>
              <a:rPr lang="en-US" altLang="zh-CN" sz="2000" dirty="0">
                <a:solidFill>
                  <a:srgbClr val="FF0000"/>
                </a:solidFill>
              </a:rPr>
              <a:t>legacy systems</a:t>
            </a:r>
            <a:r>
              <a:rPr lang="en-US" altLang="zh-CN" sz="2000" dirty="0"/>
              <a:t>. They may have been developed forty years ago as batch processing, master file update systems and been continually modified. </a:t>
            </a:r>
            <a:endParaRPr lang="en-US" altLang="zh-CN" sz="2000" dirty="0"/>
          </a:p>
          <a:p>
            <a:endParaRPr lang="en-US" altLang="zh-CN" sz="2000" dirty="0"/>
          </a:p>
          <a:p>
            <a:pPr marL="800100" lvl="1" indent="-342900">
              <a:buFont typeface="Arial" panose="020B0604020202090204" pitchFamily="34" charset="0"/>
              <a:buChar char="•"/>
            </a:pPr>
            <a:r>
              <a:rPr lang="en-US" altLang="zh-CN" sz="2000" dirty="0"/>
              <a:t>Recent modifications might include customer interfaces for the web, smartphones, etc.</a:t>
            </a:r>
            <a:endParaRPr lang="en-US" altLang="zh-CN" sz="2000" dirty="0"/>
          </a:p>
          <a:p>
            <a:pPr marL="800100" lvl="1" indent="-342900">
              <a:buFont typeface="Arial" panose="020B0604020202090204" pitchFamily="34" charset="0"/>
              <a:buChar char="•"/>
            </a:pPr>
            <a:r>
              <a:rPr lang="en-US" altLang="zh-CN" sz="2000" dirty="0"/>
              <a:t>The systems will have migrated from computer to computer, across operating systems, to different database systems, etc.</a:t>
            </a:r>
            <a:endParaRPr lang="en-US" altLang="zh-CN" sz="2000" dirty="0"/>
          </a:p>
          <a:p>
            <a:pPr marL="800100" lvl="1" indent="-342900">
              <a:buFont typeface="Arial" panose="020B0604020202090204" pitchFamily="34" charset="0"/>
              <a:buChar char="•"/>
            </a:pPr>
            <a:r>
              <a:rPr lang="en-US" altLang="zh-CN" sz="2000" dirty="0"/>
              <a:t>The organizations may have changed through mergers, etc. </a:t>
            </a:r>
            <a:endParaRPr lang="en-US" altLang="zh-CN" sz="2000" dirty="0"/>
          </a:p>
          <a:p>
            <a:endParaRPr lang="en-US" altLang="zh-CN" sz="2000" dirty="0"/>
          </a:p>
          <a:p>
            <a:r>
              <a:rPr lang="en-US" altLang="zh-CN" sz="2000" dirty="0">
                <a:solidFill>
                  <a:srgbClr val="FF0000"/>
                </a:solidFill>
              </a:rPr>
              <a:t>Maintaining a coherent system architecture for such legacy systems is an enormous challenge, yet the complexity of building new systems is so great that it is rarely attempted.</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Legacy Systems</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431558"/>
            <a:ext cx="9550399" cy="440120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The Worst Case </a:t>
            </a:r>
            <a:endParaRPr lang="en-US" altLang="zh-CN" sz="2000" b="1" dirty="0">
              <a:solidFill>
                <a:srgbClr val="515223"/>
              </a:solidFill>
              <a:latin typeface="Helvetica" pitchFamily="2" charset="0"/>
              <a:cs typeface="Arial" panose="020B0604020202090204" pitchFamily="34" charset="0"/>
            </a:endParaRPr>
          </a:p>
          <a:p>
            <a:r>
              <a:rPr lang="en-US" altLang="zh-CN" sz="2000" dirty="0">
                <a:solidFill>
                  <a:srgbClr val="515223"/>
                </a:solidFill>
                <a:latin typeface="Helvetica" pitchFamily="2" charset="0"/>
                <a:cs typeface="Arial" panose="020B0604020202090204" pitchFamily="34" charset="0"/>
              </a:rPr>
              <a:t>A large, complex system that was developed several decades ago: </a:t>
            </a:r>
            <a:endParaRPr lang="en-US" altLang="zh-CN" sz="2000"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Widely used either within a big organization or by an unknown number of customers.</a:t>
            </a:r>
            <a:endParaRPr lang="en-US" altLang="zh-CN" sz="2000" dirty="0"/>
          </a:p>
          <a:p>
            <a:pPr marL="800100" lvl="1" indent="-342900">
              <a:buFont typeface="Arial" panose="020B0604020202090204" pitchFamily="34" charset="0"/>
              <a:buChar char="•"/>
            </a:pPr>
            <a:r>
              <a:rPr lang="en-US" altLang="zh-CN" sz="2000" dirty="0"/>
              <a:t>All the developers have retired or left.</a:t>
            </a:r>
            <a:endParaRPr lang="en-US" altLang="zh-CN" sz="2000" dirty="0"/>
          </a:p>
          <a:p>
            <a:pPr marL="800100" lvl="1" indent="-342900">
              <a:buFont typeface="Arial" panose="020B0604020202090204" pitchFamily="34" charset="0"/>
              <a:buChar char="•"/>
            </a:pPr>
            <a:r>
              <a:rPr lang="en-US" altLang="zh-CN" sz="2000" dirty="0"/>
              <a:t>No list of requirements. It is uncertain what functionality the system provides and who uses which functions.</a:t>
            </a:r>
            <a:endParaRPr lang="en-US" altLang="zh-CN" sz="2000" dirty="0"/>
          </a:p>
          <a:p>
            <a:pPr marL="800100" lvl="1" indent="-342900">
              <a:buFont typeface="Arial" panose="020B0604020202090204" pitchFamily="34" charset="0"/>
              <a:buChar char="•"/>
            </a:pPr>
            <a:r>
              <a:rPr lang="en-US" altLang="zh-CN" sz="2000" dirty="0"/>
              <a:t>System and program documentation incomplete and not kept up to date.</a:t>
            </a:r>
            <a:endParaRPr lang="en-US" altLang="zh-CN" sz="2000" dirty="0"/>
          </a:p>
          <a:p>
            <a:pPr marL="800100" lvl="1" indent="-342900">
              <a:buFont typeface="Arial" panose="020B0604020202090204" pitchFamily="34" charset="0"/>
              <a:buChar char="•"/>
            </a:pPr>
            <a:r>
              <a:rPr lang="en-US" altLang="zh-CN" sz="2000" dirty="0"/>
              <a:t>Written in out-of-date versions of programming languages using system software that is also out of date.</a:t>
            </a:r>
            <a:endParaRPr lang="en-US" altLang="zh-CN" sz="2000" dirty="0"/>
          </a:p>
          <a:p>
            <a:pPr marL="800100" lvl="1" indent="-342900">
              <a:buFont typeface="Arial" panose="020B0604020202090204" pitchFamily="34" charset="0"/>
              <a:buChar char="•"/>
            </a:pPr>
            <a:r>
              <a:rPr lang="en-US" altLang="zh-CN" sz="2000" dirty="0"/>
              <a:t>Numerous patches over the years that have ignored the original system architecture and program design.</a:t>
            </a:r>
            <a:endParaRPr lang="en-US" altLang="zh-CN" sz="2000" dirty="0"/>
          </a:p>
          <a:p>
            <a:pPr marL="800100" lvl="1" indent="-342900">
              <a:buFont typeface="Arial" panose="020B0604020202090204" pitchFamily="34" charset="0"/>
              <a:buChar char="•"/>
            </a:pPr>
            <a:r>
              <a:rPr lang="en-US" altLang="zh-CN" sz="2000" dirty="0"/>
              <a:t>Extensive code duplication and redundancy. </a:t>
            </a:r>
            <a:endParaRPr lang="en-US" altLang="zh-CN" sz="2000" dirty="0"/>
          </a:p>
          <a:p>
            <a:pPr marL="800100" lvl="1" indent="-342900">
              <a:buFont typeface="Arial" panose="020B0604020202090204" pitchFamily="34" charset="0"/>
              <a:buChar char="•"/>
            </a:pPr>
            <a:r>
              <a:rPr lang="en-US" altLang="zh-CN" sz="2000" dirty="0"/>
              <a:t>The source code libraries and production binaries may be incompatible.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Legacy Requirements</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139328"/>
            <a:ext cx="9550399" cy="532453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Planning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In conjunction with the client develop a plan for rebuilding the system.</a:t>
            </a:r>
            <a:endParaRPr lang="en-US" altLang="zh-CN" sz="2000" dirty="0"/>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Requirements as seen by the customers and users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Who are the users?</a:t>
            </a:r>
            <a:endParaRPr lang="en-US" altLang="zh-CN" sz="2000" dirty="0"/>
          </a:p>
          <a:p>
            <a:pPr marL="800100" lvl="1" indent="-342900">
              <a:buFont typeface="Arial" panose="020B0604020202090204" pitchFamily="34" charset="0"/>
              <a:buChar char="•"/>
            </a:pPr>
            <a:r>
              <a:rPr lang="en-US" altLang="zh-CN" sz="2000" dirty="0"/>
              <a:t>What do they actually use the system for?</a:t>
            </a:r>
            <a:endParaRPr lang="en-US" altLang="zh-CN" sz="2000" dirty="0"/>
          </a:p>
          <a:p>
            <a:pPr marL="800100" lvl="1" indent="-342900">
              <a:buFont typeface="Arial" panose="020B0604020202090204" pitchFamily="34" charset="0"/>
              <a:buChar char="•"/>
            </a:pPr>
            <a:r>
              <a:rPr lang="en-US" altLang="zh-CN" sz="2000" dirty="0"/>
              <a:t>Does the system have undocumented features that are important or bugs that users rely on?</a:t>
            </a:r>
            <a:endParaRPr lang="en-US" altLang="zh-CN" sz="2000" dirty="0"/>
          </a:p>
          <a:p>
            <a:pPr marL="800100" lvl="1" indent="-342900">
              <a:buFont typeface="Arial" panose="020B0604020202090204" pitchFamily="34" charset="0"/>
              <a:buChar char="•"/>
            </a:pPr>
            <a:r>
              <a:rPr lang="en-US" altLang="zh-CN" sz="2000" dirty="0"/>
              <a:t>How many people use the fringe parts of the system? Where are they flexible?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Requirements as implied by the system design</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If there is any system documentation, what does it say about the requirements? </a:t>
            </a:r>
            <a:endParaRPr lang="en-US" altLang="zh-CN" sz="2000" dirty="0"/>
          </a:p>
          <a:p>
            <a:pPr marL="800100" lvl="1" indent="-342900">
              <a:buFont typeface="Arial" panose="020B0604020202090204" pitchFamily="34" charset="0"/>
              <a:buChar char="•"/>
            </a:pPr>
            <a:r>
              <a:rPr lang="en-US" altLang="zh-CN" sz="2000" dirty="0"/>
              <a:t>Does the source code include any hints about the requirements?</a:t>
            </a:r>
            <a:endParaRPr lang="en-US" altLang="zh-CN" sz="2000" dirty="0"/>
          </a:p>
          <a:p>
            <a:pPr marL="800100" lvl="1" indent="-342900">
              <a:buFont typeface="Arial" panose="020B0604020202090204" pitchFamily="34" charset="0"/>
              <a:buChar char="•"/>
            </a:pPr>
            <a:r>
              <a:rPr lang="en-US" altLang="zh-CN" sz="2000" dirty="0"/>
              <a:t>Is there code to support obsolete hardware or services? If so, does anybody still use them? </a:t>
            </a:r>
            <a:r>
              <a:rPr lang="en-US" altLang="zh-CN" sz="2000" b="1" dirty="0">
                <a:solidFill>
                  <a:srgbClr val="515223"/>
                </a:solidFill>
                <a:latin typeface="Helvetica" pitchFamily="2" charset="0"/>
                <a:cs typeface="Arial" panose="020B0604020202090204" pitchFamily="34" charset="0"/>
              </a:rPr>
              <a:t>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Legacy Code</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Source code management</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Use a source code management system to establish a starting version of the source code and binaries that are built from this source code.</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Create a test environment so that the rebuilt system can be compared with the current system. Begin to collect test cases.</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Check the licenses for all vendor software.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Legacy Code</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167604"/>
            <a:ext cx="9550399" cy="532453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Rebuilding the software</a:t>
            </a:r>
            <a:endParaRPr lang="en-US" altLang="zh-CN" sz="2000" dirty="0"/>
          </a:p>
          <a:p>
            <a:r>
              <a:rPr lang="en-US" altLang="zh-CN" sz="2000" dirty="0">
                <a:solidFill>
                  <a:srgbClr val="FF0000"/>
                </a:solidFill>
              </a:rPr>
              <a:t>An incremental software development process is often appropriate, with each increment released when completed. </a:t>
            </a:r>
            <a:endParaRPr lang="en-US" altLang="zh-CN" sz="2000" dirty="0">
              <a:solidFill>
                <a:srgbClr val="FF0000"/>
              </a:solidFill>
            </a:endParaRPr>
          </a:p>
          <a:p>
            <a:endParaRPr lang="en-US" altLang="zh-CN" sz="2000" dirty="0"/>
          </a:p>
          <a:p>
            <a:r>
              <a:rPr lang="en-US" altLang="zh-CN" sz="2000" dirty="0"/>
              <a:t>The following tasks may be tackled in any appropriate order, based on the condition of the code. Usually the strategy will be to work on different parts of the system in a series of phases.</a:t>
            </a:r>
            <a:endParaRPr lang="en-US" altLang="zh-CN" sz="2000" dirty="0"/>
          </a:p>
          <a:p>
            <a:pPr marL="800100" lvl="1" indent="-342900">
              <a:buFont typeface="Arial" panose="020B0604020202090204" pitchFamily="34" charset="0"/>
              <a:buChar char="•"/>
            </a:pPr>
            <a:r>
              <a:rPr lang="en-US" altLang="zh-CN" sz="2000" dirty="0"/>
              <a:t>Understand the original systems architecture and program design.</a:t>
            </a:r>
            <a:endParaRPr lang="en-US" altLang="zh-CN" sz="2000" dirty="0"/>
          </a:p>
          <a:p>
            <a:pPr marL="800100" lvl="1" indent="-342900">
              <a:buFont typeface="Arial" panose="020B0604020202090204" pitchFamily="34" charset="0"/>
              <a:buChar char="•"/>
            </a:pPr>
            <a:r>
              <a:rPr lang="en-US" altLang="zh-CN" sz="2000" dirty="0"/>
              <a:t>Establish a component architecture, with defined interfaces, even if much of the code violates the architecture and needs adapters.</a:t>
            </a:r>
            <a:endParaRPr lang="en-US" altLang="zh-CN" sz="2000" dirty="0"/>
          </a:p>
          <a:p>
            <a:pPr marL="800100" lvl="1" indent="-342900">
              <a:buFont typeface="Arial" panose="020B0604020202090204" pitchFamily="34" charset="0"/>
              <a:buChar char="•"/>
            </a:pPr>
            <a:r>
              <a:rPr lang="en-US" altLang="zh-CN" sz="2000" dirty="0"/>
              <a:t>Move to current versions of programming languages and systems software.</a:t>
            </a:r>
            <a:endParaRPr lang="en-US" altLang="zh-CN" sz="2000" dirty="0"/>
          </a:p>
          <a:p>
            <a:pPr marL="800100" lvl="1" indent="-342900">
              <a:buFont typeface="Arial" panose="020B0604020202090204" pitchFamily="34" charset="0"/>
              <a:buChar char="•"/>
            </a:pPr>
            <a:r>
              <a:rPr lang="en-US" altLang="zh-CN" sz="2000" dirty="0"/>
              <a:t>If there are any subsystems that do not have source code, carry out a development cycle to create new code that implements the requirements.</a:t>
            </a:r>
            <a:endParaRPr lang="en-US" altLang="zh-CN" sz="2000" dirty="0"/>
          </a:p>
          <a:p>
            <a:pPr marL="800100" lvl="1" indent="-342900">
              <a:buFont typeface="Arial" panose="020B0604020202090204" pitchFamily="34" charset="0"/>
              <a:buChar char="•"/>
            </a:pPr>
            <a:r>
              <a:rPr lang="en-US" altLang="zh-CN" sz="2000" dirty="0"/>
              <a:t>If there is duplicate code, replace with a single version.</a:t>
            </a:r>
            <a:endParaRPr lang="en-US" altLang="zh-CN" sz="2000" dirty="0"/>
          </a:p>
          <a:p>
            <a:pPr marL="800100" lvl="1" indent="-342900">
              <a:buFont typeface="Arial" panose="020B0604020202090204" pitchFamily="34" charset="0"/>
              <a:buChar char="•"/>
            </a:pPr>
            <a:r>
              <a:rPr lang="en-US" altLang="zh-CN" sz="2000" dirty="0"/>
              <a:t>Remove redundant code and obsolete requirements. </a:t>
            </a:r>
            <a:endParaRPr lang="en-US" altLang="zh-CN" sz="2000" dirty="0"/>
          </a:p>
          <a:p>
            <a:pPr marL="800100" lvl="1" indent="-342900">
              <a:buFont typeface="Arial" panose="020B0604020202090204" pitchFamily="34" charset="0"/>
              <a:buChar char="•"/>
            </a:pPr>
            <a:endParaRPr lang="en-US" altLang="zh-CN" sz="2000" dirty="0"/>
          </a:p>
          <a:p>
            <a:r>
              <a:rPr lang="en-US" altLang="zh-CN" sz="2000" dirty="0">
                <a:solidFill>
                  <a:srgbClr val="FF0000"/>
                </a:solidFill>
              </a:rPr>
              <a:t>Clean up as you go along.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335087" y="3977885"/>
            <a:ext cx="9521825" cy="644144"/>
          </a:xfrm>
          <a:prstGeom prst="rect">
            <a:avLst/>
          </a:prstGeom>
        </p:spPr>
        <p:txBody>
          <a:bodyPr wrap="square">
            <a:normAutofit lnSpcReduction="10000"/>
          </a:bodyPr>
          <a:lstStyle/>
          <a:p>
            <a:pPr algn="ctr"/>
            <a:r>
              <a:rPr lang="en-US" altLang="zh-CN" sz="3700" b="1" dirty="0">
                <a:solidFill>
                  <a:schemeClr val="accent1"/>
                </a:solidFill>
                <a:latin typeface="Helvetica" pitchFamily="2" charset="0"/>
                <a:cs typeface="+mn-ea"/>
              </a:rPr>
              <a:t>Reliability</a:t>
            </a:r>
            <a:endParaRPr lang="zh-CN" altLang="en-US" sz="3700" b="1" dirty="0">
              <a:solidFill>
                <a:schemeClr val="accent1"/>
              </a:solidFill>
              <a:latin typeface="Helvetica" pitchFamily="2" charset="0"/>
              <a:cs typeface="+mn-ea"/>
              <a:sym typeface="+mn-lt"/>
            </a:endParaRPr>
          </a:p>
        </p:txBody>
      </p:sp>
      <p:grpSp>
        <p:nvGrpSpPr>
          <p:cNvPr id="4" name="组合 3"/>
          <p:cNvGrpSpPr/>
          <p:nvPr/>
        </p:nvGrpSpPr>
        <p:grpSpPr>
          <a:xfrm>
            <a:off x="4819048" y="1319889"/>
            <a:ext cx="2553904" cy="2646878"/>
            <a:chOff x="5865211" y="1319889"/>
            <a:chExt cx="2553904" cy="2646878"/>
          </a:xfrm>
        </p:grpSpPr>
        <p:sp>
          <p:nvSpPr>
            <p:cNvPr id="2" name="文本框 1"/>
            <p:cNvSpPr txBox="1"/>
            <p:nvPr/>
          </p:nvSpPr>
          <p:spPr>
            <a:xfrm>
              <a:off x="5865211" y="1319889"/>
              <a:ext cx="2553904" cy="2646878"/>
            </a:xfrm>
            <a:prstGeom prst="rect">
              <a:avLst/>
            </a:prstGeom>
            <a:noFill/>
          </p:spPr>
          <p:txBody>
            <a:bodyPr wrap="none" rtlCol="0">
              <a:spAutoFit/>
            </a:bodyPr>
            <a:lstStyle/>
            <a:p>
              <a:r>
                <a:rPr lang="en-US" altLang="zh-CN" sz="16600" dirty="0">
                  <a:solidFill>
                    <a:schemeClr val="accent1"/>
                  </a:solidFill>
                  <a:latin typeface="Helvetica" pitchFamily="2" charset="0"/>
                  <a:cs typeface="+mn-ea"/>
                  <a:sym typeface="+mn-lt"/>
                </a:rPr>
                <a:t>02</a:t>
              </a:r>
              <a:endParaRPr lang="zh-CN" altLang="en-US" sz="16600" dirty="0">
                <a:solidFill>
                  <a:schemeClr val="accent1"/>
                </a:solidFill>
                <a:latin typeface="Helvetica" pitchFamily="2" charset="0"/>
                <a:cs typeface="+mn-ea"/>
                <a:sym typeface="+mn-lt"/>
              </a:endParaRPr>
            </a:p>
          </p:txBody>
        </p:sp>
        <p:sp>
          <p:nvSpPr>
            <p:cNvPr id="3" name="文本框 2"/>
            <p:cNvSpPr txBox="1"/>
            <p:nvPr/>
          </p:nvSpPr>
          <p:spPr>
            <a:xfrm>
              <a:off x="5865211" y="2574748"/>
              <a:ext cx="2553904" cy="461665"/>
            </a:xfrm>
            <a:prstGeom prst="rect">
              <a:avLst/>
            </a:prstGeom>
            <a:solidFill>
              <a:schemeClr val="bg1"/>
            </a:solidFill>
          </p:spPr>
          <p:txBody>
            <a:bodyPr wrap="square" rtlCol="0">
              <a:spAutoFit/>
            </a:bodyPr>
            <a:lstStyle/>
            <a:p>
              <a:pPr algn="dist"/>
              <a:r>
                <a:rPr lang="en-US" altLang="zh-CN" sz="2400" dirty="0">
                  <a:solidFill>
                    <a:schemeClr val="accent1"/>
                  </a:solidFill>
                  <a:latin typeface="Helvetica" pitchFamily="2" charset="0"/>
                  <a:cs typeface="Arial" panose="020B0604020202090204" pitchFamily="34" charset="0"/>
                  <a:sym typeface="+mn-lt"/>
                </a:rPr>
                <a:t>PART</a:t>
              </a:r>
              <a:r>
                <a:rPr lang="zh-CN" altLang="en-US" sz="2400" dirty="0">
                  <a:solidFill>
                    <a:schemeClr val="accent1"/>
                  </a:solidFill>
                  <a:latin typeface="Helvetica" pitchFamily="2" charset="0"/>
                  <a:cs typeface="Arial" panose="020B0604020202090204" pitchFamily="34" charset="0"/>
                  <a:sym typeface="+mn-lt"/>
                </a:rPr>
                <a:t> </a:t>
              </a:r>
              <a:r>
                <a:rPr lang="en-US" altLang="zh-CN" sz="2400" dirty="0">
                  <a:solidFill>
                    <a:schemeClr val="accent1"/>
                  </a:solidFill>
                  <a:latin typeface="Helvetica" pitchFamily="2" charset="0"/>
                  <a:cs typeface="Arial" panose="020B0604020202090204" pitchFamily="34" charset="0"/>
                  <a:sym typeface="+mn-lt"/>
                </a:rPr>
                <a:t>TWO </a:t>
              </a:r>
              <a:endParaRPr lang="zh-CN" altLang="en-US" sz="2400" dirty="0">
                <a:solidFill>
                  <a:schemeClr val="accent1"/>
                </a:solidFill>
                <a:latin typeface="Helvetica" pitchFamily="2" charset="0"/>
                <a:cs typeface="Arial" panose="020B0604020202090204" pitchFamily="34" charset="0"/>
                <a:sym typeface="+mn-lt"/>
              </a:endParaRPr>
            </a:p>
          </p:txBody>
        </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3197" y="237834"/>
            <a:ext cx="9966387" cy="790865"/>
          </a:xfrm>
        </p:spPr>
        <p:txBody>
          <a:bodyPr>
            <a:normAutofit/>
          </a:bodyPr>
          <a:lstStyle/>
          <a:p>
            <a:r>
              <a:rPr lang="en-US" altLang="zh-CN" dirty="0"/>
              <a:t>Bugs, Faults, and Failures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72376" y="2321041"/>
            <a:ext cx="10946524"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Bug (fault): </a:t>
            </a:r>
            <a:endParaRPr lang="en-US" altLang="zh-CN" sz="2000" b="1" dirty="0">
              <a:solidFill>
                <a:srgbClr val="515223"/>
              </a:solidFill>
              <a:latin typeface="Helvetica" pitchFamily="2" charset="0"/>
              <a:cs typeface="Arial" panose="020B0604020202090204" pitchFamily="34" charset="0"/>
            </a:endParaRPr>
          </a:p>
          <a:p>
            <a:r>
              <a:rPr lang="en-US" altLang="zh-CN" sz="2000" dirty="0"/>
              <a:t>Programming or design error whereby the delivered system does not </a:t>
            </a:r>
            <a:r>
              <a:rPr lang="en-US" altLang="zh-CN" sz="2000" dirty="0">
                <a:solidFill>
                  <a:srgbClr val="FF0000"/>
                </a:solidFill>
              </a:rPr>
              <a:t>conform to specification </a:t>
            </a:r>
            <a:r>
              <a:rPr lang="en-US" altLang="zh-CN" sz="2000" dirty="0"/>
              <a:t>(e.g., coding error, protocol error) </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Failure: </a:t>
            </a:r>
            <a:endParaRPr lang="en-US" altLang="zh-CN" sz="2000" b="1" dirty="0">
              <a:solidFill>
                <a:srgbClr val="515223"/>
              </a:solidFill>
              <a:latin typeface="Helvetica" pitchFamily="2" charset="0"/>
              <a:cs typeface="Arial" panose="020B0604020202090204" pitchFamily="34" charset="0"/>
            </a:endParaRPr>
          </a:p>
          <a:p>
            <a:r>
              <a:rPr lang="en-US" altLang="zh-CN" sz="2000" dirty="0"/>
              <a:t>Software does not deliver the </a:t>
            </a:r>
            <a:r>
              <a:rPr lang="en-US" altLang="zh-CN" sz="2000" dirty="0">
                <a:solidFill>
                  <a:srgbClr val="FF0000"/>
                </a:solidFill>
              </a:rPr>
              <a:t>service expected by the user </a:t>
            </a:r>
            <a:r>
              <a:rPr lang="en-US" altLang="zh-CN" sz="2000" dirty="0"/>
              <a:t>(e.g., mistake in requirements, confusing user interface) </a:t>
            </a:r>
            <a:endParaRPr 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Bugs and Features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572376" y="1918459"/>
            <a:ext cx="10946524"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That's not a bug. That's a feature! </a:t>
            </a:r>
            <a:endParaRPr lang="en-US" altLang="zh-CN" sz="2000" b="1" dirty="0">
              <a:solidFill>
                <a:srgbClr val="515223"/>
              </a:solidFill>
              <a:latin typeface="Helvetica" pitchFamily="2" charset="0"/>
              <a:cs typeface="Arial" panose="020B0604020202090204" pitchFamily="34" charset="0"/>
            </a:endParaRPr>
          </a:p>
          <a:p>
            <a:r>
              <a:rPr lang="en-US" altLang="zh-CN" sz="2000" dirty="0"/>
              <a:t>Users will often report that a program behaves in a manner that they consider wrong, even though it is behaving as intended. </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That’s not a bug. That’s a failure! </a:t>
            </a:r>
            <a:endParaRPr lang="en-US" altLang="zh-CN" sz="2000" b="1" dirty="0">
              <a:solidFill>
                <a:srgbClr val="515223"/>
              </a:solidFill>
              <a:latin typeface="Helvetica" pitchFamily="2" charset="0"/>
              <a:cs typeface="Arial" panose="020B0604020202090204" pitchFamily="34" charset="0"/>
            </a:endParaRPr>
          </a:p>
          <a:p>
            <a:r>
              <a:rPr lang="en-US" altLang="zh-CN" sz="2000" dirty="0"/>
              <a:t>The decision whether this needs to be changed should be made by the client not by the developers.</a:t>
            </a:r>
            <a:endParaRPr 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829985" cy="790865"/>
          </a:xfrm>
        </p:spPr>
        <p:txBody>
          <a:bodyPr>
            <a:noAutofit/>
          </a:bodyPr>
          <a:lstStyle/>
          <a:p>
            <a:r>
              <a:rPr lang="en-US" altLang="zh-CN" dirty="0"/>
              <a:t>Terminology</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572376" y="1756834"/>
            <a:ext cx="10946524"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Fault avoidance </a:t>
            </a:r>
            <a:endParaRPr lang="en-US" altLang="zh-CN" sz="2000" b="1" dirty="0">
              <a:solidFill>
                <a:srgbClr val="515223"/>
              </a:solidFill>
              <a:latin typeface="Helvetica" pitchFamily="2" charset="0"/>
              <a:cs typeface="Arial" panose="020B0604020202090204" pitchFamily="34" charset="0"/>
            </a:endParaRPr>
          </a:p>
          <a:p>
            <a:r>
              <a:rPr lang="en-US" altLang="zh-CN" sz="2000" dirty="0"/>
              <a:t>Build systems with the objective of creating fault-free (</a:t>
            </a:r>
            <a:r>
              <a:rPr lang="en-US" altLang="zh-CN" sz="2000" dirty="0" err="1"/>
              <a:t>bugfree</a:t>
            </a:r>
            <a:r>
              <a:rPr lang="en-US" altLang="zh-CN" sz="2000" dirty="0"/>
              <a:t>) software. </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Fault detection (testing and verification) </a:t>
            </a:r>
            <a:endParaRPr lang="en-US" altLang="zh-CN" sz="2000" b="1" dirty="0">
              <a:solidFill>
                <a:srgbClr val="515223"/>
              </a:solidFill>
              <a:latin typeface="Helvetica" pitchFamily="2" charset="0"/>
              <a:cs typeface="Arial" panose="020B0604020202090204" pitchFamily="34" charset="0"/>
            </a:endParaRPr>
          </a:p>
          <a:p>
            <a:r>
              <a:rPr lang="en-US" altLang="zh-CN" sz="2000" dirty="0"/>
              <a:t>Detect faults (bugs) before the system is put into operation or when discovered after release. </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Fault tolerance </a:t>
            </a:r>
            <a:endParaRPr lang="en-US" altLang="zh-CN" sz="2000" b="1" dirty="0">
              <a:solidFill>
                <a:srgbClr val="515223"/>
              </a:solidFill>
              <a:latin typeface="Helvetica" pitchFamily="2" charset="0"/>
              <a:cs typeface="Arial" panose="020B0604020202090204" pitchFamily="34" charset="0"/>
            </a:endParaRPr>
          </a:p>
          <a:p>
            <a:r>
              <a:rPr lang="en-US" altLang="zh-CN" sz="2000" dirty="0"/>
              <a:t>Build systems that continue to operate when problems (bugs, overloads, bad data, etc.) occur.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883325" cy="790865"/>
          </a:xfrm>
        </p:spPr>
        <p:txBody>
          <a:bodyPr>
            <a:noAutofit/>
          </a:bodyPr>
          <a:lstStyle/>
          <a:p>
            <a:r>
              <a:rPr lang="en-US" altLang="zh-CN" dirty="0"/>
              <a:t>Failure of Requirements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493549" y="2560754"/>
            <a:ext cx="10946524" cy="707886"/>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An actual example </a:t>
            </a:r>
            <a:endParaRPr lang="en-US" altLang="zh-CN" sz="2000" b="1" dirty="0">
              <a:solidFill>
                <a:srgbClr val="515223"/>
              </a:solidFill>
              <a:latin typeface="Helvetica" pitchFamily="2" charset="0"/>
              <a:cs typeface="Arial" panose="020B0604020202090204" pitchFamily="34" charset="0"/>
            </a:endParaRPr>
          </a:p>
          <a:p>
            <a:r>
              <a:rPr lang="en-US" altLang="zh-CN" sz="2000" dirty="0"/>
              <a:t>Year 2000 Problem</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7351" y="233626"/>
            <a:ext cx="10427646" cy="790865"/>
          </a:xfrm>
        </p:spPr>
        <p:txBody>
          <a:bodyPr>
            <a:normAutofit/>
          </a:bodyPr>
          <a:lstStyle/>
          <a:p>
            <a:r>
              <a:rPr lang="en-US" altLang="zh-CN" dirty="0"/>
              <a:t>Failures: A Case Study</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493549" y="2375906"/>
            <a:ext cx="10946524" cy="1015663"/>
          </a:xfrm>
          <a:prstGeom prst="rect">
            <a:avLst/>
          </a:prstGeom>
          <a:noFill/>
        </p:spPr>
        <p:txBody>
          <a:bodyPr wrap="square">
            <a:spAutoFit/>
          </a:bodyPr>
          <a:lstStyle/>
          <a:p>
            <a:r>
              <a:rPr lang="en-US" altLang="zh-CN" sz="2000" dirty="0"/>
              <a:t>A passenger ship with 1,509 persons on board grounded on a shoal near Nantucket Island, Massachusetts. At the time the vessel was about 17 miles from where the officers thought they were. The vessel was on a route from Bermuda to Boston.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7351" y="233626"/>
            <a:ext cx="10427646" cy="790865"/>
          </a:xfrm>
        </p:spPr>
        <p:txBody>
          <a:bodyPr>
            <a:normAutofit/>
          </a:bodyPr>
          <a:lstStyle/>
          <a:p>
            <a:r>
              <a:rPr lang="en-US" altLang="zh-CN" dirty="0"/>
              <a:t>Case Study: Analysis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493549" y="2113283"/>
            <a:ext cx="10946524"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From the report of the National Transportation Safety Board: </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The ship was steered by an autopilot that relied on position information from the Global Positioning System (GPS).</a:t>
            </a:r>
            <a:endParaRPr lang="en-US" altLang="zh-CN" sz="2000" dirty="0"/>
          </a:p>
          <a:p>
            <a:pPr marL="800100" lvl="1" indent="-342900">
              <a:buFont typeface="Arial" panose="020B0604020202090204" pitchFamily="34" charset="0"/>
              <a:buChar char="•"/>
            </a:pPr>
            <a:r>
              <a:rPr lang="en-US" altLang="zh-CN" sz="2000" dirty="0"/>
              <a:t>If the GPS could not obtain a position from satellites, it provided an estimated position based on Dead Reckoning (distance and direction traveled from a known point). </a:t>
            </a:r>
            <a:endParaRPr lang="en-US" altLang="zh-CN" sz="2000" dirty="0"/>
          </a:p>
          <a:p>
            <a:pPr marL="800100" lvl="1" indent="-342900">
              <a:buFont typeface="Arial" panose="020B0604020202090204" pitchFamily="34" charset="0"/>
              <a:buChar char="•"/>
            </a:pPr>
            <a:r>
              <a:rPr lang="en-US" altLang="zh-CN" sz="2000" dirty="0"/>
              <a:t>The GPS failed one hour after leaving Bermuda. </a:t>
            </a:r>
            <a:endParaRPr lang="en-US" altLang="zh-CN" sz="2000" dirty="0"/>
          </a:p>
          <a:p>
            <a:pPr marL="800100" lvl="1" indent="-342900">
              <a:buFont typeface="Arial" panose="020B0604020202090204" pitchFamily="34" charset="0"/>
              <a:buChar char="•"/>
            </a:pPr>
            <a:r>
              <a:rPr lang="en-US" altLang="zh-CN" sz="2000" dirty="0"/>
              <a:t>The crew failed to see the warning message on the display (or to check the instruments). </a:t>
            </a:r>
            <a:endParaRPr lang="en-US" altLang="zh-CN" sz="2000" dirty="0"/>
          </a:p>
          <a:p>
            <a:pPr marL="800100" lvl="1" indent="-342900">
              <a:buFont typeface="Arial" panose="020B0604020202090204" pitchFamily="34" charset="0"/>
              <a:buChar char="•"/>
            </a:pPr>
            <a:r>
              <a:rPr lang="en-US" altLang="zh-CN" sz="2000" dirty="0"/>
              <a:t>34 hours and 600 miles later, the Dead Reckoning error was 17 miles.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976572" cy="790865"/>
          </a:xfrm>
        </p:spPr>
        <p:txBody>
          <a:bodyPr>
            <a:noAutofit/>
          </a:bodyPr>
          <a:lstStyle/>
          <a:p>
            <a:r>
              <a:rPr lang="en-US" altLang="zh-CN" dirty="0"/>
              <a:t>Case Study: Software Lessons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493549" y="1730662"/>
            <a:ext cx="10946524" cy="4093428"/>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All the software worked as specified (no bugs), but ... </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After the GPS software was specified, the requirements changed (stand alone system now part of integrated system). </a:t>
            </a:r>
            <a:endParaRPr lang="en-US" altLang="zh-CN" sz="2000" dirty="0"/>
          </a:p>
          <a:p>
            <a:pPr marL="800100" lvl="1" indent="-342900">
              <a:buFont typeface="Arial" panose="020B0604020202090204" pitchFamily="34" charset="0"/>
              <a:buChar char="•"/>
            </a:pPr>
            <a:r>
              <a:rPr lang="en-US" altLang="zh-CN" sz="2000" dirty="0"/>
              <a:t>The manufacturers of the autopilot and GPS adopted different design philosophies about the communication of mode changes.</a:t>
            </a:r>
            <a:endParaRPr lang="en-US" altLang="zh-CN" sz="2000" dirty="0"/>
          </a:p>
          <a:p>
            <a:pPr marL="800100" lvl="1" indent="-342900">
              <a:buFont typeface="Arial" panose="020B0604020202090204" pitchFamily="34" charset="0"/>
              <a:buChar char="•"/>
            </a:pPr>
            <a:r>
              <a:rPr lang="en-US" altLang="zh-CN" sz="2000" dirty="0"/>
              <a:t>The autopilot was not programmed to recognize valid/invalid status bits in messages from the GPS.</a:t>
            </a:r>
            <a:endParaRPr lang="en-US" altLang="zh-CN" sz="2000" dirty="0"/>
          </a:p>
          <a:p>
            <a:pPr marL="800100" lvl="1" indent="-342900">
              <a:buFont typeface="Arial" panose="020B0604020202090204" pitchFamily="34" charset="0"/>
              <a:buChar char="•"/>
            </a:pPr>
            <a:r>
              <a:rPr lang="en-US" altLang="zh-CN" sz="2000" dirty="0"/>
              <a:t>The warnings provided by the user interface were not sufficiently conspicuous to alert the crew.</a:t>
            </a:r>
            <a:endParaRPr lang="en-US" altLang="zh-CN" sz="2000" dirty="0"/>
          </a:p>
          <a:p>
            <a:pPr marL="800100" lvl="1" indent="-342900">
              <a:buFont typeface="Arial" panose="020B0604020202090204" pitchFamily="34" charset="0"/>
              <a:buChar char="•"/>
            </a:pPr>
            <a:r>
              <a:rPr lang="en-US" altLang="zh-CN" sz="2000" dirty="0"/>
              <a:t>The officers had not been properly trained on this equipment. </a:t>
            </a:r>
            <a:endParaRPr lang="en-US" altLang="zh-CN" sz="2000" dirty="0"/>
          </a:p>
          <a:p>
            <a:pPr marL="800100" lvl="1" indent="-342900">
              <a:buFont typeface="Arial" panose="020B0604020202090204" pitchFamily="34" charset="0"/>
              <a:buChar char="•"/>
            </a:pPr>
            <a:endParaRPr lang="en-US" altLang="zh-CN" sz="2000" dirty="0"/>
          </a:p>
          <a:p>
            <a:r>
              <a:rPr lang="en-US" altLang="zh-CN" sz="2000" b="1" dirty="0">
                <a:solidFill>
                  <a:srgbClr val="515223"/>
                </a:solidFill>
                <a:latin typeface="Helvetica" pitchFamily="2" charset="0"/>
                <a:cs typeface="Arial" panose="020B0604020202090204" pitchFamily="34" charset="0"/>
              </a:rPr>
              <a:t>Reliable software needs all parts of the software development process to be carried out well.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822365" cy="790865"/>
          </a:xfrm>
        </p:spPr>
        <p:txBody>
          <a:bodyPr>
            <a:noAutofit/>
          </a:bodyPr>
          <a:lstStyle/>
          <a:p>
            <a:r>
              <a:rPr lang="en-US" altLang="zh-CN" dirty="0"/>
              <a:t>Key Factors for Reliable Software</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493549" y="1730662"/>
            <a:ext cx="10946524" cy="3785652"/>
          </a:xfrm>
          <a:prstGeom prst="rect">
            <a:avLst/>
          </a:prstGeom>
          <a:noFill/>
        </p:spPr>
        <p:txBody>
          <a:bodyPr wrap="square">
            <a:spAutoFit/>
          </a:bodyPr>
          <a:lstStyle/>
          <a:p>
            <a:pPr marL="342900" indent="-342900">
              <a:buFont typeface="Arial" panose="020B0604020202090204" pitchFamily="34" charset="0"/>
              <a:buChar char="•"/>
            </a:pPr>
            <a:r>
              <a:rPr lang="en-US" altLang="zh-CN" sz="2000" dirty="0"/>
              <a:t> Organization </a:t>
            </a:r>
            <a:r>
              <a:rPr lang="en-US" altLang="zh-CN" sz="2000" dirty="0">
                <a:solidFill>
                  <a:srgbClr val="FF0000"/>
                </a:solidFill>
              </a:rPr>
              <a:t>culture</a:t>
            </a:r>
            <a:r>
              <a:rPr lang="en-US" altLang="zh-CN" sz="2000" dirty="0"/>
              <a:t> that expects quality. This comes from the management and the senior technical staff. </a:t>
            </a:r>
            <a:endParaRPr lang="en-US" altLang="zh-CN" sz="2000" dirty="0"/>
          </a:p>
          <a:p>
            <a:pPr marL="342900" indent="-342900">
              <a:buFont typeface="Arial" panose="020B0604020202090204" pitchFamily="34" charset="0"/>
              <a:buChar char="•"/>
            </a:pPr>
            <a:r>
              <a:rPr lang="en-US" altLang="zh-CN" sz="2000" dirty="0"/>
              <a:t> Precise, unambiguous agreement on </a:t>
            </a:r>
            <a:r>
              <a:rPr lang="en-US" altLang="zh-CN" sz="2000" dirty="0">
                <a:solidFill>
                  <a:srgbClr val="FF0000"/>
                </a:solidFill>
              </a:rPr>
              <a:t>requirements</a:t>
            </a:r>
            <a:r>
              <a:rPr lang="en-US" altLang="zh-CN" sz="2000" dirty="0"/>
              <a:t>. </a:t>
            </a:r>
            <a:endParaRPr lang="en-US" altLang="zh-CN" sz="2000" dirty="0"/>
          </a:p>
          <a:p>
            <a:pPr marL="342900" indent="-342900">
              <a:buFont typeface="Arial" panose="020B0604020202090204" pitchFamily="34" charset="0"/>
              <a:buChar char="•"/>
            </a:pPr>
            <a:r>
              <a:rPr lang="en-US" altLang="zh-CN" sz="2000" dirty="0"/>
              <a:t> Design and implementation that </a:t>
            </a:r>
            <a:r>
              <a:rPr lang="en-US" altLang="zh-CN" sz="2000" dirty="0">
                <a:solidFill>
                  <a:srgbClr val="FF0000"/>
                </a:solidFill>
              </a:rPr>
              <a:t>hides complexity </a:t>
            </a:r>
            <a:r>
              <a:rPr lang="en-US" altLang="zh-CN" sz="2000" dirty="0"/>
              <a:t>(e.g., structured design, object-oriented programming). </a:t>
            </a:r>
            <a:endParaRPr lang="en-US" altLang="zh-CN" sz="2000" dirty="0"/>
          </a:p>
          <a:p>
            <a:pPr marL="342900" indent="-342900">
              <a:buFont typeface="Arial" panose="020B0604020202090204" pitchFamily="34" charset="0"/>
              <a:buChar char="•"/>
            </a:pPr>
            <a:r>
              <a:rPr lang="en-US" altLang="zh-CN" sz="2000" dirty="0"/>
              <a:t> </a:t>
            </a:r>
            <a:r>
              <a:rPr lang="en-US" altLang="zh-CN" sz="2000" dirty="0">
                <a:solidFill>
                  <a:srgbClr val="FF0000"/>
                </a:solidFill>
              </a:rPr>
              <a:t>Programming style </a:t>
            </a:r>
            <a:r>
              <a:rPr lang="en-US" altLang="zh-CN" sz="2000" dirty="0"/>
              <a:t>that emphasizes simplicity, readability, and avoidance of dangerous constructs. </a:t>
            </a:r>
            <a:endParaRPr lang="en-US" altLang="zh-CN" sz="2000" dirty="0"/>
          </a:p>
          <a:p>
            <a:pPr marL="342900" indent="-342900">
              <a:buFont typeface="Arial" panose="020B0604020202090204" pitchFamily="34" charset="0"/>
              <a:buChar char="•"/>
            </a:pPr>
            <a:r>
              <a:rPr lang="en-US" altLang="zh-CN" sz="2000" dirty="0"/>
              <a:t> </a:t>
            </a:r>
            <a:r>
              <a:rPr lang="en-US" altLang="zh-CN" sz="2000" dirty="0">
                <a:solidFill>
                  <a:srgbClr val="FF0000"/>
                </a:solidFill>
              </a:rPr>
              <a:t>Software tools </a:t>
            </a:r>
            <a:r>
              <a:rPr lang="en-US" altLang="zh-CN" sz="2000" dirty="0"/>
              <a:t>that restrict or detect errors (e.g., strongly typed languages, source control systems, debuggers). </a:t>
            </a:r>
            <a:endParaRPr lang="en-US" altLang="zh-CN" sz="2000" dirty="0"/>
          </a:p>
          <a:p>
            <a:pPr marL="342900" indent="-342900">
              <a:buFont typeface="Arial" panose="020B0604020202090204" pitchFamily="34" charset="0"/>
              <a:buChar char="•"/>
            </a:pPr>
            <a:r>
              <a:rPr lang="en-US" altLang="zh-CN" sz="2000" dirty="0"/>
              <a:t> Systematic </a:t>
            </a:r>
            <a:r>
              <a:rPr lang="en-US" altLang="zh-CN" sz="2000" dirty="0">
                <a:solidFill>
                  <a:srgbClr val="FF0000"/>
                </a:solidFill>
              </a:rPr>
              <a:t>verification</a:t>
            </a:r>
            <a:r>
              <a:rPr lang="en-US" altLang="zh-CN" sz="2000" dirty="0"/>
              <a:t> at all stages of development, including requirements, system architecture, program design, implementation, and user testing. </a:t>
            </a:r>
            <a:endParaRPr lang="en-US" altLang="zh-CN" sz="2000" dirty="0"/>
          </a:p>
          <a:p>
            <a:pPr marL="342900" indent="-342900">
              <a:buFont typeface="Arial" panose="020B0604020202090204" pitchFamily="34" charset="0"/>
              <a:buChar char="•"/>
            </a:pPr>
            <a:r>
              <a:rPr lang="en-US" altLang="zh-CN" sz="2000" dirty="0"/>
              <a:t> Particular attention to </a:t>
            </a:r>
            <a:r>
              <a:rPr lang="en-US" altLang="zh-CN" sz="2000" dirty="0">
                <a:solidFill>
                  <a:srgbClr val="FF0000"/>
                </a:solidFill>
              </a:rPr>
              <a:t>changes</a:t>
            </a:r>
            <a:r>
              <a:rPr lang="en-US" altLang="zh-CN" sz="2000" dirty="0"/>
              <a:t> and maintenance.</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712621" cy="790865"/>
          </a:xfrm>
        </p:spPr>
        <p:txBody>
          <a:bodyPr>
            <a:noAutofit/>
          </a:bodyPr>
          <a:lstStyle/>
          <a:p>
            <a:r>
              <a:rPr lang="en-US" altLang="zh-CN" sz="2400" dirty="0"/>
              <a:t>Building Dependable Systems: Organizational Culture</a:t>
            </a:r>
            <a:endParaRPr lang="en-US" sz="2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3"/>
          <p:cNvSpPr txBox="1"/>
          <p:nvPr/>
        </p:nvSpPr>
        <p:spPr>
          <a:xfrm>
            <a:off x="502976" y="1946697"/>
            <a:ext cx="10946524" cy="2554545"/>
          </a:xfrm>
          <a:prstGeom prst="rect">
            <a:avLst/>
          </a:prstGeom>
          <a:noFill/>
        </p:spPr>
        <p:txBody>
          <a:bodyPr wrap="square">
            <a:spAutoFit/>
          </a:bodyPr>
          <a:lstStyle/>
          <a:p>
            <a:pPr marL="0" lvl="1"/>
            <a:r>
              <a:rPr lang="en-US" altLang="zh-CN" sz="2000" b="1" dirty="0">
                <a:solidFill>
                  <a:srgbClr val="515223"/>
                </a:solidFill>
                <a:latin typeface="Helvetica" pitchFamily="2" charset="0"/>
                <a:cs typeface="Arial" panose="020B0604020202090204" pitchFamily="34" charset="0"/>
              </a:rPr>
              <a:t>Good organizations create good systems: </a:t>
            </a:r>
            <a:endParaRPr lang="en-US" altLang="zh-CN" sz="2000" b="1" dirty="0">
              <a:solidFill>
                <a:srgbClr val="515223"/>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en-US" altLang="zh-CN" sz="2000" dirty="0"/>
              <a:t>Managers and senior technical staff must lead by example.</a:t>
            </a:r>
            <a:endParaRPr lang="en-US" altLang="zh-CN" sz="2000" dirty="0"/>
          </a:p>
          <a:p>
            <a:pPr marL="800100" lvl="2" indent="-342900">
              <a:buFont typeface="Arial" panose="020B0604020202090204" pitchFamily="34" charset="0"/>
              <a:buChar char="•"/>
            </a:pPr>
            <a:endParaRPr lang="en-US" altLang="zh-CN" sz="2000" dirty="0"/>
          </a:p>
          <a:p>
            <a:pPr marL="800100" lvl="2" indent="-342900">
              <a:buFont typeface="Arial" panose="020B0604020202090204" pitchFamily="34" charset="0"/>
              <a:buChar char="•"/>
            </a:pPr>
            <a:r>
              <a:rPr lang="en-US" altLang="zh-CN" sz="2000" dirty="0"/>
              <a:t>Acceptance of the group's style of work (e.g., meetings, preparation, support for juniors).</a:t>
            </a:r>
            <a:endParaRPr lang="en-US" altLang="zh-CN" sz="2000" dirty="0"/>
          </a:p>
          <a:p>
            <a:pPr marL="800100" lvl="2" indent="-342900">
              <a:buFont typeface="Arial" panose="020B0604020202090204" pitchFamily="34" charset="0"/>
              <a:buChar char="•"/>
            </a:pPr>
            <a:endParaRPr lang="en-US" altLang="zh-CN" sz="2000" dirty="0"/>
          </a:p>
          <a:p>
            <a:pPr marL="800100" lvl="2" indent="-342900">
              <a:buFont typeface="Arial" panose="020B0604020202090204" pitchFamily="34" charset="0"/>
              <a:buChar char="•"/>
            </a:pPr>
            <a:r>
              <a:rPr lang="en-US" altLang="zh-CN" sz="2000" dirty="0"/>
              <a:t>Visibility. </a:t>
            </a:r>
            <a:endParaRPr lang="en-US" altLang="zh-CN" sz="2000" dirty="0"/>
          </a:p>
          <a:p>
            <a:pPr marL="800100" lvl="2" indent="-342900">
              <a:buFont typeface="Arial" panose="020B0604020202090204" pitchFamily="34" charset="0"/>
              <a:buChar char="•"/>
            </a:pPr>
            <a:endParaRPr lang="en-US" altLang="zh-CN" sz="2000" dirty="0"/>
          </a:p>
          <a:p>
            <a:pPr marL="800100" lvl="2" indent="-342900">
              <a:buFont typeface="Arial" panose="020B0604020202090204" pitchFamily="34" charset="0"/>
              <a:buChar char="•"/>
            </a:pPr>
            <a:r>
              <a:rPr lang="en-US" altLang="zh-CN" sz="2000" dirty="0"/>
              <a:t>Completion of a task before moving to the next (e.g., documentation, comments in code).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zh-CN" sz="2400" dirty="0"/>
              <a:t>Building Dependable Systems: Organizational Culture</a:t>
            </a:r>
            <a:endParaRPr lang="en-US" sz="2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8" name="TextBox 3"/>
          <p:cNvSpPr txBox="1"/>
          <p:nvPr/>
        </p:nvSpPr>
        <p:spPr>
          <a:xfrm>
            <a:off x="502976" y="1752147"/>
            <a:ext cx="10946524" cy="3785652"/>
          </a:xfrm>
          <a:prstGeom prst="rect">
            <a:avLst/>
          </a:prstGeom>
          <a:noFill/>
        </p:spPr>
        <p:txBody>
          <a:bodyPr wrap="square">
            <a:spAutoFit/>
          </a:bodyPr>
          <a:lstStyle/>
          <a:p>
            <a:pPr marL="0" lvl="1"/>
            <a:r>
              <a:rPr lang="en-US" altLang="zh-CN" sz="2000" b="1" dirty="0">
                <a:solidFill>
                  <a:srgbClr val="515223"/>
                </a:solidFill>
                <a:latin typeface="Helvetica" pitchFamily="2" charset="0"/>
                <a:cs typeface="Arial" panose="020B0604020202090204" pitchFamily="34" charset="0"/>
              </a:rPr>
              <a:t>Example: a library consortium </a:t>
            </a:r>
            <a:endParaRPr lang="en-US" altLang="zh-CN" sz="2000" b="1" dirty="0">
              <a:solidFill>
                <a:srgbClr val="515223"/>
              </a:solidFill>
              <a:latin typeface="Helvetica" pitchFamily="2" charset="0"/>
              <a:cs typeface="Arial" panose="020B0604020202090204" pitchFamily="34" charset="0"/>
            </a:endParaRPr>
          </a:p>
          <a:p>
            <a:pPr marL="0" lvl="1"/>
            <a:r>
              <a:rPr lang="en-US" altLang="zh-CN" sz="2000" dirty="0">
                <a:solidFill>
                  <a:srgbClr val="FF0000"/>
                </a:solidFill>
              </a:rPr>
              <a:t>The problem: </a:t>
            </a:r>
            <a:endParaRPr lang="en-US" altLang="zh-CN" sz="2000" dirty="0">
              <a:solidFill>
                <a:srgbClr val="FF0000"/>
              </a:solidFill>
            </a:endParaRPr>
          </a:p>
          <a:p>
            <a:pPr marL="800100" lvl="2" indent="-342900">
              <a:buFont typeface="Arial" panose="020B0604020202090204" pitchFamily="34" charset="0"/>
              <a:buChar char="•"/>
            </a:pPr>
            <a:r>
              <a:rPr lang="en-US" altLang="zh-CN" sz="2000" dirty="0"/>
              <a:t>Database crashed repeatedly, losing data. </a:t>
            </a:r>
            <a:endParaRPr lang="en-US" altLang="zh-CN" sz="2000" dirty="0"/>
          </a:p>
          <a:p>
            <a:pPr marL="800100" lvl="2" indent="-342900">
              <a:buFont typeface="Arial" panose="020B0604020202090204" pitchFamily="34" charset="0"/>
              <a:buChar char="•"/>
            </a:pPr>
            <a:r>
              <a:rPr lang="en-US" altLang="zh-CN" sz="2000" dirty="0"/>
              <a:t>Successive releases failed to fix the problem. </a:t>
            </a:r>
            <a:endParaRPr lang="en-US" altLang="zh-CN" sz="2000" dirty="0"/>
          </a:p>
          <a:p>
            <a:pPr marL="0" lvl="1"/>
            <a:endParaRPr lang="en-US" altLang="zh-CN" sz="2000" dirty="0"/>
          </a:p>
          <a:p>
            <a:pPr marL="0" lvl="1"/>
            <a:r>
              <a:rPr lang="en-US" altLang="zh-CN" sz="2000" dirty="0">
                <a:solidFill>
                  <a:srgbClr val="FF0000"/>
                </a:solidFill>
              </a:rPr>
              <a:t>Analysis: </a:t>
            </a:r>
            <a:endParaRPr lang="en-US" altLang="zh-CN" sz="2000" dirty="0">
              <a:solidFill>
                <a:srgbClr val="FF0000"/>
              </a:solidFill>
            </a:endParaRPr>
          </a:p>
          <a:p>
            <a:pPr marL="800100" lvl="2" indent="-342900">
              <a:buFont typeface="Arial" panose="020B0604020202090204" pitchFamily="34" charset="0"/>
              <a:buChar char="•"/>
            </a:pPr>
            <a:r>
              <a:rPr lang="en-US" altLang="zh-CN" sz="2000" dirty="0"/>
              <a:t>Team had a good technical plan, but needed time. </a:t>
            </a:r>
            <a:endParaRPr lang="en-US" altLang="zh-CN" sz="2000" dirty="0"/>
          </a:p>
          <a:p>
            <a:pPr marL="800100" lvl="2" indent="-342900">
              <a:buFont typeface="Arial" panose="020B0604020202090204" pitchFamily="34" charset="0"/>
              <a:buChar char="•"/>
            </a:pPr>
            <a:r>
              <a:rPr lang="en-US" altLang="zh-CN" sz="2000" dirty="0"/>
              <a:t>Senior management insisted on releases before they were ready. </a:t>
            </a:r>
            <a:endParaRPr lang="en-US" altLang="zh-CN" sz="2000" dirty="0"/>
          </a:p>
          <a:p>
            <a:pPr marL="0" lvl="1"/>
            <a:endParaRPr lang="en-US" altLang="zh-CN" sz="2000" dirty="0"/>
          </a:p>
          <a:p>
            <a:pPr marL="0" lvl="1"/>
            <a:r>
              <a:rPr lang="en-US" altLang="zh-CN" sz="2000" dirty="0">
                <a:solidFill>
                  <a:srgbClr val="FF0000"/>
                </a:solidFill>
              </a:rPr>
              <a:t>The fix: </a:t>
            </a:r>
            <a:endParaRPr lang="en-US" altLang="zh-CN" sz="2000" dirty="0">
              <a:solidFill>
                <a:srgbClr val="FF0000"/>
              </a:solidFill>
            </a:endParaRPr>
          </a:p>
          <a:p>
            <a:pPr marL="800100" lvl="2" indent="-342900">
              <a:buFont typeface="Arial" panose="020B0604020202090204" pitchFamily="34" charset="0"/>
              <a:buChar char="•"/>
            </a:pPr>
            <a:r>
              <a:rPr lang="en-US" altLang="zh-CN" sz="2000" dirty="0"/>
              <a:t>Give the team time. </a:t>
            </a:r>
            <a:endParaRPr lang="en-US" altLang="zh-CN" sz="2000" dirty="0"/>
          </a:p>
          <a:p>
            <a:pPr marL="800100" lvl="2" indent="-342900">
              <a:buFont typeface="Arial" panose="020B0604020202090204" pitchFamily="34" charset="0"/>
              <a:buChar char="•"/>
            </a:pPr>
            <a:r>
              <a:rPr lang="en-US" altLang="zh-CN" sz="2000" dirty="0"/>
              <a:t>Change the senior management.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957718" cy="790865"/>
          </a:xfrm>
        </p:spPr>
        <p:txBody>
          <a:bodyPr>
            <a:noAutofit/>
          </a:bodyPr>
          <a:lstStyle/>
          <a:p>
            <a:r>
              <a:rPr lang="en-US" altLang="zh-CN" sz="2400" dirty="0"/>
              <a:t>Building Reliable Software: Quality Management Processes</a:t>
            </a:r>
            <a:endParaRPr lang="en-US" sz="2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1797068"/>
            <a:ext cx="10946524" cy="3477875"/>
          </a:xfrm>
          <a:prstGeom prst="rect">
            <a:avLst/>
          </a:prstGeom>
          <a:noFill/>
        </p:spPr>
        <p:txBody>
          <a:bodyPr wrap="square">
            <a:spAutoFit/>
          </a:bodyPr>
          <a:lstStyle/>
          <a:p>
            <a:pPr marL="0" lvl="1"/>
            <a:r>
              <a:rPr lang="en-US" altLang="zh-CN" sz="2000" b="1" dirty="0">
                <a:solidFill>
                  <a:srgbClr val="515223"/>
                </a:solidFill>
                <a:latin typeface="Helvetica" pitchFamily="2" charset="0"/>
                <a:cs typeface="Arial" panose="020B0604020202090204" pitchFamily="34" charset="0"/>
              </a:rPr>
              <a:t>Assumption: </a:t>
            </a:r>
            <a:endParaRPr lang="en-US" altLang="zh-CN" sz="2000" b="1" dirty="0">
              <a:solidFill>
                <a:srgbClr val="515223"/>
              </a:solidFill>
              <a:latin typeface="Helvetica" pitchFamily="2" charset="0"/>
              <a:cs typeface="Arial" panose="020B0604020202090204" pitchFamily="34" charset="0"/>
            </a:endParaRPr>
          </a:p>
          <a:p>
            <a:pPr marL="457200" lvl="2"/>
            <a:r>
              <a:rPr lang="en-US" altLang="zh-CN" sz="2000" dirty="0"/>
              <a:t>Good software is impossible without good processes </a:t>
            </a:r>
            <a:endParaRPr lang="en-US" altLang="zh-CN" sz="2000" dirty="0"/>
          </a:p>
          <a:p>
            <a:pPr marL="0" lvl="1"/>
            <a:endParaRPr lang="en-US" altLang="zh-CN" sz="2000" dirty="0"/>
          </a:p>
          <a:p>
            <a:pPr marL="0" lvl="1"/>
            <a:r>
              <a:rPr lang="en-US" altLang="zh-CN" sz="2000" b="1" dirty="0">
                <a:solidFill>
                  <a:srgbClr val="515223"/>
                </a:solidFill>
                <a:latin typeface="Helvetica" pitchFamily="2" charset="0"/>
                <a:cs typeface="Arial" panose="020B0604020202090204" pitchFamily="34" charset="0"/>
              </a:rPr>
              <a:t>The importance of routine: </a:t>
            </a:r>
            <a:endParaRPr lang="en-US" altLang="zh-CN" sz="2000" b="1" dirty="0">
              <a:solidFill>
                <a:srgbClr val="515223"/>
              </a:solidFill>
              <a:latin typeface="Helvetica" pitchFamily="2" charset="0"/>
              <a:cs typeface="Arial" panose="020B0604020202090204" pitchFamily="34" charset="0"/>
            </a:endParaRPr>
          </a:p>
          <a:p>
            <a:pPr marL="457200" lvl="2"/>
            <a:r>
              <a:rPr lang="en-US" altLang="zh-CN" sz="2000" dirty="0"/>
              <a:t>Standard terminology (requirements, design, acceptance, etc.) </a:t>
            </a:r>
            <a:endParaRPr lang="en-US" altLang="zh-CN" sz="2000" dirty="0"/>
          </a:p>
          <a:p>
            <a:pPr marL="457200" lvl="2"/>
            <a:r>
              <a:rPr lang="en-US" altLang="zh-CN" sz="2000" dirty="0"/>
              <a:t>Software standards (coding standards, naming conventions, etc.) </a:t>
            </a:r>
            <a:endParaRPr lang="en-US" altLang="zh-CN" sz="2000" dirty="0"/>
          </a:p>
          <a:p>
            <a:pPr marL="457200" lvl="2"/>
            <a:r>
              <a:rPr lang="en-US" altLang="zh-CN" sz="2000" dirty="0"/>
              <a:t>Regular builds of complete system (often daily) </a:t>
            </a:r>
            <a:endParaRPr lang="en-US" altLang="zh-CN" sz="2000" dirty="0"/>
          </a:p>
          <a:p>
            <a:pPr marL="457200" lvl="2"/>
            <a:r>
              <a:rPr lang="en-US" altLang="zh-CN" sz="2000" dirty="0"/>
              <a:t>Internal and external documentation </a:t>
            </a:r>
            <a:endParaRPr lang="en-US" altLang="zh-CN" sz="2000" dirty="0"/>
          </a:p>
          <a:p>
            <a:pPr marL="457200" lvl="2"/>
            <a:r>
              <a:rPr lang="en-US" altLang="zh-CN" sz="2000" dirty="0"/>
              <a:t>Reporting procedures </a:t>
            </a:r>
            <a:endParaRPr lang="en-US" altLang="zh-CN" sz="2000" dirty="0"/>
          </a:p>
          <a:p>
            <a:pPr marL="0" lvl="1"/>
            <a:endParaRPr lang="en-US" altLang="zh-CN" sz="2000" dirty="0"/>
          </a:p>
          <a:p>
            <a:pPr marL="0" lvl="1"/>
            <a:r>
              <a:rPr lang="en-US" altLang="zh-CN" sz="2000" b="1" dirty="0">
                <a:solidFill>
                  <a:srgbClr val="515223"/>
                </a:solidFill>
                <a:latin typeface="Helvetica" pitchFamily="2" charset="0"/>
                <a:cs typeface="Arial" panose="020B0604020202090204" pitchFamily="34" charset="0"/>
              </a:rPr>
              <a:t>This routine is important for both heavyweight and lightweight development processes.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1256" cy="790865"/>
          </a:xfrm>
        </p:spPr>
        <p:txBody>
          <a:bodyPr>
            <a:noAutofit/>
          </a:bodyPr>
          <a:lstStyle/>
          <a:p>
            <a:r>
              <a:rPr lang="en-US" altLang="zh-CN" sz="2400" dirty="0"/>
              <a:t>Building Reliable Software: Quality Management Processes</a:t>
            </a:r>
            <a:endParaRPr lang="en-US" sz="2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2101864"/>
            <a:ext cx="10946524" cy="2246769"/>
          </a:xfrm>
          <a:prstGeom prst="rect">
            <a:avLst/>
          </a:prstGeom>
          <a:noFill/>
        </p:spPr>
        <p:txBody>
          <a:bodyPr wrap="square">
            <a:spAutoFit/>
          </a:bodyPr>
          <a:lstStyle/>
          <a:p>
            <a:pPr marL="0" lvl="1"/>
            <a:r>
              <a:rPr lang="en-US" altLang="zh-CN" sz="2000" b="1" dirty="0">
                <a:solidFill>
                  <a:srgbClr val="515223"/>
                </a:solidFill>
                <a:latin typeface="Helvetica" pitchFamily="2" charset="0"/>
                <a:cs typeface="Arial" panose="020B0604020202090204" pitchFamily="34" charset="0"/>
              </a:rPr>
              <a:t>When time is short... </a:t>
            </a:r>
            <a:endParaRPr lang="en-US" altLang="zh-CN" sz="2000" b="1" dirty="0">
              <a:solidFill>
                <a:srgbClr val="515223"/>
              </a:solidFill>
              <a:latin typeface="Helvetica" pitchFamily="2" charset="0"/>
              <a:cs typeface="Arial" panose="020B0604020202090204" pitchFamily="34" charset="0"/>
            </a:endParaRPr>
          </a:p>
          <a:p>
            <a:pPr marL="457200" lvl="2"/>
            <a:r>
              <a:rPr lang="en-US" altLang="zh-CN" sz="2000" dirty="0"/>
              <a:t>Pay extra attention to the early stages of the process: feasibility, requirements, design. </a:t>
            </a:r>
            <a:endParaRPr lang="en-US" altLang="zh-CN" sz="2000" dirty="0"/>
          </a:p>
          <a:p>
            <a:pPr marL="457200" lvl="2"/>
            <a:endParaRPr lang="en-US" altLang="zh-CN" sz="2000" dirty="0"/>
          </a:p>
          <a:p>
            <a:pPr marL="457200" lvl="2"/>
            <a:r>
              <a:rPr lang="en-US" altLang="zh-CN" sz="2000" dirty="0"/>
              <a:t>If mistakes are made in the requirements process, there will be little time to fix them later. </a:t>
            </a:r>
            <a:endParaRPr lang="en-US" altLang="zh-CN" sz="2000" dirty="0"/>
          </a:p>
          <a:p>
            <a:pPr marL="457200" lvl="2"/>
            <a:endParaRPr lang="en-US" altLang="zh-CN" sz="2000" dirty="0"/>
          </a:p>
          <a:p>
            <a:pPr marL="457200" lvl="2"/>
            <a:r>
              <a:rPr lang="en-US" altLang="zh-CN" sz="2000" dirty="0"/>
              <a:t>Experience shows that taking extra time on the early stages will usually reduce the total Ime to release.</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1256" cy="790865"/>
          </a:xfrm>
        </p:spPr>
        <p:txBody>
          <a:bodyPr>
            <a:noAutofit/>
          </a:bodyPr>
          <a:lstStyle/>
          <a:p>
            <a:r>
              <a:rPr lang="en-US" altLang="zh-CN" sz="2400" dirty="0"/>
              <a:t>Building Reliable Software: Communication with the Client</a:t>
            </a:r>
            <a:endParaRPr lang="en-US" sz="4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2017559"/>
            <a:ext cx="10946524" cy="3170099"/>
          </a:xfrm>
          <a:prstGeom prst="rect">
            <a:avLst/>
          </a:prstGeom>
          <a:noFill/>
        </p:spPr>
        <p:txBody>
          <a:bodyPr wrap="square">
            <a:spAutoFit/>
          </a:bodyPr>
          <a:lstStyle/>
          <a:p>
            <a:pPr marL="0" lvl="1"/>
            <a:r>
              <a:rPr lang="en-US" altLang="zh-CN" sz="2000" b="1" dirty="0">
                <a:solidFill>
                  <a:srgbClr val="515223"/>
                </a:solidFill>
                <a:latin typeface="Helvetica" pitchFamily="2" charset="0"/>
                <a:cs typeface="Arial" panose="020B0604020202090204" pitchFamily="34" charset="0"/>
              </a:rPr>
              <a:t>A system is no use if it does not meet the client's needs</a:t>
            </a:r>
            <a:endParaRPr lang="en-US" altLang="zh-CN" sz="2000" b="1" dirty="0">
              <a:solidFill>
                <a:srgbClr val="515223"/>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en-US" altLang="zh-CN" sz="2000" dirty="0"/>
              <a:t>The client must </a:t>
            </a:r>
            <a:r>
              <a:rPr lang="en-US" altLang="zh-CN" sz="2000" dirty="0">
                <a:solidFill>
                  <a:srgbClr val="FF0000"/>
                </a:solidFill>
              </a:rPr>
              <a:t>understand</a:t>
            </a:r>
            <a:r>
              <a:rPr lang="en-US" altLang="zh-CN" sz="2000" dirty="0"/>
              <a:t> and review the agreed </a:t>
            </a:r>
            <a:r>
              <a:rPr lang="en-US" altLang="zh-CN" sz="2000" dirty="0">
                <a:solidFill>
                  <a:srgbClr val="FF0000"/>
                </a:solidFill>
              </a:rPr>
              <a:t>requirements</a:t>
            </a:r>
            <a:r>
              <a:rPr lang="en-US" altLang="zh-CN" sz="2000" dirty="0"/>
              <a:t> in detail.</a:t>
            </a:r>
            <a:endParaRPr lang="en-US" altLang="zh-CN" sz="2000" dirty="0"/>
          </a:p>
          <a:p>
            <a:pPr marL="800100" lvl="2" indent="-342900">
              <a:buFont typeface="Arial" panose="020B0604020202090204" pitchFamily="34" charset="0"/>
              <a:buChar char="•"/>
            </a:pPr>
            <a:endParaRPr lang="en-US" altLang="zh-CN" sz="2000" dirty="0"/>
          </a:p>
          <a:p>
            <a:pPr marL="800100" lvl="2" indent="-342900">
              <a:buFont typeface="Arial" panose="020B0604020202090204" pitchFamily="34" charset="0"/>
              <a:buChar char="•"/>
            </a:pPr>
            <a:r>
              <a:rPr lang="en-US" altLang="zh-CN" sz="2000" dirty="0"/>
              <a:t>It is not sufficient to present the client with a </a:t>
            </a:r>
            <a:r>
              <a:rPr lang="en-US" altLang="zh-CN" sz="2000" dirty="0">
                <a:solidFill>
                  <a:srgbClr val="FF0000"/>
                </a:solidFill>
              </a:rPr>
              <a:t>specification document </a:t>
            </a:r>
            <a:r>
              <a:rPr lang="en-US" altLang="zh-CN" sz="2000" dirty="0"/>
              <a:t>and ask him/her to sign off. </a:t>
            </a:r>
            <a:endParaRPr lang="en-US" altLang="zh-CN" sz="2000" dirty="0"/>
          </a:p>
          <a:p>
            <a:pPr marL="800100" lvl="2" indent="-342900">
              <a:buFont typeface="Arial" panose="020B0604020202090204" pitchFamily="34" charset="0"/>
              <a:buChar char="•"/>
            </a:pPr>
            <a:endParaRPr lang="en-US" altLang="zh-CN" sz="2000" dirty="0"/>
          </a:p>
          <a:p>
            <a:pPr marL="800100" lvl="2" indent="-342900">
              <a:buFont typeface="Arial" panose="020B0604020202090204" pitchFamily="34" charset="0"/>
              <a:buChar char="•"/>
            </a:pPr>
            <a:r>
              <a:rPr lang="en-US" altLang="zh-CN" sz="2000" dirty="0"/>
              <a:t>Appropriate members of the client's staff must review relevant areas of the </a:t>
            </a:r>
            <a:r>
              <a:rPr lang="en-US" altLang="zh-CN" sz="2000" dirty="0">
                <a:solidFill>
                  <a:srgbClr val="FF0000"/>
                </a:solidFill>
              </a:rPr>
              <a:t>design</a:t>
            </a:r>
            <a:r>
              <a:rPr lang="en-US" altLang="zh-CN" sz="2000" dirty="0"/>
              <a:t> (including operations, training materials, system administration).</a:t>
            </a:r>
            <a:endParaRPr lang="en-US" altLang="zh-CN" sz="2000" dirty="0"/>
          </a:p>
          <a:p>
            <a:pPr marL="800100" lvl="2" indent="-342900">
              <a:buFont typeface="Arial" panose="020B0604020202090204" pitchFamily="34" charset="0"/>
              <a:buChar char="•"/>
            </a:pPr>
            <a:endParaRPr lang="en-US" altLang="zh-CN" sz="2000" dirty="0"/>
          </a:p>
          <a:p>
            <a:pPr marL="800100" lvl="2" indent="-342900">
              <a:buFont typeface="Arial" panose="020B0604020202090204" pitchFamily="34" charset="0"/>
              <a:buChar char="•"/>
            </a:pPr>
            <a:r>
              <a:rPr lang="en-US" altLang="zh-CN" sz="2000" dirty="0"/>
              <a:t>The </a:t>
            </a:r>
            <a:r>
              <a:rPr lang="en-US" altLang="zh-CN" sz="2000" dirty="0">
                <a:solidFill>
                  <a:srgbClr val="FF0000"/>
                </a:solidFill>
              </a:rPr>
              <a:t>acceptance</a:t>
            </a:r>
            <a:r>
              <a:rPr lang="en-US" altLang="zh-CN" sz="2000" dirty="0"/>
              <a:t> tests must belong to the client.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1256" cy="790865"/>
          </a:xfrm>
        </p:spPr>
        <p:txBody>
          <a:bodyPr>
            <a:noAutofit/>
          </a:bodyPr>
          <a:lstStyle/>
          <a:p>
            <a:r>
              <a:rPr lang="en-US" altLang="zh-CN" dirty="0"/>
              <a:t>Building Reliable Software: Complexity</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2380723"/>
            <a:ext cx="10946524" cy="1938992"/>
          </a:xfrm>
          <a:prstGeom prst="rect">
            <a:avLst/>
          </a:prstGeom>
          <a:noFill/>
        </p:spPr>
        <p:txBody>
          <a:bodyPr wrap="square">
            <a:spAutoFit/>
          </a:bodyPr>
          <a:lstStyle/>
          <a:p>
            <a:pPr marL="0" lvl="1"/>
            <a:r>
              <a:rPr lang="en-US" altLang="zh-CN" sz="2000" b="1" dirty="0">
                <a:solidFill>
                  <a:srgbClr val="515223"/>
                </a:solidFill>
                <a:latin typeface="Helvetica" pitchFamily="2" charset="0"/>
                <a:cs typeface="Arial" panose="020B0604020202090204" pitchFamily="34" charset="0"/>
              </a:rPr>
              <a:t>The human mind can encompass only limited complexity: </a:t>
            </a:r>
            <a:endParaRPr lang="en-US" altLang="zh-CN" sz="2000" b="1" dirty="0">
              <a:solidFill>
                <a:srgbClr val="515223"/>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en-US" altLang="zh-CN" sz="2000" dirty="0"/>
              <a:t>Comprehensibility</a:t>
            </a:r>
            <a:endParaRPr lang="en-US" altLang="zh-CN" sz="2000" dirty="0"/>
          </a:p>
          <a:p>
            <a:pPr marL="800100" lvl="2" indent="-342900">
              <a:buFont typeface="Arial" panose="020B0604020202090204" pitchFamily="34" charset="0"/>
              <a:buChar char="•"/>
            </a:pPr>
            <a:r>
              <a:rPr lang="en-US" altLang="zh-CN" sz="2000" dirty="0"/>
              <a:t>Simplicity</a:t>
            </a:r>
            <a:endParaRPr lang="en-US" altLang="zh-CN" sz="2000" dirty="0"/>
          </a:p>
          <a:p>
            <a:pPr marL="800100" lvl="2" indent="-342900">
              <a:buFont typeface="Arial" panose="020B0604020202090204" pitchFamily="34" charset="0"/>
              <a:buChar char="•"/>
            </a:pPr>
            <a:r>
              <a:rPr lang="en-US" altLang="zh-CN" sz="2000" dirty="0"/>
              <a:t>Partitioning of complexity </a:t>
            </a:r>
            <a:endParaRPr lang="en-US" altLang="zh-CN" sz="2000" dirty="0"/>
          </a:p>
          <a:p>
            <a:pPr marL="0" lvl="1"/>
            <a:endParaRPr lang="en-US" altLang="zh-CN" sz="2000" dirty="0"/>
          </a:p>
          <a:p>
            <a:pPr marL="0" lvl="1"/>
            <a:r>
              <a:rPr lang="en-US" altLang="zh-CN" sz="2000" dirty="0">
                <a:solidFill>
                  <a:srgbClr val="FF0000"/>
                </a:solidFill>
              </a:rPr>
              <a:t>A simple component is easier to get right than a complex one.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1256" cy="790865"/>
          </a:xfrm>
        </p:spPr>
        <p:txBody>
          <a:bodyPr>
            <a:noAutofit/>
          </a:bodyPr>
          <a:lstStyle/>
          <a:p>
            <a:r>
              <a:rPr lang="en-US" altLang="zh-CN" dirty="0"/>
              <a:t>Building Reliable Software: Change</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1414444"/>
            <a:ext cx="10946524" cy="3785652"/>
          </a:xfrm>
          <a:prstGeom prst="rect">
            <a:avLst/>
          </a:prstGeom>
          <a:noFill/>
        </p:spPr>
        <p:txBody>
          <a:bodyPr wrap="square">
            <a:spAutoFit/>
          </a:bodyPr>
          <a:lstStyle/>
          <a:p>
            <a:pPr marL="0" lvl="1"/>
            <a:r>
              <a:rPr lang="en-US" altLang="zh-CN" sz="2000" dirty="0"/>
              <a:t>Changes can easily introduce problems </a:t>
            </a:r>
            <a:endParaRPr lang="en-US" altLang="zh-CN" sz="2000" dirty="0"/>
          </a:p>
          <a:p>
            <a:pPr marL="0" lvl="1"/>
            <a:endParaRPr lang="en-US" altLang="zh-CN" sz="2000" dirty="0"/>
          </a:p>
          <a:p>
            <a:pPr marL="0" lvl="1"/>
            <a:r>
              <a:rPr lang="en-US" altLang="zh-CN" sz="2000" b="1" dirty="0">
                <a:solidFill>
                  <a:srgbClr val="515223"/>
                </a:solidFill>
                <a:latin typeface="Helvetica" pitchFamily="2" charset="0"/>
                <a:cs typeface="Arial" panose="020B0604020202090204" pitchFamily="34" charset="0"/>
              </a:rPr>
              <a:t>Change management </a:t>
            </a:r>
            <a:endParaRPr lang="en-US" altLang="zh-CN" sz="2000" b="1" dirty="0">
              <a:solidFill>
                <a:srgbClr val="515223"/>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en-US" altLang="zh-CN" sz="2000" dirty="0"/>
              <a:t>Source code management and version control</a:t>
            </a:r>
            <a:endParaRPr lang="en-US" altLang="zh-CN" sz="2000" dirty="0"/>
          </a:p>
          <a:p>
            <a:pPr marL="800100" lvl="2" indent="-342900">
              <a:buFont typeface="Arial" panose="020B0604020202090204" pitchFamily="34" charset="0"/>
              <a:buChar char="•"/>
            </a:pPr>
            <a:r>
              <a:rPr lang="en-US" altLang="zh-CN" sz="2000" dirty="0"/>
              <a:t>Tracking of change requests and bug reports</a:t>
            </a:r>
            <a:endParaRPr lang="en-US" altLang="zh-CN" sz="2000" dirty="0"/>
          </a:p>
          <a:p>
            <a:pPr marL="800100" lvl="2" indent="-342900">
              <a:buFont typeface="Arial" panose="020B0604020202090204" pitchFamily="34" charset="0"/>
              <a:buChar char="•"/>
            </a:pPr>
            <a:r>
              <a:rPr lang="en-US" altLang="zh-CN" sz="2000" dirty="0"/>
              <a:t>Procedures for changing requirements specifications, designs and other documentation </a:t>
            </a:r>
            <a:endParaRPr lang="en-US" altLang="zh-CN" sz="2000" dirty="0"/>
          </a:p>
          <a:p>
            <a:pPr marL="800100" lvl="2" indent="-342900">
              <a:buFont typeface="Arial" panose="020B0604020202090204" pitchFamily="34" charset="0"/>
              <a:buChar char="•"/>
            </a:pPr>
            <a:r>
              <a:rPr lang="en-US" altLang="zh-CN" sz="2000" dirty="0"/>
              <a:t>Regression testing (discussed later)</a:t>
            </a:r>
            <a:endParaRPr lang="en-US" altLang="zh-CN" sz="2000" dirty="0"/>
          </a:p>
          <a:p>
            <a:pPr marL="800100" lvl="2" indent="-342900">
              <a:buFont typeface="Arial" panose="020B0604020202090204" pitchFamily="34" charset="0"/>
              <a:buChar char="•"/>
            </a:pPr>
            <a:r>
              <a:rPr lang="en-US" altLang="zh-CN" sz="2000" dirty="0"/>
              <a:t>Release control </a:t>
            </a:r>
            <a:endParaRPr lang="en-US" altLang="zh-CN" sz="2000" dirty="0"/>
          </a:p>
          <a:p>
            <a:pPr marL="0" lvl="1"/>
            <a:endParaRPr lang="en-US" altLang="zh-CN" sz="2000" dirty="0"/>
          </a:p>
          <a:p>
            <a:pPr marL="0" lvl="1"/>
            <a:r>
              <a:rPr lang="en-US" altLang="zh-CN" sz="2000" dirty="0">
                <a:solidFill>
                  <a:srgbClr val="FF0000"/>
                </a:solidFill>
              </a:rPr>
              <a:t>When adding new functions or fixing bugs it is easy to write patches that violate the systems architecture or overall program design. This should be avoided as much as possible. Be prepared to modify the architecture to keep a high quality system.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1256" cy="790865"/>
          </a:xfrm>
        </p:spPr>
        <p:txBody>
          <a:bodyPr>
            <a:noAutofit/>
          </a:bodyPr>
          <a:lstStyle/>
          <a:p>
            <a:r>
              <a:rPr lang="en-US" altLang="zh-CN" sz="3200" dirty="0"/>
              <a:t>Building Reliable Software: Fault Tolerance</a:t>
            </a:r>
            <a:endParaRPr lang="en-US" sz="88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1414444"/>
            <a:ext cx="10946524" cy="4093428"/>
          </a:xfrm>
          <a:prstGeom prst="rect">
            <a:avLst/>
          </a:prstGeom>
          <a:noFill/>
        </p:spPr>
        <p:txBody>
          <a:bodyPr wrap="square">
            <a:spAutoFit/>
          </a:bodyPr>
          <a:lstStyle/>
          <a:p>
            <a:pPr marL="0" lvl="1"/>
            <a:r>
              <a:rPr lang="en-US" altLang="zh-CN" sz="2000" b="1" dirty="0">
                <a:solidFill>
                  <a:srgbClr val="515223"/>
                </a:solidFill>
                <a:latin typeface="Helvetica" pitchFamily="2" charset="0"/>
                <a:cs typeface="Arial" panose="020B0604020202090204" pitchFamily="34" charset="0"/>
              </a:rPr>
              <a:t>Aim: </a:t>
            </a:r>
            <a:endParaRPr lang="en-US" altLang="zh-CN" sz="2000" b="1" dirty="0">
              <a:solidFill>
                <a:srgbClr val="515223"/>
              </a:solidFill>
              <a:latin typeface="Helvetica" pitchFamily="2" charset="0"/>
              <a:cs typeface="Arial" panose="020B0604020202090204" pitchFamily="34" charset="0"/>
            </a:endParaRPr>
          </a:p>
          <a:p>
            <a:pPr marL="457200" lvl="2"/>
            <a:r>
              <a:rPr lang="en-US" altLang="zh-CN" sz="2000" dirty="0"/>
              <a:t>A system that continues to operate when problems occur. </a:t>
            </a:r>
            <a:endParaRPr lang="en-US" altLang="zh-CN" sz="2000" dirty="0"/>
          </a:p>
          <a:p>
            <a:pPr marL="0" lvl="1"/>
            <a:endParaRPr lang="en-US" altLang="zh-CN" sz="2000" dirty="0"/>
          </a:p>
          <a:p>
            <a:pPr marL="0" lvl="1"/>
            <a:r>
              <a:rPr lang="en-US" altLang="zh-CN" sz="2000" b="1" dirty="0">
                <a:solidFill>
                  <a:srgbClr val="515223"/>
                </a:solidFill>
                <a:latin typeface="Helvetica" pitchFamily="2" charset="0"/>
                <a:cs typeface="Arial" panose="020B0604020202090204" pitchFamily="34" charset="0"/>
              </a:rPr>
              <a:t>Examples:</a:t>
            </a:r>
            <a:endParaRPr lang="en-US" altLang="zh-CN" sz="2000" b="1" dirty="0">
              <a:solidFill>
                <a:srgbClr val="515223"/>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en-US" altLang="zh-CN" sz="2000" dirty="0"/>
              <a:t>Invalid input data (e.g., in a data processing application)</a:t>
            </a:r>
            <a:endParaRPr lang="en-US" altLang="zh-CN" sz="2000" dirty="0"/>
          </a:p>
          <a:p>
            <a:pPr marL="800100" lvl="2" indent="-342900">
              <a:buFont typeface="Arial" panose="020B0604020202090204" pitchFamily="34" charset="0"/>
              <a:buChar char="•"/>
            </a:pPr>
            <a:r>
              <a:rPr lang="en-US" altLang="zh-CN" sz="2000" dirty="0"/>
              <a:t>Overload (e.g., in a networked system)</a:t>
            </a:r>
            <a:endParaRPr lang="en-US" altLang="zh-CN" sz="2000" dirty="0"/>
          </a:p>
          <a:p>
            <a:pPr marL="800100" lvl="2" indent="-342900">
              <a:buFont typeface="Arial" panose="020B0604020202090204" pitchFamily="34" charset="0"/>
              <a:buChar char="•"/>
            </a:pPr>
            <a:r>
              <a:rPr lang="en-US" altLang="zh-CN" sz="2000" dirty="0"/>
              <a:t>Hardware failure (e.g., in a control system)</a:t>
            </a:r>
            <a:endParaRPr lang="en-US" altLang="zh-CN" sz="2000" dirty="0"/>
          </a:p>
          <a:p>
            <a:pPr marL="0" lvl="1"/>
            <a:endParaRPr lang="en-US" altLang="zh-CN" sz="2000" dirty="0"/>
          </a:p>
          <a:p>
            <a:pPr marL="0" lvl="1"/>
            <a:r>
              <a:rPr lang="en-US" altLang="zh-CN" sz="2000" b="1" dirty="0">
                <a:solidFill>
                  <a:srgbClr val="515223"/>
                </a:solidFill>
                <a:latin typeface="Helvetica" pitchFamily="2" charset="0"/>
                <a:cs typeface="Arial" panose="020B0604020202090204" pitchFamily="34" charset="0"/>
              </a:rPr>
              <a:t>General Approach:</a:t>
            </a:r>
            <a:endParaRPr lang="en-US" altLang="zh-CN" sz="2000" b="1" dirty="0">
              <a:solidFill>
                <a:srgbClr val="515223"/>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en-US" altLang="zh-CN" sz="2000" dirty="0"/>
              <a:t>Failure detection</a:t>
            </a:r>
            <a:endParaRPr lang="en-US" altLang="zh-CN" sz="2000" dirty="0"/>
          </a:p>
          <a:p>
            <a:pPr marL="800100" lvl="2" indent="-342900">
              <a:buFont typeface="Arial" panose="020B0604020202090204" pitchFamily="34" charset="0"/>
              <a:buChar char="•"/>
            </a:pPr>
            <a:r>
              <a:rPr lang="en-US" altLang="zh-CN" sz="2000" dirty="0"/>
              <a:t>Damage assessment</a:t>
            </a:r>
            <a:endParaRPr lang="en-US" altLang="zh-CN" sz="2000" dirty="0"/>
          </a:p>
          <a:p>
            <a:pPr marL="800100" lvl="2" indent="-342900">
              <a:buFont typeface="Arial" panose="020B0604020202090204" pitchFamily="34" charset="0"/>
              <a:buChar char="•"/>
            </a:pPr>
            <a:r>
              <a:rPr lang="en-US" altLang="zh-CN" sz="2000" dirty="0"/>
              <a:t>Fault recovery</a:t>
            </a:r>
            <a:endParaRPr lang="en-US" altLang="zh-CN" sz="2000" dirty="0"/>
          </a:p>
          <a:p>
            <a:pPr marL="800100" lvl="2" indent="-342900">
              <a:buFont typeface="Arial" panose="020B0604020202090204" pitchFamily="34" charset="0"/>
              <a:buChar char="•"/>
            </a:pPr>
            <a:r>
              <a:rPr lang="en-US" altLang="zh-CN" sz="2000" dirty="0"/>
              <a:t>Fault repair</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1256" cy="790865"/>
          </a:xfrm>
        </p:spPr>
        <p:txBody>
          <a:bodyPr>
            <a:noAutofit/>
          </a:bodyPr>
          <a:lstStyle/>
          <a:p>
            <a:r>
              <a:rPr lang="en-US" altLang="zh-CN" dirty="0"/>
              <a:t>Fault Tolerance: Recovery</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1414444"/>
            <a:ext cx="10946524" cy="4093428"/>
          </a:xfrm>
          <a:prstGeom prst="rect">
            <a:avLst/>
          </a:prstGeom>
          <a:noFill/>
        </p:spPr>
        <p:txBody>
          <a:bodyPr wrap="square">
            <a:spAutoFit/>
          </a:bodyPr>
          <a:lstStyle/>
          <a:p>
            <a:pPr marL="0" lvl="1"/>
            <a:r>
              <a:rPr lang="en-US" altLang="zh-CN" sz="2000" b="1" dirty="0">
                <a:solidFill>
                  <a:srgbClr val="515223"/>
                </a:solidFill>
                <a:latin typeface="Helvetica" pitchFamily="2" charset="0"/>
                <a:cs typeface="Arial" panose="020B0604020202090204" pitchFamily="34" charset="0"/>
              </a:rPr>
              <a:t>Backward recovery</a:t>
            </a:r>
            <a:endParaRPr lang="en-US" altLang="zh-CN" sz="2000" b="1" dirty="0">
              <a:solidFill>
                <a:srgbClr val="515223"/>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en-US" altLang="zh-CN" sz="2000" dirty="0"/>
              <a:t>Record system state at specific events </a:t>
            </a:r>
            <a:r>
              <a:rPr lang="en-US" altLang="zh-CN" sz="2000" dirty="0">
                <a:solidFill>
                  <a:srgbClr val="FF0000"/>
                </a:solidFill>
              </a:rPr>
              <a:t>(checkpoints</a:t>
            </a:r>
            <a:r>
              <a:rPr lang="en-US" altLang="zh-CN" sz="2000" dirty="0"/>
              <a:t>). After failure, recreate state at last checkpoint.</a:t>
            </a:r>
            <a:endParaRPr lang="en-US" altLang="zh-CN" sz="2000" dirty="0"/>
          </a:p>
          <a:p>
            <a:pPr marL="800100" lvl="2" indent="-342900">
              <a:buFont typeface="Arial" panose="020B0604020202090204" pitchFamily="34" charset="0"/>
              <a:buChar char="•"/>
            </a:pPr>
            <a:r>
              <a:rPr lang="en-US" altLang="zh-CN" sz="2000" dirty="0"/>
              <a:t>Combine checkpoints with system </a:t>
            </a:r>
            <a:r>
              <a:rPr lang="en-US" altLang="zh-CN" sz="2000" dirty="0">
                <a:solidFill>
                  <a:srgbClr val="FF0000"/>
                </a:solidFill>
              </a:rPr>
              <a:t>log</a:t>
            </a:r>
            <a:r>
              <a:rPr lang="en-US" altLang="zh-CN" sz="2000" dirty="0"/>
              <a:t> (</a:t>
            </a:r>
            <a:r>
              <a:rPr lang="en-US" altLang="zh-CN" sz="2000" dirty="0">
                <a:solidFill>
                  <a:srgbClr val="FF0000"/>
                </a:solidFill>
              </a:rPr>
              <a:t>audit trail </a:t>
            </a:r>
            <a:r>
              <a:rPr lang="en-US" altLang="zh-CN" sz="2000" dirty="0"/>
              <a:t>of transactions) that allows transactions from last checkpoint to be repeated automatically. </a:t>
            </a:r>
            <a:endParaRPr lang="en-US" altLang="zh-CN" sz="2000" dirty="0"/>
          </a:p>
          <a:p>
            <a:pPr marL="0" lvl="1"/>
            <a:endParaRPr lang="en-US" altLang="zh-CN" sz="2000" dirty="0"/>
          </a:p>
          <a:p>
            <a:pPr marL="0" lvl="1"/>
            <a:endParaRPr lang="en-US" altLang="zh-CN" sz="2000" dirty="0"/>
          </a:p>
          <a:p>
            <a:pPr marL="0" lvl="1"/>
            <a:r>
              <a:rPr lang="en-US" altLang="zh-CN" sz="2000" b="1" dirty="0">
                <a:solidFill>
                  <a:srgbClr val="515223"/>
                </a:solidFill>
                <a:latin typeface="Helvetica" pitchFamily="2" charset="0"/>
                <a:cs typeface="Arial" panose="020B0604020202090204" pitchFamily="34" charset="0"/>
              </a:rPr>
              <a:t>Recovery software is difficult to test </a:t>
            </a:r>
            <a:endParaRPr lang="en-US" altLang="zh-CN" sz="2000" b="1" dirty="0">
              <a:solidFill>
                <a:srgbClr val="515223"/>
              </a:solidFill>
              <a:latin typeface="Helvetica" pitchFamily="2" charset="0"/>
              <a:cs typeface="Arial" panose="020B0604020202090204" pitchFamily="34" charset="0"/>
            </a:endParaRPr>
          </a:p>
          <a:p>
            <a:pPr marL="0" lvl="1"/>
            <a:endParaRPr lang="en-US" altLang="zh-CN" sz="2000" dirty="0"/>
          </a:p>
          <a:p>
            <a:pPr marL="0" lvl="1"/>
            <a:endParaRPr lang="en-US" altLang="zh-CN" sz="2000" dirty="0"/>
          </a:p>
          <a:p>
            <a:pPr marL="0" lvl="1"/>
            <a:r>
              <a:rPr lang="en-US" altLang="zh-CN" sz="2000" b="1" dirty="0">
                <a:solidFill>
                  <a:srgbClr val="515223"/>
                </a:solidFill>
                <a:latin typeface="Helvetica" pitchFamily="2" charset="0"/>
                <a:cs typeface="Arial" panose="020B0604020202090204" pitchFamily="34" charset="0"/>
              </a:rPr>
              <a:t>Example </a:t>
            </a:r>
            <a:endParaRPr lang="en-US" altLang="zh-CN" sz="2000" b="1" dirty="0">
              <a:solidFill>
                <a:srgbClr val="515223"/>
              </a:solidFill>
              <a:latin typeface="Helvetica" pitchFamily="2" charset="0"/>
              <a:cs typeface="Arial" panose="020B0604020202090204" pitchFamily="34" charset="0"/>
            </a:endParaRPr>
          </a:p>
          <a:p>
            <a:pPr marL="0" lvl="1"/>
            <a:r>
              <a:rPr lang="en-US" altLang="zh-CN" sz="2000" dirty="0"/>
              <a:t>After an entire network is hit by lightning, the restart crashes because of overload. (Problem of incremental growth.)</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10211484" cy="790865"/>
          </a:xfrm>
        </p:spPr>
        <p:txBody>
          <a:bodyPr>
            <a:noAutofit/>
          </a:bodyPr>
          <a:lstStyle/>
          <a:p>
            <a:r>
              <a:rPr lang="en-US" altLang="zh-CN" sz="2400" dirty="0"/>
              <a:t>Building Reliable Software: Small Teams and Small Projects</a:t>
            </a:r>
            <a:endParaRPr lang="en-US" sz="2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3"/>
          <p:cNvSpPr txBox="1"/>
          <p:nvPr/>
        </p:nvSpPr>
        <p:spPr>
          <a:xfrm>
            <a:off x="572376" y="1591061"/>
            <a:ext cx="10946524" cy="34778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Small teams and small projects have advantages for reliability: </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Small group communication cuts need for intermediate documentation, yet reduces misunderstanding. </a:t>
            </a:r>
            <a:endParaRPr lang="en-US" altLang="zh-CN" sz="2000" dirty="0"/>
          </a:p>
          <a:p>
            <a:pPr marL="800100" lvl="1" indent="-342900">
              <a:buFont typeface="Arial" panose="020B0604020202090204" pitchFamily="34" charset="0"/>
              <a:buChar char="•"/>
            </a:pPr>
            <a:r>
              <a:rPr lang="en-US" altLang="zh-CN" sz="2000" dirty="0"/>
              <a:t>Small projects are easier to test and make reliable.</a:t>
            </a:r>
            <a:endParaRPr lang="en-US" altLang="zh-CN" sz="2000" dirty="0"/>
          </a:p>
          <a:p>
            <a:pPr marL="800100" lvl="1" indent="-342900">
              <a:buFont typeface="Arial" panose="020B0604020202090204" pitchFamily="34" charset="0"/>
              <a:buChar char="•"/>
            </a:pPr>
            <a:r>
              <a:rPr lang="en-US" altLang="zh-CN" sz="2000" dirty="0"/>
              <a:t>Small projects have shorter development cycles. Mistakes in requirements are less likely and less expensive to fix.</a:t>
            </a:r>
            <a:endParaRPr lang="en-US" altLang="zh-CN" sz="2000" dirty="0"/>
          </a:p>
          <a:p>
            <a:pPr marL="800100" lvl="1" indent="-342900">
              <a:buFont typeface="Arial" panose="020B0604020202090204" pitchFamily="34" charset="0"/>
              <a:buChar char="•"/>
            </a:pPr>
            <a:r>
              <a:rPr lang="en-US" altLang="zh-CN" sz="2000" dirty="0"/>
              <a:t>When one project is completed it is easier to plan for the next. </a:t>
            </a:r>
            <a:endParaRPr lang="en-US" altLang="zh-CN" sz="2000" dirty="0"/>
          </a:p>
          <a:p>
            <a:endParaRPr lang="en-US" altLang="zh-CN" sz="2000" dirty="0"/>
          </a:p>
          <a:p>
            <a:endParaRPr lang="en-US" altLang="zh-CN" sz="2000" dirty="0"/>
          </a:p>
          <a:p>
            <a:r>
              <a:rPr lang="en-US" altLang="zh-CN" sz="2000" dirty="0"/>
              <a:t>Improved reliability is one of the reasons that agile development has become popular over the past few years.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en-US" altLang="zh-CN" dirty="0"/>
              <a:t>Reliability Metrics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772324"/>
            <a:ext cx="10946524" cy="34778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Reliability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Probability of a failure occurring in operational use.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Traditional measures for online systems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Mean Ime between failures </a:t>
            </a:r>
            <a:endParaRPr lang="en-US" altLang="zh-CN" sz="2000" dirty="0"/>
          </a:p>
          <a:p>
            <a:pPr marL="800100" lvl="1" indent="-342900">
              <a:buFont typeface="Arial" panose="020B0604020202090204" pitchFamily="34" charset="0"/>
              <a:buChar char="•"/>
            </a:pPr>
            <a:r>
              <a:rPr lang="en-US" altLang="zh-CN" sz="2000" dirty="0"/>
              <a:t>Availability (up time) </a:t>
            </a:r>
            <a:endParaRPr lang="en-US" altLang="zh-CN" sz="2000" dirty="0"/>
          </a:p>
          <a:p>
            <a:pPr marL="800100" lvl="1" indent="-342900">
              <a:buFont typeface="Arial" panose="020B0604020202090204" pitchFamily="34" charset="0"/>
              <a:buChar char="•"/>
            </a:pPr>
            <a:r>
              <a:rPr lang="en-US" altLang="zh-CN" sz="2000" dirty="0"/>
              <a:t>Mean time to repair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Market measures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Complaints</a:t>
            </a:r>
            <a:endParaRPr lang="en-US" altLang="zh-CN" sz="2000" dirty="0"/>
          </a:p>
          <a:p>
            <a:pPr marL="800100" lvl="1" indent="-342900">
              <a:buFont typeface="Arial" panose="020B0604020202090204" pitchFamily="34" charset="0"/>
              <a:buChar char="•"/>
            </a:pPr>
            <a:r>
              <a:rPr lang="en-US" altLang="zh-CN" sz="2000" dirty="0"/>
              <a:t>Customer retention </a:t>
            </a:r>
            <a:endParaRPr lang="en-US" altLang="zh-CN" sz="20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966387" cy="790865"/>
          </a:xfrm>
        </p:spPr>
        <p:txBody>
          <a:bodyPr>
            <a:normAutofit/>
          </a:bodyPr>
          <a:lstStyle/>
          <a:p>
            <a:r>
              <a:rPr lang="en-US" altLang="zh-CN" sz="3200" dirty="0"/>
              <a:t>Reliability Metrics for Distributed Systems</a:t>
            </a:r>
            <a:endParaRPr lang="en-US" sz="5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3"/>
          <p:cNvSpPr txBox="1"/>
          <p:nvPr/>
        </p:nvSpPr>
        <p:spPr>
          <a:xfrm>
            <a:off x="572376" y="2176329"/>
            <a:ext cx="10946524"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Traditional metrics are hard to apply in multi-component systems: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A system that has excellent average reliability might give terrible service to certain users.</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In a big network, at any given moment something will be giving trouble, but very few users will see it.</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When there are many components, system administrators rely on automatic reporting systems to identify problem areas.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en-US" altLang="zh-CN" dirty="0"/>
              <a:t>Metrics: User Perception of Reliability</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600564"/>
            <a:ext cx="10946524" cy="378565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Perceived reliability depends upon:</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user behavior</a:t>
            </a:r>
            <a:endParaRPr lang="en-US" altLang="zh-CN" sz="2000" dirty="0"/>
          </a:p>
          <a:p>
            <a:pPr marL="800100" lvl="1" indent="-342900">
              <a:buFont typeface="Arial" panose="020B0604020202090204" pitchFamily="34" charset="0"/>
              <a:buChar char="•"/>
            </a:pPr>
            <a:r>
              <a:rPr lang="en-US" altLang="zh-CN" sz="2000" dirty="0"/>
              <a:t>set of inputs</a:t>
            </a:r>
            <a:endParaRPr lang="en-US" altLang="zh-CN" sz="2000" dirty="0"/>
          </a:p>
          <a:p>
            <a:pPr marL="800100" lvl="1" indent="-342900">
              <a:buFont typeface="Arial" panose="020B0604020202090204" pitchFamily="34" charset="0"/>
              <a:buChar char="•"/>
            </a:pPr>
            <a:r>
              <a:rPr lang="en-US" altLang="zh-CN" sz="2000" dirty="0"/>
              <a:t>pain of failure </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User perception is influenced by the distribution of failures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A personal computer that crashes frequently, or a machine that is out of service for two days every few years.</a:t>
            </a:r>
            <a:endParaRPr lang="en-US" altLang="zh-CN" sz="2000" dirty="0"/>
          </a:p>
          <a:p>
            <a:pPr marL="800100" lvl="1" indent="-342900">
              <a:buFont typeface="Arial" panose="020B0604020202090204" pitchFamily="34" charset="0"/>
              <a:buChar char="•"/>
            </a:pPr>
            <a:r>
              <a:rPr lang="en-US" altLang="zh-CN" sz="2000" dirty="0"/>
              <a:t>A database system that crashes frequently but comes back quickly with no loss of data, or a system that fails once in three years but data has to be restored from backup.</a:t>
            </a:r>
            <a:endParaRPr lang="en-US" altLang="zh-CN" sz="2000" dirty="0"/>
          </a:p>
          <a:p>
            <a:pPr marL="800100" lvl="1" indent="-342900">
              <a:buFont typeface="Arial" panose="020B0604020202090204" pitchFamily="34" charset="0"/>
              <a:buChar char="•"/>
            </a:pPr>
            <a:r>
              <a:rPr lang="en-US" altLang="zh-CN" sz="2000" dirty="0"/>
              <a:t>A system that does not fail but has unpredictable periods when it runs very slowly. </a:t>
            </a:r>
            <a:endParaRPr lang="en-US" altLang="zh-CN" sz="20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en-US" altLang="zh-CN" dirty="0"/>
              <a:t>Reliability Metrics for Requirements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329732"/>
            <a:ext cx="10946524" cy="40011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Example: ATM card reader</a:t>
            </a:r>
            <a:endParaRPr lang="en-US" altLang="zh-CN" sz="2000" b="1" dirty="0">
              <a:solidFill>
                <a:srgbClr val="515223"/>
              </a:solidFill>
              <a:latin typeface="Helvetica" pitchFamily="2" charset="0"/>
              <a:cs typeface="Arial" panose="020B0604020202090204" pitchFamily="34" charset="0"/>
            </a:endParaRPr>
          </a:p>
        </p:txBody>
      </p:sp>
      <p:pic>
        <p:nvPicPr>
          <p:cNvPr id="4" name="图片 3"/>
          <p:cNvPicPr>
            <a:picLocks noChangeAspect="1"/>
          </p:cNvPicPr>
          <p:nvPr/>
        </p:nvPicPr>
        <p:blipFill>
          <a:blip r:embed="rId1"/>
          <a:stretch>
            <a:fillRect/>
          </a:stretch>
        </p:blipFill>
        <p:spPr>
          <a:xfrm>
            <a:off x="1009058" y="1715312"/>
            <a:ext cx="10173884" cy="4217001"/>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en-US" altLang="zh-CN" dirty="0"/>
              <a:t>Metrics: Cost of Improved Reliability</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669652" y="4830394"/>
            <a:ext cx="10946524" cy="1015663"/>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Example. </a:t>
            </a:r>
            <a:endParaRPr lang="en-US" altLang="zh-CN" sz="2000" b="1" dirty="0">
              <a:solidFill>
                <a:srgbClr val="515223"/>
              </a:solidFill>
              <a:latin typeface="Helvetica" pitchFamily="2" charset="0"/>
              <a:cs typeface="Arial" panose="020B0604020202090204" pitchFamily="34" charset="0"/>
            </a:endParaRPr>
          </a:p>
          <a:p>
            <a:r>
              <a:rPr lang="en-US" altLang="zh-CN" sz="2000" dirty="0"/>
              <a:t>Many supercomputers average 10 hours productive work per day. How do you spend your money to improve reliability? </a:t>
            </a:r>
            <a:endParaRPr lang="en-US" altLang="zh-CN" sz="2000" dirty="0"/>
          </a:p>
        </p:txBody>
      </p:sp>
      <p:pic>
        <p:nvPicPr>
          <p:cNvPr id="5" name="图片 4"/>
          <p:cNvPicPr>
            <a:picLocks noChangeAspect="1"/>
          </p:cNvPicPr>
          <p:nvPr/>
        </p:nvPicPr>
        <p:blipFill>
          <a:blip r:embed="rId1"/>
          <a:stretch>
            <a:fillRect/>
          </a:stretch>
        </p:blipFill>
        <p:spPr>
          <a:xfrm>
            <a:off x="2172140" y="1131665"/>
            <a:ext cx="7847720" cy="3756174"/>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en-US" altLang="zh-CN" dirty="0"/>
              <a:t>Example: Central Computing System</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72376" y="1600564"/>
            <a:ext cx="10946524" cy="3477875"/>
          </a:xfrm>
          <a:prstGeom prst="rect">
            <a:avLst/>
          </a:prstGeom>
          <a:noFill/>
        </p:spPr>
        <p:txBody>
          <a:bodyPr wrap="square">
            <a:spAutoFit/>
          </a:bodyPr>
          <a:lstStyle/>
          <a:p>
            <a:r>
              <a:rPr lang="en-US" altLang="zh-CN" sz="2000" dirty="0"/>
              <a:t>A central computer system (e.g., a server farm) is vital to an entire organization (e.g., an Internet shopping site). Any failure is serious. </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Step 1: Gather data on every failure </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Create a database that records every failure</a:t>
            </a:r>
            <a:endParaRPr lang="en-US" altLang="zh-CN" sz="2000" dirty="0"/>
          </a:p>
          <a:p>
            <a:pPr marL="800100" lvl="1" indent="-342900">
              <a:buFont typeface="Arial" panose="020B0604020202090204" pitchFamily="34" charset="0"/>
              <a:buChar char="•"/>
            </a:pPr>
            <a:r>
              <a:rPr lang="en-US" altLang="zh-CN" sz="2000" dirty="0"/>
              <a:t>Analyze every failure: </a:t>
            </a:r>
            <a:endParaRPr lang="en-US" altLang="zh-CN" sz="2000" dirty="0"/>
          </a:p>
          <a:p>
            <a:pPr lvl="2"/>
            <a:r>
              <a:rPr lang="en-US" altLang="zh-CN" sz="2000" dirty="0"/>
              <a:t>hardware </a:t>
            </a:r>
            <a:endParaRPr lang="en-US" altLang="zh-CN" sz="2000" dirty="0"/>
          </a:p>
          <a:p>
            <a:pPr lvl="2"/>
            <a:r>
              <a:rPr lang="en-US" altLang="zh-CN" sz="2000" dirty="0"/>
              <a:t>software (default) </a:t>
            </a:r>
            <a:endParaRPr lang="en-US" altLang="zh-CN" sz="2000" dirty="0"/>
          </a:p>
          <a:p>
            <a:pPr lvl="2"/>
            <a:r>
              <a:rPr lang="en-US" altLang="zh-CN" sz="2000" dirty="0"/>
              <a:t>environment (e.g., power, air conditioning) </a:t>
            </a:r>
            <a:br>
              <a:rPr lang="en-US" altLang="zh-CN" sz="2000" dirty="0"/>
            </a:br>
            <a:r>
              <a:rPr lang="en-US" altLang="zh-CN" sz="2000" dirty="0"/>
              <a:t>human (e.g., operator error)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en-US" altLang="zh-CN" dirty="0"/>
              <a:t>Example: Central Computing System</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72376" y="1600564"/>
            <a:ext cx="10946524"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Step 2: Analyze the data</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Weekly, monthly, and annual statistics </a:t>
            </a:r>
            <a:endParaRPr lang="en-US" altLang="zh-CN" sz="2000" dirty="0"/>
          </a:p>
          <a:p>
            <a:pPr lvl="2"/>
            <a:r>
              <a:rPr lang="en-US" altLang="zh-CN" sz="2000" dirty="0"/>
              <a:t>Number of failures and interruptions </a:t>
            </a:r>
            <a:endParaRPr lang="en-US" altLang="zh-CN" sz="2000" dirty="0"/>
          </a:p>
          <a:p>
            <a:pPr lvl="2"/>
            <a:r>
              <a:rPr lang="en-US" altLang="zh-CN" sz="2000" dirty="0"/>
              <a:t>Mean time to repair </a:t>
            </a:r>
            <a:endParaRPr lang="en-US" altLang="zh-CN" sz="2000" dirty="0"/>
          </a:p>
          <a:p>
            <a:endParaRPr lang="en-US" altLang="zh-CN" sz="2000" dirty="0"/>
          </a:p>
          <a:p>
            <a:pPr marL="800100" lvl="1" indent="-342900">
              <a:buFont typeface="Arial" panose="020B0604020202090204" pitchFamily="34" charset="0"/>
              <a:buChar char="•"/>
            </a:pPr>
            <a:r>
              <a:rPr lang="en-US" altLang="zh-CN" sz="2000" dirty="0"/>
              <a:t>Graphs of trends by component, e.g., </a:t>
            </a:r>
            <a:endParaRPr lang="en-US" altLang="zh-CN" sz="2000" dirty="0"/>
          </a:p>
          <a:p>
            <a:pPr lvl="2"/>
            <a:r>
              <a:rPr lang="en-US" altLang="zh-CN" sz="2000" dirty="0"/>
              <a:t>Failure rates of disk drives </a:t>
            </a:r>
            <a:endParaRPr lang="en-US" altLang="zh-CN" sz="2000" dirty="0"/>
          </a:p>
          <a:p>
            <a:pPr lvl="2"/>
            <a:r>
              <a:rPr lang="en-US" altLang="zh-CN" sz="2000" dirty="0"/>
              <a:t>Hardware failures after power failures </a:t>
            </a:r>
            <a:endParaRPr lang="en-US" altLang="zh-CN" sz="2000" dirty="0"/>
          </a:p>
          <a:p>
            <a:pPr lvl="2"/>
            <a:r>
              <a:rPr lang="en-US" altLang="zh-CN" sz="2000" dirty="0"/>
              <a:t>Crashes caused by software bugs in each component </a:t>
            </a:r>
            <a:endParaRPr lang="en-US" altLang="zh-CN" sz="2000" dirty="0"/>
          </a:p>
          <a:p>
            <a:pPr lvl="2"/>
            <a:r>
              <a:rPr lang="en-US" altLang="zh-CN" sz="2000" dirty="0"/>
              <a:t>Categories of human error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en-US" altLang="zh-CN" dirty="0"/>
              <a:t>Example: Central Computing System</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72376" y="2333386"/>
            <a:ext cx="10946524" cy="1631216"/>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Step 3: Invest resources where benefit will be maximum, e.g.,</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Priority order for software improvements</a:t>
            </a:r>
            <a:endParaRPr lang="en-US" altLang="zh-CN" sz="2000" dirty="0"/>
          </a:p>
          <a:p>
            <a:pPr marL="800100" lvl="1" indent="-342900">
              <a:buFont typeface="Arial" panose="020B0604020202090204" pitchFamily="34" charset="0"/>
              <a:buChar char="•"/>
            </a:pPr>
            <a:r>
              <a:rPr lang="en-US" altLang="zh-CN" sz="2000" dirty="0"/>
              <a:t>Changed procedures for operators</a:t>
            </a:r>
            <a:endParaRPr lang="en-US" altLang="zh-CN" sz="2000" dirty="0"/>
          </a:p>
          <a:p>
            <a:pPr marL="800100" lvl="1" indent="-342900">
              <a:buFont typeface="Arial" panose="020B0604020202090204" pitchFamily="34" charset="0"/>
              <a:buChar char="•"/>
            </a:pPr>
            <a:r>
              <a:rPr lang="en-US" altLang="zh-CN" sz="2000" dirty="0"/>
              <a:t>Replacement hardware</a:t>
            </a:r>
            <a:endParaRPr lang="en-US" altLang="zh-CN" sz="2000" dirty="0"/>
          </a:p>
          <a:p>
            <a:pPr marL="800100" lvl="1" indent="-342900">
              <a:buFont typeface="Arial" panose="020B0604020202090204" pitchFamily="34" charset="0"/>
              <a:buChar char="•"/>
            </a:pPr>
            <a:r>
              <a:rPr lang="en-US" altLang="zh-CN" sz="2000" dirty="0"/>
              <a:t>Orderly restart after power failure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theme/theme1.xml><?xml version="1.0" encoding="utf-8"?>
<a:theme xmlns:a="http://schemas.openxmlformats.org/drawingml/2006/main" name="1_Office 主题​​">
  <a:themeElements>
    <a:clrScheme name="SEU">
      <a:dk1>
        <a:srgbClr val="000000"/>
      </a:dk1>
      <a:lt1>
        <a:srgbClr val="FFFFFF"/>
      </a:lt1>
      <a:dk2>
        <a:srgbClr val="44546A"/>
      </a:dk2>
      <a:lt2>
        <a:srgbClr val="E7E6E6"/>
      </a:lt2>
      <a:accent1>
        <a:srgbClr val="505122"/>
      </a:accent1>
      <a:accent2>
        <a:srgbClr val="FDCA04"/>
      </a:accent2>
      <a:accent3>
        <a:srgbClr val="00529D"/>
      </a:accent3>
      <a:accent4>
        <a:srgbClr val="B01417"/>
      </a:accent4>
      <a:accent5>
        <a:srgbClr val="7F7611"/>
      </a:accent5>
      <a:accent6>
        <a:srgbClr val="5D6B70"/>
      </a:accent6>
      <a:hlink>
        <a:srgbClr val="868A8C"/>
      </a:hlink>
      <a:folHlink>
        <a:srgbClr val="C2C6C8"/>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30209</Words>
  <Application>WPS Slides</Application>
  <PresentationFormat>Widescreen</PresentationFormat>
  <Paragraphs>1040</Paragraphs>
  <Slides>101</Slides>
  <Notes>13</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101</vt:i4>
      </vt:variant>
    </vt:vector>
  </HeadingPairs>
  <TitlesOfParts>
    <vt:vector size="119" baseType="lpstr">
      <vt:lpstr>Arial</vt:lpstr>
      <vt:lpstr>宋体</vt:lpstr>
      <vt:lpstr>Wingdings</vt:lpstr>
      <vt:lpstr>Helvetica Regular</vt:lpstr>
      <vt:lpstr>微软雅黑</vt:lpstr>
      <vt:lpstr>汉仪旗黑</vt:lpstr>
      <vt:lpstr>Helvetica</vt:lpstr>
      <vt:lpstr>宋体</vt:lpstr>
      <vt:lpstr>Arial Unicode MS</vt:lpstr>
      <vt:lpstr>黑体</vt:lpstr>
      <vt:lpstr>汉仪中黑KW</vt:lpstr>
      <vt:lpstr>等线</vt:lpstr>
      <vt:lpstr>汉仪中等线KW</vt:lpstr>
      <vt:lpstr>Calibri</vt:lpstr>
      <vt:lpstr>Helvetica Neue</vt:lpstr>
      <vt:lpstr>微软雅黑</vt:lpstr>
      <vt:lpstr>汉仪书宋二KW</vt:lpstr>
      <vt:lpstr>1_Office 主题​​</vt:lpstr>
      <vt:lpstr>PowerPoint 演示文稿</vt:lpstr>
      <vt:lpstr>Heads Up</vt:lpstr>
      <vt:lpstr>Heads Up</vt:lpstr>
      <vt:lpstr>Heads Up</vt:lpstr>
      <vt:lpstr>PowerPoint 演示文稿</vt:lpstr>
      <vt:lpstr>Advanced Development Environments</vt:lpstr>
      <vt:lpstr>Using Development Frameworks</vt:lpstr>
      <vt:lpstr>Production Programming</vt:lpstr>
      <vt:lpstr>Production Programming</vt:lpstr>
      <vt:lpstr>PowerPoint 演示文稿</vt:lpstr>
      <vt:lpstr>Software Reuse</vt:lpstr>
      <vt:lpstr>Evaluating Software</vt:lpstr>
      <vt:lpstr>Reuse: Open Source Software</vt:lpstr>
      <vt:lpstr>Evaluating Applications Packages</vt:lpstr>
      <vt:lpstr>Design for Change: Replacement of Components</vt:lpstr>
      <vt:lpstr>Design for Change: Replacement of Components</vt:lpstr>
      <vt:lpstr>Design for Change: Replacement of Components</vt:lpstr>
      <vt:lpstr>Design Patterns</vt:lpstr>
      <vt:lpstr>Inheritance and Abstract Classes</vt:lpstr>
      <vt:lpstr>Adapter (Wrapper): Wrapping Around Legacy Code</vt:lpstr>
      <vt:lpstr>Adapter Design Pattern: The Problem</vt:lpstr>
      <vt:lpstr>Adapter Design Pattern: Object Diagram</vt:lpstr>
      <vt:lpstr>PowerPoint 演示文稿</vt:lpstr>
      <vt:lpstr>PowerPoint 演示文稿</vt:lpstr>
      <vt:lpstr>PowerPoint 演示文稿</vt:lpstr>
      <vt:lpstr>PowerPoint 演示文稿</vt:lpstr>
      <vt:lpstr>Adapter Design Pattern: Consequences</vt:lpstr>
      <vt:lpstr>Bridge: Allowing for Alternate Implementations</vt:lpstr>
      <vt:lpstr>Bridge</vt:lpstr>
      <vt:lpstr>Bridge</vt:lpstr>
      <vt:lpstr>PowerPoint 演示文稿</vt:lpstr>
      <vt:lpstr>Bridge Example</vt:lpstr>
      <vt:lpstr>Bridge Example</vt:lpstr>
      <vt:lpstr>Bridge Example</vt:lpstr>
      <vt:lpstr>Bridge Example</vt:lpstr>
      <vt:lpstr>Bridge Example</vt:lpstr>
      <vt:lpstr>Bridge: Allowing for Alternate Implementations</vt:lpstr>
      <vt:lpstr>Bridge: Consequences</vt:lpstr>
      <vt:lpstr>Strategy: Encapsulating Algorithms</vt:lpstr>
      <vt:lpstr>Strategy Example</vt:lpstr>
      <vt:lpstr>PowerPoint 演示文稿</vt:lpstr>
      <vt:lpstr>Design Pattern: Strategy</vt:lpstr>
      <vt:lpstr>Design Pattern: Strategy</vt:lpstr>
      <vt:lpstr>Design Pattern: Strategy</vt:lpstr>
      <vt:lpstr>Design Pattern: Strategy</vt:lpstr>
      <vt:lpstr>Strategy: Encapsulating Algorithms</vt:lpstr>
      <vt:lpstr>Strategy: Consequences</vt:lpstr>
      <vt:lpstr>Facade: Encapsulating Subsystems</vt:lpstr>
      <vt:lpstr>Facade</vt:lpstr>
      <vt:lpstr>Facade</vt:lpstr>
      <vt:lpstr>Facade</vt:lpstr>
      <vt:lpstr>Facade: Consequences</vt:lpstr>
      <vt:lpstr>Composite: Representing Recursive Hierarchies</vt:lpstr>
      <vt:lpstr>Composite: Class Diagram</vt:lpstr>
      <vt:lpstr>Composite: Class Diagram</vt:lpstr>
      <vt:lpstr>Composite: Class Diagram</vt:lpstr>
      <vt:lpstr>Composite: Class Diagram</vt:lpstr>
      <vt:lpstr>Composite: Class Diagram</vt:lpstr>
      <vt:lpstr>Composite: Representing Recursive Hierarchies</vt:lpstr>
      <vt:lpstr>Composite: Consequences</vt:lpstr>
      <vt:lpstr>Discussion</vt:lpstr>
      <vt:lpstr>An Old Exam Question</vt:lpstr>
      <vt:lpstr>An Old Exam Question</vt:lpstr>
      <vt:lpstr>An Old Exam Question</vt:lpstr>
      <vt:lpstr>An Old Exam Question</vt:lpstr>
      <vt:lpstr>An Old Exam Question</vt:lpstr>
      <vt:lpstr>An Old Exam Question</vt:lpstr>
      <vt:lpstr>An Old Exam Question</vt:lpstr>
      <vt:lpstr>An Old Exam Question</vt:lpstr>
      <vt:lpstr>Legacy Systems </vt:lpstr>
      <vt:lpstr>Legacy Systems</vt:lpstr>
      <vt:lpstr>Legacy Requirements</vt:lpstr>
      <vt:lpstr>Legacy Code</vt:lpstr>
      <vt:lpstr>Legacy Code</vt:lpstr>
      <vt:lpstr>PowerPoint 演示文稿</vt:lpstr>
      <vt:lpstr>Bugs, Faults, and Failures</vt:lpstr>
      <vt:lpstr>Bugs and Features</vt:lpstr>
      <vt:lpstr>Terminology</vt:lpstr>
      <vt:lpstr>Failure of Requirements</vt:lpstr>
      <vt:lpstr>Failures: A Case Study</vt:lpstr>
      <vt:lpstr>Case Study: Analysis</vt:lpstr>
      <vt:lpstr>Case Study: Software Lessons</vt:lpstr>
      <vt:lpstr>Key Factors for Reliable Software</vt:lpstr>
      <vt:lpstr>Building Dependable Systems: Organizational Culture</vt:lpstr>
      <vt:lpstr>Building Dependable Systems: Organizational Culture</vt:lpstr>
      <vt:lpstr>Building Reliable Software: Quality Management Processes</vt:lpstr>
      <vt:lpstr>Building Reliable Software: Quality Management Processes</vt:lpstr>
      <vt:lpstr>Building Reliable Software: Communication with the Client</vt:lpstr>
      <vt:lpstr>Building Reliable Software: Complexity</vt:lpstr>
      <vt:lpstr>Building Reliable Software: Change</vt:lpstr>
      <vt:lpstr>Building Reliable Software: Fault Tolerance</vt:lpstr>
      <vt:lpstr>Fault Tolerance: Recovery</vt:lpstr>
      <vt:lpstr>Building Reliable Software: Small Teams and Small Projects</vt:lpstr>
      <vt:lpstr>Reliability Metrics</vt:lpstr>
      <vt:lpstr>Reliability Metrics for Distributed Systems</vt:lpstr>
      <vt:lpstr>Metrics: User Perception of Reliability</vt:lpstr>
      <vt:lpstr>Reliability Metrics for Requirements</vt:lpstr>
      <vt:lpstr>Metrics: Cost of Improved Reliability</vt:lpstr>
      <vt:lpstr>Example: Central Computing System</vt:lpstr>
      <vt:lpstr>Example: Central Computing System</vt:lpstr>
      <vt:lpstr>Example: Central Computing System</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子豪 任</dc:creator>
  <cp:lastModifiedBy>刘光迟</cp:lastModifiedBy>
  <cp:revision>728</cp:revision>
  <dcterms:created xsi:type="dcterms:W3CDTF">2025-04-25T00:09:12Z</dcterms:created>
  <dcterms:modified xsi:type="dcterms:W3CDTF">2025-04-25T00:09:12Z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4481B89A3EF1AEC6A8D20A6878B83F82_43</vt:lpwstr>
  </property>
  <property fmtid="{D5CDD505-2E9C-101B-9397-08002B2CF9AE}" pid="3" name="KSOProductBuildVer">
    <vt:lpwstr>1033-7.3.1.8967</vt:lpwstr>
  </property>
</Properties>
</file>