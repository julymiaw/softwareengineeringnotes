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582" r:id="rId3"/>
    <p:sldId id="688" r:id="rId5"/>
    <p:sldId id="692" r:id="rId6"/>
    <p:sldId id="693" r:id="rId7"/>
    <p:sldId id="545" r:id="rId8"/>
    <p:sldId id="674" r:id="rId9"/>
    <p:sldId id="680" r:id="rId10"/>
    <p:sldId id="641" r:id="rId11"/>
    <p:sldId id="584" r:id="rId12"/>
    <p:sldId id="689" r:id="rId13"/>
    <p:sldId id="679" r:id="rId14"/>
    <p:sldId id="586" r:id="rId15"/>
    <p:sldId id="587" r:id="rId16"/>
    <p:sldId id="588" r:id="rId17"/>
    <p:sldId id="589" r:id="rId18"/>
    <p:sldId id="590" r:id="rId19"/>
    <p:sldId id="591" r:id="rId20"/>
    <p:sldId id="645" r:id="rId21"/>
    <p:sldId id="592" r:id="rId22"/>
    <p:sldId id="593" r:id="rId23"/>
    <p:sldId id="595" r:id="rId24"/>
    <p:sldId id="603" r:id="rId25"/>
    <p:sldId id="596" r:id="rId26"/>
    <p:sldId id="597" r:id="rId27"/>
    <p:sldId id="683" r:id="rId28"/>
    <p:sldId id="649" r:id="rId29"/>
    <p:sldId id="599" r:id="rId30"/>
    <p:sldId id="650" r:id="rId31"/>
    <p:sldId id="651" r:id="rId32"/>
    <p:sldId id="684" r:id="rId33"/>
    <p:sldId id="685" r:id="rId34"/>
    <p:sldId id="598" r:id="rId35"/>
    <p:sldId id="600" r:id="rId36"/>
    <p:sldId id="656" r:id="rId37"/>
    <p:sldId id="658" r:id="rId38"/>
    <p:sldId id="690" r:id="rId39"/>
    <p:sldId id="691" r:id="rId40"/>
    <p:sldId id="659" r:id="rId41"/>
    <p:sldId id="660" r:id="rId42"/>
    <p:sldId id="661" r:id="rId43"/>
    <p:sldId id="687" r:id="rId44"/>
    <p:sldId id="601" r:id="rId45"/>
    <p:sldId id="602" r:id="rId46"/>
    <p:sldId id="604" r:id="rId47"/>
    <p:sldId id="618" r:id="rId48"/>
    <p:sldId id="620" r:id="rId49"/>
    <p:sldId id="621" r:id="rId50"/>
    <p:sldId id="622" r:id="rId51"/>
    <p:sldId id="624" r:id="rId52"/>
    <p:sldId id="625" r:id="rId53"/>
    <p:sldId id="626" r:id="rId54"/>
    <p:sldId id="630" r:id="rId55"/>
    <p:sldId id="629" r:id="rId56"/>
    <p:sldId id="632" r:id="rId57"/>
    <p:sldId id="631" r:id="rId58"/>
    <p:sldId id="633" r:id="rId59"/>
    <p:sldId id="634" r:id="rId60"/>
    <p:sldId id="637" r:id="rId61"/>
    <p:sldId id="638" r:id="rId62"/>
    <p:sldId id="642" r:id="rId63"/>
    <p:sldId id="643" r:id="rId64"/>
    <p:sldId id="652" r:id="rId65"/>
    <p:sldId id="675" r:id="rId66"/>
    <p:sldId id="647" r:id="rId67"/>
    <p:sldId id="677" r:id="rId68"/>
    <p:sldId id="678" r:id="rId6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377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625" autoAdjust="0"/>
    <p:restoredTop sz="94695"/>
  </p:normalViewPr>
  <p:slideViewPr>
    <p:cSldViewPr snapToGrid="0">
      <p:cViewPr varScale="1">
        <p:scale>
          <a:sx n="167" d="100"/>
          <a:sy n="167" d="100"/>
        </p:scale>
        <p:origin x="2992" y="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2" Type="http://schemas.openxmlformats.org/officeDocument/2006/relationships/tableStyles" Target="tableStyles.xml"/><Relationship Id="rId71" Type="http://schemas.openxmlformats.org/officeDocument/2006/relationships/viewProps" Target="viewProps.xml"/><Relationship Id="rId70" Type="http://schemas.openxmlformats.org/officeDocument/2006/relationships/presProps" Target="presProps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AB7413-AF54-469D-ABFD-75D5619B000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0A31E6-CBE9-40EA-A2F4-8D17CCD5DDD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7" Type="http://schemas.openxmlformats.org/officeDocument/2006/relationships/hyperlink" Target="https://zhuanlan.zhihu.com/p/335298500" TargetMode="External"/><Relationship Id="rId6" Type="http://schemas.openxmlformats.org/officeDocument/2006/relationships/hyperlink" Target="https://weibo.com/p/1005052284144087/photos?type=photo" TargetMode="External"/><Relationship Id="rId5" Type="http://schemas.openxmlformats.org/officeDocument/2006/relationships/hyperlink" Target="https://www.seu.edu.cn/bsxtwxw/main.htm" TargetMode="External"/><Relationship Id="rId4" Type="http://schemas.openxmlformats.org/officeDocument/2006/relationships/hyperlink" Target="https://mp.weixin.qq.com/mp/profile_ext?action=home&amp;__biz=MzA4MzM3Mzc3Ng==&amp;scene=124#wechat_redirect" TargetMode="External"/><Relationship Id="rId3" Type="http://schemas.openxmlformats.org/officeDocument/2006/relationships/hyperlink" Target="http://www.officeplus.cn/p/51/102751.shtml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cs typeface="+mn-ea"/>
                <a:sym typeface="+mn-lt"/>
              </a:rPr>
              <a:t>本模板基于“</a:t>
            </a:r>
            <a:r>
              <a:rPr lang="zh-CN" altLang="en-US" dirty="0">
                <a:hlinkClick r:id="rId3"/>
              </a:rPr>
              <a:t>中国科学院大学</a:t>
            </a:r>
            <a:r>
              <a:rPr lang="en-US" altLang="zh-CN" dirty="0">
                <a:hlinkClick r:id="rId3"/>
              </a:rPr>
              <a:t>-</a:t>
            </a:r>
            <a:r>
              <a:rPr lang="zh-CN" altLang="en-US" dirty="0">
                <a:hlinkClick r:id="rId3"/>
              </a:rPr>
              <a:t>路人丁</a:t>
            </a:r>
            <a:r>
              <a:rPr lang="en-US" altLang="zh-CN" dirty="0">
                <a:hlinkClick r:id="rId3"/>
              </a:rPr>
              <a:t>-PPT</a:t>
            </a:r>
            <a:r>
              <a:rPr lang="zh-CN" altLang="en-US" dirty="0">
                <a:hlinkClick r:id="rId3"/>
              </a:rPr>
              <a:t>模板</a:t>
            </a:r>
            <a:r>
              <a:rPr lang="zh-CN" altLang="en-US" dirty="0"/>
              <a:t>”魔改而成，著作权归该作者所有。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/>
              <a:t>本模板中使用的东南大学校徽、校标文字组合、校训文字等素材来自于微信公众号“</a:t>
            </a:r>
            <a:r>
              <a:rPr lang="zh-CN" altLang="en-US" dirty="0">
                <a:hlinkClick r:id="rId4"/>
              </a:rPr>
              <a:t>金木屋</a:t>
            </a:r>
            <a:r>
              <a:rPr lang="zh-CN" altLang="en-US" dirty="0"/>
              <a:t>”。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/>
              <a:t>本模板的视觉设计参考了“</a:t>
            </a:r>
            <a:r>
              <a:rPr lang="zh-CN" altLang="en-US" dirty="0">
                <a:hlinkClick r:id="rId5"/>
              </a:rPr>
              <a:t>东南大学视觉识别系统</a:t>
            </a:r>
            <a:r>
              <a:rPr lang="zh-CN" altLang="en-US" dirty="0"/>
              <a:t>”。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/>
              <a:t>人物介绍页头像素材来自 </a:t>
            </a:r>
            <a:r>
              <a:rPr lang="zh-CN" altLang="en-US" dirty="0">
                <a:hlinkClick r:id="rId6"/>
              </a:rPr>
              <a:t>小肥柴</a:t>
            </a:r>
            <a:r>
              <a:rPr lang="zh-CN" altLang="en-US" dirty="0"/>
              <a:t>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en-US" altLang="zh-CN" sz="800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/>
              <a:t>本模板力求简洁，布局合理，主次分明。以学术风为设计理念，适用于学术报告与论文答辩等相关应用场景。模板未使用任何动画效果。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/>
              <a:t>您仅可以以个人非商业用途使用本</a:t>
            </a:r>
            <a:r>
              <a:rPr lang="en-US" altLang="zh-CN" dirty="0"/>
              <a:t>PPT</a:t>
            </a:r>
            <a:r>
              <a:rPr lang="zh-CN" altLang="en-US" dirty="0"/>
              <a:t>模板，不可将信息内容的全部或部分用以出售，或以出租、出借、转让、分销、发布等其他任何方式供其他人使用。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en-US" altLang="zh-CN" sz="800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/>
              <a:t>欢迎 </a:t>
            </a:r>
            <a:r>
              <a:rPr lang="zh-CN" altLang="en-US" dirty="0">
                <a:hlinkClick r:id="rId7"/>
              </a:rPr>
              <a:t>持续关注东南大学止于至善学术风</a:t>
            </a:r>
            <a:r>
              <a:rPr lang="en-US" altLang="zh-CN" dirty="0">
                <a:hlinkClick r:id="rId7"/>
              </a:rPr>
              <a:t> PPT </a:t>
            </a:r>
            <a:r>
              <a:rPr lang="zh-CN" altLang="en-US" dirty="0">
                <a:hlinkClick r:id="rId7"/>
              </a:rPr>
              <a:t>模板</a:t>
            </a:r>
            <a:r>
              <a:rPr lang="zh-CN" altLang="en-US" dirty="0"/>
              <a:t> 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zhuanlan.zhihu.com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/p/335298500</a:t>
            </a:r>
            <a:r>
              <a:rPr lang="zh-CN" altLang="en-US" dirty="0"/>
              <a:t>）后续的功能优化及多语言更新版本。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/>
              <a:t>最后，祝汇报顺利，马到成功！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en-US" altLang="zh-CN" dirty="0"/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1" lang="en-US" altLang="zh-CN" dirty="0">
                <a:latin typeface="+mn-ea"/>
                <a:cs typeface="Arial" panose="020B0604020202090204" pitchFamily="34" charset="0"/>
              </a:rPr>
              <a:t>Version:</a:t>
            </a:r>
            <a:r>
              <a:rPr kumimoji="1" lang="zh-CN" altLang="en-US" dirty="0">
                <a:latin typeface="+mn-ea"/>
                <a:cs typeface="Arial" panose="020B0604020202090204" pitchFamily="34" charset="0"/>
              </a:rPr>
              <a:t> </a:t>
            </a:r>
            <a:r>
              <a:rPr kumimoji="1" lang="en-US" altLang="zh-CN" dirty="0">
                <a:latin typeface="+mn-ea"/>
                <a:cs typeface="Arial" panose="020B0604020202090204" pitchFamily="34" charset="0"/>
              </a:rPr>
              <a:t>(2021) v1.5-en.</a:t>
            </a:r>
            <a:endParaRPr kumimoji="1" lang="zh-CN" altLang="en-US" dirty="0">
              <a:latin typeface="+mn-ea"/>
              <a:cs typeface="Arial" panose="020B060402020209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A31E6-CBE9-40EA-A2F4-8D17CCD5DD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幻灯片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箭头: 五边形 46"/>
          <p:cNvSpPr/>
          <p:nvPr userDrawn="1"/>
        </p:nvSpPr>
        <p:spPr>
          <a:xfrm rot="5400000">
            <a:off x="-1070579" y="2025798"/>
            <a:ext cx="6858002" cy="2806406"/>
          </a:xfrm>
          <a:prstGeom prst="homePlate">
            <a:avLst>
              <a:gd name="adj" fmla="val 3223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solidFill>
                <a:schemeClr val="accent6"/>
              </a:solidFill>
              <a:latin typeface="Helvetica Regular" pitchFamily="2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142" y="2263721"/>
            <a:ext cx="2330560" cy="23305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任意多边形: 形状 84"/>
          <p:cNvSpPr/>
          <p:nvPr userDrawn="1"/>
        </p:nvSpPr>
        <p:spPr bwMode="auto">
          <a:xfrm rot="5400000">
            <a:off x="4539448" y="-380490"/>
            <a:ext cx="3113105" cy="2609911"/>
          </a:xfrm>
          <a:custGeom>
            <a:avLst/>
            <a:gdLst>
              <a:gd name="connsiteX0" fmla="*/ 0 w 3113105"/>
              <a:gd name="connsiteY0" fmla="*/ 2609911 h 2609911"/>
              <a:gd name="connsiteX1" fmla="*/ 0 w 3113105"/>
              <a:gd name="connsiteY1" fmla="*/ 0 h 2609911"/>
              <a:gd name="connsiteX2" fmla="*/ 2301594 w 3113105"/>
              <a:gd name="connsiteY2" fmla="*/ 0 h 2609911"/>
              <a:gd name="connsiteX3" fmla="*/ 3113105 w 3113105"/>
              <a:gd name="connsiteY3" fmla="*/ 1304956 h 2609911"/>
              <a:gd name="connsiteX4" fmla="*/ 2301594 w 3113105"/>
              <a:gd name="connsiteY4" fmla="*/ 2609910 h 2609911"/>
              <a:gd name="connsiteX5" fmla="*/ 2301594 w 3113105"/>
              <a:gd name="connsiteY5" fmla="*/ 2609911 h 2609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13105" h="2609911">
                <a:moveTo>
                  <a:pt x="0" y="2609911"/>
                </a:moveTo>
                <a:lnTo>
                  <a:pt x="0" y="0"/>
                </a:lnTo>
                <a:lnTo>
                  <a:pt x="2301594" y="0"/>
                </a:lnTo>
                <a:lnTo>
                  <a:pt x="3113105" y="1304956"/>
                </a:lnTo>
                <a:lnTo>
                  <a:pt x="2301594" y="2609910"/>
                </a:lnTo>
                <a:lnTo>
                  <a:pt x="2301594" y="260991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bg1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86" name="文本框 85"/>
          <p:cNvSpPr txBox="1"/>
          <p:nvPr userDrawn="1"/>
        </p:nvSpPr>
        <p:spPr>
          <a:xfrm>
            <a:off x="4781377" y="483991"/>
            <a:ext cx="2629246" cy="9082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Contents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90204" pitchFamily="34" charset="0"/>
              <a:sym typeface="+mn-lt"/>
            </a:endParaRPr>
          </a:p>
        </p:txBody>
      </p:sp>
      <p:sp>
        <p:nvSpPr>
          <p:cNvPr id="87" name="任意多边形: 形状 86"/>
          <p:cNvSpPr/>
          <p:nvPr userDrawn="1"/>
        </p:nvSpPr>
        <p:spPr bwMode="auto">
          <a:xfrm rot="5400000">
            <a:off x="4384812" y="-485285"/>
            <a:ext cx="3422377" cy="3128773"/>
          </a:xfrm>
          <a:custGeom>
            <a:avLst/>
            <a:gdLst>
              <a:gd name="connsiteX0" fmla="*/ 0 w 3422377"/>
              <a:gd name="connsiteY0" fmla="*/ 3128773 h 3128773"/>
              <a:gd name="connsiteX1" fmla="*/ 0 w 3422377"/>
              <a:gd name="connsiteY1" fmla="*/ 0 h 3128773"/>
              <a:gd name="connsiteX2" fmla="*/ 2449535 w 3422377"/>
              <a:gd name="connsiteY2" fmla="*/ 0 h 3128773"/>
              <a:gd name="connsiteX3" fmla="*/ 3422377 w 3422377"/>
              <a:gd name="connsiteY3" fmla="*/ 1564387 h 3128773"/>
              <a:gd name="connsiteX4" fmla="*/ 2449535 w 3422377"/>
              <a:gd name="connsiteY4" fmla="*/ 3128772 h 3128773"/>
              <a:gd name="connsiteX5" fmla="*/ 2449535 w 3422377"/>
              <a:gd name="connsiteY5" fmla="*/ 3128773 h 3128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2377" h="3128773">
                <a:moveTo>
                  <a:pt x="0" y="3128773"/>
                </a:moveTo>
                <a:lnTo>
                  <a:pt x="0" y="0"/>
                </a:lnTo>
                <a:lnTo>
                  <a:pt x="2449535" y="0"/>
                </a:lnTo>
                <a:lnTo>
                  <a:pt x="3422377" y="1564387"/>
                </a:lnTo>
                <a:lnTo>
                  <a:pt x="2449535" y="3128772"/>
                </a:lnTo>
                <a:lnTo>
                  <a:pt x="2449535" y="3128773"/>
                </a:lnTo>
                <a:close/>
              </a:path>
            </a:pathLst>
          </a:custGeom>
          <a:noFill/>
          <a:ln w="12700">
            <a:solidFill>
              <a:schemeClr val="accent1"/>
            </a:solidFill>
            <a:prstDash val="lgDash"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bg1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pic>
        <p:nvPicPr>
          <p:cNvPr id="89" name="图片 88"/>
          <p:cNvPicPr>
            <a:picLocks noChangeAspect="1"/>
          </p:cNvPicPr>
          <p:nvPr userDrawn="1"/>
        </p:nvPicPr>
        <p:blipFill>
          <a:blip r:embed="rId2">
            <a:alphaModFix amt="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28999" y="0"/>
            <a:ext cx="6858000" cy="6858000"/>
          </a:xfrm>
          <a:prstGeom prst="rect">
            <a:avLst/>
          </a:prstGeom>
        </p:spPr>
      </p:pic>
      <p:pic>
        <p:nvPicPr>
          <p:cNvPr id="90" name="图片 89"/>
          <p:cNvPicPr>
            <a:picLocks noChangeAspect="1"/>
          </p:cNvPicPr>
          <p:nvPr userDrawn="1"/>
        </p:nvPicPr>
        <p:blipFill>
          <a:blip r:embed="rId2">
            <a:alphaModFix amt="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0"/>
            <a:ext cx="6858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 userDrawn="1"/>
        </p:nvSpPr>
        <p:spPr>
          <a:xfrm>
            <a:off x="3997387" y="1330387"/>
            <a:ext cx="4197226" cy="419722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Helvetica" pitchFamily="2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5093161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90204" pitchFamily="34" charset="0"/>
              </a:rPr>
              <a:t>Part 01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/>
          <p:cNvSpPr/>
          <p:nvPr userDrawn="1"/>
        </p:nvSpPr>
        <p:spPr>
          <a:xfrm>
            <a:off x="3775702" y="1108702"/>
            <a:ext cx="4640596" cy="4640596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9613900" y="5273613"/>
            <a:ext cx="764381" cy="76438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2" name="椭圆 11"/>
          <p:cNvSpPr/>
          <p:nvPr userDrawn="1"/>
        </p:nvSpPr>
        <p:spPr>
          <a:xfrm>
            <a:off x="2209800" y="6134100"/>
            <a:ext cx="1130300" cy="11303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3" name="椭圆 12"/>
          <p:cNvSpPr/>
          <p:nvPr userDrawn="1"/>
        </p:nvSpPr>
        <p:spPr>
          <a:xfrm>
            <a:off x="10818188" y="-911691"/>
            <a:ext cx="2092326" cy="209232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4" name="椭圆 13"/>
          <p:cNvSpPr/>
          <p:nvPr userDrawn="1"/>
        </p:nvSpPr>
        <p:spPr>
          <a:xfrm>
            <a:off x="-1048048" y="-250249"/>
            <a:ext cx="2861767" cy="2861767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51320"/>
            <a:ext cx="3996000" cy="9144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等腰三角形 5"/>
          <p:cNvSpPr/>
          <p:nvPr userDrawn="1"/>
        </p:nvSpPr>
        <p:spPr>
          <a:xfrm>
            <a:off x="4000500" y="1050677"/>
            <a:ext cx="4191000" cy="409786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90204" pitchFamily="34" charset="0"/>
              </a:rPr>
              <a:t>Part 02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等腰三角形 8"/>
          <p:cNvSpPr/>
          <p:nvPr userDrawn="1"/>
        </p:nvSpPr>
        <p:spPr>
          <a:xfrm>
            <a:off x="3564087" y="505131"/>
            <a:ext cx="5063826" cy="4951296"/>
          </a:xfrm>
          <a:prstGeom prst="triangle">
            <a:avLst/>
          </a:prstGeom>
          <a:noFill/>
          <a:ln>
            <a:solidFill>
              <a:srgbClr val="18388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0" name="等腰三角形 9"/>
          <p:cNvSpPr/>
          <p:nvPr userDrawn="1"/>
        </p:nvSpPr>
        <p:spPr>
          <a:xfrm rot="10800000">
            <a:off x="1390650" y="6496115"/>
            <a:ext cx="1493560" cy="1460370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等腰三角形 10"/>
          <p:cNvSpPr/>
          <p:nvPr userDrawn="1"/>
        </p:nvSpPr>
        <p:spPr>
          <a:xfrm>
            <a:off x="11153775" y="1013971"/>
            <a:ext cx="2076450" cy="2030307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等腰三角形 11"/>
          <p:cNvSpPr/>
          <p:nvPr userDrawn="1"/>
        </p:nvSpPr>
        <p:spPr>
          <a:xfrm rot="10800000">
            <a:off x="-414337" y="-187450"/>
            <a:ext cx="2386788" cy="2333749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等腰三角形 12"/>
          <p:cNvSpPr/>
          <p:nvPr userDrawn="1"/>
        </p:nvSpPr>
        <p:spPr>
          <a:xfrm rot="5400000">
            <a:off x="9449232" y="5270665"/>
            <a:ext cx="883117" cy="863492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sz="quarter" idx="11" hasCustomPrompt="1"/>
          </p:nvPr>
        </p:nvSpPr>
        <p:spPr>
          <a:xfrm>
            <a:off x="4098000" y="3959372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 rot="18893364">
            <a:off x="4380710" y="1706822"/>
            <a:ext cx="3444573" cy="3444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7" name="矩形 6"/>
          <p:cNvSpPr/>
          <p:nvPr userDrawn="1"/>
        </p:nvSpPr>
        <p:spPr>
          <a:xfrm rot="18893364">
            <a:off x="4161891" y="1495013"/>
            <a:ext cx="3868219" cy="3868219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90204" pitchFamily="34" charset="0"/>
              </a:rPr>
              <a:t>Part 03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 userDrawn="1"/>
        </p:nvSpPr>
        <p:spPr>
          <a:xfrm rot="18893364">
            <a:off x="-897505" y="-513190"/>
            <a:ext cx="2663805" cy="2663805"/>
          </a:xfrm>
          <a:prstGeom prst="rect">
            <a:avLst/>
          </a:prstGeom>
          <a:solidFill>
            <a:srgbClr val="A4A8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矩形 10"/>
          <p:cNvSpPr/>
          <p:nvPr userDrawn="1"/>
        </p:nvSpPr>
        <p:spPr>
          <a:xfrm rot="18893364">
            <a:off x="725976" y="6497388"/>
            <a:ext cx="1300124" cy="1300124"/>
          </a:xfrm>
          <a:prstGeom prst="rect">
            <a:avLst/>
          </a:prstGeom>
          <a:solidFill>
            <a:srgbClr val="C3C7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矩形 11"/>
          <p:cNvSpPr/>
          <p:nvPr userDrawn="1"/>
        </p:nvSpPr>
        <p:spPr>
          <a:xfrm rot="18893364">
            <a:off x="11407699" y="1261300"/>
            <a:ext cx="1568601" cy="156860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矩形 12"/>
          <p:cNvSpPr/>
          <p:nvPr userDrawn="1"/>
        </p:nvSpPr>
        <p:spPr>
          <a:xfrm rot="18893364">
            <a:off x="9270159" y="5188596"/>
            <a:ext cx="861175" cy="861175"/>
          </a:xfrm>
          <a:prstGeom prst="rect">
            <a:avLst/>
          </a:prstGeom>
          <a:solidFill>
            <a:srgbClr val="85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098000" y="3947897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五边形 5"/>
          <p:cNvSpPr>
            <a:spLocks noChangeAspect="1"/>
          </p:cNvSpPr>
          <p:nvPr userDrawn="1"/>
        </p:nvSpPr>
        <p:spPr>
          <a:xfrm>
            <a:off x="3870642" y="1106412"/>
            <a:ext cx="4450715" cy="4238776"/>
          </a:xfrm>
          <a:prstGeom prst="pent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90204" pitchFamily="34" charset="0"/>
              </a:rPr>
              <a:t>Part 04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五边形 8"/>
          <p:cNvSpPr>
            <a:spLocks noChangeAspect="1"/>
          </p:cNvSpPr>
          <p:nvPr userDrawn="1"/>
        </p:nvSpPr>
        <p:spPr>
          <a:xfrm>
            <a:off x="3575685" y="806045"/>
            <a:ext cx="5040628" cy="4800598"/>
          </a:xfrm>
          <a:prstGeom prst="pentagon">
            <a:avLst/>
          </a:prstGeom>
          <a:noFill/>
          <a:ln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0" name="五边形 9"/>
          <p:cNvSpPr>
            <a:spLocks noChangeAspect="1"/>
          </p:cNvSpPr>
          <p:nvPr userDrawn="1"/>
        </p:nvSpPr>
        <p:spPr>
          <a:xfrm rot="18978551">
            <a:off x="1199607" y="5189314"/>
            <a:ext cx="1114961" cy="1061868"/>
          </a:xfrm>
          <a:prstGeom prst="pentagon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五边形 10"/>
          <p:cNvSpPr>
            <a:spLocks noChangeAspect="1"/>
          </p:cNvSpPr>
          <p:nvPr userDrawn="1"/>
        </p:nvSpPr>
        <p:spPr>
          <a:xfrm>
            <a:off x="-1122630" y="516786"/>
            <a:ext cx="2245259" cy="2138343"/>
          </a:xfrm>
          <a:prstGeom prst="pentagon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五边形 11"/>
          <p:cNvSpPr>
            <a:spLocks noChangeAspect="1"/>
          </p:cNvSpPr>
          <p:nvPr userDrawn="1"/>
        </p:nvSpPr>
        <p:spPr>
          <a:xfrm rot="6589711">
            <a:off x="10153440" y="4944146"/>
            <a:ext cx="2774574" cy="2642453"/>
          </a:xfrm>
          <a:prstGeom prst="pentagon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五边形 12"/>
          <p:cNvSpPr>
            <a:spLocks noChangeAspect="1"/>
          </p:cNvSpPr>
          <p:nvPr userDrawn="1"/>
        </p:nvSpPr>
        <p:spPr>
          <a:xfrm rot="10800000">
            <a:off x="9654125" y="-530934"/>
            <a:ext cx="1114961" cy="1061868"/>
          </a:xfrm>
          <a:prstGeom prst="pentagon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47897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六边形 5"/>
          <p:cNvSpPr>
            <a:spLocks noChangeAspect="1"/>
          </p:cNvSpPr>
          <p:nvPr userDrawn="1"/>
        </p:nvSpPr>
        <p:spPr>
          <a:xfrm rot="16200000">
            <a:off x="3978962" y="1603967"/>
            <a:ext cx="4234076" cy="365006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90204" pitchFamily="34" charset="0"/>
              </a:rPr>
              <a:t>Part 05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六边形 9"/>
          <p:cNvSpPr/>
          <p:nvPr userDrawn="1"/>
        </p:nvSpPr>
        <p:spPr>
          <a:xfrm rot="16200000">
            <a:off x="3695701" y="1359776"/>
            <a:ext cx="4800598" cy="4138446"/>
          </a:xfrm>
          <a:prstGeom prst="hexagon">
            <a:avLst/>
          </a:prstGeom>
          <a:noFill/>
          <a:ln>
            <a:solidFill>
              <a:srgbClr val="18388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六边形 10"/>
          <p:cNvSpPr>
            <a:spLocks noChangeAspect="1"/>
          </p:cNvSpPr>
          <p:nvPr userDrawn="1"/>
        </p:nvSpPr>
        <p:spPr>
          <a:xfrm rot="16200000">
            <a:off x="-687663" y="4872077"/>
            <a:ext cx="2798353" cy="2412373"/>
          </a:xfrm>
          <a:prstGeom prst="hexagon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六边形 11"/>
          <p:cNvSpPr>
            <a:spLocks noChangeAspect="1"/>
          </p:cNvSpPr>
          <p:nvPr userDrawn="1"/>
        </p:nvSpPr>
        <p:spPr>
          <a:xfrm rot="16200000">
            <a:off x="9480973" y="5159003"/>
            <a:ext cx="1015781" cy="875673"/>
          </a:xfrm>
          <a:prstGeom prst="hexagon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六边形 12"/>
          <p:cNvSpPr>
            <a:spLocks noChangeAspect="1"/>
          </p:cNvSpPr>
          <p:nvPr userDrawn="1"/>
        </p:nvSpPr>
        <p:spPr>
          <a:xfrm rot="16200000">
            <a:off x="11493500" y="210644"/>
            <a:ext cx="1397000" cy="1204310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4" name="六边形 13"/>
          <p:cNvSpPr>
            <a:spLocks noChangeAspect="1"/>
          </p:cNvSpPr>
          <p:nvPr userDrawn="1"/>
        </p:nvSpPr>
        <p:spPr>
          <a:xfrm rot="16200000">
            <a:off x="641459" y="-437837"/>
            <a:ext cx="1015781" cy="875673"/>
          </a:xfrm>
          <a:prstGeom prst="hexagon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47897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七边形 5"/>
          <p:cNvSpPr>
            <a:spLocks noChangeAspect="1"/>
          </p:cNvSpPr>
          <p:nvPr userDrawn="1"/>
        </p:nvSpPr>
        <p:spPr>
          <a:xfrm>
            <a:off x="3972000" y="1047224"/>
            <a:ext cx="4248000" cy="4248000"/>
          </a:xfrm>
          <a:prstGeom prst="hept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5093161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90204" pitchFamily="34" charset="0"/>
              </a:rPr>
              <a:t>Part 06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七边形 9"/>
          <p:cNvSpPr/>
          <p:nvPr userDrawn="1"/>
        </p:nvSpPr>
        <p:spPr>
          <a:xfrm rot="1563509">
            <a:off x="10682028" y="-776191"/>
            <a:ext cx="3268663" cy="3268663"/>
          </a:xfrm>
          <a:prstGeom prst="heptagon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七边形 10"/>
          <p:cNvSpPr/>
          <p:nvPr userDrawn="1"/>
        </p:nvSpPr>
        <p:spPr>
          <a:xfrm>
            <a:off x="1384129" y="5078241"/>
            <a:ext cx="1047921" cy="1047921"/>
          </a:xfrm>
          <a:prstGeom prst="heptagon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七边形 11"/>
          <p:cNvSpPr/>
          <p:nvPr userDrawn="1"/>
        </p:nvSpPr>
        <p:spPr>
          <a:xfrm rot="20151602">
            <a:off x="-1111336" y="360448"/>
            <a:ext cx="2222671" cy="2222671"/>
          </a:xfrm>
          <a:prstGeom prst="heptagon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七边形 12"/>
          <p:cNvSpPr/>
          <p:nvPr userDrawn="1"/>
        </p:nvSpPr>
        <p:spPr>
          <a:xfrm rot="20592885">
            <a:off x="8879510" y="6235700"/>
            <a:ext cx="2222671" cy="2222671"/>
          </a:xfrm>
          <a:prstGeom prst="heptagon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4" name="七边形 13"/>
          <p:cNvSpPr>
            <a:spLocks noChangeAspect="1"/>
          </p:cNvSpPr>
          <p:nvPr userDrawn="1"/>
        </p:nvSpPr>
        <p:spPr>
          <a:xfrm>
            <a:off x="3683000" y="774700"/>
            <a:ext cx="4826000" cy="4826000"/>
          </a:xfrm>
          <a:prstGeom prst="heptagon">
            <a:avLst/>
          </a:prstGeom>
          <a:noFill/>
          <a:ln>
            <a:solidFill>
              <a:srgbClr val="18388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66909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长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箭头: 五边形 5"/>
          <p:cNvSpPr/>
          <p:nvPr userDrawn="1"/>
        </p:nvSpPr>
        <p:spPr>
          <a:xfrm>
            <a:off x="2" y="0"/>
            <a:ext cx="2835871" cy="6858000"/>
          </a:xfrm>
          <a:prstGeom prst="homePlat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Helvetica" pitchFamily="2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140677" y="3106616"/>
            <a:ext cx="2520462" cy="1066800"/>
          </a:xfrm>
          <a:prstGeom prst="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2" name="矩形 1"/>
          <p:cNvSpPr/>
          <p:nvPr userDrawn="1"/>
        </p:nvSpPr>
        <p:spPr>
          <a:xfrm>
            <a:off x="2782511" y="612708"/>
            <a:ext cx="8695230" cy="5632585"/>
          </a:xfrm>
          <a:prstGeom prst="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3448" y="2848709"/>
            <a:ext cx="2782509" cy="157493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algn="ctr"/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ea typeface="+mj-ea"/>
                <a:cs typeface="Arial" panose="020B0604020202090204" pitchFamily="34" charset="0"/>
              </a:rPr>
              <a:t>Contents</a:t>
            </a:r>
            <a:endParaRPr lang="zh-CN" altLang="en-US" sz="4000" b="1" i="0" dirty="0">
              <a:solidFill>
                <a:schemeClr val="bg1"/>
              </a:solidFill>
              <a:latin typeface="Helvetica" pitchFamily="2" charset="0"/>
              <a:ea typeface="+mj-ea"/>
              <a:cs typeface="Arial" panose="020B0604020202090204" pitchFamily="34" charset="0"/>
            </a:endParaRPr>
          </a:p>
        </p:txBody>
      </p:sp>
      <p:pic>
        <p:nvPicPr>
          <p:cNvPr id="47" name="图片 46"/>
          <p:cNvPicPr>
            <a:picLocks noChangeAspect="1"/>
          </p:cNvPicPr>
          <p:nvPr userDrawn="1"/>
        </p:nvPicPr>
        <p:blipFill>
          <a:blip r:embed="rId2">
            <a:alphaModFix amt="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长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箭头: 五边形 6"/>
          <p:cNvSpPr/>
          <p:nvPr userDrawn="1"/>
        </p:nvSpPr>
        <p:spPr>
          <a:xfrm rot="19659736">
            <a:off x="-59387" y="6355211"/>
            <a:ext cx="1593667" cy="240022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25" name="箭头: 五边形 24"/>
          <p:cNvSpPr/>
          <p:nvPr userDrawn="1"/>
        </p:nvSpPr>
        <p:spPr>
          <a:xfrm rot="19659736">
            <a:off x="501875" y="5626509"/>
            <a:ext cx="1198809" cy="202681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26" name="箭头: 五边形 25"/>
          <p:cNvSpPr/>
          <p:nvPr userDrawn="1"/>
        </p:nvSpPr>
        <p:spPr>
          <a:xfrm rot="19659736">
            <a:off x="11343042" y="442070"/>
            <a:ext cx="869215" cy="124045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27" name="箭头: 五边形 26"/>
          <p:cNvSpPr/>
          <p:nvPr userDrawn="1"/>
        </p:nvSpPr>
        <p:spPr>
          <a:xfrm rot="19659736">
            <a:off x="10829985" y="427917"/>
            <a:ext cx="542830" cy="99029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任意多边形: 形状 11"/>
          <p:cNvSpPr/>
          <p:nvPr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  <p:sp>
        <p:nvSpPr>
          <p:cNvPr id="8" name="标题 1"/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 i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sp>
        <p:nvSpPr>
          <p:cNvPr id="13" name="日期占位符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横向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/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1" name="图片占位符 90"/>
          <p:cNvSpPr>
            <a:spLocks noGrp="1" noChangeAspect="1"/>
          </p:cNvSpPr>
          <p:nvPr>
            <p:ph type="pic" sz="quarter" idx="13"/>
          </p:nvPr>
        </p:nvSpPr>
        <p:spPr>
          <a:xfrm>
            <a:off x="862171" y="1825888"/>
            <a:ext cx="4826535" cy="2736000"/>
          </a:xfrm>
          <a:custGeom>
            <a:avLst/>
            <a:gdLst>
              <a:gd name="connsiteX0" fmla="*/ 0 w 4241800"/>
              <a:gd name="connsiteY0" fmla="*/ 0 h 2404533"/>
              <a:gd name="connsiteX1" fmla="*/ 4241800 w 4241800"/>
              <a:gd name="connsiteY1" fmla="*/ 0 h 2404533"/>
              <a:gd name="connsiteX2" fmla="*/ 4241800 w 4241800"/>
              <a:gd name="connsiteY2" fmla="*/ 2404533 h 2404533"/>
              <a:gd name="connsiteX3" fmla="*/ 0 w 4241800"/>
              <a:gd name="connsiteY3" fmla="*/ 2404533 h 2404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41800" h="2404533">
                <a:moveTo>
                  <a:pt x="0" y="0"/>
                </a:moveTo>
                <a:lnTo>
                  <a:pt x="4241800" y="0"/>
                </a:lnTo>
                <a:lnTo>
                  <a:pt x="4241800" y="2404533"/>
                </a:lnTo>
                <a:lnTo>
                  <a:pt x="0" y="240453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0" name="任意多边形: 形状 89"/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标题 1"/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3" name="图片 9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/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0" name="图片占位符 6"/>
          <p:cNvSpPr>
            <a:spLocks noGrp="1" noChangeAspect="1"/>
          </p:cNvSpPr>
          <p:nvPr>
            <p:ph type="pic" sz="quarter" idx="10"/>
          </p:nvPr>
        </p:nvSpPr>
        <p:spPr>
          <a:xfrm>
            <a:off x="1692274" y="1541374"/>
            <a:ext cx="3238088" cy="43200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1" name="任意多边形: 形状 90"/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标题 1"/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3" name="图片 9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-圆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任意多边形: 形状 92"/>
          <p:cNvSpPr/>
          <p:nvPr userDrawn="1"/>
        </p:nvSpPr>
        <p:spPr>
          <a:xfrm>
            <a:off x="660400" y="1531871"/>
            <a:ext cx="10858500" cy="4491875"/>
          </a:xfrm>
          <a:custGeom>
            <a:avLst/>
            <a:gdLst>
              <a:gd name="connsiteX0" fmla="*/ 2682382 w 10858500"/>
              <a:gd name="connsiteY0" fmla="*/ 0 h 4491875"/>
              <a:gd name="connsiteX1" fmla="*/ 4661514 w 10858500"/>
              <a:gd name="connsiteY1" fmla="*/ 1979131 h 4491875"/>
              <a:gd name="connsiteX2" fmla="*/ 4081840 w 10858500"/>
              <a:gd name="connsiteY2" fmla="*/ 3378588 h 4491875"/>
              <a:gd name="connsiteX3" fmla="*/ 3948253 w 10858500"/>
              <a:gd name="connsiteY3" fmla="*/ 3500000 h 4491875"/>
              <a:gd name="connsiteX4" fmla="*/ 10858500 w 10858500"/>
              <a:gd name="connsiteY4" fmla="*/ 3500000 h 4491875"/>
              <a:gd name="connsiteX5" fmla="*/ 10858500 w 10858500"/>
              <a:gd name="connsiteY5" fmla="*/ 4491875 h 4491875"/>
              <a:gd name="connsiteX6" fmla="*/ 0 w 10858500"/>
              <a:gd name="connsiteY6" fmla="*/ 4491875 h 4491875"/>
              <a:gd name="connsiteX7" fmla="*/ 0 w 10858500"/>
              <a:gd name="connsiteY7" fmla="*/ 3500000 h 4491875"/>
              <a:gd name="connsiteX8" fmla="*/ 1416512 w 10858500"/>
              <a:gd name="connsiteY8" fmla="*/ 3500000 h 4491875"/>
              <a:gd name="connsiteX9" fmla="*/ 1282925 w 10858500"/>
              <a:gd name="connsiteY9" fmla="*/ 3378588 h 4491875"/>
              <a:gd name="connsiteX10" fmla="*/ 703250 w 10858500"/>
              <a:gd name="connsiteY10" fmla="*/ 1979131 h 4491875"/>
              <a:gd name="connsiteX11" fmla="*/ 2682382 w 10858500"/>
              <a:gd name="connsiteY11" fmla="*/ 0 h 4491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858500" h="4491875">
                <a:moveTo>
                  <a:pt x="2682382" y="0"/>
                </a:moveTo>
                <a:cubicBezTo>
                  <a:pt x="3775426" y="0"/>
                  <a:pt x="4661514" y="886087"/>
                  <a:pt x="4661514" y="1979131"/>
                </a:cubicBezTo>
                <a:cubicBezTo>
                  <a:pt x="4661514" y="2525653"/>
                  <a:pt x="4439992" y="3020436"/>
                  <a:pt x="4081840" y="3378588"/>
                </a:cubicBezTo>
                <a:lnTo>
                  <a:pt x="3948253" y="3500000"/>
                </a:lnTo>
                <a:lnTo>
                  <a:pt x="10858500" y="3500000"/>
                </a:lnTo>
                <a:lnTo>
                  <a:pt x="10858500" y="4491875"/>
                </a:lnTo>
                <a:lnTo>
                  <a:pt x="0" y="4491875"/>
                </a:lnTo>
                <a:lnTo>
                  <a:pt x="0" y="3500000"/>
                </a:lnTo>
                <a:lnTo>
                  <a:pt x="1416512" y="3500000"/>
                </a:lnTo>
                <a:lnTo>
                  <a:pt x="1282925" y="3378588"/>
                </a:lnTo>
                <a:cubicBezTo>
                  <a:pt x="924772" y="3020436"/>
                  <a:pt x="703250" y="2525653"/>
                  <a:pt x="703250" y="1979131"/>
                </a:cubicBezTo>
                <a:cubicBezTo>
                  <a:pt x="703250" y="886087"/>
                  <a:pt x="1589338" y="0"/>
                  <a:pt x="2682382" y="0"/>
                </a:cubicBezTo>
                <a:close/>
              </a:path>
            </a:pathLst>
          </a:custGeom>
          <a:solidFill>
            <a:schemeClr val="accent1"/>
          </a:solidFill>
          <a:ln w="19050">
            <a:noFill/>
          </a:ln>
          <a:effectLst>
            <a:outerShdw blurRad="127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b="0" i="0" dirty="0">
              <a:latin typeface="Helvetica Regular" pitchFamily="2" charset="0"/>
              <a:cs typeface="+mn-ea"/>
              <a:sym typeface="+mn-lt"/>
            </a:endParaRP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/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1" name="任意多边形: 形状 90"/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图片占位符 91"/>
          <p:cNvSpPr>
            <a:spLocks noGrp="1" noChangeAspect="1"/>
          </p:cNvSpPr>
          <p:nvPr>
            <p:ph type="pic" sz="quarter" idx="13"/>
          </p:nvPr>
        </p:nvSpPr>
        <p:spPr>
          <a:xfrm>
            <a:off x="1451524" y="1608975"/>
            <a:ext cx="3780000" cy="3780000"/>
          </a:xfrm>
          <a:custGeom>
            <a:avLst/>
            <a:gdLst>
              <a:gd name="connsiteX0" fmla="*/ 1657350 w 3314700"/>
              <a:gd name="connsiteY0" fmla="*/ 0 h 3314700"/>
              <a:gd name="connsiteX1" fmla="*/ 3314700 w 3314700"/>
              <a:gd name="connsiteY1" fmla="*/ 1657350 h 3314700"/>
              <a:gd name="connsiteX2" fmla="*/ 1657350 w 3314700"/>
              <a:gd name="connsiteY2" fmla="*/ 3314700 h 3314700"/>
              <a:gd name="connsiteX3" fmla="*/ 0 w 3314700"/>
              <a:gd name="connsiteY3" fmla="*/ 1657350 h 3314700"/>
              <a:gd name="connsiteX4" fmla="*/ 1657350 w 3314700"/>
              <a:gd name="connsiteY4" fmla="*/ 0 h 331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14700" h="3314700">
                <a:moveTo>
                  <a:pt x="1657350" y="0"/>
                </a:moveTo>
                <a:cubicBezTo>
                  <a:pt x="2572679" y="0"/>
                  <a:pt x="3314700" y="742021"/>
                  <a:pt x="3314700" y="1657350"/>
                </a:cubicBezTo>
                <a:cubicBezTo>
                  <a:pt x="3314700" y="2572679"/>
                  <a:pt x="2572679" y="3314700"/>
                  <a:pt x="1657350" y="3314700"/>
                </a:cubicBezTo>
                <a:cubicBezTo>
                  <a:pt x="742021" y="3314700"/>
                  <a:pt x="0" y="2572679"/>
                  <a:pt x="0" y="1657350"/>
                </a:cubicBezTo>
                <a:cubicBezTo>
                  <a:pt x="0" y="742021"/>
                  <a:pt x="742021" y="0"/>
                  <a:pt x="1657350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/>
          <a:p>
            <a:endParaRPr lang="zh-CN" altLang="en-US" dirty="0"/>
          </a:p>
        </p:txBody>
      </p:sp>
      <p:sp>
        <p:nvSpPr>
          <p:cNvPr id="90" name="标题 1"/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/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0" name="图片占位符 6"/>
          <p:cNvSpPr>
            <a:spLocks noGrp="1" noChangeAspect="1"/>
          </p:cNvSpPr>
          <p:nvPr>
            <p:ph type="pic" sz="quarter" idx="10"/>
          </p:nvPr>
        </p:nvSpPr>
        <p:spPr>
          <a:xfrm>
            <a:off x="1114722" y="1132945"/>
            <a:ext cx="1735608" cy="231551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1" name="图片占位符 6"/>
          <p:cNvSpPr>
            <a:spLocks noGrp="1" noChangeAspect="1"/>
          </p:cNvSpPr>
          <p:nvPr>
            <p:ph type="pic" sz="quarter" idx="13"/>
          </p:nvPr>
        </p:nvSpPr>
        <p:spPr>
          <a:xfrm>
            <a:off x="9351363" y="3674135"/>
            <a:ext cx="1755000" cy="2341381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2" name="任意多边形: 形状 91"/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3" name="标题 1"/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/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1" name="图片占位符 90"/>
          <p:cNvSpPr>
            <a:spLocks noGrp="1"/>
          </p:cNvSpPr>
          <p:nvPr>
            <p:ph type="pic" sz="quarter" idx="13"/>
          </p:nvPr>
        </p:nvSpPr>
        <p:spPr>
          <a:xfrm>
            <a:off x="1219984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5" name="图片占位符 94"/>
          <p:cNvSpPr>
            <a:spLocks noGrp="1"/>
          </p:cNvSpPr>
          <p:nvPr>
            <p:ph type="pic" sz="quarter" idx="14"/>
          </p:nvPr>
        </p:nvSpPr>
        <p:spPr>
          <a:xfrm>
            <a:off x="9369946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8" name="图片占位符 97"/>
          <p:cNvSpPr>
            <a:spLocks noGrp="1"/>
          </p:cNvSpPr>
          <p:nvPr>
            <p:ph type="pic" sz="quarter" idx="15"/>
          </p:nvPr>
        </p:nvSpPr>
        <p:spPr>
          <a:xfrm>
            <a:off x="3936638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9" name="图片占位符 98"/>
          <p:cNvSpPr>
            <a:spLocks noGrp="1"/>
          </p:cNvSpPr>
          <p:nvPr>
            <p:ph type="pic" sz="quarter" idx="16"/>
          </p:nvPr>
        </p:nvSpPr>
        <p:spPr>
          <a:xfrm>
            <a:off x="6653292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0" name="任意多边形: 形状 89"/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标题 1"/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3" name="图片 9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 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3735420" y="2971800"/>
            <a:ext cx="7783479" cy="9144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54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text</a:t>
            </a:r>
            <a:r>
              <a:rPr lang="zh-CN" altLang="en-US" dirty="0"/>
              <a:t> </a:t>
            </a:r>
            <a:endParaRPr lang="en-US" altLang="zh-CN" dirty="0"/>
          </a:p>
          <a:p>
            <a:pPr lvl="0"/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sp>
        <p:nvSpPr>
          <p:cNvPr id="6" name="箭头: 五边形 5"/>
          <p:cNvSpPr/>
          <p:nvPr userDrawn="1"/>
        </p:nvSpPr>
        <p:spPr>
          <a:xfrm rot="16200000">
            <a:off x="10605854" y="5156200"/>
            <a:ext cx="2879387" cy="3403600"/>
          </a:xfrm>
          <a:prstGeom prst="homePlat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8" name="箭头: 五边形 7"/>
          <p:cNvSpPr/>
          <p:nvPr userDrawn="1"/>
        </p:nvSpPr>
        <p:spPr>
          <a:xfrm>
            <a:off x="-2680781" y="0"/>
            <a:ext cx="5753100" cy="9620654"/>
          </a:xfrm>
          <a:prstGeom prst="homePlate">
            <a:avLst>
              <a:gd name="adj" fmla="val 5086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5" name="箭头: 五边形 4"/>
          <p:cNvSpPr/>
          <p:nvPr userDrawn="1"/>
        </p:nvSpPr>
        <p:spPr>
          <a:xfrm rot="5400000">
            <a:off x="7310335" y="-1872573"/>
            <a:ext cx="2616740" cy="4241259"/>
          </a:xfrm>
          <a:prstGeom prst="homePlat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 userDrawn="1"/>
        </p:nvSpPr>
        <p:spPr>
          <a:xfrm>
            <a:off x="-2319371" y="4211980"/>
            <a:ext cx="5113371" cy="511337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7" name="椭圆 6"/>
          <p:cNvSpPr/>
          <p:nvPr userDrawn="1"/>
        </p:nvSpPr>
        <p:spPr>
          <a:xfrm>
            <a:off x="10560051" y="-2647819"/>
            <a:ext cx="4418254" cy="441825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217487"/>
            <a:ext cx="10858500" cy="81121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604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Helvetica Regular" pitchFamily="2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Helvetica Regular" pitchFamily="2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75700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Helvetica Regular" pitchFamily="2" charset="0"/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椭圆 6"/>
          <p:cNvSpPr/>
          <p:nvPr userDrawn="1"/>
        </p:nvSpPr>
        <p:spPr>
          <a:xfrm>
            <a:off x="4749800" y="-4572000"/>
            <a:ext cx="1168400" cy="8112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8" name="椭圆 7"/>
          <p:cNvSpPr/>
          <p:nvPr userDrawn="1"/>
        </p:nvSpPr>
        <p:spPr>
          <a:xfrm>
            <a:off x="4572000" y="9093200"/>
            <a:ext cx="1168400" cy="8112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hyperlink" Target="http://cwe.mitre.org/top25/" TargetMode="Externa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1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2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2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2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3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4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5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6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7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8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9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0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1.xml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1"/>
          <p:cNvSpPr txBox="1"/>
          <p:nvPr/>
        </p:nvSpPr>
        <p:spPr>
          <a:xfrm>
            <a:off x="3791712" y="1239205"/>
            <a:ext cx="8191129" cy="2189795"/>
          </a:xfrm>
          <a:prstGeom prst="rect">
            <a:avLst/>
          </a:prstGeom>
        </p:spPr>
        <p:txBody>
          <a:bodyPr lIns="0" rIns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en-US" sz="4000" b="1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</a:rPr>
              <a:t>B09S0061</a:t>
            </a:r>
            <a:r>
              <a:rPr lang="en-US" sz="4000" b="1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</a:rPr>
              <a:t> </a:t>
            </a:r>
            <a:r>
              <a:rPr lang="en-US" altLang="zh-CN" sz="4000" b="1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Software Engineering</a:t>
            </a:r>
            <a:endParaRPr lang="en-US" altLang="zh-CN" sz="4000" b="1" dirty="0">
              <a:solidFill>
                <a:schemeClr val="accent1"/>
              </a:solidFill>
              <a:latin typeface="Helvetica" pitchFamily="2" charset="0"/>
              <a:cs typeface="Arial" panose="020B0604020202090204" pitchFamily="34" charset="0"/>
              <a:sym typeface="+mn-lt"/>
            </a:endParaRPr>
          </a:p>
          <a:p>
            <a:pPr marL="0" indent="0" algn="r">
              <a:lnSpc>
                <a:spcPct val="100000"/>
              </a:lnSpc>
              <a:buNone/>
            </a:pPr>
            <a:r>
              <a:rPr lang="en-US" altLang="zh-CN" sz="4000" b="1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Lecture 7</a:t>
            </a:r>
            <a:endParaRPr lang="zh-CN" altLang="en-US" sz="4000" b="1" dirty="0">
              <a:solidFill>
                <a:schemeClr val="accent1"/>
              </a:solidFill>
              <a:latin typeface="Helvetica" pitchFamily="2" charset="0"/>
              <a:cs typeface="Arial" panose="020B0604020202090204" pitchFamily="34" charset="0"/>
              <a:sym typeface="+mn-lt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8750859" y="4819809"/>
            <a:ext cx="3003067" cy="650875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en-US" altLang="zh-CN" sz="2800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2025/04/11</a:t>
            </a:r>
            <a:endParaRPr lang="zh-CN" altLang="en-US" sz="2800" dirty="0">
              <a:solidFill>
                <a:schemeClr val="accent1"/>
              </a:solidFill>
              <a:latin typeface="Helvetica" pitchFamily="2" charset="0"/>
              <a:cs typeface="Arial" panose="020B0604020202090204" pitchFamily="34" charset="0"/>
              <a:sym typeface="+mn-lt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5002654" y="4381010"/>
            <a:ext cx="6751272" cy="6115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</a:pPr>
            <a:r>
              <a:rPr lang="en-US" altLang="zh-CN" sz="2800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Instructor: Liu, </a:t>
            </a:r>
            <a:r>
              <a:rPr lang="en-US" altLang="zh-CN" sz="2800" dirty="0" err="1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Guangchi</a:t>
            </a:r>
            <a:r>
              <a:rPr lang="en-US" altLang="zh-CN" sz="2800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 Ph.D.</a:t>
            </a:r>
            <a:endParaRPr lang="en-US" altLang="zh-CN" sz="2800" dirty="0">
              <a:solidFill>
                <a:schemeClr val="accent1"/>
              </a:solidFill>
              <a:latin typeface="Helvetica" pitchFamily="2" charset="0"/>
              <a:cs typeface="Arial" panose="020B0604020202090204" pitchFamily="34" charset="0"/>
              <a:sym typeface="+mn-lt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11842946" y="4575127"/>
            <a:ext cx="0" cy="752777"/>
          </a:xfrm>
          <a:prstGeom prst="line">
            <a:avLst/>
          </a:prstGeom>
          <a:ln w="50800" cmpd="thickThin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966387" cy="790865"/>
          </a:xfrm>
        </p:spPr>
        <p:txBody>
          <a:bodyPr>
            <a:normAutofit/>
          </a:bodyPr>
          <a:lstStyle/>
          <a:p>
            <a:r>
              <a:rPr lang="en-US" altLang="zh-CN" dirty="0"/>
              <a:t>Heads Up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3"/>
          <p:cNvSpPr txBox="1"/>
          <p:nvPr/>
        </p:nvSpPr>
        <p:spPr>
          <a:xfrm>
            <a:off x="598690" y="1444626"/>
            <a:ext cx="10946524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2</a:t>
            </a:r>
            <a:r>
              <a:rPr lang="en-US" altLang="zh-CN" sz="2000" b="1" baseline="30000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nd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 Assignment will be uploaded to </a:t>
            </a: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微助教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 </a:t>
            </a: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on Apr 14th, 23:55 pm，</a:t>
            </a:r>
            <a:r>
              <a:rPr lang="en-US" altLang="zh-CN" sz="2000" b="1" u="sng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 due on </a:t>
            </a:r>
            <a:r>
              <a:rPr lang="en-US" altLang="zh-CN" sz="2000" b="1" u="sng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  <a:sym typeface="+mn-ea"/>
              </a:rPr>
              <a:t>Apr 21</a:t>
            </a:r>
            <a:r>
              <a:rPr lang="en-US" altLang="zh-CN" sz="2000" b="1" u="sng" baseline="30000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  <a:sym typeface="+mn-ea"/>
              </a:rPr>
              <a:t>st</a:t>
            </a:r>
            <a:r>
              <a:rPr lang="en-US" altLang="zh-CN" sz="2000" b="1" u="sng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  <a:sym typeface="+mn-ea"/>
              </a:rPr>
              <a:t>, 23:55 pm</a:t>
            </a:r>
            <a:endParaRPr lang="en-US" altLang="zh-CN" sz="2000" b="1" u="sng" dirty="0">
              <a:solidFill>
                <a:srgbClr val="C00000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966387" cy="790865"/>
          </a:xfrm>
        </p:spPr>
        <p:txBody>
          <a:bodyPr>
            <a:normAutofit/>
          </a:bodyPr>
          <a:lstStyle/>
          <a:p>
            <a:r>
              <a:rPr lang="en-US" altLang="zh-CN" dirty="0"/>
              <a:t>Heads Up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3"/>
          <p:cNvSpPr txBox="1"/>
          <p:nvPr/>
        </p:nvSpPr>
        <p:spPr>
          <a:xfrm>
            <a:off x="622738" y="1128862"/>
            <a:ext cx="10946524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1</a:t>
            </a:r>
            <a:r>
              <a:rPr lang="en-US" altLang="zh-CN" sz="2000" b="1" baseline="30000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st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 Lab: </a:t>
            </a:r>
            <a:r>
              <a:rPr lang="en-US" altLang="zh-CN" sz="2000" b="1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Apr 12</a:t>
            </a:r>
            <a:r>
              <a:rPr lang="en-US" altLang="zh-CN" sz="2000" b="1" baseline="30000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nd</a:t>
            </a:r>
            <a:r>
              <a:rPr lang="en-US" altLang="zh-CN" sz="2000" b="1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, 14:00 – 17:25,  J6-102 (temporarily)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2738" y="1708859"/>
            <a:ext cx="1094652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Each team will present to TA or Instructor: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	</a:t>
            </a:r>
            <a:r>
              <a:rPr lang="en-US" altLang="zh-CN" sz="2000" dirty="0"/>
              <a:t>Project name</a:t>
            </a:r>
            <a:endParaRPr lang="en-US" altLang="zh-CN" sz="2000" dirty="0"/>
          </a:p>
          <a:p>
            <a:r>
              <a:rPr lang="en-US" altLang="zh-CN" sz="2000" dirty="0"/>
              <a:t>	Team members</a:t>
            </a:r>
            <a:endParaRPr lang="en-US" altLang="zh-CN" sz="2000" dirty="0"/>
          </a:p>
          <a:p>
            <a:r>
              <a:rPr lang="en-US" sz="2000" dirty="0"/>
              <a:t>	Feasibility Study</a:t>
            </a:r>
            <a:endParaRPr lang="en-US" sz="2000" dirty="0"/>
          </a:p>
          <a:p>
            <a:r>
              <a:rPr lang="en-US" sz="2000" dirty="0"/>
              <a:t>	Development Process</a:t>
            </a:r>
            <a:endParaRPr lang="en-US" sz="2000" dirty="0"/>
          </a:p>
          <a:p>
            <a:r>
              <a:rPr lang="en-US" sz="2000" dirty="0"/>
              <a:t>	Project Schedule </a:t>
            </a:r>
            <a:endParaRPr lang="en-US" sz="2000" dirty="0"/>
          </a:p>
          <a:p>
            <a:r>
              <a:rPr lang="en-US" sz="2000" dirty="0"/>
              <a:t>	Requirements (analysis/elicitation, modeling, specification)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Heads Up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22738" y="1261527"/>
            <a:ext cx="109465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Prepare the following questions (10 pts for each question )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622738" y="1758176"/>
            <a:ext cx="11271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Q1 </a:t>
            </a:r>
            <a:r>
              <a:rPr lang="en-US" sz="1600" dirty="0"/>
              <a:t>Does you team have management/technical expertise? How will you handle personnel change (sick, unavailable, etc.)?</a:t>
            </a:r>
            <a:endParaRPr lang="en-US" sz="1600" dirty="0"/>
          </a:p>
        </p:txBody>
      </p:sp>
      <p:sp>
        <p:nvSpPr>
          <p:cNvPr id="8" name="TextBox 7"/>
          <p:cNvSpPr txBox="1"/>
          <p:nvPr/>
        </p:nvSpPr>
        <p:spPr>
          <a:xfrm>
            <a:off x="622738" y="2469568"/>
            <a:ext cx="11271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Q3</a:t>
            </a:r>
            <a:r>
              <a:rPr lang="en-US" sz="1600" dirty="0"/>
              <a:t> Is your project technically feasible? What is the scope of your project? </a:t>
            </a:r>
            <a:endParaRPr lang="en-US" sz="1600" dirty="0"/>
          </a:p>
        </p:txBody>
      </p:sp>
      <p:sp>
        <p:nvSpPr>
          <p:cNvPr id="9" name="TextBox 8"/>
          <p:cNvSpPr txBox="1"/>
          <p:nvPr/>
        </p:nvSpPr>
        <p:spPr>
          <a:xfrm>
            <a:off x="622738" y="2113872"/>
            <a:ext cx="11271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Q2</a:t>
            </a:r>
            <a:r>
              <a:rPr lang="en-US" sz="1600" dirty="0"/>
              <a:t> What are the benefits of the project?</a:t>
            </a:r>
            <a:endParaRPr lang="en-US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622738" y="2832315"/>
            <a:ext cx="11271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Q4</a:t>
            </a:r>
            <a:r>
              <a:rPr lang="en-US" sz="1600" dirty="0"/>
              <a:t> What are the recourses (human, equipment, tools, IPs) and budgets you will need?</a:t>
            </a:r>
            <a:endParaRPr lang="en-US" sz="1600" dirty="0"/>
          </a:p>
        </p:txBody>
      </p:sp>
      <p:sp>
        <p:nvSpPr>
          <p:cNvPr id="11" name="TextBox 10"/>
          <p:cNvSpPr txBox="1"/>
          <p:nvPr/>
        </p:nvSpPr>
        <p:spPr>
          <a:xfrm>
            <a:off x="622738" y="3179074"/>
            <a:ext cx="11271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Q5</a:t>
            </a:r>
            <a:r>
              <a:rPr lang="en-US" sz="1600" dirty="0"/>
              <a:t> Any risk? How to minimize it? Any alternatives? Why still go with this one?</a:t>
            </a:r>
            <a:endParaRPr lang="en-US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622738" y="3514620"/>
            <a:ext cx="11271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Q6</a:t>
            </a:r>
            <a:r>
              <a:rPr lang="en-US" sz="1600" dirty="0"/>
              <a:t> What is the schedule of the project? Estimated Arrival Time of each task? Date for final delivery?</a:t>
            </a:r>
            <a:endParaRPr lang="en-US" sz="1600" dirty="0"/>
          </a:p>
        </p:txBody>
      </p:sp>
      <p:sp>
        <p:nvSpPr>
          <p:cNvPr id="13" name="TextBox 12"/>
          <p:cNvSpPr txBox="1"/>
          <p:nvPr/>
        </p:nvSpPr>
        <p:spPr>
          <a:xfrm>
            <a:off x="622738" y="3862076"/>
            <a:ext cx="11271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Q7</a:t>
            </a:r>
            <a:r>
              <a:rPr lang="en-US" sz="1600" dirty="0"/>
              <a:t> What are the requirements of your project? How did you identify them?</a:t>
            </a:r>
            <a:endParaRPr lang="en-US" sz="1600" dirty="0"/>
          </a:p>
        </p:txBody>
      </p:sp>
      <p:sp>
        <p:nvSpPr>
          <p:cNvPr id="14" name="TextBox 13"/>
          <p:cNvSpPr txBox="1"/>
          <p:nvPr/>
        </p:nvSpPr>
        <p:spPr>
          <a:xfrm>
            <a:off x="622738" y="4195347"/>
            <a:ext cx="11271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Q8</a:t>
            </a:r>
            <a:r>
              <a:rPr lang="en-US" sz="1600" dirty="0"/>
              <a:t> Who are the stakeholders (user, customer, clients) where the requirements come from? </a:t>
            </a:r>
            <a:endParaRPr lang="en-US" sz="1600" dirty="0"/>
          </a:p>
        </p:txBody>
      </p:sp>
      <p:sp>
        <p:nvSpPr>
          <p:cNvPr id="15" name="TextBox 14"/>
          <p:cNvSpPr txBox="1"/>
          <p:nvPr/>
        </p:nvSpPr>
        <p:spPr>
          <a:xfrm>
            <a:off x="622738" y="4547917"/>
            <a:ext cx="11271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Q9</a:t>
            </a:r>
            <a:r>
              <a:rPr lang="en-US" sz="1600" dirty="0"/>
              <a:t> Did you go through the scenario and draw the use case diagrams for each type of stakeholder? </a:t>
            </a:r>
            <a:endParaRPr lang="en-US" sz="1600" dirty="0"/>
          </a:p>
        </p:txBody>
      </p:sp>
      <p:sp>
        <p:nvSpPr>
          <p:cNvPr id="16" name="TextBox 15"/>
          <p:cNvSpPr txBox="1"/>
          <p:nvPr/>
        </p:nvSpPr>
        <p:spPr>
          <a:xfrm>
            <a:off x="622738" y="4909622"/>
            <a:ext cx="11271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Q10</a:t>
            </a:r>
            <a:r>
              <a:rPr lang="en-US" sz="1600" dirty="0"/>
              <a:t> Any requirement modeling diagram used in your project? 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335087" y="3977885"/>
            <a:ext cx="9521825" cy="644144"/>
          </a:xfrm>
          <a:prstGeom prst="rect">
            <a:avLst/>
          </a:prstGeom>
        </p:spPr>
        <p:txBody>
          <a:bodyPr wrap="square">
            <a:normAutofit fontScale="92500" lnSpcReduction="10000"/>
          </a:bodyPr>
          <a:lstStyle/>
          <a:p>
            <a:pPr algn="ctr"/>
            <a:r>
              <a:rPr lang="en-US" altLang="zh-CN" sz="4000" b="1" dirty="0">
                <a:solidFill>
                  <a:schemeClr val="accent1"/>
                </a:solidFill>
                <a:latin typeface="Helvetica" pitchFamily="2" charset="0"/>
                <a:cs typeface="+mn-ea"/>
              </a:rPr>
              <a:t>Security</a:t>
            </a:r>
            <a:endParaRPr lang="zh-CN" altLang="en-US" sz="4000" b="1" dirty="0">
              <a:solidFill>
                <a:schemeClr val="accent1"/>
              </a:solidFill>
              <a:latin typeface="Helvetica" pitchFamily="2" charset="0"/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819048" y="1319889"/>
            <a:ext cx="2553904" cy="2646878"/>
            <a:chOff x="5865211" y="1319889"/>
            <a:chExt cx="2553904" cy="2646878"/>
          </a:xfrm>
        </p:grpSpPr>
        <p:sp>
          <p:nvSpPr>
            <p:cNvPr id="2" name="文本框 1"/>
            <p:cNvSpPr txBox="1"/>
            <p:nvPr/>
          </p:nvSpPr>
          <p:spPr>
            <a:xfrm>
              <a:off x="5865211" y="1319889"/>
              <a:ext cx="2553904" cy="26468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600" dirty="0">
                  <a:solidFill>
                    <a:schemeClr val="accent1"/>
                  </a:solidFill>
                  <a:latin typeface="Helvetica" pitchFamily="2" charset="0"/>
                  <a:cs typeface="+mn-ea"/>
                  <a:sym typeface="+mn-lt"/>
                </a:rPr>
                <a:t>01</a:t>
              </a:r>
              <a:endParaRPr lang="zh-CN" altLang="en-US" sz="16600" dirty="0">
                <a:solidFill>
                  <a:schemeClr val="accent1"/>
                </a:solidFill>
                <a:latin typeface="Helvetica" pitchFamily="2" charset="0"/>
                <a:cs typeface="+mn-ea"/>
                <a:sym typeface="+mn-lt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5865211" y="2574748"/>
              <a:ext cx="2553904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2400" dirty="0">
                  <a:solidFill>
                    <a:schemeClr val="accent1"/>
                  </a:solidFill>
                  <a:latin typeface="Helvetica" pitchFamily="2" charset="0"/>
                  <a:cs typeface="Arial" panose="020B0604020202090204" pitchFamily="34" charset="0"/>
                  <a:sym typeface="+mn-lt"/>
                </a:rPr>
                <a:t>PART</a:t>
              </a:r>
              <a:r>
                <a:rPr lang="zh-CN" altLang="en-US" sz="2400" dirty="0">
                  <a:solidFill>
                    <a:schemeClr val="accent1"/>
                  </a:solidFill>
                  <a:latin typeface="Helvetica" pitchFamily="2" charset="0"/>
                  <a:cs typeface="Arial" panose="020B0604020202090204" pitchFamily="34" charset="0"/>
                  <a:sym typeface="+mn-lt"/>
                </a:rPr>
                <a:t> </a:t>
              </a:r>
              <a:r>
                <a:rPr lang="en-US" altLang="zh-CN" sz="2400" dirty="0">
                  <a:solidFill>
                    <a:schemeClr val="accent1"/>
                  </a:solidFill>
                  <a:latin typeface="Helvetica" pitchFamily="2" charset="0"/>
                  <a:cs typeface="Arial" panose="020B0604020202090204" pitchFamily="34" charset="0"/>
                  <a:sym typeface="+mn-lt"/>
                </a:rPr>
                <a:t>ONE </a:t>
              </a:r>
              <a:endParaRPr lang="zh-CN" altLang="en-US" sz="2400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3197" y="237834"/>
            <a:ext cx="9966387" cy="790865"/>
          </a:xfrm>
        </p:spPr>
        <p:txBody>
          <a:bodyPr>
            <a:normAutofit/>
          </a:bodyPr>
          <a:lstStyle/>
          <a:p>
            <a:r>
              <a:rPr lang="en-US" altLang="zh-CN" dirty="0"/>
              <a:t>Security in Development Process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3"/>
          <p:cNvSpPr txBox="1"/>
          <p:nvPr/>
        </p:nvSpPr>
        <p:spPr>
          <a:xfrm>
            <a:off x="622738" y="1250903"/>
            <a:ext cx="109465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The security goal 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dirty="0"/>
              <a:t>	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2376" y="5622249"/>
            <a:ext cx="110310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Security considerations need to be part of the entire software development process.</a:t>
            </a:r>
            <a:endParaRPr lang="en-US" altLang="zh-CN" sz="18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18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They may have a major impact on the system architecture chosen. </a:t>
            </a:r>
            <a:endParaRPr lang="en-US" sz="18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sp>
        <p:nvSpPr>
          <p:cNvPr id="7" name="文本框 3"/>
          <p:cNvSpPr txBox="1"/>
          <p:nvPr/>
        </p:nvSpPr>
        <p:spPr>
          <a:xfrm>
            <a:off x="1417076" y="1684283"/>
            <a:ext cx="4690745" cy="174471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fontAlgn="auto">
              <a:spcBef>
                <a:spcPts val="1800"/>
              </a:spcBef>
            </a:pPr>
            <a:r>
              <a:rPr lang="en-US" altLang="zh-CN" sz="2000" dirty="0"/>
              <a:t>• Ensure availability for legitimate use</a:t>
            </a:r>
            <a:endParaRPr lang="en-US" altLang="zh-CN" sz="2000" dirty="0"/>
          </a:p>
          <a:p>
            <a:pPr indent="0" fontAlgn="auto">
              <a:spcBef>
                <a:spcPts val="1800"/>
              </a:spcBef>
            </a:pPr>
            <a:r>
              <a:rPr lang="en-US" altLang="zh-CN" sz="2000" dirty="0"/>
              <a:t>• Prevent malicious use</a:t>
            </a:r>
            <a:endParaRPr lang="en-US" altLang="zh-CN" sz="2000" dirty="0"/>
          </a:p>
          <a:p>
            <a:pPr indent="0" fontAlgn="auto">
              <a:spcBef>
                <a:spcPts val="1800"/>
              </a:spcBef>
            </a:pPr>
            <a:r>
              <a:rPr lang="en-US" altLang="zh-CN" sz="2000" dirty="0"/>
              <a:t>• Preserve privacy</a:t>
            </a:r>
            <a:endParaRPr lang="en-US" altLang="zh-CN" sz="2000" dirty="0"/>
          </a:p>
          <a:p>
            <a:pPr indent="0" fontAlgn="auto">
              <a:spcBef>
                <a:spcPts val="1800"/>
              </a:spcBef>
            </a:pPr>
            <a:endParaRPr lang="en-US" altLang="zh-CN" sz="2000" dirty="0"/>
          </a:p>
        </p:txBody>
      </p:sp>
      <p:sp>
        <p:nvSpPr>
          <p:cNvPr id="8" name="文本框 4"/>
          <p:cNvSpPr txBox="1"/>
          <p:nvPr/>
        </p:nvSpPr>
        <p:spPr>
          <a:xfrm>
            <a:off x="1417076" y="3221948"/>
            <a:ext cx="10009180" cy="195438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spcBef>
                <a:spcPts val="1800"/>
              </a:spcBef>
            </a:pPr>
            <a:r>
              <a:rPr lang="en-US" altLang="zh-CN" sz="2000" dirty="0">
                <a:sym typeface="+mn-ea"/>
              </a:rPr>
              <a:t>• Security is a property of the entire system</a:t>
            </a:r>
            <a:endParaRPr lang="en-US" altLang="zh-CN" sz="2000" dirty="0"/>
          </a:p>
          <a:p>
            <a:pPr lvl="1" indent="0" fontAlgn="auto">
              <a:spcBef>
                <a:spcPts val="1800"/>
              </a:spcBef>
            </a:pPr>
            <a:r>
              <a:rPr lang="en-US" altLang="zh-CN" dirty="0">
                <a:sym typeface="+mn-ea"/>
              </a:rPr>
              <a:t>• Only as strong as the weakest link  (which may not be software)</a:t>
            </a:r>
            <a:endParaRPr lang="en-US" altLang="zh-CN" dirty="0"/>
          </a:p>
          <a:p>
            <a:pPr lvl="1" indent="0" fontAlgn="auto">
              <a:spcBef>
                <a:spcPts val="1800"/>
              </a:spcBef>
            </a:pPr>
            <a:r>
              <a:rPr lang="en-US" altLang="zh-CN" dirty="0">
                <a:sym typeface="+mn-ea"/>
              </a:rPr>
              <a:t>• Very difficult to improve after system is designed</a:t>
            </a:r>
            <a:endParaRPr lang="en-US" altLang="zh-CN" dirty="0"/>
          </a:p>
          <a:p>
            <a:pPr indent="0" fontAlgn="auto">
              <a:spcBef>
                <a:spcPts val="1800"/>
              </a:spcBef>
            </a:pPr>
            <a:r>
              <a:rPr lang="en-US" altLang="zh-CN" sz="2000" dirty="0">
                <a:sym typeface="+mn-ea"/>
              </a:rPr>
              <a:t>• Appropriate security measures requires threat modeling</a:t>
            </a:r>
            <a:r>
              <a:rPr lang="en-US" altLang="zh-CN" dirty="0">
                <a:sym typeface="+mn-ea"/>
              </a:rPr>
              <a:t>	</a:t>
            </a:r>
            <a:endParaRPr lang="en-US" altLang="zh-CN" dirty="0"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Economics of security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091564" y="1274445"/>
            <a:ext cx="10974312" cy="278537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spcBef>
                <a:spcPts val="1800"/>
              </a:spcBef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Security is a difficult property to quantify/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develop/</a:t>
            </a: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verify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fontAlgn="auto">
              <a:spcBef>
                <a:spcPts val="1800"/>
              </a:spcBef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Secure development practices are expensive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fontAlgn="auto">
              <a:spcBef>
                <a:spcPts val="600"/>
              </a:spcBef>
            </a:pPr>
            <a:r>
              <a:rPr lang="en-US" altLang="zh-CN" sz="2000" dirty="0"/>
              <a:t>	E</a:t>
            </a:r>
            <a:r>
              <a:rPr lang="en-US" altLang="zh-CN" dirty="0"/>
              <a:t>ngineer/researcher with specific skills/knowledges </a:t>
            </a:r>
            <a:endParaRPr lang="en-US" altLang="zh-CN" dirty="0"/>
          </a:p>
          <a:p>
            <a:pPr fontAlgn="auto">
              <a:spcBef>
                <a:spcPts val="600"/>
              </a:spcBef>
            </a:pPr>
            <a:r>
              <a:rPr lang="en-US" altLang="zh-CN" sz="2000" dirty="0"/>
              <a:t>	</a:t>
            </a:r>
            <a:r>
              <a:rPr lang="zh-CN" altLang="en-US" dirty="0"/>
              <a:t>Little evidence that customers will pay extra for better security</a:t>
            </a:r>
            <a:endParaRPr lang="en-US" altLang="zh-CN" sz="2000" dirty="0"/>
          </a:p>
          <a:p>
            <a:pPr>
              <a:spcBef>
                <a:spcPts val="1800"/>
              </a:spcBef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Many risks are borne externally 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fontAlgn="auto">
              <a:spcBef>
                <a:spcPts val="1800"/>
              </a:spcBef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Overall system security limited by weakest link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91255" y="4164927"/>
            <a:ext cx="9734400" cy="193603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fontAlgn="auto">
              <a:spcBef>
                <a:spcPts val="600"/>
              </a:spcBef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But software insecurities are scalable, brittle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 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indent="0" fontAlgn="auto">
              <a:spcBef>
                <a:spcPts val="600"/>
              </a:spcBef>
            </a:pPr>
            <a:r>
              <a:rPr lang="en-US" altLang="zh-CN" sz="2000" dirty="0"/>
              <a:t>	o</a:t>
            </a:r>
            <a:r>
              <a:rPr lang="zh-CN" altLang="en-US" dirty="0"/>
              <a:t>nce discovered, exploitation may be rapid and widespread</a:t>
            </a:r>
            <a:endParaRPr lang="zh-CN" altLang="en-US" dirty="0"/>
          </a:p>
          <a:p>
            <a:pPr indent="457200" fontAlgn="auto">
              <a:spcBef>
                <a:spcPts val="600"/>
              </a:spcBef>
            </a:pPr>
            <a:r>
              <a:rPr lang="en-US" altLang="zh-CN" dirty="0"/>
              <a:t>	</a:t>
            </a:r>
            <a:r>
              <a:rPr lang="zh-CN" altLang="en-US" dirty="0"/>
              <a:t>Networked systems allow compromise to propagate to increasingly critical systems</a:t>
            </a:r>
            <a:endParaRPr lang="zh-CN" altLang="en-US" dirty="0"/>
          </a:p>
          <a:p>
            <a:pPr>
              <a:spcBef>
                <a:spcPts val="600"/>
              </a:spcBef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Future societal costs may be enormous</a:t>
            </a:r>
            <a:endParaRPr lang="zh-CN" altLang="en-US" sz="2000" b="1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1565" y="238125"/>
            <a:ext cx="8865870" cy="790575"/>
          </a:xfrm>
        </p:spPr>
        <p:txBody>
          <a:bodyPr>
            <a:normAutofit/>
          </a:bodyPr>
          <a:lstStyle/>
          <a:p>
            <a:r>
              <a:rPr lang="zh-CN" altLang="en-US" dirty="0"/>
              <a:t>Economics of security</a:t>
            </a:r>
            <a:endParaRPr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91565" y="1409065"/>
            <a:ext cx="10125710" cy="45529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fontAlgn="auto">
              <a:spcBef>
                <a:spcPts val="1800"/>
              </a:spcBef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Annual cost of poor software quality: $2 trillion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indent="0" fontAlgn="auto">
              <a:spcBef>
                <a:spcPts val="1800"/>
              </a:spcBef>
            </a:pPr>
            <a:r>
              <a:rPr lang="en-US" altLang="zh-CN" sz="2000" dirty="0"/>
              <a:t>	</a:t>
            </a:r>
            <a:r>
              <a:rPr lang="zh-CN" altLang="en-US" dirty="0"/>
              <a:t>75% due to security vulnerabilities</a:t>
            </a:r>
            <a:endParaRPr lang="zh-CN" altLang="en-US" dirty="0"/>
          </a:p>
          <a:p>
            <a:pPr>
              <a:spcBef>
                <a:spcPts val="1800"/>
              </a:spcBef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Annual cost of cybercrime: $6 trillion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indent="457200" fontAlgn="auto">
              <a:spcBef>
                <a:spcPts val="1800"/>
              </a:spcBef>
            </a:pPr>
            <a:r>
              <a:rPr lang="en-US" altLang="zh-CN" dirty="0"/>
              <a:t>	</a:t>
            </a:r>
            <a:r>
              <a:rPr lang="zh-CN" altLang="en-US" dirty="0"/>
              <a:t>Ransomware damages: $20 billion</a:t>
            </a:r>
            <a:endParaRPr lang="zh-CN" altLang="en-US" dirty="0"/>
          </a:p>
          <a:p>
            <a:pPr indent="0" fontAlgn="auto">
              <a:spcBef>
                <a:spcPts val="1800"/>
              </a:spcBef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Escalating risk of cyber warfare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>
              <a:spcBef>
                <a:spcPts val="1800"/>
              </a:spcBef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One lecture will not make you an expert 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indent="457200" fontAlgn="auto">
              <a:spcBef>
                <a:spcPts val="1800"/>
              </a:spcBef>
            </a:pPr>
            <a:r>
              <a:rPr lang="en-US" altLang="zh-CN" dirty="0"/>
              <a:t>	</a:t>
            </a:r>
            <a:r>
              <a:rPr lang="zh-CN" altLang="en-US" dirty="0"/>
              <a:t>Familiarize terminology and context</a:t>
            </a:r>
            <a:endParaRPr lang="zh-CN" altLang="en-US" dirty="0"/>
          </a:p>
          <a:p>
            <a:pPr indent="457200" fontAlgn="auto">
              <a:spcBef>
                <a:spcPts val="1800"/>
              </a:spcBef>
            </a:pPr>
            <a:r>
              <a:rPr lang="en-US" altLang="zh-CN" dirty="0"/>
              <a:t>	</a:t>
            </a:r>
            <a:r>
              <a:rPr lang="zh-CN" altLang="en-US" dirty="0"/>
              <a:t>Avoid common mistakes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Security Functions and Dangers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72376" y="1327446"/>
            <a:ext cx="1094652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Functions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dirty="0"/>
              <a:t>	</a:t>
            </a:r>
            <a:r>
              <a:rPr lang="en-US" altLang="zh-CN" sz="2000" dirty="0">
                <a:solidFill>
                  <a:srgbClr val="FF0000"/>
                </a:solidFill>
              </a:rPr>
              <a:t>Secrecy</a:t>
            </a:r>
            <a:r>
              <a:rPr lang="en-US" altLang="zh-CN" sz="2000" dirty="0"/>
              <a:t>: control of who gets to read information</a:t>
            </a:r>
            <a:endParaRPr lang="en-US" altLang="zh-CN" sz="2000" dirty="0"/>
          </a:p>
          <a:p>
            <a:r>
              <a:rPr lang="en-US" altLang="zh-CN" sz="2000" dirty="0"/>
              <a:t>	</a:t>
            </a:r>
            <a:r>
              <a:rPr lang="en-US" altLang="zh-CN" sz="2000" dirty="0">
                <a:solidFill>
                  <a:srgbClr val="FF0000"/>
                </a:solidFill>
              </a:rPr>
              <a:t>Integrity</a:t>
            </a:r>
            <a:r>
              <a:rPr lang="en-US" altLang="zh-CN" sz="2000" dirty="0"/>
              <a:t>: control of how information changes or resources are used </a:t>
            </a:r>
            <a:endParaRPr lang="en-US" altLang="zh-CN" sz="2000" dirty="0"/>
          </a:p>
          <a:p>
            <a:r>
              <a:rPr lang="en-US" altLang="zh-CN" sz="2000" dirty="0"/>
              <a:t>	</a:t>
            </a:r>
            <a:r>
              <a:rPr lang="en-US" altLang="zh-CN" sz="2000" dirty="0">
                <a:solidFill>
                  <a:srgbClr val="FF0000"/>
                </a:solidFill>
              </a:rPr>
              <a:t>Availability</a:t>
            </a:r>
            <a:r>
              <a:rPr lang="en-US" altLang="zh-CN" sz="2000" dirty="0"/>
              <a:t>: providing prompt access to information and resources</a:t>
            </a:r>
            <a:endParaRPr lang="en-US" altLang="zh-CN" sz="2000" dirty="0"/>
          </a:p>
          <a:p>
            <a:r>
              <a:rPr lang="en-US" altLang="zh-CN" sz="2000" dirty="0"/>
              <a:t>	</a:t>
            </a:r>
            <a:r>
              <a:rPr lang="en-US" altLang="zh-CN" sz="2000" dirty="0">
                <a:solidFill>
                  <a:srgbClr val="FF0000"/>
                </a:solidFill>
              </a:rPr>
              <a:t>Accountability</a:t>
            </a:r>
            <a:r>
              <a:rPr lang="en-US" altLang="zh-CN" sz="2000" dirty="0"/>
              <a:t>: knowing who has had access to resources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Dangers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dirty="0"/>
              <a:t>	</a:t>
            </a:r>
            <a:r>
              <a:rPr lang="en-US" altLang="zh-CN" sz="2000" dirty="0">
                <a:solidFill>
                  <a:srgbClr val="FF0000"/>
                </a:solidFill>
              </a:rPr>
              <a:t>Damage to information </a:t>
            </a:r>
            <a:r>
              <a:rPr lang="en-US" altLang="zh-CN" sz="2000" dirty="0"/>
              <a:t>— integrity </a:t>
            </a:r>
            <a:endParaRPr lang="en-US" altLang="zh-CN" sz="2000" dirty="0"/>
          </a:p>
          <a:p>
            <a:r>
              <a:rPr lang="en-US" altLang="zh-CN" sz="2000" dirty="0"/>
              <a:t>	</a:t>
            </a:r>
            <a:r>
              <a:rPr lang="en-US" altLang="zh-CN" sz="2000" dirty="0">
                <a:solidFill>
                  <a:srgbClr val="FF0000"/>
                </a:solidFill>
              </a:rPr>
              <a:t>Disruption of service (denial of service) </a:t>
            </a:r>
            <a:r>
              <a:rPr lang="en-US" altLang="zh-CN" sz="2000" dirty="0"/>
              <a:t>— availability</a:t>
            </a:r>
            <a:endParaRPr lang="en-US" altLang="zh-CN" sz="2000" dirty="0"/>
          </a:p>
          <a:p>
            <a:r>
              <a:rPr lang="en-US" altLang="zh-CN" sz="2000" dirty="0"/>
              <a:t>	</a:t>
            </a:r>
            <a:r>
              <a:rPr lang="en-US" altLang="zh-CN" sz="2000" dirty="0">
                <a:solidFill>
                  <a:srgbClr val="FF0000"/>
                </a:solidFill>
              </a:rPr>
              <a:t>Theft of money </a:t>
            </a:r>
            <a:r>
              <a:rPr lang="en-US" altLang="zh-CN" sz="2000" dirty="0"/>
              <a:t>— integrity</a:t>
            </a:r>
            <a:endParaRPr lang="en-US" altLang="zh-CN" sz="2000" dirty="0"/>
          </a:p>
          <a:p>
            <a:r>
              <a:rPr lang="en-US" altLang="zh-CN" sz="2000" dirty="0"/>
              <a:t>	</a:t>
            </a:r>
            <a:r>
              <a:rPr lang="en-US" altLang="zh-CN" sz="2000" dirty="0">
                <a:solidFill>
                  <a:srgbClr val="FF0000"/>
                </a:solidFill>
              </a:rPr>
              <a:t>Theft of information </a:t>
            </a:r>
            <a:r>
              <a:rPr lang="en-US" altLang="zh-CN" sz="2000" dirty="0"/>
              <a:t>— secrecy </a:t>
            </a:r>
            <a:endParaRPr lang="en-US" altLang="zh-CN" sz="2000" dirty="0"/>
          </a:p>
          <a:p>
            <a:r>
              <a:rPr lang="en-US" altLang="zh-CN" sz="2000" dirty="0"/>
              <a:t>	</a:t>
            </a:r>
            <a:r>
              <a:rPr lang="en-US" altLang="zh-CN" sz="2000" dirty="0">
                <a:solidFill>
                  <a:srgbClr val="FF0000"/>
                </a:solidFill>
              </a:rPr>
              <a:t>Loss of privacy </a:t>
            </a:r>
            <a:r>
              <a:rPr lang="en-US" altLang="zh-CN" sz="2000" dirty="0"/>
              <a:t>— secrecy</a:t>
            </a:r>
            <a:endParaRPr 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Security Issues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72376" y="1028699"/>
            <a:ext cx="10946524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System Security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	 </a:t>
            </a:r>
            <a:r>
              <a:rPr lang="en-US" altLang="zh-CN" sz="2000" dirty="0">
                <a:solidFill>
                  <a:srgbClr val="202122"/>
                </a:solidFill>
                <a:latin typeface="Arial" panose="020B0604020202090204" pitchFamily="34" charset="0"/>
              </a:rPr>
              <a:t>System vulnerabilities</a:t>
            </a:r>
            <a:endParaRPr lang="en-US" altLang="zh-CN" sz="2000" dirty="0">
              <a:solidFill>
                <a:srgbClr val="202122"/>
              </a:solidFill>
              <a:latin typeface="Arial" panose="020B0604020202090204" pitchFamily="34" charset="0"/>
            </a:endParaRPr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	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Network Security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	</a:t>
            </a:r>
            <a:r>
              <a:rPr lang="en-US" altLang="zh-CN" sz="2000" dirty="0">
                <a:solidFill>
                  <a:srgbClr val="202122"/>
                </a:solidFill>
                <a:latin typeface="Arial" panose="020B0604020202090204" pitchFamily="34" charset="0"/>
              </a:rPr>
              <a:t>Network Attack</a:t>
            </a:r>
            <a:endParaRPr lang="en-US" altLang="zh-CN" sz="2000" dirty="0">
              <a:solidFill>
                <a:srgbClr val="202122"/>
              </a:solidFill>
              <a:latin typeface="Arial" panose="020B0604020202090204" pitchFamily="34" charset="0"/>
            </a:endParaRPr>
          </a:p>
          <a:p>
            <a:endParaRPr lang="en-US" altLang="zh-CN" sz="2000" dirty="0">
              <a:solidFill>
                <a:srgbClr val="202122"/>
              </a:solidFill>
              <a:latin typeface="Arial" panose="020B0604020202090204" pitchFamily="34" charset="0"/>
            </a:endParaRPr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Encryption 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	</a:t>
            </a:r>
            <a:r>
              <a:rPr lang="en-US" altLang="zh-CN" sz="2000" dirty="0">
                <a:solidFill>
                  <a:srgbClr val="202122"/>
                </a:solidFill>
                <a:latin typeface="Arial" panose="020B0604020202090204" pitchFamily="34" charset="0"/>
              </a:rPr>
              <a:t> </a:t>
            </a:r>
            <a:r>
              <a:rPr lang="en-US" sz="2000" b="0" i="0" dirty="0">
                <a:solidFill>
                  <a:srgbClr val="202122"/>
                </a:solidFill>
                <a:effectLst/>
                <a:latin typeface="Arial" panose="020B0604020202090204" pitchFamily="34" charset="0"/>
              </a:rPr>
              <a:t>Cryptography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AI Security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	</a:t>
            </a:r>
            <a:r>
              <a:rPr lang="en-US" altLang="zh-CN" sz="2000" dirty="0">
                <a:solidFill>
                  <a:srgbClr val="202122"/>
                </a:solidFill>
                <a:latin typeface="Arial" panose="020B0604020202090204" pitchFamily="34" charset="0"/>
              </a:rPr>
              <a:t> AI model vulnerabilities, Differential Privacy</a:t>
            </a:r>
            <a:endParaRPr lang="en-US" altLang="zh-CN" sz="2000" dirty="0">
              <a:solidFill>
                <a:srgbClr val="202122"/>
              </a:solidFill>
              <a:latin typeface="Arial" panose="020B0604020202090204" pitchFamily="34" charset="0"/>
            </a:endParaRPr>
          </a:p>
          <a:p>
            <a:endParaRPr lang="en-US" altLang="zh-CN" sz="2000" dirty="0">
              <a:solidFill>
                <a:srgbClr val="202122"/>
              </a:solidFill>
              <a:latin typeface="Arial" panose="020B0604020202090204" pitchFamily="34" charset="0"/>
            </a:endParaRPr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Sensing Security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	</a:t>
            </a:r>
            <a:r>
              <a:rPr lang="en-US" altLang="zh-CN" sz="2000" dirty="0">
                <a:solidFill>
                  <a:srgbClr val="202122"/>
                </a:solidFill>
                <a:latin typeface="Arial" panose="020B0604020202090204" pitchFamily="34" charset="0"/>
              </a:rPr>
              <a:t> Human-Computer Interface</a:t>
            </a:r>
            <a:endParaRPr lang="en-US" altLang="zh-CN" sz="2000" dirty="0">
              <a:solidFill>
                <a:srgbClr val="202122"/>
              </a:solidFill>
              <a:latin typeface="Arial" panose="020B0604020202090204" pitchFamily="34" charset="0"/>
            </a:endParaRPr>
          </a:p>
          <a:p>
            <a:endParaRPr lang="en-US" altLang="zh-CN" sz="2000" dirty="0">
              <a:solidFill>
                <a:srgbClr val="202122"/>
              </a:solidFill>
              <a:latin typeface="Arial" panose="020B0604020202090204" pitchFamily="34" charset="0"/>
            </a:endParaRPr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Content Security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	</a:t>
            </a:r>
            <a:r>
              <a:rPr lang="en-US" altLang="zh-CN" sz="2000" dirty="0">
                <a:solidFill>
                  <a:srgbClr val="202122"/>
                </a:solidFill>
                <a:latin typeface="Arial" panose="020B0604020202090204" pitchFamily="34" charset="0"/>
              </a:rPr>
              <a:t>Disinformation Attack, AIGC</a:t>
            </a:r>
            <a:endParaRPr lang="en-US" altLang="zh-CN" sz="2000" dirty="0">
              <a:solidFill>
                <a:srgbClr val="202122"/>
              </a:solidFill>
              <a:latin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Perfect security is impractical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91565" y="1362710"/>
            <a:ext cx="10585428" cy="47593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algn="l" fontAlgn="auto">
              <a:spcBef>
                <a:spcPts val="600"/>
              </a:spcBef>
              <a:buClrTx/>
              <a:buSzTx/>
              <a:buFontTx/>
            </a:pPr>
            <a:r>
              <a:rPr 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Security </a:t>
            </a:r>
            <a:r>
              <a:rPr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risks are</a:t>
            </a:r>
            <a:r>
              <a:rPr 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 used to be</a:t>
            </a:r>
            <a:r>
              <a:rPr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 treated</a:t>
            </a: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 </a:t>
            </a:r>
            <a:r>
              <a:rPr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as a cost of doing business</a:t>
            </a:r>
            <a:endParaRPr 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indent="0" algn="l" fontAlgn="auto">
              <a:spcBef>
                <a:spcPts val="600"/>
              </a:spcBef>
              <a:buClrTx/>
              <a:buSzTx/>
              <a:buFontTx/>
            </a:pPr>
            <a:r>
              <a:rPr 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	</a:t>
            </a:r>
            <a:r>
              <a:rPr dirty="0"/>
              <a:t>Fines</a:t>
            </a:r>
            <a:endParaRPr dirty="0"/>
          </a:p>
          <a:p>
            <a:pPr lvl="1" indent="0" algn="l" fontAlgn="auto">
              <a:spcBef>
                <a:spcPts val="600"/>
              </a:spcBef>
              <a:buClrTx/>
              <a:buSzTx/>
              <a:buFontTx/>
            </a:pPr>
            <a:r>
              <a:rPr lang="en-US" dirty="0"/>
              <a:t>	</a:t>
            </a:r>
            <a:r>
              <a:rPr dirty="0"/>
              <a:t>Identity protection services</a:t>
            </a:r>
            <a:endParaRPr dirty="0"/>
          </a:p>
          <a:p>
            <a:pPr lvl="1" indent="0" algn="l" fontAlgn="auto">
              <a:spcBef>
                <a:spcPts val="600"/>
              </a:spcBef>
              <a:buClrTx/>
              <a:buSzTx/>
              <a:buFontTx/>
            </a:pPr>
            <a:r>
              <a:rPr lang="en-US" dirty="0"/>
              <a:t>	</a:t>
            </a:r>
            <a:r>
              <a:rPr dirty="0"/>
              <a:t>Loss of customers</a:t>
            </a:r>
            <a:endParaRPr dirty="0"/>
          </a:p>
          <a:p>
            <a:pPr lvl="1" indent="0" algn="l" fontAlgn="auto">
              <a:spcBef>
                <a:spcPts val="600"/>
              </a:spcBef>
              <a:buClrTx/>
              <a:buSzTx/>
              <a:buFontTx/>
            </a:pPr>
            <a:r>
              <a:rPr lang="en-US" dirty="0"/>
              <a:t>	</a:t>
            </a:r>
            <a:r>
              <a:rPr dirty="0"/>
              <a:t>Cost of required fixes</a:t>
            </a:r>
            <a:endParaRPr dirty="0"/>
          </a:p>
          <a:p>
            <a:pPr lvl="1" indent="0" algn="l" fontAlgn="auto">
              <a:spcBef>
                <a:spcPts val="600"/>
              </a:spcBef>
              <a:buClrTx/>
              <a:buSzTx/>
              <a:buFontTx/>
            </a:pPr>
            <a:r>
              <a:rPr lang="en-US" dirty="0"/>
              <a:t>	</a:t>
            </a:r>
            <a:r>
              <a:rPr dirty="0"/>
              <a:t>Loss of confidential information (trade secrets, export-controlled data)</a:t>
            </a:r>
            <a:endParaRPr dirty="0"/>
          </a:p>
          <a:p>
            <a:pPr lvl="1" indent="0" algn="l" fontAlgn="auto">
              <a:spcBef>
                <a:spcPts val="600"/>
              </a:spcBef>
              <a:buClrTx/>
              <a:buSzTx/>
              <a:buFontTx/>
            </a:pPr>
            <a:r>
              <a:rPr lang="en-US" dirty="0"/>
              <a:t>	</a:t>
            </a:r>
            <a:r>
              <a:rPr dirty="0"/>
              <a:t>Loss of system availability</a:t>
            </a:r>
            <a:endParaRPr dirty="0"/>
          </a:p>
          <a:p>
            <a:pPr lvl="1" indent="0" algn="l" fontAlgn="auto">
              <a:spcBef>
                <a:spcPts val="600"/>
              </a:spcBef>
              <a:buClrTx/>
              <a:buSzTx/>
              <a:buFontTx/>
            </a:pPr>
            <a:r>
              <a:rPr lang="en-US" dirty="0"/>
              <a:t>	</a:t>
            </a:r>
            <a:r>
              <a:rPr dirty="0"/>
              <a:t>Blackmail &amp; ransom</a:t>
            </a:r>
            <a:endParaRPr dirty="0"/>
          </a:p>
          <a:p>
            <a:pPr lvl="1" indent="0" algn="l" fontAlgn="auto">
              <a:spcBef>
                <a:spcPts val="600"/>
              </a:spcBef>
              <a:buClrTx/>
              <a:buSzTx/>
              <a:buFontTx/>
            </a:pPr>
            <a:r>
              <a:rPr lang="en-US" dirty="0"/>
              <a:t>	</a:t>
            </a:r>
            <a:r>
              <a:rPr dirty="0"/>
              <a:t>Theft &amp; fraud</a:t>
            </a:r>
            <a:endParaRPr lang="en-US" dirty="0"/>
          </a:p>
          <a:p>
            <a:pPr lvl="1" indent="0" algn="l" fontAlgn="auto">
              <a:spcBef>
                <a:spcPts val="600"/>
              </a:spcBef>
              <a:buClrTx/>
              <a:buSzTx/>
              <a:buFontTx/>
            </a:pPr>
            <a:endParaRPr lang="en-US" dirty="0"/>
          </a:p>
          <a:p>
            <a:pPr lvl="1">
              <a:spcBef>
                <a:spcPts val="600"/>
              </a:spcBef>
            </a:pPr>
            <a:r>
              <a:rPr lang="en-US" sz="18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Security risks are currently more like a </a:t>
            </a:r>
            <a:r>
              <a:rPr lang="en-US" sz="1800" b="1" dirty="0">
                <a:solidFill>
                  <a:srgbClr val="FF0000"/>
                </a:solidFill>
                <a:latin typeface="Helvetica" pitchFamily="2" charset="0"/>
                <a:cs typeface="Arial" panose="020B0604020202090204" pitchFamily="34" charset="0"/>
              </a:rPr>
              <a:t>national security concern</a:t>
            </a:r>
            <a:r>
              <a:rPr lang="en-US" sz="18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!</a:t>
            </a:r>
            <a:endParaRPr lang="en-US" sz="1800" dirty="0"/>
          </a:p>
          <a:p>
            <a:pPr lvl="1" indent="0" algn="l" fontAlgn="auto">
              <a:spcBef>
                <a:spcPts val="600"/>
              </a:spcBef>
              <a:buClrTx/>
              <a:buSzTx/>
              <a:buFontTx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7351" y="233626"/>
            <a:ext cx="10427646" cy="790865"/>
          </a:xfrm>
        </p:spPr>
        <p:txBody>
          <a:bodyPr>
            <a:normAutofit/>
          </a:bodyPr>
          <a:lstStyle/>
          <a:p>
            <a:r>
              <a:rPr lang="en-US" altLang="zh-CN" dirty="0"/>
              <a:t>Security within an Organization: People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98473" y="1596358"/>
            <a:ext cx="10946524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Many security problems come from people inside the organization.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en-US" altLang="zh-CN" sz="2000" dirty="0"/>
              <a:t>	In a large organization, there will be some dishonest and disgruntled people</a:t>
            </a:r>
            <a:endParaRPr lang="en-US" altLang="zh-CN" sz="2000" dirty="0"/>
          </a:p>
          <a:p>
            <a:pPr lvl="2"/>
            <a:r>
              <a:rPr lang="en-US" altLang="zh-CN" sz="2000" dirty="0"/>
              <a:t>	Dishonest</a:t>
            </a:r>
            <a:endParaRPr lang="en-US" altLang="zh-CN" sz="2000" dirty="0"/>
          </a:p>
          <a:p>
            <a:pPr lvl="2"/>
            <a:r>
              <a:rPr lang="en-US" altLang="zh-CN" sz="2000" dirty="0"/>
              <a:t>	Malicious</a:t>
            </a:r>
            <a:endParaRPr lang="en-US" altLang="zh-CN" sz="2000" dirty="0"/>
          </a:p>
          <a:p>
            <a:pPr lvl="1"/>
            <a:r>
              <a:rPr lang="en-US" altLang="zh-CN" sz="2000" dirty="0"/>
              <a:t>	Security relies on trusted individuals. What if they are not trustworthy? 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People are intrinsically insecure. 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Easy to be impacted</a:t>
            </a:r>
            <a:endParaRPr lang="en-US" altLang="zh-CN" sz="2000" dirty="0"/>
          </a:p>
          <a:p>
            <a:pPr lvl="1"/>
            <a:r>
              <a:rPr lang="en-US" altLang="zh-CN" sz="2000" dirty="0">
                <a:solidFill>
                  <a:srgbClr val="FF0000"/>
                </a:solidFill>
              </a:rPr>
              <a:t>Example: </a:t>
            </a:r>
            <a:r>
              <a:rPr lang="en-US" altLang="zh-CN" sz="2000" dirty="0"/>
              <a:t>Social Bot, Disinformation Attack, Zero-Trust Environment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7351" y="233626"/>
            <a:ext cx="10427646" cy="790865"/>
          </a:xfrm>
        </p:spPr>
        <p:txBody>
          <a:bodyPr>
            <a:normAutofit/>
          </a:bodyPr>
          <a:lstStyle/>
          <a:p>
            <a:r>
              <a:rPr lang="en-US" altLang="zh-CN" dirty="0"/>
              <a:t>Design for Security: People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" name="TextBox 3"/>
          <p:cNvSpPr txBox="1"/>
          <p:nvPr/>
        </p:nvSpPr>
        <p:spPr>
          <a:xfrm>
            <a:off x="493548" y="1728512"/>
            <a:ext cx="1169845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Make it easy for responsible people to use the system and hard for untrustworthy people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	</a:t>
            </a:r>
            <a:r>
              <a:rPr lang="en-US" altLang="zh-CN" sz="2000" dirty="0">
                <a:solidFill>
                  <a:srgbClr val="FF0000"/>
                </a:solidFill>
              </a:rPr>
              <a:t> Example</a:t>
            </a:r>
            <a:r>
              <a:rPr lang="en-US" altLang="zh-CN" sz="2000" dirty="0"/>
              <a:t>: Trust evaluation upon users</a:t>
            </a:r>
            <a:endParaRPr lang="en-US" altLang="zh-CN" sz="2000" dirty="0"/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Train people in responsible behavior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Educate people be cautious about unverified information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5" y="237834"/>
            <a:ext cx="8976572" cy="790865"/>
          </a:xfrm>
        </p:spPr>
        <p:txBody>
          <a:bodyPr>
            <a:noAutofit/>
          </a:bodyPr>
          <a:lstStyle/>
          <a:p>
            <a:r>
              <a:rPr lang="en-US" altLang="zh-CN" dirty="0"/>
              <a:t>External Intruders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3"/>
          <p:cNvSpPr txBox="1"/>
          <p:nvPr/>
        </p:nvSpPr>
        <p:spPr>
          <a:xfrm>
            <a:off x="822435" y="1690062"/>
            <a:ext cx="115062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All network systems are vulnerable to security breaches by external intruders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b="1" dirty="0">
                <a:solidFill>
                  <a:srgbClr val="FF0000"/>
                </a:solidFill>
              </a:rPr>
              <a:t>Modern software is so complex that it is impossible to eliminate all vulnerabilities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pPr lvl="1"/>
            <a:r>
              <a:rPr lang="en-US" altLang="zh-CN" sz="2000" dirty="0"/>
              <a:t>	Many skilled individuals and organizations are continually seeking to discover and exploit 	new vulnerabilities.</a:t>
            </a:r>
            <a:endParaRPr lang="en-US" altLang="zh-CN" sz="2000" dirty="0"/>
          </a:p>
          <a:p>
            <a:pPr lvl="1"/>
            <a:r>
              <a:rPr lang="en-US" altLang="zh-CN" sz="2000" dirty="0"/>
              <a:t>	Many governments regularly break into computer systems</a:t>
            </a:r>
            <a:endParaRPr lang="en-US" altLang="zh-CN" sz="2000" b="1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8822365" cy="790865"/>
          </a:xfrm>
        </p:spPr>
        <p:txBody>
          <a:bodyPr>
            <a:noAutofit/>
          </a:bodyPr>
          <a:lstStyle/>
          <a:p>
            <a:r>
              <a:rPr lang="en-US" altLang="zh-CN" dirty="0"/>
              <a:t>External Intruders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02976" y="1737035"/>
            <a:ext cx="10946524" cy="25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Examples of external security vulnerabilities: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457200" lvl="2"/>
            <a:r>
              <a:rPr lang="en-US" altLang="zh-CN" sz="2000" dirty="0"/>
              <a:t>	Unauthorized access — modify software, install listening devices</a:t>
            </a:r>
            <a:endParaRPr lang="en-US" altLang="zh-CN" sz="2000" dirty="0"/>
          </a:p>
          <a:p>
            <a:pPr marL="457200" lvl="2"/>
            <a:r>
              <a:rPr lang="en-US" altLang="zh-CN" sz="2000" dirty="0"/>
              <a:t>	Backdoors — bypass authentication</a:t>
            </a:r>
            <a:endParaRPr lang="en-US" altLang="zh-CN" sz="2000" dirty="0"/>
          </a:p>
          <a:p>
            <a:pPr marL="457200" lvl="2"/>
            <a:r>
              <a:rPr lang="en-US" altLang="zh-CN" sz="2000" dirty="0"/>
              <a:t>	Denial of service — overload and other forms of blocking</a:t>
            </a:r>
            <a:endParaRPr lang="en-US" altLang="zh-CN" sz="2000" dirty="0"/>
          </a:p>
          <a:p>
            <a:pPr marL="457200" lvl="2"/>
            <a:r>
              <a:rPr lang="en-US" altLang="zh-CN" sz="2000" dirty="0"/>
              <a:t>	Eavesdropping</a:t>
            </a:r>
            <a:endParaRPr lang="en-US" altLang="zh-CN" sz="2000" dirty="0"/>
          </a:p>
          <a:p>
            <a:pPr marL="457200" lvl="2"/>
            <a:r>
              <a:rPr lang="en-US" altLang="zh-CN" sz="2000" dirty="0"/>
              <a:t>	Spoofing （xxx@seu.com.cn</a:t>
            </a:r>
            <a:r>
              <a:rPr lang="en-US" altLang="zh-CN" sz="2000" dirty="0"/>
              <a:t>）</a:t>
            </a:r>
            <a:endParaRPr lang="en-US" altLang="zh-CN" sz="2000" dirty="0"/>
          </a:p>
          <a:p>
            <a:pPr marL="457200" lvl="2"/>
            <a:r>
              <a:rPr lang="en-US" altLang="zh-CN" sz="2000" dirty="0"/>
              <a:t>	Phishing</a:t>
            </a:r>
            <a:endParaRPr lang="en-US" altLang="zh-CN" sz="2000" dirty="0"/>
          </a:p>
          <a:p>
            <a:pPr marL="457200" lvl="2"/>
            <a:r>
              <a:rPr lang="en-US" altLang="zh-CN" sz="2000" dirty="0"/>
              <a:t>	etc., etc.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8712621" cy="790865"/>
          </a:xfrm>
        </p:spPr>
        <p:txBody>
          <a:bodyPr>
            <a:normAutofit/>
          </a:bodyPr>
          <a:lstStyle/>
          <a:p>
            <a:r>
              <a:rPr lang="en-US" altLang="zh-CN" dirty="0"/>
              <a:t>External Intruders: Online Data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TextBox 3"/>
          <p:cNvSpPr txBox="1"/>
          <p:nvPr/>
        </p:nvSpPr>
        <p:spPr>
          <a:xfrm>
            <a:off x="502976" y="1558618"/>
            <a:ext cx="1094652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Online systems capture and save large amounts of private data: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457200" lvl="2"/>
            <a:r>
              <a:rPr lang="en-US" altLang="zh-CN" sz="2000" dirty="0"/>
              <a:t>	Shopping sites: names, addresses, credit cards (e.g., Target)</a:t>
            </a:r>
            <a:endParaRPr lang="en-US" altLang="zh-CN" sz="2000" dirty="0"/>
          </a:p>
          <a:p>
            <a:pPr marL="457200" lvl="2"/>
            <a:r>
              <a:rPr lang="en-US" altLang="zh-CN" sz="2000" dirty="0"/>
              <a:t>	Financial systems: financial data, ID numbers, credit data </a:t>
            </a:r>
            <a:endParaRPr lang="en-US" altLang="zh-CN" sz="2000" dirty="0"/>
          </a:p>
          <a:p>
            <a:pPr marL="457200" lvl="2"/>
            <a:r>
              <a:rPr lang="en-US" altLang="zh-CN" sz="2000" dirty="0"/>
              <a:t>	Social media: friends, search terms, location data (e.g., Facebook)</a:t>
            </a:r>
            <a:endParaRPr lang="en-US" altLang="zh-CN" sz="2000" dirty="0"/>
          </a:p>
          <a:p>
            <a:pPr marL="0" lvl="1"/>
            <a:endParaRPr lang="en-US" altLang="zh-CN" sz="2000" dirty="0"/>
          </a:p>
          <a:p>
            <a:pPr marL="0" lvl="1"/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If this data is hacked: 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0" lvl="1"/>
            <a:r>
              <a:rPr lang="en-US" altLang="zh-CN" sz="2000" dirty="0">
                <a:solidFill>
                  <a:srgbClr val="FF0000"/>
                </a:solidFill>
              </a:rPr>
              <a:t>Damage to the users: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marL="457200" lvl="2"/>
            <a:r>
              <a:rPr lang="en-US" altLang="zh-CN" sz="2000" dirty="0"/>
              <a:t>	Financial losses (e.g., credit ratings)</a:t>
            </a:r>
            <a:endParaRPr lang="en-US" altLang="zh-CN" sz="2000" dirty="0"/>
          </a:p>
          <a:p>
            <a:pPr marL="457200" lvl="2"/>
            <a:r>
              <a:rPr lang="en-US" altLang="zh-CN" sz="2000" dirty="0"/>
              <a:t>	Emotional losses (e.g., medical history) </a:t>
            </a:r>
            <a:endParaRPr lang="en-US" altLang="zh-CN" sz="2000" dirty="0"/>
          </a:p>
          <a:p>
            <a:pPr marL="0" lvl="1"/>
            <a:r>
              <a:rPr lang="en-US" altLang="zh-CN" sz="2000" dirty="0">
                <a:solidFill>
                  <a:srgbClr val="FF0000"/>
                </a:solidFill>
              </a:rPr>
              <a:t>Damage to the companies running the systems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marL="457200" lvl="2"/>
            <a:r>
              <a:rPr lang="en-US" altLang="zh-CN" sz="2000" dirty="0"/>
              <a:t>	Fines (or even criminal charges)</a:t>
            </a:r>
            <a:endParaRPr lang="en-US" altLang="zh-CN" sz="2000" dirty="0"/>
          </a:p>
          <a:p>
            <a:pPr marL="457200" lvl="2"/>
            <a:r>
              <a:rPr lang="en-US" altLang="zh-CN" sz="2000" dirty="0"/>
              <a:t>	Legal settlements for damages</a:t>
            </a:r>
            <a:endParaRPr lang="en-US" altLang="zh-CN" sz="2000" dirty="0"/>
          </a:p>
          <a:p>
            <a:pPr marL="457200" lvl="2"/>
            <a:r>
              <a:rPr lang="en-US" altLang="zh-CN" sz="2000" dirty="0"/>
              <a:t>	Loss of customers</a:t>
            </a:r>
            <a:endParaRPr lang="en-US" altLang="zh-CN" sz="2000" dirty="0"/>
          </a:p>
          <a:p>
            <a:pPr marL="457200" lvl="2"/>
            <a:r>
              <a:rPr lang="en-US" altLang="zh-CN" sz="2000" dirty="0"/>
              <a:t>	Technical costs of fixing problems </a:t>
            </a:r>
            <a:endParaRPr lang="en-US" altLang="zh-CN" sz="2000" dirty="0"/>
          </a:p>
          <a:p>
            <a:pPr marL="457200" lvl="2"/>
            <a:r>
              <a:rPr lang="en-US" altLang="zh-CN" sz="2000" dirty="0">
                <a:solidFill>
                  <a:srgbClr val="FF0000"/>
                </a:solidFill>
              </a:rPr>
              <a:t>National Security Issues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marL="457200" lvl="2"/>
            <a:endParaRPr lang="en-US" altLang="zh-CN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External Intruders: Minimizing Risk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3"/>
          <p:cNvSpPr txBox="1"/>
          <p:nvPr/>
        </p:nvSpPr>
        <p:spPr>
          <a:xfrm>
            <a:off x="502976" y="1614373"/>
            <a:ext cx="1094652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There is no way to guarantee security from external intruders, but careful software development can make a major difference.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0" lvl="1"/>
            <a:endParaRPr lang="en-US" altLang="zh-CN" sz="2000" dirty="0"/>
          </a:p>
          <a:p>
            <a:pPr marL="0" lvl="1"/>
            <a:endParaRPr lang="en-US" altLang="zh-CN" sz="2000" dirty="0"/>
          </a:p>
          <a:p>
            <a:pPr marL="0" lvl="1"/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How to minimize the risks: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457200" lvl="2"/>
            <a:r>
              <a:rPr lang="en-US" altLang="zh-CN" sz="2000" dirty="0"/>
              <a:t>	System/Interface design — secure protocols, authentication, barriers to access</a:t>
            </a:r>
            <a:endParaRPr lang="en-US" altLang="zh-CN" sz="2000" dirty="0"/>
          </a:p>
          <a:p>
            <a:pPr marL="457200" lvl="2"/>
            <a:r>
              <a:rPr lang="en-US" altLang="zh-CN" sz="2000" dirty="0"/>
              <a:t>	Programming — defensive programming and rigorous testing</a:t>
            </a:r>
            <a:endParaRPr lang="en-US" altLang="zh-CN" sz="2000" dirty="0"/>
          </a:p>
          <a:p>
            <a:pPr marL="457200" lvl="2"/>
            <a:r>
              <a:rPr lang="en-US" altLang="zh-CN" sz="2000" dirty="0"/>
              <a:t>	Operating procedures — backup, auditing, vulnerability testing</a:t>
            </a:r>
            <a:endParaRPr lang="en-US" altLang="zh-CN" sz="2000" dirty="0"/>
          </a:p>
          <a:p>
            <a:pPr marL="457200" lvl="2"/>
            <a:r>
              <a:rPr lang="en-US" altLang="zh-CN" sz="2000" dirty="0"/>
              <a:t>	Training and monitoring personnel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1565" y="238125"/>
            <a:ext cx="9270365" cy="790575"/>
          </a:xfrm>
        </p:spPr>
        <p:txBody>
          <a:bodyPr>
            <a:normAutofit/>
          </a:bodyPr>
          <a:lstStyle/>
          <a:p>
            <a:r>
              <a:rPr lang="en-US" altLang="zh-CN" dirty="0"/>
              <a:t>Minimizing Risks: Dependency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091565" y="1483360"/>
            <a:ext cx="10312159" cy="44113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lvl="1" indent="0" fontAlgn="auto">
              <a:spcBef>
                <a:spcPts val="600"/>
              </a:spcBef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Software security depends on entire stack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indent="0" fontAlgn="auto">
              <a:spcBef>
                <a:spcPts val="600"/>
              </a:spcBef>
            </a:pPr>
            <a:r>
              <a:rPr lang="en-US" altLang="zh-CN" sz="2000" dirty="0"/>
              <a:t>	</a:t>
            </a:r>
            <a:r>
              <a:rPr lang="zh-CN" altLang="en-US" dirty="0"/>
              <a:t>Hardware</a:t>
            </a:r>
            <a:endParaRPr lang="zh-CN" altLang="en-US" dirty="0"/>
          </a:p>
          <a:p>
            <a:pPr lvl="2">
              <a:spcBef>
                <a:spcPts val="600"/>
              </a:spcBef>
            </a:pPr>
            <a:r>
              <a:rPr lang="zh-CN" altLang="en-US" dirty="0"/>
              <a:t>Operating system &amp; services</a:t>
            </a:r>
            <a:endParaRPr lang="zh-CN" altLang="en-US" dirty="0"/>
          </a:p>
          <a:p>
            <a:pPr lvl="1" indent="0" fontAlgn="auto">
              <a:spcBef>
                <a:spcPts val="600"/>
              </a:spcBef>
            </a:pPr>
            <a:r>
              <a:rPr lang="en-US" altLang="zh-CN" dirty="0"/>
              <a:t>	</a:t>
            </a:r>
            <a:r>
              <a:rPr lang="zh-CN" altLang="en-US" dirty="0"/>
              <a:t>Library dependencies</a:t>
            </a:r>
            <a:endParaRPr lang="zh-CN" altLang="en-US" dirty="0"/>
          </a:p>
          <a:p>
            <a:pPr lvl="1" indent="0" fontAlgn="auto">
              <a:spcBef>
                <a:spcPts val="600"/>
              </a:spcBef>
            </a:pPr>
            <a:r>
              <a:rPr lang="en-US" altLang="zh-CN" dirty="0"/>
              <a:t>	</a:t>
            </a:r>
            <a:r>
              <a:rPr lang="zh-CN" altLang="en-US" dirty="0"/>
              <a:t>Build tools &amp; runtime environment</a:t>
            </a:r>
            <a:endParaRPr lang="zh-CN" altLang="en-US" dirty="0"/>
          </a:p>
          <a:p>
            <a:pPr lvl="1" indent="0" fontAlgn="auto">
              <a:spcBef>
                <a:spcPts val="600"/>
              </a:spcBef>
            </a:pPr>
            <a:r>
              <a:rPr lang="en-US" altLang="zh-CN" dirty="0"/>
              <a:t>	</a:t>
            </a:r>
            <a:r>
              <a:rPr lang="zh-CN" altLang="en-US" dirty="0"/>
              <a:t>Application itself</a:t>
            </a:r>
            <a:endParaRPr lang="zh-CN" altLang="en-US" dirty="0"/>
          </a:p>
          <a:p>
            <a:pPr lvl="1" indent="0" fontAlgn="auto">
              <a:spcBef>
                <a:spcPts val="600"/>
              </a:spcBef>
            </a:pPr>
            <a:r>
              <a:rPr lang="en-US" altLang="zh-CN" dirty="0"/>
              <a:t>	</a:t>
            </a:r>
            <a:r>
              <a:rPr lang="zh-CN" altLang="en-US" dirty="0"/>
              <a:t>Trusted &amp; secret data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091565" y="4247196"/>
            <a:ext cx="10678509" cy="149271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spcBef>
                <a:spcPts val="600"/>
              </a:spcBef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Risk management requires policy and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 </a:t>
            </a: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planning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	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indent="0" fontAlgn="auto">
              <a:spcBef>
                <a:spcPts val="600"/>
              </a:spcBef>
            </a:pPr>
            <a:r>
              <a:rPr lang="en-US" altLang="zh-CN" sz="2000" dirty="0"/>
              <a:t>	</a:t>
            </a:r>
            <a:r>
              <a:rPr lang="zh-CN" altLang="en-US" dirty="0"/>
              <a:t>Stay up-to-date with security updates (may require downtime)</a:t>
            </a:r>
            <a:endParaRPr lang="en-US" altLang="zh-CN" dirty="0"/>
          </a:p>
          <a:p>
            <a:pPr indent="0" fontAlgn="auto">
              <a:spcBef>
                <a:spcPts val="600"/>
              </a:spcBef>
            </a:pPr>
            <a:r>
              <a:rPr lang="en-US" altLang="zh-CN" dirty="0"/>
              <a:t>	</a:t>
            </a:r>
            <a:r>
              <a:rPr lang="zh-CN" altLang="en-US" dirty="0"/>
              <a:t>Stay up-to-date with revocation lists, certificate renewal</a:t>
            </a:r>
            <a:endParaRPr lang="en-US" altLang="zh-CN" dirty="0"/>
          </a:p>
          <a:p>
            <a:pPr indent="0" fontAlgn="auto">
              <a:spcBef>
                <a:spcPts val="600"/>
              </a:spcBef>
            </a:pPr>
            <a:r>
              <a:rPr lang="en-US" altLang="zh-CN" dirty="0"/>
              <a:t>	</a:t>
            </a:r>
            <a:r>
              <a:rPr lang="zh-CN" altLang="en-US" dirty="0"/>
              <a:t>Balance availability against security (timeline for phasing out support for insecure versions)</a:t>
            </a:r>
            <a:endParaRPr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5" y="237834"/>
            <a:ext cx="8957718" cy="790865"/>
          </a:xfrm>
        </p:spPr>
        <p:txBody>
          <a:bodyPr>
            <a:normAutofit/>
          </a:bodyPr>
          <a:lstStyle/>
          <a:p>
            <a:r>
              <a:rPr lang="en-US" altLang="zh-CN" dirty="0"/>
              <a:t>Minimizing Risks: System Architecture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3"/>
          <p:cNvSpPr txBox="1"/>
          <p:nvPr/>
        </p:nvSpPr>
        <p:spPr>
          <a:xfrm>
            <a:off x="502976" y="1647826"/>
            <a:ext cx="10946524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The system architecture can minimize risks in various ways: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457200" lvl="2"/>
            <a:r>
              <a:rPr lang="en-US" altLang="zh-CN" sz="2000" dirty="0"/>
              <a:t>	Secure protocols, e.g., HTTPS encryption.</a:t>
            </a:r>
            <a:endParaRPr lang="en-US" altLang="zh-CN" sz="2000" dirty="0"/>
          </a:p>
          <a:p>
            <a:pPr marL="457200" lvl="2"/>
            <a:endParaRPr lang="en-US" altLang="zh-CN" sz="2000" dirty="0"/>
          </a:p>
          <a:p>
            <a:pPr marL="457200" lvl="2"/>
            <a:r>
              <a:rPr lang="en-US" altLang="zh-CN" sz="2000" dirty="0"/>
              <a:t>	Authentication: </a:t>
            </a:r>
            <a:endParaRPr lang="en-US" altLang="zh-CN" sz="2000" dirty="0"/>
          </a:p>
          <a:p>
            <a:pPr marL="914400" lvl="3"/>
            <a:r>
              <a:rPr lang="en-US" altLang="zh-CN" sz="2000" dirty="0"/>
              <a:t>	Encryption of passwords in transmission and when stored </a:t>
            </a:r>
            <a:endParaRPr lang="en-US" altLang="zh-CN" sz="2000" dirty="0"/>
          </a:p>
          <a:p>
            <a:pPr marL="914400" lvl="3"/>
            <a:r>
              <a:rPr lang="en-US" altLang="zh-CN" sz="2000" dirty="0"/>
              <a:t>	Two factor authentication (effective but can be inconvenient)</a:t>
            </a:r>
            <a:endParaRPr lang="en-US" altLang="zh-CN" sz="2000" dirty="0"/>
          </a:p>
          <a:p>
            <a:pPr marL="914400" lvl="3"/>
            <a:r>
              <a:rPr lang="en-US" altLang="zh-CN" sz="2000" dirty="0"/>
              <a:t>	Face Recognition</a:t>
            </a:r>
            <a:endParaRPr lang="en-US" altLang="zh-CN" sz="2000" dirty="0"/>
          </a:p>
          <a:p>
            <a:pPr marL="457200" lvl="2"/>
            <a:endParaRPr lang="en-US" altLang="zh-CN" sz="2000" dirty="0"/>
          </a:p>
          <a:p>
            <a:pPr marL="457200" lvl="2"/>
            <a:r>
              <a:rPr lang="en-US" altLang="zh-CN" sz="2000" dirty="0"/>
              <a:t>	Barriers, e.g., firewalls, private networks, and virtual private networks.</a:t>
            </a:r>
            <a:endParaRPr lang="en-US" altLang="zh-CN" sz="2000" dirty="0"/>
          </a:p>
          <a:p>
            <a:pPr marL="800100" lvl="2" indent="-342900">
              <a:buFont typeface="Arial" panose="020B0604020202090204" pitchFamily="34" charset="0"/>
              <a:buChar char="•"/>
            </a:pPr>
            <a:endParaRPr lang="en-US" altLang="zh-CN" sz="2000" dirty="0"/>
          </a:p>
          <a:p>
            <a:pPr marL="457200" lvl="2"/>
            <a:r>
              <a:rPr lang="en-US" altLang="zh-CN" sz="2000" dirty="0"/>
              <a:t>	Data security, e.g., encryption of stored data, backup.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Minimizing Risks: Online Data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3"/>
          <p:cNvSpPr txBox="1"/>
          <p:nvPr/>
        </p:nvSpPr>
        <p:spPr>
          <a:xfrm>
            <a:off x="502976" y="1569769"/>
            <a:ext cx="1094652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Data collection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457200" lvl="2"/>
            <a:r>
              <a:rPr lang="en-US" altLang="zh-CN" sz="2000" dirty="0"/>
              <a:t>	Collect only essential data.</a:t>
            </a:r>
            <a:endParaRPr lang="en-US" altLang="zh-CN" sz="2000" dirty="0"/>
          </a:p>
          <a:p>
            <a:pPr marL="457200" lvl="2"/>
            <a:r>
              <a:rPr lang="en-US" altLang="zh-CN" sz="2000" dirty="0"/>
              <a:t>	Delete unused data.</a:t>
            </a:r>
            <a:endParaRPr lang="en-US" altLang="zh-CN" sz="2000" dirty="0"/>
          </a:p>
          <a:p>
            <a:pPr marL="457200" lvl="2"/>
            <a:r>
              <a:rPr lang="en-US" altLang="zh-CN" sz="2000" dirty="0"/>
              <a:t>	Encrypt sensitive data.</a:t>
            </a:r>
            <a:endParaRPr lang="en-US" altLang="zh-CN" sz="2000" dirty="0"/>
          </a:p>
          <a:p>
            <a:pPr marL="457200" lvl="2"/>
            <a:r>
              <a:rPr lang="en-US" altLang="zh-CN" sz="2000" dirty="0"/>
              <a:t>	Perform security audits regularly. </a:t>
            </a:r>
            <a:endParaRPr lang="en-US" altLang="zh-CN" sz="2000" dirty="0"/>
          </a:p>
          <a:p>
            <a:pPr marL="457200" lvl="2"/>
            <a:endParaRPr lang="en-US" altLang="zh-CN" sz="2000" dirty="0"/>
          </a:p>
          <a:p>
            <a:pPr marL="0" lvl="1"/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Be prepared for trouble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457200" lvl="2"/>
            <a:r>
              <a:rPr lang="en-US" altLang="zh-CN" sz="2000" dirty="0"/>
              <a:t>	Back up all data.</a:t>
            </a:r>
            <a:endParaRPr lang="en-US" altLang="zh-CN" sz="2000" dirty="0"/>
          </a:p>
          <a:p>
            <a:pPr marL="457200" lvl="2"/>
            <a:r>
              <a:rPr lang="en-US" altLang="zh-CN" sz="2000" dirty="0"/>
              <a:t>	Know the privacy laws.</a:t>
            </a:r>
            <a:endParaRPr lang="en-US" altLang="zh-CN" sz="2000" dirty="0"/>
          </a:p>
          <a:p>
            <a:pPr marL="457200" lvl="2"/>
            <a:r>
              <a:rPr lang="en-US" altLang="zh-CN" sz="2000" dirty="0"/>
              <a:t>	Have a disaster plan: </a:t>
            </a:r>
            <a:endParaRPr lang="en-US" altLang="zh-CN" sz="2000" dirty="0"/>
          </a:p>
          <a:p>
            <a:pPr marL="1371600" lvl="4"/>
            <a:r>
              <a:rPr lang="en-US" altLang="zh-CN" sz="2000" dirty="0"/>
              <a:t>leadership </a:t>
            </a:r>
            <a:endParaRPr lang="en-US" altLang="zh-CN" sz="2000" dirty="0"/>
          </a:p>
          <a:p>
            <a:pPr marL="1371600" lvl="4"/>
            <a:r>
              <a:rPr lang="en-US" altLang="zh-CN" sz="2000" dirty="0"/>
              <a:t>message to users </a:t>
            </a:r>
            <a:endParaRPr lang="en-US" altLang="zh-CN" sz="2000" dirty="0"/>
          </a:p>
          <a:p>
            <a:pPr marL="1371600" lvl="4"/>
            <a:r>
              <a:rPr lang="en-US" altLang="zh-CN" sz="2000" dirty="0"/>
              <a:t>public relations </a:t>
            </a:r>
            <a:endParaRPr lang="en-US" altLang="zh-CN" sz="2000" dirty="0"/>
          </a:p>
          <a:p>
            <a:pPr marL="1371600" lvl="4"/>
            <a:r>
              <a:rPr lang="en-US" altLang="zh-CN" sz="2000" dirty="0"/>
              <a:t>technical recovery procedures 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Security Techniques: Barriers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376" y="1635665"/>
            <a:ext cx="10946524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Place barriers that separate parts of a complex system: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en-US" altLang="zh-CN" sz="2000" dirty="0"/>
              <a:t>	Isolate components, e.g., do not connect a computer to a network</a:t>
            </a:r>
            <a:endParaRPr lang="en-US" altLang="zh-CN" sz="2000" dirty="0"/>
          </a:p>
          <a:p>
            <a:pPr lvl="1"/>
            <a:r>
              <a:rPr lang="en-US" altLang="zh-CN" sz="2000" dirty="0"/>
              <a:t>	Firewalls</a:t>
            </a:r>
            <a:endParaRPr lang="en-US" altLang="zh-CN" sz="2000" dirty="0"/>
          </a:p>
          <a:p>
            <a:pPr lvl="1"/>
            <a:r>
              <a:rPr lang="en-US" altLang="zh-CN" sz="2000" dirty="0"/>
              <a:t>	Require authentication to access certain systems or parts of systems 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>
                <a:solidFill>
                  <a:srgbClr val="FF0000"/>
                </a:solidFill>
              </a:rPr>
              <a:t>Every barrier imposes restrictions on permitted uses of the system. </a:t>
            </a:r>
            <a:endParaRPr lang="en-US" altLang="zh-CN" sz="2000" dirty="0">
              <a:solidFill>
                <a:srgbClr val="FF0000"/>
              </a:solidFill>
            </a:endParaRPr>
          </a:p>
          <a:p>
            <a:endParaRPr lang="en-US" altLang="zh-CN" sz="2000" dirty="0"/>
          </a:p>
          <a:p>
            <a:r>
              <a:rPr lang="en-US" altLang="zh-CN" sz="2000" dirty="0"/>
              <a:t>Barriers are most effective when the system can be divided into subsystems. 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>
                <a:solidFill>
                  <a:srgbClr val="FF0000"/>
                </a:solidFill>
              </a:rPr>
              <a:t>Example</a:t>
            </a:r>
            <a:r>
              <a:rPr lang="en-US" altLang="zh-CN" sz="2000" dirty="0"/>
              <a:t>. Integration of Internet Explorer into Windows 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117975" cy="790865"/>
          </a:xfrm>
        </p:spPr>
        <p:txBody>
          <a:bodyPr>
            <a:normAutofit/>
          </a:bodyPr>
          <a:lstStyle/>
          <a:p>
            <a:r>
              <a:rPr lang="en-US" altLang="zh-CN" dirty="0"/>
              <a:t>Barriers: Firewall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5079" y="1028699"/>
            <a:ext cx="7250323" cy="1379819"/>
          </a:xfrm>
          <a:prstGeom prst="rect">
            <a:avLst/>
          </a:prstGeom>
        </p:spPr>
      </p:pic>
      <p:sp>
        <p:nvSpPr>
          <p:cNvPr id="10" name="TextBox 3"/>
          <p:cNvSpPr txBox="1"/>
          <p:nvPr/>
        </p:nvSpPr>
        <p:spPr>
          <a:xfrm>
            <a:off x="572376" y="2683880"/>
            <a:ext cx="1094652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A 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firewall</a:t>
            </a:r>
            <a:r>
              <a:rPr lang="en-US" altLang="zh-CN" sz="2000" dirty="0"/>
              <a:t> is a computer at the junction of two network segments that:</a:t>
            </a:r>
            <a:endParaRPr lang="en-US" altLang="zh-CN" sz="2000" dirty="0"/>
          </a:p>
          <a:p>
            <a:pPr lvl="1"/>
            <a:r>
              <a:rPr lang="en-US" altLang="zh-CN" sz="2000" dirty="0"/>
              <a:t>	Inspects every packet that attempts to cross the boundary</a:t>
            </a:r>
            <a:endParaRPr lang="en-US" altLang="zh-CN" sz="2000" dirty="0"/>
          </a:p>
          <a:p>
            <a:pPr lvl="1"/>
            <a:r>
              <a:rPr lang="en-US" altLang="zh-CN" sz="2000" dirty="0"/>
              <a:t>	Rejects any packet that does not satisfy certain criteria, e.g.,</a:t>
            </a:r>
            <a:endParaRPr lang="en-US" altLang="zh-CN" sz="2000" dirty="0"/>
          </a:p>
          <a:p>
            <a:pPr lvl="2"/>
            <a:r>
              <a:rPr lang="en-US" altLang="zh-CN" sz="2000" dirty="0"/>
              <a:t>	An incoming request to open a TCP connection</a:t>
            </a:r>
            <a:endParaRPr lang="en-US" altLang="zh-CN" sz="2000" dirty="0"/>
          </a:p>
          <a:p>
            <a:pPr lvl="2"/>
            <a:r>
              <a:rPr lang="en-US" altLang="zh-CN" sz="2000" dirty="0"/>
              <a:t>	An unknown packet type 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>
                <a:solidFill>
                  <a:srgbClr val="FF0000"/>
                </a:solidFill>
              </a:rPr>
              <a:t>Firewalls provide increased security at a loss of flexibility, inconvenience for users, and extra system administration. 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10211484" cy="790865"/>
          </a:xfrm>
        </p:spPr>
        <p:txBody>
          <a:bodyPr>
            <a:noAutofit/>
          </a:bodyPr>
          <a:lstStyle/>
          <a:p>
            <a:r>
              <a:rPr lang="en-US" altLang="zh-CN" dirty="0"/>
              <a:t>Security Techniques: </a:t>
            </a:r>
            <a:r>
              <a:rPr lang="en-US" altLang="zh-CN" dirty="0" err="1"/>
              <a:t>AuthN</a:t>
            </a:r>
            <a:r>
              <a:rPr lang="en-US" altLang="zh-CN" dirty="0"/>
              <a:t> and </a:t>
            </a:r>
            <a:r>
              <a:rPr lang="en-US" altLang="zh-CN" dirty="0" err="1"/>
              <a:t>AuthZ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TextBox 3"/>
          <p:cNvSpPr txBox="1"/>
          <p:nvPr/>
        </p:nvSpPr>
        <p:spPr>
          <a:xfrm>
            <a:off x="572376" y="1591061"/>
            <a:ext cx="1094652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Authentication (</a:t>
            </a:r>
            <a:r>
              <a:rPr lang="en-US" altLang="zh-CN" sz="2000" b="1" dirty="0" err="1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AuthN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)</a:t>
            </a:r>
            <a:r>
              <a:rPr lang="en-US" altLang="zh-CN" sz="2000" dirty="0"/>
              <a:t> establishes the identity of an agent:</a:t>
            </a:r>
            <a:endParaRPr lang="en-US" altLang="zh-CN" sz="2000" dirty="0"/>
          </a:p>
          <a:p>
            <a:pPr lvl="1"/>
            <a:r>
              <a:rPr lang="en-US" altLang="zh-CN" sz="2000" dirty="0"/>
              <a:t>	What does the agent know (e.g., password)?</a:t>
            </a:r>
            <a:endParaRPr lang="en-US" altLang="zh-CN" sz="2000" dirty="0"/>
          </a:p>
          <a:p>
            <a:pPr lvl="1"/>
            <a:r>
              <a:rPr lang="en-US" altLang="zh-CN" sz="2000" dirty="0"/>
              <a:t>	What does the agent possess (e.g., smart card)?</a:t>
            </a:r>
            <a:endParaRPr lang="en-US" altLang="zh-CN" sz="2000" dirty="0"/>
          </a:p>
          <a:p>
            <a:pPr lvl="1"/>
            <a:r>
              <a:rPr lang="en-US" altLang="zh-CN" sz="2000" dirty="0"/>
              <a:t>	What does the agent have physical access to (e.g., </a:t>
            </a:r>
            <a:r>
              <a:rPr lang="en-US" altLang="zh-CN" sz="2000" dirty="0" err="1"/>
              <a:t>crt</a:t>
            </a:r>
            <a:r>
              <a:rPr lang="en-US" altLang="zh-CN" sz="2000" dirty="0"/>
              <a:t>-alt-del)?</a:t>
            </a:r>
            <a:endParaRPr lang="en-US" altLang="zh-CN" sz="2000" dirty="0"/>
          </a:p>
          <a:p>
            <a:pPr lvl="1"/>
            <a:r>
              <a:rPr lang="en-US" altLang="zh-CN" sz="2000" dirty="0"/>
              <a:t>	What are the physical properties of the agent (e.g., fingerprint)? 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Authorization (</a:t>
            </a:r>
            <a:r>
              <a:rPr lang="en-US" altLang="zh-CN" sz="2000" b="1" dirty="0" err="1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AuthZ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) </a:t>
            </a:r>
            <a:r>
              <a:rPr lang="en-US" altLang="zh-CN" sz="2000" dirty="0"/>
              <a:t>establishes what an authenticated agent may do:</a:t>
            </a:r>
            <a:endParaRPr lang="en-US" altLang="zh-CN" sz="2000" dirty="0"/>
          </a:p>
          <a:p>
            <a:pPr lvl="1"/>
            <a:r>
              <a:rPr lang="en-US" altLang="zh-CN" sz="2000" dirty="0"/>
              <a:t>	Access control lists</a:t>
            </a:r>
            <a:endParaRPr lang="en-US" altLang="zh-CN" sz="2000" dirty="0"/>
          </a:p>
          <a:p>
            <a:pPr lvl="1"/>
            <a:r>
              <a:rPr lang="en-US" altLang="zh-CN" sz="2000" dirty="0"/>
              <a:t>	Group membership 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438486" cy="790865"/>
          </a:xfrm>
        </p:spPr>
        <p:txBody>
          <a:bodyPr>
            <a:noAutofit/>
          </a:bodyPr>
          <a:lstStyle/>
          <a:p>
            <a:r>
              <a:rPr lang="en-US" altLang="zh-CN" sz="2800" dirty="0"/>
              <a:t>Example: An Access Architecture for Digital Content</a:t>
            </a:r>
            <a:endParaRPr lang="en-US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4494" y="1131633"/>
            <a:ext cx="8843011" cy="512178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Access control technologies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091565" y="1242060"/>
            <a:ext cx="10032365" cy="40995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fontAlgn="auto">
              <a:spcBef>
                <a:spcPts val="600"/>
              </a:spcBef>
            </a:pPr>
            <a:r>
              <a:rPr lang="zh-CN" altLang="en-US" sz="2000" dirty="0"/>
              <a:t>OpenID/OIDC (authentication)</a:t>
            </a:r>
            <a:endParaRPr lang="zh-CN" altLang="en-US" sz="2000" dirty="0"/>
          </a:p>
          <a:p>
            <a:pPr fontAlgn="auto">
              <a:spcBef>
                <a:spcPts val="600"/>
              </a:spcBef>
            </a:pPr>
            <a:r>
              <a:rPr lang="zh-CN" altLang="en-US" sz="2000" dirty="0"/>
              <a:t>SSH keys (authentication)</a:t>
            </a:r>
            <a:endParaRPr lang="zh-CN" altLang="en-US" sz="2000" dirty="0"/>
          </a:p>
          <a:p>
            <a:pPr fontAlgn="auto">
              <a:spcBef>
                <a:spcPts val="600"/>
              </a:spcBef>
            </a:pPr>
            <a:r>
              <a:rPr lang="zh-CN" altLang="en-US" sz="2000" dirty="0"/>
              <a:t>LDAP (identity, authentication, authorization)</a:t>
            </a:r>
            <a:endParaRPr lang="zh-CN" altLang="en-US" sz="2000" dirty="0"/>
          </a:p>
          <a:p>
            <a:pPr fontAlgn="auto">
              <a:spcBef>
                <a:spcPts val="600"/>
              </a:spcBef>
            </a:pPr>
            <a:r>
              <a:rPr lang="zh-CN" altLang="en-US" sz="2000" dirty="0"/>
              <a:t>Kerberos (SSO authentication)</a:t>
            </a:r>
            <a:endParaRPr lang="en-US" altLang="zh-CN" sz="2000" dirty="0"/>
          </a:p>
          <a:p>
            <a:pPr fontAlgn="auto">
              <a:spcBef>
                <a:spcPts val="600"/>
              </a:spcBef>
            </a:pPr>
            <a:r>
              <a:rPr lang="en-US" altLang="zh-CN" sz="2000" dirty="0"/>
              <a:t>	</a:t>
            </a:r>
            <a:r>
              <a:rPr lang="zh-CN" altLang="en-US" dirty="0"/>
              <a:t>Supported by both Unix and Windows</a:t>
            </a:r>
            <a:endParaRPr lang="zh-CN" altLang="en-US" dirty="0"/>
          </a:p>
          <a:p>
            <a:pPr fontAlgn="auto">
              <a:spcBef>
                <a:spcPts val="600"/>
              </a:spcBef>
            </a:pPr>
            <a:r>
              <a:rPr lang="zh-CN" altLang="en-US" sz="2000" dirty="0"/>
              <a:t>SAML/Shibboleth (web SSO authentication &amp; authorization)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 security &amp; barriers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91565" y="1386205"/>
            <a:ext cx="10942780" cy="42176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fontAlgn="auto">
              <a:spcBef>
                <a:spcPts val="600"/>
              </a:spcBef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In practice, access control is often linked to network presence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indent="0" fontAlgn="auto">
              <a:spcBef>
                <a:spcPts val="600"/>
              </a:spcBef>
            </a:pPr>
            <a:r>
              <a:rPr lang="en-US" altLang="zh-CN" sz="2000" dirty="0"/>
              <a:t>	</a:t>
            </a:r>
            <a:r>
              <a:rPr lang="zh-CN" altLang="en-US" dirty="0"/>
              <a:t>Denial-of-service attacks can affect resources without needing to authenticate</a:t>
            </a:r>
            <a:endParaRPr lang="en-US" altLang="zh-CN" dirty="0"/>
          </a:p>
          <a:p>
            <a:pPr indent="0" fontAlgn="auto">
              <a:spcBef>
                <a:spcPts val="600"/>
              </a:spcBef>
            </a:pPr>
            <a:endParaRPr lang="zh-CN" altLang="en-US" dirty="0"/>
          </a:p>
          <a:p>
            <a:pPr>
              <a:spcBef>
                <a:spcPts val="600"/>
              </a:spcBef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Firewalls, private networks, and airgaps provide isolation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 indent="0" fontAlgn="auto">
              <a:spcBef>
                <a:spcPts val="600"/>
              </a:spcBef>
            </a:pPr>
            <a:r>
              <a:rPr lang="en-US" altLang="zh-CN" dirty="0"/>
              <a:t>	</a:t>
            </a:r>
            <a:r>
              <a:rPr lang="zh-CN" altLang="en-US" dirty="0"/>
              <a:t>Partition system components into trust domains</a:t>
            </a:r>
            <a:endParaRPr lang="zh-CN" altLang="en-US" dirty="0"/>
          </a:p>
          <a:p>
            <a:pPr lvl="1" indent="0" fontAlgn="auto">
              <a:spcBef>
                <a:spcPts val="600"/>
              </a:spcBef>
            </a:pPr>
            <a:r>
              <a:rPr lang="en-US" altLang="zh-CN" dirty="0"/>
              <a:t>	</a:t>
            </a:r>
            <a:r>
              <a:rPr lang="zh-CN" altLang="en-US" dirty="0"/>
              <a:t>Combine with access controls at other layers (defense in depth)</a:t>
            </a:r>
            <a:endParaRPr lang="en-US" altLang="zh-CN" dirty="0"/>
          </a:p>
          <a:p>
            <a:pPr lvl="1" indent="0" fontAlgn="auto">
              <a:spcBef>
                <a:spcPts val="600"/>
              </a:spcBef>
            </a:pPr>
            <a:r>
              <a:rPr lang="en-US" altLang="zh-CN" sz="1600" dirty="0"/>
              <a:t>		</a:t>
            </a:r>
            <a:r>
              <a:rPr lang="zh-CN" altLang="en-US" sz="1600" dirty="0"/>
              <a:t>Bridges are often easy to construct</a:t>
            </a:r>
            <a:endParaRPr lang="en-US" altLang="zh-CN" sz="1600" dirty="0"/>
          </a:p>
          <a:p>
            <a:pPr lvl="1" indent="0" fontAlgn="auto">
              <a:spcBef>
                <a:spcPts val="600"/>
              </a:spcBef>
            </a:pPr>
            <a:r>
              <a:rPr lang="en-US" altLang="zh-CN" sz="1600" dirty="0"/>
              <a:t>	</a:t>
            </a:r>
            <a:r>
              <a:rPr lang="en-US" altLang="zh-CN" dirty="0"/>
              <a:t>Cloud Computing/XX as a service becomes a challenge</a:t>
            </a:r>
            <a:endParaRPr lang="zh-CN" altLang="en-US" dirty="0"/>
          </a:p>
          <a:p>
            <a:pPr indent="0" fontAlgn="auto">
              <a:spcBef>
                <a:spcPts val="600"/>
              </a:spcBef>
            </a:pPr>
            <a:endParaRPr lang="zh-CN" altLang="en-US" sz="2000" dirty="0"/>
          </a:p>
          <a:p>
            <a:pPr indent="0" fontAlgn="auto">
              <a:spcBef>
                <a:spcPts val="600"/>
              </a:spcBef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More generally, barriers can be a useful tool when systems are divided into subsystems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Communication Security Techniques: Encryption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622737" y="1267350"/>
            <a:ext cx="109465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Allows data to be stored and transmitted securely, even when the bits are viewed by unauthorized agents and the algorithms are known. </a:t>
            </a:r>
            <a:endParaRPr 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38421" y="2102445"/>
            <a:ext cx="4115157" cy="2697714"/>
          </a:xfrm>
          <a:prstGeom prst="rect">
            <a:avLst/>
          </a:prstGeom>
        </p:spPr>
      </p:pic>
      <p:sp>
        <p:nvSpPr>
          <p:cNvPr id="8" name="文本框 5"/>
          <p:cNvSpPr txBox="1"/>
          <p:nvPr/>
        </p:nvSpPr>
        <p:spPr>
          <a:xfrm>
            <a:off x="622737" y="4927368"/>
            <a:ext cx="10544175" cy="10479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Asymmetric/Symmetric Encryption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Digital Signature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Communication security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197610" y="1778526"/>
            <a:ext cx="10994390" cy="41668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spcBef>
                <a:spcPts val="600"/>
              </a:spcBef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Integrity – do received bits match transmitted bits?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>
              <a:spcBef>
                <a:spcPts val="600"/>
              </a:spcBef>
            </a:pP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	</a:t>
            </a:r>
            <a:r>
              <a:rPr lang="zh-CN" altLang="en-US" dirty="0">
                <a:solidFill>
                  <a:srgbClr val="017AB8"/>
                </a:solidFill>
              </a:rPr>
              <a:t>Checksums</a:t>
            </a:r>
            <a:r>
              <a:rPr lang="zh-CN" altLang="en-US" dirty="0"/>
              <a:t> and </a:t>
            </a:r>
            <a:r>
              <a:rPr lang="zh-CN" altLang="en-US" dirty="0">
                <a:solidFill>
                  <a:srgbClr val="017AB8"/>
                </a:solidFill>
              </a:rPr>
              <a:t>hashes</a:t>
            </a:r>
            <a:r>
              <a:rPr lang="zh-CN" altLang="en-US" dirty="0"/>
              <a:t> protect against accidental corruption</a:t>
            </a:r>
            <a:endParaRPr lang="zh-CN" altLang="en-US" dirty="0"/>
          </a:p>
          <a:p>
            <a:pPr indent="457200" fontAlgn="auto">
              <a:spcBef>
                <a:spcPts val="600"/>
              </a:spcBef>
            </a:pPr>
            <a:r>
              <a:rPr lang="en-US" altLang="zh-CN" dirty="0"/>
              <a:t>	</a:t>
            </a:r>
            <a:r>
              <a:rPr lang="zh-CN" altLang="en-US" dirty="0"/>
              <a:t>Trusted hashes can detect deliberate manipulation</a:t>
            </a:r>
            <a:endParaRPr lang="en-US" altLang="zh-CN" dirty="0"/>
          </a:p>
          <a:p>
            <a:pPr indent="457200" fontAlgn="auto">
              <a:spcBef>
                <a:spcPts val="600"/>
              </a:spcBef>
            </a:pPr>
            <a:endParaRPr lang="zh-CN" altLang="en-US" dirty="0"/>
          </a:p>
          <a:p>
            <a:pPr indent="0" fontAlgn="auto">
              <a:spcBef>
                <a:spcPts val="600"/>
              </a:spcBef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 Authenticity – can recipient verify that message was sent by claimed sender?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indent="457200" fontAlgn="auto">
              <a:spcBef>
                <a:spcPts val="600"/>
              </a:spcBef>
            </a:pPr>
            <a:r>
              <a:rPr lang="en-US" altLang="zh-CN" dirty="0">
                <a:solidFill>
                  <a:srgbClr val="017AB8"/>
                </a:solidFill>
              </a:rPr>
              <a:t>	</a:t>
            </a:r>
            <a:r>
              <a:rPr lang="zh-CN" altLang="en-US" dirty="0">
                <a:solidFill>
                  <a:srgbClr val="017AB8"/>
                </a:solidFill>
              </a:rPr>
              <a:t>Message Authentication Codes</a:t>
            </a:r>
            <a:r>
              <a:rPr lang="zh-CN" altLang="en-US" dirty="0"/>
              <a:t> (MACs) provide authenticity if parties share a secret key</a:t>
            </a:r>
            <a:endParaRPr lang="en-US" altLang="zh-CN" dirty="0"/>
          </a:p>
          <a:p>
            <a:pPr indent="457200" fontAlgn="auto">
              <a:spcBef>
                <a:spcPts val="600"/>
              </a:spcBef>
            </a:pPr>
            <a:endParaRPr lang="zh-CN" altLang="en-US" dirty="0"/>
          </a:p>
          <a:p>
            <a:pPr indent="0" fontAlgn="auto">
              <a:spcBef>
                <a:spcPts val="600"/>
              </a:spcBef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Non-repudiation – can a third party verify that message was sent by claimed sender?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indent="457200" fontAlgn="auto">
              <a:spcBef>
                <a:spcPts val="600"/>
              </a:spcBef>
            </a:pPr>
            <a:r>
              <a:rPr lang="en-US" altLang="zh-CN" dirty="0">
                <a:solidFill>
                  <a:srgbClr val="017AB8"/>
                </a:solidFill>
              </a:rPr>
              <a:t>	</a:t>
            </a:r>
            <a:r>
              <a:rPr lang="zh-CN" altLang="en-US" dirty="0">
                <a:solidFill>
                  <a:srgbClr val="017AB8"/>
                </a:solidFill>
              </a:rPr>
              <a:t>Digital signatures</a:t>
            </a:r>
            <a:r>
              <a:rPr lang="zh-CN" altLang="en-US" dirty="0"/>
              <a:t> allow verification against public key (but higher overhead)</a:t>
            </a:r>
            <a:endParaRPr lang="zh-CN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Communication security (continued)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091565" y="1316990"/>
            <a:ext cx="10187940" cy="264687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spcBef>
                <a:spcPts val="600"/>
              </a:spcBef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Confidentiality – only the intended recipient can read the message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	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indent="0" fontAlgn="auto">
              <a:spcBef>
                <a:spcPts val="600"/>
              </a:spcBef>
            </a:pP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	</a:t>
            </a:r>
            <a:r>
              <a:rPr lang="zh-CN" altLang="en-US" dirty="0"/>
              <a:t>Provided by</a:t>
            </a:r>
            <a:r>
              <a:rPr lang="zh-CN" altLang="en-US" dirty="0">
                <a:solidFill>
                  <a:srgbClr val="017AB8"/>
                </a:solidFill>
              </a:rPr>
              <a:t> encryption</a:t>
            </a:r>
            <a:endParaRPr lang="zh-CN" altLang="en-US" dirty="0"/>
          </a:p>
          <a:p>
            <a:pPr indent="0" fontAlgn="auto">
              <a:spcBef>
                <a:spcPts val="600"/>
              </a:spcBef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Building blocks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indent="457200" fontAlgn="auto">
              <a:spcBef>
                <a:spcPts val="600"/>
              </a:spcBef>
            </a:pPr>
            <a:r>
              <a:rPr lang="en-US" altLang="zh-CN" dirty="0"/>
              <a:t>	</a:t>
            </a:r>
            <a:r>
              <a:rPr lang="zh-CN" altLang="en-US" dirty="0"/>
              <a:t>Authenticated Encryption with Associated Data (AEAD) + public key crypto</a:t>
            </a:r>
            <a:endParaRPr lang="zh-CN" altLang="en-US" dirty="0"/>
          </a:p>
          <a:p>
            <a:pPr indent="457200" fontAlgn="auto">
              <a:spcBef>
                <a:spcPts val="600"/>
              </a:spcBef>
            </a:pPr>
            <a:r>
              <a:rPr lang="en-US" altLang="zh-CN" dirty="0"/>
              <a:t>	</a:t>
            </a:r>
            <a:r>
              <a:rPr lang="zh-CN" altLang="en-US" dirty="0"/>
              <a:t> (Historically, block ciphers + hash functions + public key crypto)</a:t>
            </a:r>
            <a:endParaRPr lang="zh-CN" altLang="en-US" dirty="0"/>
          </a:p>
          <a:p>
            <a:pPr>
              <a:spcBef>
                <a:spcPts val="600"/>
              </a:spcBef>
            </a:pP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>
              <a:spcBef>
                <a:spcPts val="600"/>
              </a:spcBef>
            </a:pP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HTTPS protocol is a standard solution!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1565" y="0"/>
            <a:ext cx="8168208" cy="79086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36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Asymmetric vs. Symmetric</a:t>
            </a:r>
            <a:endParaRPr lang="en-US" altLang="zh-CN" sz="36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503" y="1162487"/>
            <a:ext cx="5492824" cy="3041651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2746" y="3427879"/>
            <a:ext cx="5157752" cy="280738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8881" y="4285539"/>
            <a:ext cx="65801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Symmetric Encryption</a:t>
            </a:r>
            <a:endParaRPr lang="en-US" dirty="0"/>
          </a:p>
          <a:p>
            <a:r>
              <a:rPr lang="en-US" dirty="0"/>
              <a:t>	Generated by one side, shared among multple sides</a:t>
            </a:r>
            <a:endParaRPr lang="en-US" dirty="0"/>
          </a:p>
          <a:p>
            <a:r>
              <a:rPr lang="en-US" dirty="0"/>
              <a:t>	Fast, but risky (key distribution)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7778" y="1604537"/>
            <a:ext cx="61727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Asymmetric Encryption</a:t>
            </a:r>
            <a:endParaRPr lang="en-US" dirty="0"/>
          </a:p>
          <a:p>
            <a:r>
              <a:rPr lang="en-US" dirty="0"/>
              <a:t>	Generated by one side, only public key is shared</a:t>
            </a:r>
            <a:endParaRPr lang="en-US" dirty="0"/>
          </a:p>
          <a:p>
            <a:r>
              <a:rPr lang="en-US" dirty="0"/>
              <a:t>	Secure, but high overhead for PC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740187" y="2179205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4999980" y="2179205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7189076" y="4389272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11343211" y="4389272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HTTPS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070" y="1182146"/>
            <a:ext cx="7772400" cy="47669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079531" y="342900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079531" y="4834711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087805" y="1615912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087805" y="2234344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087805" y="3246962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36667" y="3565633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14121" y="4598041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70861" y="4615963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14782" y="4615963"/>
            <a:ext cx="351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52819" y="2325414"/>
            <a:ext cx="351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52819" y="1615912"/>
            <a:ext cx="351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070861" y="2694746"/>
            <a:ext cx="107205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solidFill>
                  <a:srgbClr val="C00000"/>
                </a:solidFill>
              </a:rPr>
              <a:t>Certificate</a:t>
            </a:r>
            <a:endParaRPr lang="en-US" sz="1050" dirty="0">
              <a:solidFill>
                <a:srgbClr val="C0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263494" y="2216518"/>
            <a:ext cx="107205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solidFill>
                  <a:srgbClr val="C00000"/>
                </a:solidFill>
              </a:rPr>
              <a:t>Certificate</a:t>
            </a:r>
            <a:endParaRPr lang="en-US" sz="1050" dirty="0">
              <a:solidFill>
                <a:srgbClr val="C00000"/>
              </a:solidFill>
            </a:endParaRPr>
          </a:p>
          <a:p>
            <a:pPr algn="ctr"/>
            <a:r>
              <a:rPr lang="en-US" sz="1050" dirty="0">
                <a:solidFill>
                  <a:srgbClr val="C00000"/>
                </a:solidFill>
              </a:rPr>
              <a:t>Verification</a:t>
            </a:r>
            <a:endParaRPr lang="en-US" sz="1050" dirty="0">
              <a:solidFill>
                <a:srgbClr val="C0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830373" y="5412592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52819" y="5412592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S</a:t>
            </a:r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966387" cy="790865"/>
          </a:xfrm>
        </p:spPr>
        <p:txBody>
          <a:bodyPr>
            <a:normAutofit/>
          </a:bodyPr>
          <a:lstStyle/>
          <a:p>
            <a:r>
              <a:rPr lang="en-US" altLang="zh-CN" dirty="0"/>
              <a:t>Minimizing Risks: Programming 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TextBox 3"/>
          <p:cNvSpPr txBox="1"/>
          <p:nvPr/>
        </p:nvSpPr>
        <p:spPr>
          <a:xfrm>
            <a:off x="572376" y="1535306"/>
            <a:ext cx="1094652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The software development challenge:</a:t>
            </a: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 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en-US" altLang="zh-CN" sz="2000" dirty="0"/>
              <a:t>	Develop secure and reliable components</a:t>
            </a:r>
            <a:endParaRPr lang="en-US" altLang="zh-CN" sz="2000" dirty="0"/>
          </a:p>
          <a:p>
            <a:pPr lvl="1"/>
            <a:r>
              <a:rPr lang="en-US" altLang="zh-CN" sz="2000" dirty="0"/>
              <a:t>	Protect whole system so that security problems in parts of it do not spread to the entire 	system 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A large system will have many agents and components: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en-US" altLang="zh-CN" sz="2000" dirty="0"/>
              <a:t>	Each is potentially unreliable and insecure</a:t>
            </a:r>
            <a:endParaRPr lang="en-US" altLang="zh-CN" sz="2000" dirty="0"/>
          </a:p>
          <a:p>
            <a:pPr lvl="1"/>
            <a:r>
              <a:rPr lang="en-US" altLang="zh-CN" sz="2000" dirty="0"/>
              <a:t>	Components acquired from third parties may have unknown security problems 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The commercial off-the-shelf problem: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en-US" altLang="zh-CN" sz="2000" dirty="0"/>
              <a:t>	Developers of off-the-shelf software have considerable incentives to supply software 	that has many options and features</a:t>
            </a:r>
            <a:endParaRPr lang="en-US" altLang="zh-CN" sz="2000" dirty="0"/>
          </a:p>
          <a:p>
            <a:pPr lvl="1"/>
            <a:r>
              <a:rPr lang="en-US" altLang="zh-CN" sz="2000" dirty="0"/>
              <a:t>	In developing such software rapidly they have fewer incentives to be thorough about 	security.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Programming Secure Software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3"/>
          <p:cNvSpPr txBox="1"/>
          <p:nvPr/>
        </p:nvSpPr>
        <p:spPr>
          <a:xfrm>
            <a:off x="572376" y="1535306"/>
            <a:ext cx="10946524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Programs 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that interface with the outside world </a:t>
            </a:r>
            <a:r>
              <a:rPr lang="en-US" altLang="zh-CN" sz="2000" dirty="0"/>
              <a:t>(e.g., web sites, mail servers) need to be written in a manner that resists intrusion. 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For the top 25 programming errors, see: Common Weakness Evaluation: A Community-Developed Dictionary of Software Weakness Types  </a:t>
            </a:r>
            <a:r>
              <a:rPr lang="en-US" altLang="zh-CN" sz="2000" dirty="0">
                <a:solidFill>
                  <a:schemeClr val="accent3">
                    <a:lumMod val="60000"/>
                    <a:lumOff val="40000"/>
                  </a:schemeClr>
                </a:solidFill>
                <a:hlinkClick r:id="rId1"/>
              </a:rPr>
              <a:t>http://cwe.mitre.org/top25/</a:t>
            </a:r>
            <a:endParaRPr lang="en-US" altLang="zh-CN" sz="20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Insecure interaction between components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Risky resource management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Porous defenses 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>
                <a:solidFill>
                  <a:srgbClr val="FF0000"/>
                </a:solidFill>
              </a:rPr>
              <a:t>Project management and test procedures must emphasize that programs avoid these errors. 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1565" y="238125"/>
            <a:ext cx="9398635" cy="790575"/>
          </a:xfrm>
        </p:spPr>
        <p:txBody>
          <a:bodyPr>
            <a:normAutofit/>
          </a:bodyPr>
          <a:lstStyle/>
          <a:p>
            <a:r>
              <a:t>Security bugs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534517" y="1485397"/>
            <a:ext cx="11300132" cy="450892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spcBef>
                <a:spcPts val="600"/>
              </a:spcBef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Computers can execute code or commands that should not be authorized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	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indent="0" fontAlgn="auto">
              <a:spcBef>
                <a:spcPts val="600"/>
              </a:spcBef>
            </a:pP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	</a:t>
            </a:r>
            <a:r>
              <a:rPr lang="zh-CN" altLang="en-US" dirty="0"/>
              <a:t>Buffer overflow: user-provided bytes stored in memory are </a:t>
            </a:r>
            <a:r>
              <a:rPr lang="en-US" altLang="zh-CN" dirty="0"/>
              <a:t>overwritten</a:t>
            </a:r>
            <a:endParaRPr lang="en-US" altLang="zh-CN" dirty="0"/>
          </a:p>
          <a:p>
            <a:pPr indent="0" fontAlgn="auto">
              <a:spcBef>
                <a:spcPts val="600"/>
              </a:spcBef>
            </a:pPr>
            <a:r>
              <a:rPr lang="en-US" altLang="zh-CN" dirty="0"/>
              <a:t>		</a:t>
            </a:r>
            <a:endParaRPr lang="zh-CN" altLang="en-US" dirty="0"/>
          </a:p>
          <a:p>
            <a:pPr lvl="1" indent="0" fontAlgn="auto">
              <a:spcBef>
                <a:spcPts val="600"/>
              </a:spcBef>
            </a:pPr>
            <a:r>
              <a:rPr lang="en-US" altLang="zh-CN" dirty="0"/>
              <a:t>	</a:t>
            </a:r>
            <a:endParaRPr lang="en-US" altLang="zh-CN" dirty="0"/>
          </a:p>
          <a:p>
            <a:pPr lvl="1" indent="0" fontAlgn="auto">
              <a:spcBef>
                <a:spcPts val="600"/>
              </a:spcBef>
            </a:pPr>
            <a:r>
              <a:rPr lang="en-US" altLang="zh-CN" dirty="0"/>
              <a:t>	</a:t>
            </a:r>
            <a:endParaRPr lang="en-US" altLang="zh-CN" dirty="0"/>
          </a:p>
          <a:p>
            <a:pPr lvl="1" indent="0" fontAlgn="auto">
              <a:spcBef>
                <a:spcPts val="600"/>
              </a:spcBef>
            </a:pPr>
            <a:r>
              <a:rPr lang="en-US" altLang="zh-CN" dirty="0"/>
              <a:t>	</a:t>
            </a:r>
            <a:r>
              <a:rPr lang="zh-CN" altLang="en-US" dirty="0"/>
              <a:t>Privilege escalation: authenticated user is able to perform operations that are only authorized for </a:t>
            </a:r>
            <a:r>
              <a:rPr lang="en-US" altLang="zh-CN" dirty="0"/>
              <a:t>	</a:t>
            </a:r>
            <a:r>
              <a:rPr lang="zh-CN" altLang="en-US" dirty="0"/>
              <a:t>more privileged users</a:t>
            </a:r>
            <a:endParaRPr lang="zh-CN" altLang="en-US" dirty="0"/>
          </a:p>
          <a:p>
            <a:pPr lvl="1" indent="457200" fontAlgn="auto">
              <a:spcBef>
                <a:spcPts val="600"/>
              </a:spcBef>
            </a:pPr>
            <a:r>
              <a:rPr lang="en-US" altLang="zh-CN" sz="1600" dirty="0"/>
              <a:t>	</a:t>
            </a:r>
            <a:r>
              <a:rPr lang="zh-CN" altLang="en-US" sz="1600" dirty="0"/>
              <a:t>Example: system services</a:t>
            </a:r>
            <a:endParaRPr lang="zh-CN" altLang="en-US" sz="1600" dirty="0"/>
          </a:p>
          <a:p>
            <a:pPr lvl="1" indent="0" fontAlgn="auto">
              <a:spcBef>
                <a:spcPts val="600"/>
              </a:spcBef>
            </a:pPr>
            <a:r>
              <a:rPr lang="en-US" altLang="zh-CN" dirty="0"/>
              <a:t>	</a:t>
            </a:r>
            <a:r>
              <a:rPr lang="zh-CN" altLang="en-US" dirty="0"/>
              <a:t>Injection: software treats user-provided data as instructions</a:t>
            </a:r>
            <a:endParaRPr lang="zh-CN" altLang="en-US" dirty="0"/>
          </a:p>
          <a:p>
            <a:pPr lvl="1" indent="457200" fontAlgn="auto">
              <a:spcBef>
                <a:spcPts val="600"/>
              </a:spcBef>
            </a:pPr>
            <a:r>
              <a:rPr lang="en-US" altLang="zh-CN" dirty="0"/>
              <a:t>	</a:t>
            </a:r>
            <a:r>
              <a:rPr lang="zh-CN" altLang="en-US" dirty="0"/>
              <a:t>Examples: printf, SQL, HTML/JS, quotes</a:t>
            </a:r>
            <a:endParaRPr lang="zh-CN" altLang="en-US" dirty="0"/>
          </a:p>
          <a:p>
            <a:pPr lvl="1" indent="457200" fontAlgn="auto">
              <a:spcBef>
                <a:spcPts val="600"/>
              </a:spcBef>
            </a:pPr>
            <a:r>
              <a:rPr lang="en-US" altLang="zh-CN" dirty="0"/>
              <a:t>	</a:t>
            </a:r>
            <a:r>
              <a:rPr lang="zh-CN" altLang="en-US" dirty="0"/>
              <a:t>Web pages are especially vulnerable (mix data and code)</a:t>
            </a:r>
            <a:endParaRPr lang="zh-CN" altLang="en-US" dirty="0"/>
          </a:p>
          <a:p>
            <a:pPr marL="914400" lvl="2" indent="457200" fontAlgn="auto">
              <a:spcBef>
                <a:spcPts val="600"/>
              </a:spcBef>
            </a:pPr>
            <a:r>
              <a:rPr lang="en-US" altLang="zh-CN" sz="1600" dirty="0"/>
              <a:t>		</a:t>
            </a:r>
            <a:r>
              <a:rPr lang="zh-CN" altLang="en-US" sz="1600" dirty="0"/>
              <a:t>XSS: Get a trusted page to deliver content that refers to malicious JavaScript</a:t>
            </a:r>
            <a:endParaRPr lang="zh-CN" altLang="en-US" sz="1600" dirty="0"/>
          </a:p>
          <a:p>
            <a:pPr marL="914400" lvl="2" indent="457200" fontAlgn="auto">
              <a:spcBef>
                <a:spcPts val="600"/>
              </a:spcBef>
            </a:pPr>
            <a:r>
              <a:rPr lang="en-US" altLang="zh-CN" sz="1600" dirty="0"/>
              <a:t>		</a:t>
            </a:r>
            <a:r>
              <a:rPr lang="zh-CN" altLang="en-US" sz="1600" dirty="0"/>
              <a:t>CSRF: Get authenticated web browser to submit malicious requests to a service provider</a:t>
            </a:r>
            <a:endParaRPr lang="zh-CN" alt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5639" y="2278380"/>
            <a:ext cx="2223457" cy="105492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1565" y="238125"/>
            <a:ext cx="10427335" cy="790575"/>
          </a:xfrm>
        </p:spPr>
        <p:txBody>
          <a:bodyPr>
            <a:normAutofit/>
          </a:bodyPr>
          <a:lstStyle/>
          <a:p>
            <a:r>
              <a:rPr lang="zh-CN" altLang="en-US" dirty="0"/>
              <a:t>SQL injection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3206" y="2023044"/>
            <a:ext cx="8534400" cy="24231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526452" y="1807779"/>
            <a:ext cx="9259614" cy="5255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091565" y="1912883"/>
            <a:ext cx="4918841" cy="30585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Injection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631723" y="2032944"/>
            <a:ext cx="40569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Helvetica" pitchFamily="2" charset="0"/>
                <a:ea typeface="微软雅黑" panose="020B0503020204020204" pitchFamily="34" charset="-122"/>
                <a:cs typeface="Arial" panose="020B0604020202090204" pitchFamily="34" charset="0"/>
              </a:rPr>
              <a:t>What if </a:t>
            </a:r>
            <a:r>
              <a:rPr lang="en-US" b="1" dirty="0">
                <a:solidFill>
                  <a:srgbClr val="C00000"/>
                </a:solidFill>
                <a:latin typeface="Helvetica" pitchFamily="2" charset="0"/>
                <a:ea typeface="微软雅黑" panose="020B0503020204020204" pitchFamily="34" charset="-122"/>
                <a:cs typeface="Arial" panose="020B0604020202090204" pitchFamily="34" charset="0"/>
              </a:rPr>
              <a:t>name</a:t>
            </a:r>
            <a:r>
              <a:rPr lang="en-US" b="1" dirty="0">
                <a:solidFill>
                  <a:schemeClr val="accent1"/>
                </a:solidFill>
                <a:latin typeface="Helvetica" pitchFamily="2" charset="0"/>
                <a:ea typeface="微软雅黑" panose="020B0503020204020204" pitchFamily="34" charset="-122"/>
                <a:cs typeface="Arial" panose="020B0604020202090204" pitchFamily="34" charset="0"/>
              </a:rPr>
              <a:t> = </a:t>
            </a:r>
            <a:r>
              <a:rPr lang="en-US" dirty="0">
                <a:highlight>
                  <a:srgbClr val="5377A1"/>
                </a:highlight>
              </a:rPr>
              <a:t>‘XXX' OR 'a'='a’</a:t>
            </a:r>
            <a:endParaRPr lang="en-US" dirty="0">
              <a:highlight>
                <a:srgbClr val="5377A1"/>
              </a:highlight>
            </a:endParaRPr>
          </a:p>
        </p:txBody>
      </p:sp>
      <p:pic>
        <p:nvPicPr>
          <p:cNvPr id="6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0560" y="2393245"/>
            <a:ext cx="8534400" cy="24231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12882" y="2293594"/>
            <a:ext cx="4918841" cy="30585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624417" y="2393245"/>
            <a:ext cx="3103986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Injection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202470" y="1973535"/>
            <a:ext cx="40569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Helvetica" pitchFamily="2" charset="0"/>
                <a:ea typeface="微软雅黑" panose="020B0503020204020204" pitchFamily="34" charset="-122"/>
                <a:cs typeface="Arial" panose="020B0604020202090204" pitchFamily="34" charset="0"/>
              </a:rPr>
              <a:t>What if name = </a:t>
            </a:r>
            <a:r>
              <a:rPr lang="en-US" dirty="0">
                <a:highlight>
                  <a:srgbClr val="5377A1"/>
                </a:highlight>
              </a:rPr>
              <a:t>‘XXX' OR 'a'='a’</a:t>
            </a:r>
            <a:endParaRPr lang="en-US" dirty="0">
              <a:highlight>
                <a:srgbClr val="5377A1"/>
              </a:highlight>
            </a:endParaRPr>
          </a:p>
        </p:txBody>
      </p:sp>
      <p:pic>
        <p:nvPicPr>
          <p:cNvPr id="6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255" y="2458480"/>
            <a:ext cx="8534400" cy="242316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1565" y="238125"/>
            <a:ext cx="9213850" cy="790575"/>
          </a:xfrm>
        </p:spPr>
        <p:txBody>
          <a:bodyPr>
            <a:normAutofit/>
          </a:bodyPr>
          <a:lstStyle/>
          <a:p>
            <a:r>
              <a:rPr lang="zh-CN" altLang="en-US"/>
              <a:t>Mitigating injection attacks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91565" y="1297940"/>
            <a:ext cx="10426700" cy="34664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fontAlgn="auto">
              <a:spcBef>
                <a:spcPts val="600"/>
              </a:spcBef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Avoid splicing parameters into command strings yourself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indent="457200" fontAlgn="auto">
              <a:spcBef>
                <a:spcPts val="600"/>
              </a:spcBef>
            </a:pPr>
            <a:r>
              <a:rPr lang="en-US" altLang="zh-CN" dirty="0"/>
              <a:t>	</a:t>
            </a:r>
            <a:r>
              <a:rPr lang="zh-CN" altLang="en-US" dirty="0"/>
              <a:t>Make use of placeholders and APIs accepting additional arguments</a:t>
            </a:r>
            <a:endParaRPr lang="zh-CN" altLang="en-US" dirty="0"/>
          </a:p>
          <a:p>
            <a:pPr indent="0" fontAlgn="auto">
              <a:spcBef>
                <a:spcPts val="600"/>
              </a:spcBef>
            </a:pP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indent="0" fontAlgn="auto">
              <a:spcBef>
                <a:spcPts val="600"/>
              </a:spcBef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Input validation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 indent="0" fontAlgn="auto">
              <a:spcBef>
                <a:spcPts val="600"/>
              </a:spcBef>
            </a:pPr>
            <a:r>
              <a:rPr lang="en-US" altLang="zh-CN" dirty="0"/>
              <a:t>	</a:t>
            </a:r>
            <a:r>
              <a:rPr lang="zh-CN" altLang="en-US" dirty="0"/>
              <a:t>Never rely on client-side validation alone</a:t>
            </a:r>
            <a:endParaRPr lang="en-US" altLang="zh-CN" dirty="0"/>
          </a:p>
          <a:p>
            <a:pPr lvl="1" indent="0" fontAlgn="auto">
              <a:spcBef>
                <a:spcPts val="600"/>
              </a:spcBef>
            </a:pPr>
            <a:endParaRPr lang="zh-CN" altLang="en-US" dirty="0"/>
          </a:p>
          <a:p>
            <a:pPr>
              <a:spcBef>
                <a:spcPts val="600"/>
              </a:spcBef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Taint tracking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indent="457200" fontAlgn="auto">
              <a:spcBef>
                <a:spcPts val="600"/>
              </a:spcBef>
            </a:pPr>
            <a:r>
              <a:rPr lang="en-US" altLang="zh-CN" dirty="0"/>
              <a:t>	</a:t>
            </a:r>
            <a:r>
              <a:rPr lang="zh-CN" altLang="en-US" dirty="0"/>
              <a:t>Tag all values derived from user input; </a:t>
            </a:r>
            <a:endParaRPr lang="en-US" altLang="zh-CN" dirty="0"/>
          </a:p>
          <a:p>
            <a:pPr indent="457200" fontAlgn="auto">
              <a:spcBef>
                <a:spcPts val="600"/>
              </a:spcBef>
            </a:pPr>
            <a:r>
              <a:rPr lang="en-US" altLang="zh-CN" dirty="0"/>
              <a:t>	</a:t>
            </a:r>
            <a:r>
              <a:rPr lang="zh-CN" altLang="en-US" dirty="0"/>
              <a:t>only allow use after passed through</a:t>
            </a:r>
            <a:r>
              <a:rPr lang="en-US" altLang="zh-CN" dirty="0"/>
              <a:t> </a:t>
            </a:r>
            <a:r>
              <a:rPr lang="zh-CN" altLang="en-US" dirty="0"/>
              <a:t>appropriate validation function</a:t>
            </a:r>
            <a:endParaRPr lang="zh-CN" alt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1565" y="238125"/>
            <a:ext cx="9333230" cy="790575"/>
          </a:xfrm>
        </p:spPr>
        <p:txBody>
          <a:bodyPr>
            <a:normAutofit/>
          </a:bodyPr>
          <a:lstStyle/>
          <a:p>
            <a:r>
              <a:rPr lang="zh-CN" altLang="en-US"/>
              <a:t>Side channel attacks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091565" y="1551940"/>
            <a:ext cx="8761095" cy="23241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fontAlgn="auto">
              <a:spcBef>
                <a:spcPts val="600"/>
              </a:spcBef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Timing, power consumption, emissions can reveal secrets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indent="0" fontAlgn="auto">
              <a:spcBef>
                <a:spcPts val="600"/>
              </a:spcBef>
            </a:pP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indent="0" fontAlgn="auto">
              <a:spcBef>
                <a:spcPts val="600"/>
              </a:spcBef>
            </a:pP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indent="0" fontAlgn="auto">
              <a:spcBef>
                <a:spcPts val="600"/>
              </a:spcBef>
            </a:pP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indent="0" fontAlgn="auto">
              <a:spcBef>
                <a:spcPts val="600"/>
              </a:spcBef>
            </a:pP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indent="0" fontAlgn="auto">
              <a:spcBef>
                <a:spcPts val="600"/>
              </a:spcBef>
            </a:pP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indent="0" fontAlgn="auto">
              <a:spcBef>
                <a:spcPts val="600"/>
              </a:spcBef>
            </a:pP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indent="0" fontAlgn="auto">
              <a:spcBef>
                <a:spcPts val="600"/>
              </a:spcBef>
            </a:pP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indent="0" fontAlgn="auto">
              <a:spcBef>
                <a:spcPts val="600"/>
              </a:spcBef>
            </a:pP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indent="0" fontAlgn="auto">
              <a:spcBef>
                <a:spcPts val="600"/>
              </a:spcBef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Can be mitigated with specialized techniques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	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indent="0" fontAlgn="auto">
              <a:spcBef>
                <a:spcPts val="600"/>
              </a:spcBef>
            </a:pP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	</a:t>
            </a:r>
            <a:r>
              <a:rPr lang="zh-CN" altLang="en-US" dirty="0"/>
              <a:t>Or occasionally by blunt ones with higher cost</a:t>
            </a:r>
            <a:endParaRPr lang="zh-CN" altLang="en-US" dirty="0"/>
          </a:p>
          <a:p>
            <a:pPr lvl="1" indent="0" fontAlgn="auto">
              <a:spcBef>
                <a:spcPts val="600"/>
              </a:spcBef>
            </a:pPr>
            <a:r>
              <a:rPr lang="en-US" altLang="zh-CN" dirty="0"/>
              <a:t>	</a:t>
            </a:r>
            <a:r>
              <a:rPr lang="zh-CN" altLang="en-US" dirty="0"/>
              <a:t>Example: </a:t>
            </a:r>
            <a:r>
              <a:rPr lang="en-US" altLang="zh-CN" dirty="0"/>
              <a:t>Injecting randomness in network communication</a:t>
            </a:r>
            <a:endParaRPr lang="zh-CN" alt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6942" y="2332355"/>
            <a:ext cx="4698978" cy="219329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1565" y="238125"/>
            <a:ext cx="9015095" cy="790575"/>
          </a:xfrm>
        </p:spPr>
        <p:txBody>
          <a:bodyPr>
            <a:normAutofit/>
          </a:bodyPr>
          <a:lstStyle/>
          <a:p>
            <a:r>
              <a:rPr lang="zh-CN" altLang="en-US"/>
              <a:t>Catching/avoiding security bugs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91565" y="1281430"/>
            <a:ext cx="10311765" cy="36779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spcBef>
                <a:spcPts val="600"/>
              </a:spcBef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Need most advanced techniques for ensuring software quality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indent="0" fontAlgn="auto">
              <a:spcBef>
                <a:spcPts val="600"/>
              </a:spcBef>
            </a:pP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	</a:t>
            </a:r>
            <a:r>
              <a:rPr lang="zh-CN" altLang="en-US" dirty="0"/>
              <a:t>Expensive, not scalable</a:t>
            </a:r>
            <a:endParaRPr lang="zh-CN" altLang="en-US" dirty="0"/>
          </a:p>
          <a:p>
            <a:pPr lvl="1" indent="0" fontAlgn="auto">
              <a:spcBef>
                <a:spcPts val="600"/>
              </a:spcBef>
            </a:pPr>
            <a:r>
              <a:rPr lang="en-US" altLang="zh-CN" dirty="0"/>
              <a:t>	</a:t>
            </a:r>
            <a:r>
              <a:rPr lang="zh-CN" altLang="en-US" dirty="0"/>
              <a:t>Focus community effort, leverage established components, stay up-to-date</a:t>
            </a:r>
            <a:endParaRPr lang="zh-CN" altLang="en-US" dirty="0"/>
          </a:p>
          <a:p>
            <a:pPr lvl="1" indent="0" fontAlgn="auto">
              <a:spcBef>
                <a:spcPts val="600"/>
              </a:spcBef>
            </a:pPr>
            <a:r>
              <a:rPr lang="en-US" altLang="zh-CN" dirty="0"/>
              <a:t>	</a:t>
            </a:r>
            <a:r>
              <a:rPr lang="zh-CN" altLang="en-US" dirty="0"/>
              <a:t>Prefer simplicity (unfortunately, standards have accommodated complexity)</a:t>
            </a:r>
            <a:endParaRPr lang="en-US" altLang="zh-CN" dirty="0"/>
          </a:p>
          <a:p>
            <a:pPr marL="0" lvl="1">
              <a:spcBef>
                <a:spcPts val="600"/>
              </a:spcBef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Techniques: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 indent="0" fontAlgn="auto">
              <a:spcBef>
                <a:spcPts val="600"/>
              </a:spcBef>
            </a:pPr>
            <a:r>
              <a:rPr lang="en-US" altLang="zh-CN" sz="2000" dirty="0"/>
              <a:t>	</a:t>
            </a:r>
            <a:r>
              <a:rPr lang="zh-CN" altLang="en-US" dirty="0"/>
              <a:t>Code review, expert audits</a:t>
            </a:r>
            <a:endParaRPr lang="zh-CN" altLang="en-US" dirty="0"/>
          </a:p>
          <a:p>
            <a:pPr lvl="1" indent="0" fontAlgn="auto">
              <a:spcBef>
                <a:spcPts val="600"/>
              </a:spcBef>
            </a:pPr>
            <a:r>
              <a:rPr lang="en-US" altLang="zh-CN" dirty="0"/>
              <a:t>	</a:t>
            </a:r>
            <a:r>
              <a:rPr lang="zh-CN" altLang="en-US" dirty="0"/>
              <a:t>Testing (fuzzing)</a:t>
            </a:r>
            <a:endParaRPr lang="zh-CN" altLang="en-US" dirty="0"/>
          </a:p>
          <a:p>
            <a:pPr lvl="1" indent="0" fontAlgn="auto">
              <a:spcBef>
                <a:spcPts val="600"/>
              </a:spcBef>
            </a:pPr>
            <a:r>
              <a:rPr lang="en-US" altLang="zh-CN" dirty="0"/>
              <a:t>	</a:t>
            </a:r>
            <a:r>
              <a:rPr lang="zh-CN" altLang="en-US" dirty="0"/>
              <a:t>Static &amp; dynamic analysis (taint tracking, memory checking)</a:t>
            </a:r>
            <a:endParaRPr lang="zh-CN" altLang="en-US" dirty="0"/>
          </a:p>
          <a:p>
            <a:pPr lvl="1" indent="0" fontAlgn="auto">
              <a:spcBef>
                <a:spcPts val="600"/>
              </a:spcBef>
            </a:pPr>
            <a:r>
              <a:rPr lang="en-US" altLang="zh-CN" dirty="0"/>
              <a:t>	</a:t>
            </a:r>
            <a:r>
              <a:rPr lang="zh-CN" altLang="en-US" dirty="0"/>
              <a:t>Formal verification</a:t>
            </a:r>
            <a:endParaRPr lang="zh-CN" altLang="en-US" dirty="0"/>
          </a:p>
          <a:p>
            <a:pPr lvl="1" indent="0" fontAlgn="auto">
              <a:spcBef>
                <a:spcPts val="600"/>
              </a:spcBef>
            </a:pPr>
            <a:r>
              <a:rPr lang="en-US" altLang="zh-CN" dirty="0"/>
              <a:t>	</a:t>
            </a:r>
            <a:r>
              <a:rPr lang="zh-CN" altLang="en-US" dirty="0"/>
              <a:t>Defense in depth</a:t>
            </a:r>
            <a:endParaRPr lang="zh-CN" alt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1565" y="238125"/>
            <a:ext cx="9015095" cy="790575"/>
          </a:xfrm>
        </p:spPr>
        <p:txBody>
          <a:bodyPr>
            <a:normAutofit/>
          </a:bodyPr>
          <a:lstStyle/>
          <a:p>
            <a:r>
              <a:rPr lang="zh-CN" altLang="en-US"/>
              <a:t>Sandboxing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91565" y="1504950"/>
            <a:ext cx="9316720" cy="38481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fontAlgn="auto">
              <a:spcBef>
                <a:spcPts val="600"/>
              </a:spcBef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Defense in depth: assume application can be compromised; how can damage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 </a:t>
            </a: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be contained?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indent="0" fontAlgn="auto">
              <a:spcBef>
                <a:spcPts val="600"/>
              </a:spcBef>
            </a:pPr>
            <a:r>
              <a:rPr lang="en-US" altLang="zh-CN" sz="2000" dirty="0"/>
              <a:t>	</a:t>
            </a:r>
            <a:r>
              <a:rPr lang="zh-CN" altLang="en-US" sz="2000" dirty="0"/>
              <a:t>Examples:</a:t>
            </a:r>
            <a:endParaRPr lang="en-US" altLang="zh-CN" sz="2000" dirty="0"/>
          </a:p>
          <a:p>
            <a:pPr indent="0" fontAlgn="auto">
              <a:spcBef>
                <a:spcPts val="600"/>
              </a:spcBef>
            </a:pPr>
            <a:r>
              <a:rPr lang="en-US" altLang="zh-CN" sz="2000" dirty="0"/>
              <a:t>		</a:t>
            </a:r>
            <a:r>
              <a:rPr lang="zh-CN" altLang="en-US" dirty="0"/>
              <a:t>Java security manager</a:t>
            </a:r>
            <a:endParaRPr lang="zh-CN" altLang="en-US" dirty="0"/>
          </a:p>
          <a:p>
            <a:pPr lvl="1" indent="0" fontAlgn="auto">
              <a:spcBef>
                <a:spcPts val="600"/>
              </a:spcBef>
            </a:pPr>
            <a:r>
              <a:rPr lang="en-US" altLang="zh-CN" dirty="0"/>
              <a:t>		</a:t>
            </a:r>
            <a:r>
              <a:rPr lang="zh-CN" altLang="en-US" dirty="0"/>
              <a:t>Processes vs. threads (Chrome tabs)</a:t>
            </a:r>
            <a:endParaRPr lang="zh-CN" altLang="en-US" dirty="0"/>
          </a:p>
          <a:p>
            <a:pPr lvl="1" indent="0" fontAlgn="auto">
              <a:spcBef>
                <a:spcPts val="600"/>
              </a:spcBef>
            </a:pPr>
            <a:r>
              <a:rPr lang="en-US" altLang="zh-CN" dirty="0"/>
              <a:t>		</a:t>
            </a:r>
            <a:r>
              <a:rPr lang="zh-CN" altLang="en-US" dirty="0"/>
              <a:t>Containers and virtual machines</a:t>
            </a:r>
            <a:endParaRPr lang="zh-CN" alt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Minimizing Risks: Procedures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TextBox 3"/>
          <p:cNvSpPr txBox="1"/>
          <p:nvPr/>
        </p:nvSpPr>
        <p:spPr>
          <a:xfrm>
            <a:off x="572375" y="1223075"/>
            <a:ext cx="11381731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The operating procedures must anticipate security problems.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dirty="0"/>
          </a:p>
          <a:p>
            <a:r>
              <a:rPr lang="en-US" altLang="zh-CN" sz="2000" dirty="0">
                <a:solidFill>
                  <a:srgbClr val="FF0000"/>
                </a:solidFill>
              </a:rPr>
              <a:t>A senior member of staff must have responsibility for security. </a:t>
            </a:r>
            <a:endParaRPr lang="en-US" altLang="zh-CN" sz="2000" dirty="0">
              <a:solidFill>
                <a:srgbClr val="FF0000"/>
              </a:solidFill>
            </a:endParaRPr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Equipment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	</a:t>
            </a:r>
            <a:r>
              <a:rPr lang="en-US" altLang="zh-CN" sz="2000" dirty="0"/>
              <a:t>Keep system software up to date with latest security patches.</a:t>
            </a:r>
            <a:endParaRPr lang="en-US" altLang="zh-CN" sz="2000" dirty="0"/>
          </a:p>
          <a:p>
            <a:r>
              <a:rPr lang="en-US" altLang="zh-CN" sz="2000" dirty="0"/>
              <a:t>	Run up to date virus checking software.</a:t>
            </a:r>
            <a:endParaRPr lang="en-US" altLang="zh-CN" sz="2000" dirty="0"/>
          </a:p>
          <a:p>
            <a:pPr lvl="1"/>
            <a:r>
              <a:rPr lang="en-US" altLang="zh-CN" sz="2000" dirty="0"/>
              <a:t>	Rules about passwords, personal equipment, and non-standard software should be explicit. 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Routine checks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en-US" altLang="zh-CN" sz="2000" dirty="0"/>
              <a:t>	Run network security tests regularly.</a:t>
            </a:r>
            <a:endParaRPr lang="en-US" altLang="zh-CN" sz="2000" dirty="0"/>
          </a:p>
          <a:p>
            <a:pPr lvl="1"/>
            <a:r>
              <a:rPr lang="en-US" altLang="zh-CN" sz="2000" dirty="0"/>
              <a:t>	Run password checkers. </a:t>
            </a:r>
            <a:endParaRPr lang="en-US" altLang="zh-CN" sz="2000" dirty="0"/>
          </a:p>
          <a:p>
            <a:pPr lvl="1"/>
            <a:r>
              <a:rPr lang="en-US" altLang="zh-CN" sz="2000" dirty="0">
                <a:solidFill>
                  <a:srgbClr val="FF0000"/>
                </a:solidFill>
              </a:rPr>
              <a:t>	Example:</a:t>
            </a:r>
            <a:r>
              <a:rPr lang="en-US" altLang="zh-CN" sz="2000" dirty="0"/>
              <a:t> Carnegie Mellon 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Training	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	</a:t>
            </a:r>
            <a:r>
              <a:rPr lang="en-US" altLang="zh-CN" sz="2000" dirty="0"/>
              <a:t>Keep staff informed about security. Ask for their advice. 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42559" cy="790865"/>
          </a:xfrm>
        </p:spPr>
        <p:txBody>
          <a:bodyPr>
            <a:noAutofit/>
          </a:bodyPr>
          <a:lstStyle/>
          <a:p>
            <a:r>
              <a:rPr lang="en-US" altLang="zh-CN" dirty="0"/>
              <a:t>Operations: Recovery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3"/>
          <p:cNvSpPr txBox="1"/>
          <p:nvPr/>
        </p:nvSpPr>
        <p:spPr>
          <a:xfrm>
            <a:off x="572375" y="1074509"/>
            <a:ext cx="11381731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Sooner or later every system fails because of hardware, software, operational, or security problems. 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dirty="0"/>
          </a:p>
          <a:p>
            <a:r>
              <a:rPr lang="en-US" altLang="zh-CN" sz="2000" dirty="0"/>
              <a:t>	The operating procedures must anticipate loss of data and damage to systems, which can 	happen at any moment. 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Backup techniques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en-US" altLang="zh-CN" sz="2000" dirty="0"/>
              <a:t>	At regular intervals check point the system.</a:t>
            </a:r>
            <a:endParaRPr lang="en-US" altLang="zh-CN" sz="2000" dirty="0"/>
          </a:p>
          <a:p>
            <a:pPr lvl="1"/>
            <a:r>
              <a:rPr lang="en-US" altLang="zh-CN" sz="2000" dirty="0"/>
              <a:t>	At regular intervals backup all data.</a:t>
            </a:r>
            <a:endParaRPr lang="en-US" altLang="zh-CN" sz="2000" dirty="0"/>
          </a:p>
          <a:p>
            <a:pPr lvl="1"/>
            <a:r>
              <a:rPr lang="en-US" altLang="zh-CN" sz="2000" dirty="0"/>
              <a:t>	Keep full audit trails of all important transactions 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Recovery software 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dirty="0"/>
              <a:t>	Recovery software is complex. It needs to be tested regularly in realistic situations.</a:t>
            </a:r>
            <a:endParaRPr lang="en-US" altLang="zh-CN" sz="2000" dirty="0"/>
          </a:p>
          <a:p>
            <a:pPr lvl="1"/>
            <a:r>
              <a:rPr lang="en-US" altLang="zh-CN" sz="2000" dirty="0"/>
              <a:t>	A good practice is to rebuild the entire system, but this may not be possible with large 	collections of data.</a:t>
            </a:r>
            <a:endParaRPr lang="en-US" altLang="zh-CN" sz="2000" dirty="0"/>
          </a:p>
          <a:p>
            <a:pPr lvl="1"/>
            <a:r>
              <a:rPr lang="en-US" altLang="zh-CN" sz="2000" dirty="0">
                <a:solidFill>
                  <a:srgbClr val="FF0000"/>
                </a:solidFill>
              </a:rPr>
              <a:t>Use Docker!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013197" y="237834"/>
            <a:ext cx="9042559" cy="790865"/>
          </a:xfrm>
        </p:spPr>
        <p:txBody>
          <a:bodyPr>
            <a:noAutofit/>
          </a:bodyPr>
          <a:lstStyle/>
          <a:p>
            <a:r>
              <a:rPr lang="en-US" altLang="zh-CN" sz="3200" dirty="0"/>
              <a:t>Security in Development Process</a:t>
            </a:r>
            <a:endParaRPr lang="en-US" sz="3200" dirty="0"/>
          </a:p>
        </p:txBody>
      </p:sp>
      <p:sp>
        <p:nvSpPr>
          <p:cNvPr id="2" name="TextBox 3"/>
          <p:cNvSpPr txBox="1"/>
          <p:nvPr/>
        </p:nvSpPr>
        <p:spPr>
          <a:xfrm>
            <a:off x="810269" y="1553894"/>
            <a:ext cx="1138173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Conclusion 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dirty="0"/>
          </a:p>
          <a:p>
            <a:pPr lvl="1"/>
            <a:r>
              <a:rPr lang="en-US" altLang="zh-CN" sz="2000" dirty="0"/>
              <a:t>You can never guarantee that a system is completely secure, but you can do a great deal to minimize the risks and to be able to recover from problems.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335087" y="3977885"/>
            <a:ext cx="9521825" cy="644144"/>
          </a:xfrm>
          <a:prstGeom prst="rect">
            <a:avLst/>
          </a:prstGeom>
        </p:spPr>
        <p:txBody>
          <a:bodyPr wrap="square">
            <a:normAutofit fontScale="92500" lnSpcReduction="10000"/>
          </a:bodyPr>
          <a:lstStyle/>
          <a:p>
            <a:pPr algn="ctr"/>
            <a:r>
              <a:rPr lang="en-US" altLang="zh-CN" sz="4000" b="1" dirty="0">
                <a:solidFill>
                  <a:schemeClr val="accent1"/>
                </a:solidFill>
                <a:latin typeface="Helvetica" pitchFamily="2" charset="0"/>
                <a:cs typeface="+mn-ea"/>
              </a:rPr>
              <a:t>Performance</a:t>
            </a:r>
            <a:endParaRPr lang="zh-CN" altLang="en-US" sz="4000" b="1" dirty="0">
              <a:solidFill>
                <a:schemeClr val="accent1"/>
              </a:solidFill>
              <a:latin typeface="Helvetica" pitchFamily="2" charset="0"/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819048" y="1319889"/>
            <a:ext cx="2553904" cy="2646878"/>
            <a:chOff x="5865211" y="1319889"/>
            <a:chExt cx="2553904" cy="2646878"/>
          </a:xfrm>
        </p:grpSpPr>
        <p:sp>
          <p:nvSpPr>
            <p:cNvPr id="2" name="文本框 1"/>
            <p:cNvSpPr txBox="1"/>
            <p:nvPr/>
          </p:nvSpPr>
          <p:spPr>
            <a:xfrm>
              <a:off x="5865211" y="1319889"/>
              <a:ext cx="2553904" cy="26468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600" dirty="0">
                  <a:solidFill>
                    <a:schemeClr val="accent1"/>
                  </a:solidFill>
                  <a:latin typeface="Helvetica" pitchFamily="2" charset="0"/>
                  <a:cs typeface="+mn-ea"/>
                  <a:sym typeface="+mn-lt"/>
                </a:rPr>
                <a:t>02</a:t>
              </a:r>
              <a:endParaRPr lang="zh-CN" altLang="en-US" sz="16600" dirty="0">
                <a:solidFill>
                  <a:schemeClr val="accent1"/>
                </a:solidFill>
                <a:latin typeface="Helvetica" pitchFamily="2" charset="0"/>
                <a:cs typeface="+mn-ea"/>
                <a:sym typeface="+mn-lt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5865211" y="2574748"/>
              <a:ext cx="2553904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2400" dirty="0">
                  <a:solidFill>
                    <a:schemeClr val="accent1"/>
                  </a:solidFill>
                  <a:latin typeface="Helvetica" pitchFamily="2" charset="0"/>
                  <a:cs typeface="Arial" panose="020B0604020202090204" pitchFamily="34" charset="0"/>
                  <a:sym typeface="+mn-lt"/>
                </a:rPr>
                <a:t>PART</a:t>
              </a:r>
              <a:r>
                <a:rPr lang="zh-CN" altLang="en-US" sz="2400" dirty="0">
                  <a:solidFill>
                    <a:schemeClr val="accent1"/>
                  </a:solidFill>
                  <a:latin typeface="Helvetica" pitchFamily="2" charset="0"/>
                  <a:cs typeface="Arial" panose="020B0604020202090204" pitchFamily="34" charset="0"/>
                  <a:sym typeface="+mn-lt"/>
                </a:rPr>
                <a:t> </a:t>
              </a:r>
              <a:r>
                <a:rPr lang="en-US" altLang="zh-CN" sz="2400" dirty="0">
                  <a:solidFill>
                    <a:schemeClr val="accent1"/>
                  </a:solidFill>
                  <a:latin typeface="Helvetica" pitchFamily="2" charset="0"/>
                  <a:cs typeface="Arial" panose="020B0604020202090204" pitchFamily="34" charset="0"/>
                  <a:sym typeface="+mn-lt"/>
                </a:rPr>
                <a:t>TWO </a:t>
              </a:r>
              <a:endParaRPr lang="zh-CN" altLang="en-US" sz="2400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8814745" cy="790865"/>
          </a:xfrm>
        </p:spPr>
        <p:txBody>
          <a:bodyPr>
            <a:noAutofit/>
          </a:bodyPr>
          <a:lstStyle/>
          <a:p>
            <a:r>
              <a:rPr lang="en-US" altLang="zh-CN" dirty="0"/>
              <a:t>Performance of Computer Systems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375" y="2489271"/>
            <a:ext cx="11163995" cy="1322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Performance is important 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dirty="0"/>
              <a:t>	A single bottleneck can slow down an entire system </a:t>
            </a:r>
            <a:endParaRPr lang="en-US" altLang="zh-CN" sz="2000" dirty="0"/>
          </a:p>
          <a:p>
            <a:r>
              <a:rPr lang="en-US" altLang="zh-CN" sz="2000" dirty="0"/>
              <a:t>	Future loads may be much greater than predicted</a:t>
            </a:r>
            <a:endParaRPr lang="en-US" altLang="zh-CN" sz="2000" dirty="0"/>
          </a:p>
          <a:p>
            <a:pPr marL="457200" lvl="1" indent="457200"/>
            <a:r>
              <a:rPr lang="en-US" altLang="zh-CN" sz="2000" b="1" dirty="0">
                <a:solidFill>
                  <a:srgbClr val="C00000"/>
                </a:solidFill>
              </a:rPr>
              <a:t>Performance is a straightforward KPI！</a:t>
            </a:r>
            <a:endParaRPr lang="en-US" altLang="zh-CN" sz="20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When Performance Matters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375" y="1723925"/>
            <a:ext cx="11163995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Real time systems </a:t>
            </a:r>
            <a:r>
              <a:rPr lang="en-US" altLang="zh-CN" sz="2000" dirty="0"/>
              <a:t>when computation must be fast enough to support the service provided, e.g., fly-by wire control systems have tight response time requirements.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Very large computations </a:t>
            </a:r>
            <a:r>
              <a:rPr lang="en-US" altLang="zh-CN" sz="2000" dirty="0"/>
              <a:t>where elapsed time may be measured in days, e.g., calculation of weather forecasts must be fast enough for the forecasts to be useful.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User interfaces </a:t>
            </a:r>
            <a:r>
              <a:rPr lang="en-US" altLang="zh-CN" sz="2000" dirty="0"/>
              <a:t>where humans have high expectations, e.g., mouse tracking must appear instantaneous.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Transaction processing </a:t>
            </a:r>
            <a:r>
              <a:rPr lang="en-US" altLang="zh-CN" sz="2000" dirty="0"/>
              <a:t>where staff need to be productive and customers not annoyed by delays, e.g., High Frequency Trading</a:t>
            </a:r>
            <a:endParaRPr lang="en-US" altLang="zh-CN" sz="2000" dirty="0"/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Resource constrained systems </a:t>
            </a:r>
            <a:r>
              <a:rPr lang="en-US" altLang="zh-CN" sz="2000" dirty="0">
                <a:latin typeface="Helvetica" pitchFamily="2" charset="0"/>
                <a:cs typeface="Arial" panose="020B0604020202090204" pitchFamily="34" charset="0"/>
              </a:rPr>
              <a:t>where small devices still need to do big things</a:t>
            </a:r>
            <a:endParaRPr lang="en-US" altLang="zh-CN" sz="2000" dirty="0"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315937" cy="790865"/>
          </a:xfrm>
        </p:spPr>
        <p:txBody>
          <a:bodyPr>
            <a:normAutofit/>
          </a:bodyPr>
          <a:lstStyle/>
          <a:p>
            <a:r>
              <a:rPr lang="en-US" altLang="zh-CN" dirty="0"/>
              <a:t>High-Performance Computing</a:t>
            </a:r>
            <a:endParaRPr lang="en-US" sz="5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375" y="1941825"/>
            <a:ext cx="1151452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High-performance computing: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en-US" altLang="zh-CN" sz="2000" dirty="0"/>
              <a:t>	Large data collections with many transactions (e.g., Taobao)</a:t>
            </a:r>
            <a:endParaRPr lang="en-US" altLang="zh-CN" sz="2000" dirty="0"/>
          </a:p>
          <a:p>
            <a:pPr lvl="1"/>
            <a:r>
              <a:rPr lang="en-US" altLang="zh-CN" sz="2000" dirty="0"/>
              <a:t>	Huge numbers of users (e.g., TikTok)</a:t>
            </a:r>
            <a:endParaRPr lang="en-US" altLang="zh-CN" sz="2000" dirty="0"/>
          </a:p>
          <a:p>
            <a:pPr lvl="1"/>
            <a:r>
              <a:rPr lang="en-US" altLang="zh-CN" sz="2000" dirty="0"/>
              <a:t>	Large computations (e.g., weather forecasting) </a:t>
            </a: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FF0000"/>
                </a:solidFill>
              </a:rPr>
              <a:t>Must balance cost of hardware against cost of software development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pPr lvl="1"/>
            <a:r>
              <a:rPr lang="en-US" altLang="zh-CN" sz="2000" dirty="0"/>
              <a:t>	Some configurations are very difficult to program and debug</a:t>
            </a:r>
            <a:endParaRPr lang="en-US" altLang="zh-CN" sz="2000" dirty="0"/>
          </a:p>
          <a:p>
            <a:pPr lvl="1"/>
            <a:r>
              <a:rPr lang="en-US" altLang="zh-CN" sz="2000" dirty="0"/>
              <a:t>	Sometimes it is possible to isolate applications programmers from the system complexities 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5" y="237834"/>
            <a:ext cx="8703194" cy="790865"/>
          </a:xfrm>
        </p:spPr>
        <p:txBody>
          <a:bodyPr>
            <a:normAutofit/>
          </a:bodyPr>
          <a:lstStyle/>
          <a:p>
            <a:r>
              <a:rPr lang="en-US" altLang="zh-CN" sz="2800" dirty="0"/>
              <a:t>Performance Challenges for all Software Systems</a:t>
            </a:r>
            <a:endParaRPr lang="en-US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14002" y="2167937"/>
            <a:ext cx="1116399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Tasks</a:t>
            </a:r>
            <a:r>
              <a:rPr lang="en-US" altLang="zh-CN" sz="2000" dirty="0"/>
              <a:t> </a:t>
            </a:r>
            <a:endParaRPr lang="en-US" altLang="zh-CN" sz="2000" dirty="0"/>
          </a:p>
          <a:p>
            <a:pPr marL="914400" lvl="1" indent="-457200">
              <a:buAutoNum type="arabicPeriod"/>
            </a:pPr>
            <a:r>
              <a:rPr lang="en-US" altLang="zh-CN" sz="2000" dirty="0"/>
              <a:t>Predict performance problems before a system is implemented. </a:t>
            </a:r>
            <a:endParaRPr lang="en-US" altLang="zh-CN" sz="2000" dirty="0"/>
          </a:p>
          <a:p>
            <a:pPr marL="914400" lvl="1" indent="-457200">
              <a:buAutoNum type="arabicPeriod"/>
            </a:pPr>
            <a:r>
              <a:rPr lang="en-US" altLang="zh-CN" sz="2000" dirty="0"/>
              <a:t>Design and build a system that is not vulnerable to performance problems. </a:t>
            </a:r>
            <a:endParaRPr lang="en-US" altLang="zh-CN" sz="2000" dirty="0"/>
          </a:p>
          <a:p>
            <a:pPr marL="914400" lvl="1" indent="-457200">
              <a:buAutoNum type="arabicPeriod"/>
            </a:pPr>
            <a:r>
              <a:rPr lang="en-US" altLang="zh-CN" sz="2000" dirty="0"/>
              <a:t>Identify causes and fix problems after a system is implemented. 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en-US" altLang="zh-CN" sz="2800" dirty="0"/>
              <a:t>Performance Challenges for all Software Systems</a:t>
            </a:r>
            <a:endParaRPr lang="en-US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650432" y="1879420"/>
            <a:ext cx="11383913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Basic techniques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	Understand</a:t>
            </a:r>
            <a:r>
              <a:rPr lang="en-US" altLang="zh-CN" sz="2000" dirty="0"/>
              <a:t> how the underlying 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hardware </a:t>
            </a:r>
            <a:r>
              <a:rPr lang="en-US" altLang="zh-CN" sz="2000" dirty="0"/>
              <a:t>and 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networks </a:t>
            </a:r>
            <a:r>
              <a:rPr lang="en-US" altLang="zh-CN" sz="2000" dirty="0"/>
              <a:t>components interact with the 	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software</a:t>
            </a:r>
            <a:r>
              <a:rPr lang="en-US" altLang="zh-CN" sz="2000" dirty="0"/>
              <a:t> when executing the system.</a:t>
            </a:r>
            <a:endParaRPr lang="en-US" altLang="zh-CN" sz="2000" dirty="0"/>
          </a:p>
          <a:p>
            <a:pPr lvl="1"/>
            <a:r>
              <a:rPr lang="en-US" altLang="zh-CN" sz="2000" dirty="0"/>
              <a:t>	For each subsystem calculate the 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capacity</a:t>
            </a:r>
            <a:r>
              <a:rPr lang="en-US" altLang="zh-CN" sz="2000" dirty="0"/>
              <a:t> and 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load</a:t>
            </a:r>
            <a:r>
              <a:rPr lang="en-US" altLang="zh-CN" sz="2000" dirty="0"/>
              <a:t>. The capacity is a combination of the 	hardware and the software architecture.</a:t>
            </a:r>
            <a:endParaRPr lang="en-US" altLang="zh-CN" sz="2000" dirty="0"/>
          </a:p>
          <a:p>
            <a:pPr lvl="1"/>
            <a:r>
              <a:rPr lang="en-US" altLang="zh-CN" sz="2000" dirty="0"/>
              <a:t>	Identify subsystems where the load is near 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peak capacity. 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dirty="0"/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Example 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en-US" altLang="zh-CN" sz="2000" dirty="0"/>
              <a:t>	Calculations indicate that the capacity of a search system is 1,000 searches per second. 	What is the anticipated peak demand? 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Interactions between Hardware and Software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83526" y="1732408"/>
            <a:ext cx="1116399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Examples</a:t>
            </a:r>
            <a:endParaRPr lang="en-US" altLang="zh-CN" sz="2000" dirty="0"/>
          </a:p>
          <a:p>
            <a:pPr lvl="1"/>
            <a:r>
              <a:rPr lang="en-US" altLang="zh-CN" sz="2000" dirty="0"/>
              <a:t>	In a distributed system, what messages pass between nodes?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endParaRPr lang="en-US" altLang="zh-CN" sz="2000" dirty="0"/>
          </a:p>
          <a:p>
            <a:pPr lvl="1"/>
            <a:r>
              <a:rPr lang="en-US" altLang="zh-CN" sz="2000" dirty="0"/>
              <a:t>	How many times must the system read from disk for a single transaction?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endParaRPr lang="en-US" altLang="zh-CN" sz="2000" dirty="0"/>
          </a:p>
          <a:p>
            <a:pPr lvl="1"/>
            <a:r>
              <a:rPr lang="en-US" altLang="zh-CN" sz="2000" dirty="0"/>
              <a:t>	What buffering and caching is used?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endParaRPr lang="en-US" altLang="zh-CN" sz="2000" dirty="0"/>
          </a:p>
          <a:p>
            <a:pPr lvl="1"/>
            <a:r>
              <a:rPr lang="en-US" altLang="zh-CN" sz="2000" dirty="0"/>
              <a:t>	Are operations in parallel or sequential?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endParaRPr lang="en-US" altLang="zh-CN" sz="2000" dirty="0"/>
          </a:p>
          <a:p>
            <a:pPr lvl="1"/>
            <a:r>
              <a:rPr lang="en-US" altLang="zh-CN" sz="2000" dirty="0"/>
              <a:t>	Are other systems competing for a shared resource (e.g., a network or server farm)?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endParaRPr lang="en-US" altLang="zh-CN" sz="2000" dirty="0"/>
          </a:p>
          <a:p>
            <a:pPr lvl="1"/>
            <a:r>
              <a:rPr lang="en-US" altLang="zh-CN" sz="2000" dirty="0"/>
              <a:t>	How does the operating system schedule tasks? 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Autofit/>
          </a:bodyPr>
          <a:lstStyle/>
          <a:p>
            <a:r>
              <a:rPr lang="en-US" altLang="zh-CN" dirty="0"/>
              <a:t>Look for Bottlenecks: CPU Performance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375" y="1953515"/>
            <a:ext cx="11163995" cy="3169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CPU performance is a limiting constraint in certain domains, e.g.: 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en-US" altLang="zh-CN" sz="2000" dirty="0"/>
              <a:t>	large numerical calculation</a:t>
            </a:r>
            <a:endParaRPr lang="en-US" altLang="zh-CN" sz="2000" dirty="0"/>
          </a:p>
          <a:p>
            <a:pPr lvl="1"/>
            <a:endParaRPr lang="en-US" altLang="zh-CN" sz="2000" dirty="0"/>
          </a:p>
          <a:p>
            <a:pPr lvl="1"/>
            <a:r>
              <a:rPr lang="en-US" altLang="zh-CN" sz="2000" dirty="0"/>
              <a:t>	mathematical computation (e.g., feature engineering)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endParaRPr lang="en-US" altLang="zh-CN" sz="2000" dirty="0"/>
          </a:p>
          <a:p>
            <a:pPr lvl="1"/>
            <a:r>
              <a:rPr lang="en-US" altLang="zh-CN" sz="2000" dirty="0"/>
              <a:t>	compression and encryption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endParaRPr lang="en-US" altLang="zh-CN" sz="2000" dirty="0"/>
          </a:p>
          <a:p>
            <a:pPr lvl="1"/>
            <a:r>
              <a:rPr lang="en-US" altLang="zh-CN" sz="2000" dirty="0"/>
              <a:t>	multimedia (e.g., video)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endParaRPr lang="en-US" altLang="zh-CN" sz="2000" dirty="0"/>
          </a:p>
          <a:p>
            <a:pPr lvl="1"/>
            <a:r>
              <a:rPr lang="en-US" altLang="zh-CN" sz="2000" dirty="0"/>
              <a:t>	perception (e.g., image processing) 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en-US" altLang="zh-CN" dirty="0"/>
              <a:t>Look for Bottlenecks</a:t>
            </a:r>
            <a:endParaRPr lang="en-US" sz="6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375" y="1738113"/>
            <a:ext cx="11619625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C00000"/>
                </a:solidFill>
              </a:rPr>
              <a:t>BUT</a:t>
            </a:r>
            <a:r>
              <a:rPr lang="en-US" altLang="zh-CN" sz="2000" dirty="0"/>
              <a:t>, CPU performance is usually not the limiting factor, as multi-core machines are common today 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Hardware bottlenecks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en-US" altLang="zh-CN" sz="2000" dirty="0"/>
              <a:t>	Reading data from disk</a:t>
            </a:r>
            <a:endParaRPr lang="en-US" altLang="zh-CN" sz="2000" dirty="0"/>
          </a:p>
          <a:p>
            <a:pPr lvl="1"/>
            <a:r>
              <a:rPr lang="en-US" altLang="zh-CN" sz="2000" dirty="0"/>
              <a:t>	Shortage of memory (including paging)</a:t>
            </a:r>
            <a:endParaRPr lang="en-US" altLang="zh-CN" sz="2000" dirty="0"/>
          </a:p>
          <a:p>
            <a:pPr lvl="1"/>
            <a:r>
              <a:rPr lang="en-US" altLang="zh-CN" sz="2000" dirty="0"/>
              <a:t>	Moving data from memory to CPU</a:t>
            </a:r>
            <a:endParaRPr lang="en-US" altLang="zh-CN" sz="2000" dirty="0"/>
          </a:p>
          <a:p>
            <a:pPr lvl="1"/>
            <a:r>
              <a:rPr lang="en-US" altLang="zh-CN" sz="2000" dirty="0"/>
              <a:t>	Network capacity 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Inefficient software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en-US" altLang="zh-CN" sz="2000" dirty="0"/>
              <a:t>	Algorithms that do not scale well (e.g., in legacy systems)</a:t>
            </a:r>
            <a:endParaRPr lang="en-US" altLang="zh-CN" sz="2000" dirty="0"/>
          </a:p>
          <a:p>
            <a:pPr lvl="1"/>
            <a:r>
              <a:rPr lang="en-US" altLang="zh-CN" sz="2000" dirty="0"/>
              <a:t>	Parallel and sequential processing 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en-US" altLang="zh-CN" dirty="0"/>
              <a:t>Look for Bottlenecks: Utilization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375" y="1527293"/>
            <a:ext cx="11163995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Utilization is the proportion of the capacity of a service that is used </a:t>
            </a:r>
            <a:r>
              <a:rPr lang="en-US" altLang="zh-CN" sz="2000" b="1" dirty="0">
                <a:solidFill>
                  <a:srgbClr val="5377A1"/>
                </a:solidFill>
                <a:latin typeface="Helvetica" pitchFamily="2" charset="0"/>
                <a:cs typeface="Arial" panose="020B0604020202090204" pitchFamily="34" charset="0"/>
              </a:rPr>
              <a:t>on average</a:t>
            </a:r>
            <a:r>
              <a:rPr lang="en-US" altLang="zh-CN" sz="2000" dirty="0"/>
              <a:t>. </a:t>
            </a: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When the utilization of any hardware component exceeds 0.3, be prepared for congestion. 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Peak loads and temporary increases in demand can be much greater than the average.</a:t>
            </a:r>
            <a:endParaRPr lang="en-US" altLang="zh-CN" sz="2000" dirty="0"/>
          </a:p>
          <a:p>
            <a:endParaRPr lang="en-US" altLang="zh-CN" sz="2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5603" y="2184578"/>
            <a:ext cx="6498166" cy="1081652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en-US" altLang="zh-CN" dirty="0"/>
              <a:t>Timescale of Different Components</a:t>
            </a:r>
            <a:endParaRPr lang="en-US" sz="6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2949" y="1438505"/>
            <a:ext cx="9406102" cy="31383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74480" y="5080713"/>
            <a:ext cx="8443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Actual performance may be considerably less than the theoretical peak </a:t>
            </a:r>
            <a:endParaRPr lang="zh-CN" altLang="en-US" sz="2000" b="1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en-US" altLang="zh-CN" dirty="0"/>
              <a:t>Predicting System Performance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375" y="2087610"/>
            <a:ext cx="1116399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altLang="zh-CN" sz="2000" dirty="0"/>
              <a:t>Direct measurement on subsystem (benchmark) </a:t>
            </a:r>
            <a:endParaRPr lang="en-US" altLang="zh-CN" sz="2000" dirty="0"/>
          </a:p>
          <a:p>
            <a:pPr marL="457200" indent="-457200">
              <a:buAutoNum type="arabicPeriod"/>
            </a:pPr>
            <a:endParaRPr lang="en-US" altLang="zh-CN" sz="2000" dirty="0"/>
          </a:p>
          <a:p>
            <a:pPr marL="457200" indent="-457200">
              <a:buAutoNum type="arabicPeriod"/>
            </a:pPr>
            <a:r>
              <a:rPr lang="en-US" altLang="zh-CN" sz="2000" dirty="0"/>
              <a:t>Mathematical models (queueing theory) </a:t>
            </a:r>
            <a:endParaRPr lang="en-US" altLang="zh-CN" sz="2000" dirty="0"/>
          </a:p>
          <a:p>
            <a:pPr marL="457200" indent="-457200">
              <a:buAutoNum type="arabicPeriod"/>
            </a:pPr>
            <a:endParaRPr lang="en-US" altLang="zh-CN" sz="2000" dirty="0"/>
          </a:p>
          <a:p>
            <a:pPr marL="457200" indent="-457200">
              <a:buAutoNum type="arabicPeriod"/>
            </a:pPr>
            <a:r>
              <a:rPr lang="en-US" altLang="zh-CN" sz="2000" dirty="0"/>
              <a:t>Simulation </a:t>
            </a:r>
            <a:endParaRPr lang="en-US" altLang="zh-CN" sz="2000" dirty="0"/>
          </a:p>
          <a:p>
            <a:pPr marL="457200" indent="-457200">
              <a:buAutoNum type="arabicPeriod"/>
            </a:pPr>
            <a:endParaRPr lang="en-US" altLang="zh-CN" sz="2000" dirty="0"/>
          </a:p>
          <a:p>
            <a:pPr marL="457200" indent="-457200">
              <a:buAutoNum type="arabicPeriod"/>
            </a:pPr>
            <a:endParaRPr lang="en-US" altLang="zh-CN" sz="2000" dirty="0"/>
          </a:p>
          <a:p>
            <a:r>
              <a:rPr lang="en-US" altLang="zh-CN" sz="2000" dirty="0">
                <a:solidFill>
                  <a:srgbClr val="FF0000"/>
                </a:solidFill>
              </a:rPr>
              <a:t>All require detailed understanding of the interaction between software and hardware systems. 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en-US" altLang="zh-CN" dirty="0"/>
              <a:t>Mathematical Models</a:t>
            </a:r>
            <a:endParaRPr lang="en-US" sz="6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375" y="1981611"/>
            <a:ext cx="11163995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Queueing theory 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Good estimates of congestion can be made for single-server queues with: 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en-US" altLang="zh-CN" sz="2000" dirty="0"/>
              <a:t>	Arrivals that are independent, random events (Poisson process)</a:t>
            </a:r>
            <a:endParaRPr lang="en-US" altLang="zh-CN" sz="2000" dirty="0"/>
          </a:p>
          <a:p>
            <a:pPr lvl="1"/>
            <a:r>
              <a:rPr lang="en-US" altLang="zh-CN" sz="2000" dirty="0"/>
              <a:t>	Service times that follow families of distributions (e.g., negative exponential, gamma)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Many of the results can be extended to multi-server queues. 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i="1" dirty="0"/>
              <a:t>Much of the early work in queueing theory by Erlang was to model congestion in telephone networks.</a:t>
            </a:r>
            <a:endParaRPr lang="en-US" altLang="zh-CN" sz="2000" i="1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en-US" altLang="zh-CN" dirty="0"/>
              <a:t>Mathematical Models: Queues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3"/>
          <p:cNvSpPr txBox="1"/>
          <p:nvPr/>
        </p:nvSpPr>
        <p:spPr>
          <a:xfrm>
            <a:off x="572375" y="4480187"/>
            <a:ext cx="1110908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Examples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Requests to read from a disk (with no buffering or other optimization)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Customers waiting for check in at an airport, with a single check-in desk 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7518" y="2340888"/>
            <a:ext cx="7818798" cy="1394581"/>
          </a:xfrm>
          <a:prstGeom prst="rect">
            <a:avLst/>
          </a:prstGeom>
        </p:spPr>
      </p:pic>
      <p:sp>
        <p:nvSpPr>
          <p:cNvPr id="5" name="TextBox 3"/>
          <p:cNvSpPr txBox="1"/>
          <p:nvPr/>
        </p:nvSpPr>
        <p:spPr>
          <a:xfrm>
            <a:off x="4765490" y="1473217"/>
            <a:ext cx="26610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Single server queue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en-US" altLang="zh-CN" dirty="0"/>
              <a:t>Queues</a:t>
            </a:r>
            <a:endParaRPr lang="en-US" sz="5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72375" y="4942099"/>
            <a:ext cx="1110908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Examples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Tasks being processed on a computer with several processors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Customers waiting for check in at an airport, with several check-in desks 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sp>
        <p:nvSpPr>
          <p:cNvPr id="7" name="TextBox 3"/>
          <p:cNvSpPr txBox="1"/>
          <p:nvPr/>
        </p:nvSpPr>
        <p:spPr>
          <a:xfrm>
            <a:off x="4765490" y="1322391"/>
            <a:ext cx="26610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Multi-server queue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1"/>
          <a:srcRect b="2393"/>
          <a:stretch>
            <a:fillRect/>
          </a:stretch>
        </p:blipFill>
        <p:spPr>
          <a:xfrm>
            <a:off x="2178980" y="1884405"/>
            <a:ext cx="7834039" cy="2923264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en-US" altLang="zh-CN" dirty="0"/>
              <a:t>Techniques: Simulation</a:t>
            </a:r>
            <a:endParaRPr lang="en-US" sz="6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572375" y="1467066"/>
            <a:ext cx="11163995" cy="4093428"/>
            <a:chOff x="572375" y="1467066"/>
            <a:chExt cx="11163995" cy="4093428"/>
          </a:xfrm>
        </p:grpSpPr>
        <p:sp>
          <p:nvSpPr>
            <p:cNvPr id="7" name="TextBox 3"/>
            <p:cNvSpPr txBox="1"/>
            <p:nvPr/>
          </p:nvSpPr>
          <p:spPr>
            <a:xfrm>
              <a:off x="572375" y="1467066"/>
              <a:ext cx="11163995" cy="40934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000" b="1" dirty="0">
                  <a:solidFill>
                    <a:srgbClr val="515223"/>
                  </a:solidFill>
                  <a:latin typeface="Helvetica" pitchFamily="2" charset="0"/>
                  <a:cs typeface="Arial" panose="020B0604020202090204" pitchFamily="34" charset="0"/>
                </a:rPr>
                <a:t>Build a computer program that models the system as set of states and events. </a:t>
              </a:r>
              <a:endPara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endParaRPr>
            </a:p>
            <a:p>
              <a:endPara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endParaRPr>
            </a:p>
            <a:p>
              <a:endParaRPr lang="en-US" altLang="zh-CN" sz="2000" dirty="0"/>
            </a:p>
            <a:p>
              <a:endParaRPr lang="en-US" altLang="zh-CN" sz="2000" dirty="0"/>
            </a:p>
            <a:p>
              <a:endParaRPr lang="en-US" altLang="zh-CN" sz="2000" dirty="0"/>
            </a:p>
            <a:p>
              <a:endParaRPr lang="en-US" altLang="zh-CN" sz="2000" dirty="0"/>
            </a:p>
            <a:p>
              <a:endParaRPr lang="en-US" altLang="zh-CN" sz="2000" dirty="0"/>
            </a:p>
            <a:p>
              <a:r>
                <a:rPr lang="en-US" altLang="zh-CN" sz="2000" b="1" dirty="0">
                  <a:solidFill>
                    <a:srgbClr val="515223"/>
                  </a:solidFill>
                  <a:latin typeface="Helvetica" pitchFamily="2" charset="0"/>
                  <a:cs typeface="Arial" panose="020B0604020202090204" pitchFamily="34" charset="0"/>
                </a:rPr>
                <a:t>Discrete time simulation: </a:t>
              </a:r>
              <a:r>
                <a:rPr lang="en-US" altLang="zh-CN" sz="2000" dirty="0"/>
                <a:t>Time is advanced in fixed steps (e.g., 1 millisecond) </a:t>
              </a:r>
              <a:endParaRPr lang="en-US" altLang="zh-CN" sz="2000" dirty="0"/>
            </a:p>
            <a:p>
              <a:endParaRPr lang="en-US" altLang="zh-CN" sz="2000" dirty="0"/>
            </a:p>
            <a:p>
              <a:r>
                <a:rPr lang="en-US" altLang="zh-CN" sz="2000" b="1" dirty="0">
                  <a:solidFill>
                    <a:srgbClr val="515223"/>
                  </a:solidFill>
                  <a:latin typeface="Helvetica" pitchFamily="2" charset="0"/>
                  <a:cs typeface="Arial" panose="020B0604020202090204" pitchFamily="34" charset="0"/>
                </a:rPr>
                <a:t>Next event simulation: </a:t>
              </a:r>
              <a:r>
                <a:rPr lang="en-US" altLang="zh-CN" sz="2000" dirty="0"/>
                <a:t>Time is advanced to next event </a:t>
              </a:r>
              <a:endParaRPr lang="en-US" altLang="zh-CN" sz="2000" dirty="0"/>
            </a:p>
            <a:p>
              <a:endParaRPr lang="en-US" altLang="zh-CN" sz="2000" dirty="0"/>
            </a:p>
            <a:p>
              <a:r>
                <a:rPr lang="en-US" altLang="zh-CN" sz="2000" dirty="0"/>
                <a:t>Events can be simulated by random variables (e.g., arrival of next customer, completion of disk latency), or by using data collected from an operational system. </a:t>
              </a:r>
              <a:endPara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endParaRPr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61297" y="2058176"/>
              <a:ext cx="5993354" cy="126948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4643" y="2153601"/>
            <a:ext cx="6582713" cy="4202748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Behavior of Queues: Utilization</a:t>
            </a:r>
            <a:endParaRPr lang="en-US" sz="6000" dirty="0"/>
          </a:p>
        </p:txBody>
      </p:sp>
      <p:sp>
        <p:nvSpPr>
          <p:cNvPr id="2" name="TextBox 3"/>
          <p:cNvSpPr txBox="1"/>
          <p:nvPr/>
        </p:nvSpPr>
        <p:spPr>
          <a:xfrm>
            <a:off x="5252224" y="972868"/>
            <a:ext cx="584852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rgbClr val="FF0000"/>
                </a:solidFill>
              </a:rPr>
              <a:t>The exact shape of the curve depends on the type of queue (e.g., single server) and the statistical distributions of arrival times and service times.</a:t>
            </a:r>
            <a:endParaRPr lang="en-US" altLang="zh-CN" sz="1800" kern="1200" dirty="0">
              <a:solidFill>
                <a:srgbClr val="FF0000"/>
              </a:solidFill>
              <a:effectLst/>
              <a:latin typeface="Arial" panose="020B0604020202090204" pitchFamily="34" charset="0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en-US" altLang="zh-CN" dirty="0"/>
              <a:t>Measurements on Operational Systems</a:t>
            </a:r>
            <a:endParaRPr lang="en-US" sz="6000" dirty="0"/>
          </a:p>
        </p:txBody>
      </p:sp>
      <p:sp>
        <p:nvSpPr>
          <p:cNvPr id="5" name="TextBox 3"/>
          <p:cNvSpPr txBox="1"/>
          <p:nvPr/>
        </p:nvSpPr>
        <p:spPr>
          <a:xfrm>
            <a:off x="572375" y="1980021"/>
            <a:ext cx="1116399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Measurements on operational systems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en-US" altLang="zh-CN" sz="2000" dirty="0"/>
              <a:t>	Benchmarks: Run system on standard problem sets, sample inputs, or a simulated load 	on the system. </a:t>
            </a:r>
            <a:endParaRPr lang="en-US" altLang="zh-CN" sz="2000" dirty="0"/>
          </a:p>
          <a:p>
            <a:pPr lvl="1"/>
            <a:r>
              <a:rPr lang="en-US" altLang="zh-CN" sz="2000" dirty="0"/>
              <a:t>	Instrumentation: Clock specific events. </a:t>
            </a: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>
                <a:solidFill>
                  <a:srgbClr val="FF0000"/>
                </a:solidFill>
              </a:rPr>
              <a:t>If you have any doubt about the performance of part of a system, experiment with a simulated load.</a:t>
            </a:r>
            <a:r>
              <a:rPr lang="en-US" altLang="zh-CN" sz="2000" b="1" dirty="0">
                <a:solidFill>
                  <a:srgbClr val="FF0000"/>
                </a:solidFill>
                <a:latin typeface="Helvetica" pitchFamily="2" charset="0"/>
                <a:cs typeface="Arial" panose="020B0604020202090204" pitchFamily="34" charset="0"/>
              </a:rPr>
              <a:t> </a:t>
            </a:r>
            <a:endParaRPr lang="en-US" altLang="zh-CN" sz="2000" b="1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en-US" altLang="zh-CN" dirty="0"/>
              <a:t>Example: Web Laboratory</a:t>
            </a:r>
            <a:endParaRPr lang="en-US" sz="6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3"/>
          <p:cNvSpPr txBox="1"/>
          <p:nvPr/>
        </p:nvSpPr>
        <p:spPr>
          <a:xfrm>
            <a:off x="572376" y="1282669"/>
            <a:ext cx="96181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Benchmark: throughput v. number of CPUs on a symmetric multiprocessor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4231" y="1782661"/>
            <a:ext cx="8463538" cy="475625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en-US" altLang="zh-CN" dirty="0"/>
              <a:t>Fixing Bad Performance</a:t>
            </a:r>
            <a:endParaRPr lang="en-US" sz="6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3"/>
          <p:cNvSpPr txBox="1"/>
          <p:nvPr/>
        </p:nvSpPr>
        <p:spPr>
          <a:xfrm>
            <a:off x="572375" y="1689853"/>
            <a:ext cx="11163995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If a system performs badly, begin by identifying the cause: 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Instrumentation.</a:t>
            </a:r>
            <a:r>
              <a:rPr lang="en-US" altLang="zh-CN" sz="2000" dirty="0"/>
              <a:t> Add timers to the code. Often this will reveal that delays are centered in a specific part of the system. </a:t>
            </a:r>
            <a:endParaRPr lang="en-US" altLang="zh-CN" sz="2000" dirty="0"/>
          </a:p>
          <a:p>
            <a:pPr lvl="1"/>
            <a:endParaRPr lang="en-US" altLang="zh-CN" sz="2000" dirty="0"/>
          </a:p>
          <a:p>
            <a:pPr lvl="1"/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Test loads. </a:t>
            </a:r>
            <a:r>
              <a:rPr lang="en-US" altLang="zh-CN" sz="2000" dirty="0"/>
              <a:t>Run the system with varying loads, e.g., high transaction rates, large input files, many users, etc. This may reveal the characteristics of when the system runs badly. </a:t>
            </a:r>
            <a:endParaRPr lang="en-US" altLang="zh-CN" sz="2000" dirty="0"/>
          </a:p>
          <a:p>
            <a:pPr lvl="1"/>
            <a:endParaRPr lang="en-US" altLang="zh-CN" sz="2000" dirty="0"/>
          </a:p>
          <a:p>
            <a:pPr lvl="1"/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Design and code reviews. </a:t>
            </a:r>
            <a:r>
              <a:rPr lang="en-US" altLang="zh-CN" sz="2000" dirty="0"/>
              <a:t>Team review of system design, program design, and suspect sections of code. This may reveal an algorithm that is running very slowly, e.g., a sort, locking procedure, etc. </a:t>
            </a: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>
                <a:solidFill>
                  <a:srgbClr val="FF0000"/>
                </a:solidFill>
              </a:rPr>
              <a:t>Find the underlying cause and fix it or the problem will return!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en-US" altLang="zh-CN" dirty="0"/>
              <a:t>Improving Performance</a:t>
            </a:r>
            <a:endParaRPr lang="en-US" sz="6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596901" y="1339591"/>
            <a:ext cx="5438255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Special purpose hardware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en-US" altLang="zh-CN" sz="2000" dirty="0"/>
              <a:t>	Graphics processors (e.g., Nvidia)</a:t>
            </a:r>
            <a:endParaRPr lang="en-US" altLang="zh-CN" sz="2000" dirty="0"/>
          </a:p>
          <a:p>
            <a:pPr lvl="1"/>
            <a:endParaRPr lang="en-US" altLang="zh-CN" sz="2000" dirty="0"/>
          </a:p>
          <a:p>
            <a:pPr marL="0" lvl="1"/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Algorithm/data structure design 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en-US" altLang="zh-CN" sz="2000" dirty="0"/>
              <a:t>	Time/Space Complexity</a:t>
            </a:r>
            <a:endParaRPr lang="en-US" altLang="zh-CN" sz="2000" dirty="0"/>
          </a:p>
          <a:p>
            <a:endParaRPr lang="en-US" altLang="zh-CN" sz="2000" dirty="0"/>
          </a:p>
          <a:p>
            <a:pPr marL="0" lvl="1"/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Special Database/Data warehouse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dirty="0"/>
              <a:t>	Hive, </a:t>
            </a:r>
            <a:r>
              <a:rPr lang="en-US" altLang="zh-CN" sz="2000" dirty="0" err="1"/>
              <a:t>ClickHouse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Parallel processing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	</a:t>
            </a:r>
            <a:r>
              <a:rPr lang="en-US" altLang="zh-CN" sz="2000" dirty="0">
                <a:latin typeface="Helvetica" pitchFamily="2" charset="0"/>
                <a:cs typeface="Arial" panose="020B0604020202090204" pitchFamily="34" charset="0"/>
              </a:rPr>
              <a:t>Spark, </a:t>
            </a:r>
            <a:r>
              <a:rPr lang="en-US" sz="2000" dirty="0"/>
              <a:t>Kubernetes (K8s)</a:t>
            </a:r>
            <a:endParaRPr lang="en-US" altLang="zh-CN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9991" y="1508760"/>
            <a:ext cx="5036490" cy="189044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202804"/>
            <a:ext cx="3521902" cy="203528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4164" y="1646232"/>
            <a:ext cx="1193515" cy="17529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6689" y="4160520"/>
            <a:ext cx="2131153" cy="2035289"/>
          </a:xfrm>
          <a:prstGeom prst="rect">
            <a:avLst/>
          </a:prstGeom>
        </p:spPr>
      </p:pic>
      <p:sp>
        <p:nvSpPr>
          <p:cNvPr id="9" name="Right Arrow 8"/>
          <p:cNvSpPr/>
          <p:nvPr/>
        </p:nvSpPr>
        <p:spPr>
          <a:xfrm rot="5400000">
            <a:off x="8863618" y="3662989"/>
            <a:ext cx="361759" cy="283945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5152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en-US" altLang="zh-CN" dirty="0"/>
              <a:t>Thoughts for the Future</a:t>
            </a:r>
            <a:endParaRPr lang="en-US" sz="6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601169" y="1582387"/>
            <a:ext cx="9550399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Current trends in high performance computing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High performance applications require ever increasing parallel computing, cluster computing, and cloud computing.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The performance of networks is critical — both the throughput and the latency. 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Data centers are becoming huge and extremely complex. </a:t>
            </a:r>
            <a:endParaRPr lang="en-US" altLang="zh-CN" sz="2000" dirty="0"/>
          </a:p>
          <a:p>
            <a:pPr lvl="1"/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Software developers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A small number of developers are creating this distributed, parallel infrastructure. </a:t>
            </a:r>
            <a:endParaRPr lang="en-US" altLang="zh-CN" sz="2000" dirty="0"/>
          </a:p>
          <a:p>
            <a:endParaRPr lang="en-US" altLang="zh-CN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SE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05122"/>
      </a:accent1>
      <a:accent2>
        <a:srgbClr val="FDCA04"/>
      </a:accent2>
      <a:accent3>
        <a:srgbClr val="00529D"/>
      </a:accent3>
      <a:accent4>
        <a:srgbClr val="B01417"/>
      </a:accent4>
      <a:accent5>
        <a:srgbClr val="7F7611"/>
      </a:accent5>
      <a:accent6>
        <a:srgbClr val="5D6B70"/>
      </a:accent6>
      <a:hlink>
        <a:srgbClr val="868A8C"/>
      </a:hlink>
      <a:folHlink>
        <a:srgbClr val="C2C6C8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21743</Words>
  <Application>WPS Presentation</Application>
  <PresentationFormat>Widescreen</PresentationFormat>
  <Paragraphs>890</Paragraphs>
  <Slides>66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66</vt:i4>
      </vt:variant>
    </vt:vector>
  </HeadingPairs>
  <TitlesOfParts>
    <vt:vector size="85" baseType="lpstr">
      <vt:lpstr>Arial</vt:lpstr>
      <vt:lpstr>宋体</vt:lpstr>
      <vt:lpstr>Wingdings</vt:lpstr>
      <vt:lpstr>Helvetica Regular</vt:lpstr>
      <vt:lpstr>微软雅黑</vt:lpstr>
      <vt:lpstr>汉仪旗黑</vt:lpstr>
      <vt:lpstr>Helvetica</vt:lpstr>
      <vt:lpstr>宋体</vt:lpstr>
      <vt:lpstr>Arial Unicode MS</vt:lpstr>
      <vt:lpstr>黑体</vt:lpstr>
      <vt:lpstr>汉仪中黑KW</vt:lpstr>
      <vt:lpstr>等线</vt:lpstr>
      <vt:lpstr>汉仪中等线KW</vt:lpstr>
      <vt:lpstr>黑体</vt:lpstr>
      <vt:lpstr>Calibri</vt:lpstr>
      <vt:lpstr>Helvetica Neue</vt:lpstr>
      <vt:lpstr>微软雅黑</vt:lpstr>
      <vt:lpstr>汉仪书宋二KW</vt:lpstr>
      <vt:lpstr>1_Office 主题​​</vt:lpstr>
      <vt:lpstr>PowerPoint 演示文稿</vt:lpstr>
      <vt:lpstr>Heads Up</vt:lpstr>
      <vt:lpstr>Heads Up</vt:lpstr>
      <vt:lpstr>Heads Up</vt:lpstr>
      <vt:lpstr>PowerPoint 演示文稿</vt:lpstr>
      <vt:lpstr>Security in Development Process</vt:lpstr>
      <vt:lpstr>Economics of security</vt:lpstr>
      <vt:lpstr>Economics of security</vt:lpstr>
      <vt:lpstr>Security Functions and Dangers</vt:lpstr>
      <vt:lpstr>Security Issues</vt:lpstr>
      <vt:lpstr>Perfect security is impractical</vt:lpstr>
      <vt:lpstr>Security within an Organization: People</vt:lpstr>
      <vt:lpstr>Design for Security: People</vt:lpstr>
      <vt:lpstr>External Intruders</vt:lpstr>
      <vt:lpstr>External Intruders</vt:lpstr>
      <vt:lpstr>External Intruders: Online Data</vt:lpstr>
      <vt:lpstr>External Intruders: Minimizing Risk</vt:lpstr>
      <vt:lpstr>Minimizing Risks: Dependency</vt:lpstr>
      <vt:lpstr>Minimizing Risks: System Architecture</vt:lpstr>
      <vt:lpstr>Minimizing Risks: Online Data</vt:lpstr>
      <vt:lpstr>Security Techniques: Barriers</vt:lpstr>
      <vt:lpstr>Barriers: Firewall</vt:lpstr>
      <vt:lpstr>Security Techniques: AuthN and AuthZ</vt:lpstr>
      <vt:lpstr>Example: An Access Architecture for Digital Content</vt:lpstr>
      <vt:lpstr>Access control technologies</vt:lpstr>
      <vt:lpstr>Network security &amp; barriers</vt:lpstr>
      <vt:lpstr>Communication Security Techniques: Encryption</vt:lpstr>
      <vt:lpstr>Communication security</vt:lpstr>
      <vt:lpstr>Communication security (continued)</vt:lpstr>
      <vt:lpstr>Asymmetric vs. Symmetric</vt:lpstr>
      <vt:lpstr>HTTPS</vt:lpstr>
      <vt:lpstr>Minimizing Risks: Programming </vt:lpstr>
      <vt:lpstr>Programming Secure Software</vt:lpstr>
      <vt:lpstr>Security bugs</vt:lpstr>
      <vt:lpstr>SQL injection</vt:lpstr>
      <vt:lpstr>SQL Injection</vt:lpstr>
      <vt:lpstr>SQL Injection</vt:lpstr>
      <vt:lpstr>Mitigating injection attacks</vt:lpstr>
      <vt:lpstr>Side channel attacks</vt:lpstr>
      <vt:lpstr>Catching/avoiding security bugs</vt:lpstr>
      <vt:lpstr>Sandboxing</vt:lpstr>
      <vt:lpstr>Minimizing Risks: Procedures</vt:lpstr>
      <vt:lpstr>Operations: Recovery</vt:lpstr>
      <vt:lpstr>Security in Development Process</vt:lpstr>
      <vt:lpstr>PowerPoint 演示文稿</vt:lpstr>
      <vt:lpstr>Performance of Computer Systems</vt:lpstr>
      <vt:lpstr>When Performance Matters</vt:lpstr>
      <vt:lpstr>High-Performance Computing</vt:lpstr>
      <vt:lpstr>Performance Challenges for all Software Systems</vt:lpstr>
      <vt:lpstr>Performance Challenges for all Software Systems</vt:lpstr>
      <vt:lpstr>Interactions between Hardware and Software</vt:lpstr>
      <vt:lpstr>Look for Bottlenecks: CPU Performance</vt:lpstr>
      <vt:lpstr>Look for Bottlenecks</vt:lpstr>
      <vt:lpstr>Look for Bottlenecks: Utilization</vt:lpstr>
      <vt:lpstr>Timescale of Different Components</vt:lpstr>
      <vt:lpstr>Predicting System Performance</vt:lpstr>
      <vt:lpstr>Mathematical Models</vt:lpstr>
      <vt:lpstr>Mathematical Models: Queues</vt:lpstr>
      <vt:lpstr>Queues</vt:lpstr>
      <vt:lpstr>Techniques: Simulation</vt:lpstr>
      <vt:lpstr>Behavior of Queues: Utilization</vt:lpstr>
      <vt:lpstr>Measurements on Operational Systems</vt:lpstr>
      <vt:lpstr>Example: Web Laboratory</vt:lpstr>
      <vt:lpstr>Fixing Bad Performance</vt:lpstr>
      <vt:lpstr>Improving Performance</vt:lpstr>
      <vt:lpstr>Thoughts for the Future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子豪 任</dc:creator>
  <cp:lastModifiedBy>刘光迟</cp:lastModifiedBy>
  <cp:revision>390</cp:revision>
  <dcterms:created xsi:type="dcterms:W3CDTF">2025-04-11T01:00:39Z</dcterms:created>
  <dcterms:modified xsi:type="dcterms:W3CDTF">2025-04-11T01:00:39Z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6C60E74FE264593D48E6F7679B52501F_42</vt:lpwstr>
  </property>
  <property fmtid="{D5CDD505-2E9C-101B-9397-08002B2CF9AE}" pid="3" name="KSOProductBuildVer">
    <vt:lpwstr>1033-7.2.2.8955</vt:lpwstr>
  </property>
</Properties>
</file>