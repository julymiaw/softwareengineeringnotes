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582" r:id="rId3"/>
    <p:sldId id="863" r:id="rId5"/>
    <p:sldId id="864" r:id="rId6"/>
    <p:sldId id="865" r:id="rId7"/>
    <p:sldId id="853" r:id="rId8"/>
    <p:sldId id="553" r:id="rId9"/>
    <p:sldId id="799" r:id="rId10"/>
    <p:sldId id="550" r:id="rId11"/>
    <p:sldId id="571" r:id="rId12"/>
    <p:sldId id="800" r:id="rId13"/>
    <p:sldId id="819" r:id="rId14"/>
    <p:sldId id="821" r:id="rId15"/>
    <p:sldId id="820" r:id="rId16"/>
    <p:sldId id="599" r:id="rId17"/>
    <p:sldId id="601" r:id="rId18"/>
    <p:sldId id="602" r:id="rId19"/>
    <p:sldId id="586" r:id="rId20"/>
    <p:sldId id="801" r:id="rId21"/>
    <p:sldId id="802" r:id="rId22"/>
    <p:sldId id="822" r:id="rId23"/>
    <p:sldId id="639" r:id="rId24"/>
    <p:sldId id="652" r:id="rId25"/>
    <p:sldId id="653" r:id="rId26"/>
    <p:sldId id="656" r:id="rId27"/>
    <p:sldId id="660" r:id="rId28"/>
    <p:sldId id="661" r:id="rId29"/>
    <p:sldId id="662" r:id="rId30"/>
    <p:sldId id="663" r:id="rId31"/>
    <p:sldId id="664" r:id="rId32"/>
    <p:sldId id="584" r:id="rId33"/>
    <p:sldId id="594" r:id="rId34"/>
    <p:sldId id="597" r:id="rId35"/>
    <p:sldId id="803" r:id="rId36"/>
    <p:sldId id="595" r:id="rId37"/>
    <p:sldId id="609" r:id="rId38"/>
    <p:sldId id="612" r:id="rId39"/>
    <p:sldId id="619" r:id="rId40"/>
    <p:sldId id="620" r:id="rId41"/>
    <p:sldId id="626" r:id="rId42"/>
    <p:sldId id="641" r:id="rId43"/>
    <p:sldId id="616" r:id="rId44"/>
    <p:sldId id="650" r:id="rId45"/>
    <p:sldId id="628" r:id="rId46"/>
    <p:sldId id="636" r:id="rId47"/>
    <p:sldId id="635" r:id="rId48"/>
    <p:sldId id="637" r:id="rId49"/>
    <p:sldId id="638" r:id="rId50"/>
    <p:sldId id="640" r:id="rId51"/>
    <p:sldId id="651" r:id="rId52"/>
    <p:sldId id="654" r:id="rId53"/>
    <p:sldId id="681" r:id="rId54"/>
    <p:sldId id="655" r:id="rId55"/>
    <p:sldId id="804" r:id="rId56"/>
    <p:sldId id="658" r:id="rId57"/>
    <p:sldId id="678" r:id="rId58"/>
    <p:sldId id="677" r:id="rId59"/>
    <p:sldId id="693" r:id="rId60"/>
    <p:sldId id="643" r:id="rId61"/>
    <p:sldId id="644" r:id="rId62"/>
    <p:sldId id="645" r:id="rId63"/>
    <p:sldId id="704" r:id="rId64"/>
    <p:sldId id="698" r:id="rId65"/>
    <p:sldId id="596" r:id="rId66"/>
    <p:sldId id="684" r:id="rId67"/>
    <p:sldId id="630" r:id="rId68"/>
    <p:sldId id="629" r:id="rId69"/>
    <p:sldId id="634" r:id="rId70"/>
    <p:sldId id="805" r:id="rId71"/>
    <p:sldId id="730" r:id="rId72"/>
    <p:sldId id="734" r:id="rId73"/>
    <p:sldId id="682" r:id="rId74"/>
    <p:sldId id="690" r:id="rId75"/>
    <p:sldId id="692" r:id="rId76"/>
    <p:sldId id="823" r:id="rId77"/>
    <p:sldId id="824" r:id="rId78"/>
    <p:sldId id="825" r:id="rId79"/>
    <p:sldId id="826" r:id="rId80"/>
    <p:sldId id="783" r:id="rId81"/>
    <p:sldId id="784" r:id="rId82"/>
    <p:sldId id="785" r:id="rId83"/>
    <p:sldId id="827" r:id="rId84"/>
    <p:sldId id="828" r:id="rId85"/>
    <p:sldId id="829" r:id="rId86"/>
    <p:sldId id="830" r:id="rId87"/>
    <p:sldId id="831" r:id="rId88"/>
    <p:sldId id="744" r:id="rId89"/>
    <p:sldId id="768" r:id="rId90"/>
    <p:sldId id="769" r:id="rId91"/>
    <p:sldId id="770" r:id="rId92"/>
    <p:sldId id="771" r:id="rId93"/>
    <p:sldId id="832" r:id="rId94"/>
    <p:sldId id="833" r:id="rId95"/>
    <p:sldId id="834" r:id="rId96"/>
    <p:sldId id="835" r:id="rId97"/>
    <p:sldId id="836" r:id="rId98"/>
    <p:sldId id="774" r:id="rId99"/>
    <p:sldId id="782" r:id="rId100"/>
    <p:sldId id="837" r:id="rId101"/>
    <p:sldId id="775" r:id="rId102"/>
    <p:sldId id="838" r:id="rId103"/>
    <p:sldId id="839" r:id="rId104"/>
    <p:sldId id="758" r:id="rId105"/>
    <p:sldId id="773" r:id="rId106"/>
    <p:sldId id="622" r:id="rId107"/>
    <p:sldId id="675" r:id="rId108"/>
    <p:sldId id="736" r:id="rId109"/>
    <p:sldId id="790" r:id="rId110"/>
    <p:sldId id="791" r:id="rId111"/>
    <p:sldId id="740" r:id="rId112"/>
    <p:sldId id="738" r:id="rId113"/>
    <p:sldId id="735" r:id="rId114"/>
    <p:sldId id="762" r:id="rId115"/>
    <p:sldId id="764" r:id="rId116"/>
    <p:sldId id="808" r:id="rId117"/>
    <p:sldId id="676" r:id="rId118"/>
    <p:sldId id="809" r:id="rId119"/>
    <p:sldId id="765" r:id="rId120"/>
    <p:sldId id="810" r:id="rId121"/>
    <p:sldId id="818" r:id="rId122"/>
    <p:sldId id="618" r:id="rId123"/>
    <p:sldId id="798" r:id="rId124"/>
    <p:sldId id="847" r:id="rId125"/>
    <p:sldId id="737" r:id="rId126"/>
    <p:sldId id="797" r:id="rId127"/>
    <p:sldId id="848" r:id="rId128"/>
    <p:sldId id="739" r:id="rId129"/>
    <p:sldId id="849" r:id="rId130"/>
    <p:sldId id="743" r:id="rId131"/>
    <p:sldId id="850" r:id="rId132"/>
    <p:sldId id="745" r:id="rId133"/>
    <p:sldId id="746" r:id="rId134"/>
    <p:sldId id="747" r:id="rId135"/>
    <p:sldId id="748" r:id="rId136"/>
    <p:sldId id="749" r:id="rId137"/>
    <p:sldId id="752" r:id="rId138"/>
    <p:sldId id="753" r:id="rId139"/>
    <p:sldId id="754" r:id="rId140"/>
    <p:sldId id="755" r:id="rId141"/>
    <p:sldId id="763" r:id="rId142"/>
    <p:sldId id="851" r:id="rId143"/>
    <p:sldId id="852" r:id="rId144"/>
    <p:sldId id="756" r:id="rId1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15223"/>
    <a:srgbClr val="5377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14" autoAdjust="0"/>
    <p:restoredTop sz="94957"/>
  </p:normalViewPr>
  <p:slideViewPr>
    <p:cSldViewPr snapToGrid="0">
      <p:cViewPr varScale="1">
        <p:scale>
          <a:sx n="215" d="100"/>
          <a:sy n="215" d="100"/>
        </p:scale>
        <p:origin x="500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8" Type="http://schemas.openxmlformats.org/officeDocument/2006/relationships/tableStyles" Target="tableStyles.xml"/><Relationship Id="rId147" Type="http://schemas.openxmlformats.org/officeDocument/2006/relationships/viewProps" Target="viewProps.xml"/><Relationship Id="rId146" Type="http://schemas.openxmlformats.org/officeDocument/2006/relationships/presProps" Target="presProps.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AB7413-AF54-469D-ABFD-75D5619B000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0A31E6-CBE9-40EA-A2F4-8D17CCD5DDD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7" Type="http://schemas.openxmlformats.org/officeDocument/2006/relationships/hyperlink" Target="https://zhuanlan.zhihu.com/p/335298500" TargetMode="Externa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 Id="rId3" Type="http://schemas.openxmlformats.org/officeDocument/2006/relationships/hyperlink" Target="http://www.officeplus.cn/p/51/102751.shtml" TargetMode="External"/><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90204" pitchFamily="34" charset="0"/>
              <a:buChar char="•"/>
            </a:pPr>
            <a:r>
              <a:rPr lang="zh-CN" altLang="en-US" dirty="0">
                <a:cs typeface="+mn-ea"/>
                <a:sym typeface="+mn-lt"/>
              </a:rPr>
              <a:t>本模板基于“</a:t>
            </a:r>
            <a:r>
              <a:rPr lang="zh-CN" altLang="en-US" dirty="0">
                <a:hlinkClick r:id="rId3"/>
              </a:rPr>
              <a:t>中国科学院大学</a:t>
            </a:r>
            <a:r>
              <a:rPr lang="en-US" altLang="zh-CN" dirty="0">
                <a:hlinkClick r:id="rId3"/>
              </a:rPr>
              <a:t>-</a:t>
            </a:r>
            <a:r>
              <a:rPr lang="zh-CN" altLang="en-US" dirty="0">
                <a:hlinkClick r:id="rId3"/>
              </a:rPr>
              <a:t>路人丁</a:t>
            </a:r>
            <a:r>
              <a:rPr lang="en-US" altLang="zh-CN" dirty="0">
                <a:hlinkClick r:id="rId3"/>
              </a:rPr>
              <a:t>-PPT</a:t>
            </a:r>
            <a:r>
              <a:rPr lang="zh-CN" altLang="en-US" dirty="0">
                <a:hlinkClick r:id="rId3"/>
              </a:rPr>
              <a:t>模板</a:t>
            </a:r>
            <a:r>
              <a:rPr lang="zh-CN" altLang="en-US" dirty="0"/>
              <a:t>”魔改而成，著作权归该作者所有。</a:t>
            </a:r>
            <a:endParaRPr lang="en-US" altLang="zh-CN" dirty="0"/>
          </a:p>
          <a:p>
            <a:pPr marL="285750" indent="-285750">
              <a:lnSpc>
                <a:spcPct val="150000"/>
              </a:lnSpc>
              <a:buFont typeface="Arial" panose="020B0604020202090204" pitchFamily="34" charset="0"/>
              <a:buChar char="•"/>
            </a:pPr>
            <a:r>
              <a:rPr lang="zh-CN" altLang="en-US" dirty="0"/>
              <a:t>本模板中使用的东南大学校徽、校标文字组合、校训文字等素材来自于微信公众号“</a:t>
            </a:r>
            <a:r>
              <a:rPr lang="zh-CN" altLang="en-US" dirty="0">
                <a:hlinkClick r:id="rId4"/>
              </a:rPr>
              <a:t>金木屋</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本模板的视觉设计参考了“</a:t>
            </a:r>
            <a:r>
              <a:rPr lang="zh-CN" altLang="en-US" dirty="0">
                <a:hlinkClick r:id="rId5"/>
              </a:rPr>
              <a:t>东南大学视觉识别系统</a:t>
            </a:r>
            <a:r>
              <a:rPr lang="zh-CN" altLang="en-US" dirty="0"/>
              <a:t>”。</a:t>
            </a:r>
            <a:endParaRPr lang="en-US" altLang="zh-CN" dirty="0"/>
          </a:p>
          <a:p>
            <a:pPr marL="285750" indent="-285750">
              <a:lnSpc>
                <a:spcPct val="150000"/>
              </a:lnSpc>
              <a:buFont typeface="Arial" panose="020B0604020202090204" pitchFamily="34" charset="0"/>
              <a:buChar char="•"/>
            </a:pPr>
            <a:r>
              <a:rPr lang="zh-CN" altLang="en-US" dirty="0"/>
              <a:t>人物介绍页头像素材来自 </a:t>
            </a:r>
            <a:r>
              <a:rPr lang="zh-CN" altLang="en-US" dirty="0">
                <a:hlinkClick r:id="rId6"/>
              </a:rPr>
              <a:t>小肥柴</a:t>
            </a:r>
            <a:r>
              <a:rPr lang="zh-CN" altLang="en-US" dirty="0"/>
              <a:t>。</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本模板力求简洁，布局合理，主次分明。以学术风为设计理念，适用于学术报告与论文答辩等相关应用场景。模板未使用任何动画效果。</a:t>
            </a:r>
            <a:endParaRPr lang="en-US" altLang="zh-CN" dirty="0"/>
          </a:p>
          <a:p>
            <a:pPr marL="285750" indent="-285750">
              <a:lnSpc>
                <a:spcPct val="150000"/>
              </a:lnSpc>
              <a:buFont typeface="Arial" panose="020B0604020202090204" pitchFamily="34" charset="0"/>
              <a:buChar char="•"/>
            </a:pPr>
            <a:r>
              <a:rPr lang="zh-CN" altLang="en-US" dirty="0"/>
              <a:t>您仅可以以个人非商业用途使用本</a:t>
            </a:r>
            <a:r>
              <a:rPr lang="en-US" altLang="zh-CN" dirty="0"/>
              <a:t>PPT</a:t>
            </a:r>
            <a:r>
              <a:rPr lang="zh-CN" altLang="en-US" dirty="0"/>
              <a:t>模板，不可将信息内容的全部或部分用以出售，或以出租、出借、转让、分销、发布等其他任何方式供其他人使用。</a:t>
            </a:r>
            <a:endParaRPr lang="en-US" altLang="zh-CN" dirty="0"/>
          </a:p>
          <a:p>
            <a:pPr marL="285750" indent="-285750">
              <a:lnSpc>
                <a:spcPct val="150000"/>
              </a:lnSpc>
              <a:buFont typeface="Arial" panose="020B0604020202090204" pitchFamily="34" charset="0"/>
              <a:buChar char="•"/>
            </a:pPr>
            <a:endParaRPr lang="en-US" altLang="zh-CN" sz="800" dirty="0"/>
          </a:p>
          <a:p>
            <a:pPr marL="285750" indent="-285750">
              <a:lnSpc>
                <a:spcPct val="150000"/>
              </a:lnSpc>
              <a:buFont typeface="Arial" panose="020B0604020202090204" pitchFamily="34" charset="0"/>
              <a:buChar char="•"/>
            </a:pPr>
            <a:r>
              <a:rPr lang="zh-CN" altLang="en-US" dirty="0"/>
              <a:t>欢迎 </a:t>
            </a:r>
            <a:r>
              <a:rPr lang="zh-CN" altLang="en-US" dirty="0">
                <a:hlinkClick r:id="rId7"/>
              </a:rPr>
              <a:t>持续关注东南大学止于至善学术风</a:t>
            </a:r>
            <a:r>
              <a:rPr lang="en-US" altLang="zh-CN" dirty="0">
                <a:hlinkClick r:id="rId7"/>
              </a:rPr>
              <a:t> PPT </a:t>
            </a:r>
            <a:r>
              <a:rPr lang="zh-CN" altLang="en-US" dirty="0">
                <a:hlinkClick r:id="rId7"/>
              </a:rPr>
              <a:t>模板</a:t>
            </a:r>
            <a:r>
              <a:rPr lang="zh-CN" altLang="en-US" dirty="0"/>
              <a:t> （</a:t>
            </a:r>
            <a:r>
              <a:rPr lang="en-US" altLang="zh-CN" sz="1200" b="0" i="0" kern="1200" dirty="0">
                <a:solidFill>
                  <a:schemeClr val="tx1"/>
                </a:solidFill>
                <a:effectLst/>
                <a:latin typeface="+mn-lt"/>
                <a:ea typeface="+mn-ea"/>
                <a:cs typeface="+mn-cs"/>
              </a:rPr>
              <a:t>https://</a:t>
            </a:r>
            <a:r>
              <a:rPr lang="en-US" altLang="zh-CN" sz="1200" b="0" i="0" kern="1200" dirty="0" err="1">
                <a:solidFill>
                  <a:schemeClr val="tx1"/>
                </a:solidFill>
                <a:effectLst/>
                <a:latin typeface="+mn-lt"/>
                <a:ea typeface="+mn-ea"/>
                <a:cs typeface="+mn-cs"/>
              </a:rPr>
              <a:t>zhuanlan.zhihu.com</a:t>
            </a:r>
            <a:r>
              <a:rPr lang="en-US" altLang="zh-CN" sz="1200" b="0" i="0" kern="1200" dirty="0">
                <a:solidFill>
                  <a:schemeClr val="tx1"/>
                </a:solidFill>
                <a:effectLst/>
                <a:latin typeface="+mn-lt"/>
                <a:ea typeface="+mn-ea"/>
                <a:cs typeface="+mn-cs"/>
              </a:rPr>
              <a:t>/p/335298500</a:t>
            </a:r>
            <a:r>
              <a:rPr lang="zh-CN" altLang="en-US" dirty="0"/>
              <a:t>）后续的功能优化及多语言更新版本。</a:t>
            </a:r>
            <a:endParaRPr lang="en-US" altLang="zh-CN" dirty="0"/>
          </a:p>
          <a:p>
            <a:pPr marL="285750" indent="-285750">
              <a:lnSpc>
                <a:spcPct val="150000"/>
              </a:lnSpc>
              <a:buFont typeface="Arial" panose="020B0604020202090204" pitchFamily="34" charset="0"/>
              <a:buChar char="•"/>
            </a:pPr>
            <a:r>
              <a:rPr lang="zh-CN" altLang="en-US" dirty="0"/>
              <a:t>最后，祝汇报顺利，马到成功！</a:t>
            </a:r>
            <a:endParaRPr lang="en-US" altLang="zh-CN" dirty="0"/>
          </a:p>
          <a:p>
            <a:pPr marL="285750" indent="-285750">
              <a:lnSpc>
                <a:spcPct val="150000"/>
              </a:lnSpc>
              <a:buFont typeface="Arial" panose="020B0604020202090204" pitchFamily="34" charset="0"/>
              <a:buChar char="•"/>
            </a:pPr>
            <a:endParaRPr lang="en-US" altLang="zh-CN" dirty="0"/>
          </a:p>
          <a:p>
            <a:pPr marL="285750" marR="0" lvl="0" indent="-285750" algn="l" defTabSz="914400" rtl="0" eaLnBrk="1" fontAlgn="auto" latinLnBrk="0" hangingPunct="1">
              <a:lnSpc>
                <a:spcPct val="150000"/>
              </a:lnSpc>
              <a:spcBef>
                <a:spcPts val="0"/>
              </a:spcBef>
              <a:spcAft>
                <a:spcPts val="0"/>
              </a:spcAft>
              <a:buClrTx/>
              <a:buSzTx/>
              <a:buFont typeface="Arial" panose="020B0604020202090204" pitchFamily="34" charset="0"/>
              <a:buChar char="•"/>
              <a:defRPr/>
            </a:pPr>
            <a:r>
              <a:rPr kumimoji="1" lang="en-US" altLang="zh-CN" dirty="0">
                <a:latin typeface="+mn-ea"/>
                <a:cs typeface="Arial" panose="020B0604020202090204" pitchFamily="34" charset="0"/>
              </a:rPr>
              <a:t>Version:</a:t>
            </a:r>
            <a:r>
              <a:rPr kumimoji="1" lang="zh-CN" altLang="en-US" dirty="0">
                <a:latin typeface="+mn-ea"/>
                <a:cs typeface="Arial" panose="020B0604020202090204" pitchFamily="34" charset="0"/>
              </a:rPr>
              <a:t> </a:t>
            </a:r>
            <a:r>
              <a:rPr kumimoji="1" lang="en-US" altLang="zh-CN" dirty="0">
                <a:latin typeface="+mn-ea"/>
                <a:cs typeface="Arial" panose="020B0604020202090204" pitchFamily="34" charset="0"/>
              </a:rPr>
              <a:t>(2021) v1.5-en.</a:t>
            </a:r>
            <a:endParaRPr kumimoji="1" lang="zh-CN" altLang="en-US" dirty="0">
              <a:latin typeface="+mn-ea"/>
              <a:cs typeface="Arial" panose="020B060402020209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00A31E6-CBE9-40EA-A2F4-8D17CCD5DDDB}"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90204" pitchFamily="34" charset="0"/>
                <a:sym typeface="+mn-lt"/>
              </a:rPr>
              <a:t>Contents</a:t>
            </a:r>
            <a:endParaRPr lang="zh-CN" altLang="en-US" sz="4400" b="1" i="0" dirty="0">
              <a:solidFill>
                <a:schemeClr val="bg1"/>
              </a:solidFill>
              <a:latin typeface="Helvetica" pitchFamily="2" charset="0"/>
              <a:cs typeface="Arial" panose="020B0604020202090204" pitchFamily="34" charset="0"/>
              <a:sym typeface="+mn-lt"/>
            </a:endParaRPr>
          </a:p>
        </p:txBody>
      </p:sp>
      <p:sp>
        <p:nvSpPr>
          <p:cNvPr id="87" name="任意多边形: 形状 86"/>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90204" pitchFamily="34" charset="0"/>
              </a:rPr>
              <a:t>Part 01</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02</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03</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04</a:t>
            </a:r>
            <a:endParaRPr lang="zh-CN" altLang="en-US" sz="4400" b="1" i="0" dirty="0">
              <a:solidFill>
                <a:schemeClr val="bg1"/>
              </a:solidFill>
              <a:latin typeface="Helvetica" pitchFamily="2" charset="0"/>
              <a:cs typeface="Arial" panose="020B0604020202090204" pitchFamily="34" charset="0"/>
            </a:endParaRPr>
          </a:p>
        </p:txBody>
      </p:sp>
      <p:cxnSp>
        <p:nvCxnSpPr>
          <p:cNvPr id="8" name="直接连接符 7"/>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05</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90204" pitchFamily="34" charset="0"/>
              </a:rPr>
              <a:t>Part 06</a:t>
            </a:r>
            <a:endParaRPr lang="zh-CN" altLang="en-US" sz="4400" b="1" i="0" dirty="0">
              <a:solidFill>
                <a:schemeClr val="bg1"/>
              </a:solidFill>
              <a:latin typeface="Helvetica" pitchFamily="2" charset="0"/>
              <a:cs typeface="Arial" panose="020B0604020202090204" pitchFamily="34" charset="0"/>
            </a:endParaRPr>
          </a:p>
        </p:txBody>
      </p:sp>
      <p:cxnSp>
        <p:nvCxnSpPr>
          <p:cNvPr id="9" name="直接连接符 8"/>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90204" pitchFamily="34" charset="0"/>
              </a:rPr>
              <a:t>Contents</a:t>
            </a:r>
            <a:endParaRPr lang="zh-CN" altLang="en-US" sz="4000" b="1" i="0" dirty="0">
              <a:solidFill>
                <a:schemeClr val="bg1"/>
              </a:solidFill>
              <a:latin typeface="Helvetica" pitchFamily="2" charset="0"/>
              <a:ea typeface="+mj-ea"/>
              <a:cs typeface="Arial" panose="020B0604020202090204" pitchFamily="34" charset="0"/>
            </a:endParaRPr>
          </a:p>
        </p:txBody>
      </p:sp>
      <p:pic>
        <p:nvPicPr>
          <p:cNvPr id="47" name="图片 46"/>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9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p:cNvSpPr>
            <a:spLocks noGrp="1"/>
          </p:cNvSpPr>
          <p:nvPr>
            <p:ph type="dt" sz="half" idx="10"/>
          </p:nvPr>
        </p:nvSpPr>
        <p:spPr/>
        <p:txBody>
          <a:bodyPr/>
          <a:lstStyle/>
          <a:p>
            <a:endParaRPr lang="zh-CN" altLang="en-US"/>
          </a:p>
        </p:txBody>
      </p:sp>
      <p:sp>
        <p:nvSpPr>
          <p:cNvPr id="14" name="页脚占位符 13"/>
          <p:cNvSpPr>
            <a:spLocks noGrp="1"/>
          </p:cNvSpPr>
          <p:nvPr>
            <p:ph type="ftr" sz="quarter" idx="11"/>
          </p:nvPr>
        </p:nvSpPr>
        <p:spPr/>
        <p:txBody>
          <a:bodyPr/>
          <a:lstStyle/>
          <a:p>
            <a:endParaRPr lang="zh-CN" altLang="en-US" dirty="0"/>
          </a:p>
        </p:txBody>
      </p:sp>
      <p:sp>
        <p:nvSpPr>
          <p:cNvPr id="15" name="灯片编号占位符 14"/>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任意多边形: 形状 90"/>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0" name="图片占位符 6"/>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fld>
            <a:endParaRPr lang="zh-CN" altLang="en-US" dirty="0"/>
          </a:p>
        </p:txBody>
      </p:sp>
      <p:sp>
        <p:nvSpPr>
          <p:cNvPr id="91" name="图片占位符 90"/>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p:cNvPicPr>
            <a:picLocks noChangeAspect="1"/>
          </p:cNvPicPr>
          <p:nvPr userDrawn="1"/>
        </p:nvPicPr>
        <p:blipFill>
          <a:blip r:embed="rId3"/>
          <a:stretch>
            <a:fillRect/>
          </a:stretch>
        </p:blipFill>
        <p:spPr>
          <a:xfrm>
            <a:off x="9966201" y="381027"/>
            <a:ext cx="1552699" cy="49497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fld>
            <a:endParaRPr lang="zh-CN" altLang="en-US" dirty="0"/>
          </a:p>
        </p:txBody>
      </p:sp>
      <p:sp>
        <p:nvSpPr>
          <p:cNvPr id="7" name="椭圆 6"/>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1.xml"/><Relationship Id="rId2" Type="http://schemas.openxmlformats.org/officeDocument/2006/relationships/hyperlink" Target="https://www.cs.cornell.edu/courses/cs5150/2022sp/" TargetMode="External"/><Relationship Id="rId1" Type="http://schemas.openxmlformats.org/officeDocument/2006/relationships/hyperlink" Target="https://www.bilibili.com/video/BV16g411M7r2?p=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7.png"/><Relationship Id="rId1" Type="http://schemas.openxmlformats.org/officeDocument/2006/relationships/tags" Target="../tags/tag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8.png"/><Relationship Id="rId1" Type="http://schemas.openxmlformats.org/officeDocument/2006/relationships/tags" Target="../tags/tag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9.png"/><Relationship Id="rId1" Type="http://schemas.openxmlformats.org/officeDocument/2006/relationships/tags" Target="../tags/tag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0.png"/><Relationship Id="rId1" Type="http://schemas.openxmlformats.org/officeDocument/2006/relationships/tags" Target="../tags/tag4.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11.xml"/><Relationship Id="rId3" Type="http://schemas.openxmlformats.org/officeDocument/2006/relationships/image" Target="../media/image11.wmf"/><Relationship Id="rId2" Type="http://schemas.openxmlformats.org/officeDocument/2006/relationships/oleObject" Target="../embeddings/oleObject1.bin"/><Relationship Id="rId1" Type="http://schemas.openxmlformats.org/officeDocument/2006/relationships/tags" Target="../tags/tag5.xml"/></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16.png"/><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7.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0.png"/><Relationship Id="rId1" Type="http://schemas.openxmlformats.org/officeDocument/2006/relationships/image" Target="../media/image19.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2.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3.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4.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5.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5.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6.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4.png"/><Relationship Id="rId1" Type="http://schemas.openxmlformats.org/officeDocument/2006/relationships/image" Target="../media/image27.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2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28.png"/><Relationship Id="rId1" Type="http://schemas.openxmlformats.org/officeDocument/2006/relationships/image" Target="../media/image29.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0.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0.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2.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35.png"/><Relationship Id="rId1" Type="http://schemas.openxmlformats.org/officeDocument/2006/relationships/image" Target="../media/image3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36.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xml"/><Relationship Id="rId1" Type="http://schemas.openxmlformats.org/officeDocument/2006/relationships/image" Target="../media/image37.png"/></Relationships>
</file>

<file path=ppt/slides/_rels/slide71.xml.rels><?xml version="1.0" encoding="UTF-8" standalone="yes"?>
<Relationships xmlns="http://schemas.openxmlformats.org/package/2006/relationships"><Relationship Id="rId6" Type="http://schemas.openxmlformats.org/officeDocument/2006/relationships/slideLayout" Target="../slideLayouts/slideLayout11.xml"/><Relationship Id="rId5" Type="http://schemas.openxmlformats.org/officeDocument/2006/relationships/image" Target="../media/image42.png"/><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4.png"/><Relationship Id="rId1" Type="http://schemas.openxmlformats.org/officeDocument/2006/relationships/image" Target="../media/image43.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45.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7.png"/><Relationship Id="rId1" Type="http://schemas.openxmlformats.org/officeDocument/2006/relationships/image" Target="../media/image46.png"/></Relationships>
</file>

<file path=ppt/slides/_rels/slide78.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6.png"/></Relationships>
</file>

<file path=ppt/slides/_rels/slide79.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image" Target="../media/image46.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47.png"/><Relationship Id="rId1" Type="http://schemas.openxmlformats.org/officeDocument/2006/relationships/image" Target="../media/image46.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3.png"/><Relationship Id="rId1" Type="http://schemas.openxmlformats.org/officeDocument/2006/relationships/image" Target="../media/image52.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54.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6.png"/><Relationship Id="rId1" Type="http://schemas.openxmlformats.org/officeDocument/2006/relationships/image" Target="../media/image55.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7.png"/><Relationship Id="rId1" Type="http://schemas.openxmlformats.org/officeDocument/2006/relationships/image" Target="../media/image55.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8.png"/><Relationship Id="rId1" Type="http://schemas.openxmlformats.org/officeDocument/2006/relationships/image" Target="../media/image55.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59.png"/><Relationship Id="rId1" Type="http://schemas.openxmlformats.org/officeDocument/2006/relationships/image" Target="../media/image55.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0.png"/><Relationship Id="rId1" Type="http://schemas.openxmlformats.org/officeDocument/2006/relationships/image" Target="../media/image55.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1.png"/><Relationship Id="rId1" Type="http://schemas.openxmlformats.org/officeDocument/2006/relationships/image" Target="../media/image55.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2.png"/></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63.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4.png"/><Relationship Id="rId1" Type="http://schemas.openxmlformats.org/officeDocument/2006/relationships/image" Target="../media/image63.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5.png"/><Relationship Id="rId1" Type="http://schemas.openxmlformats.org/officeDocument/2006/relationships/image" Target="../media/image63.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6.png"/><Relationship Id="rId1" Type="http://schemas.openxmlformats.org/officeDocument/2006/relationships/image" Target="../media/image63.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67.png"/><Relationship Id="rId1" Type="http://schemas.openxmlformats.org/officeDocument/2006/relationships/image" Target="../media/image63.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1.xml"/><Relationship Id="rId1" Type="http://schemas.openxmlformats.org/officeDocument/2006/relationships/image" Target="../media/image68.png"/></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1.xml"/><Relationship Id="rId1" Type="http://schemas.openxmlformats.org/officeDocument/2006/relationships/image" Target="../media/image69.png"/></Relationships>
</file>

<file path=ppt/slides/_rels/slide10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1.xml"/><Relationship Id="rId2" Type="http://schemas.openxmlformats.org/officeDocument/2006/relationships/image" Target="../media/image71.png"/><Relationship Id="rId1" Type="http://schemas.openxmlformats.org/officeDocument/2006/relationships/image" Target="../media/image70.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image" Target="../media/image72.png"/><Relationship Id="rId1" Type="http://schemas.openxmlformats.org/officeDocument/2006/relationships/image" Target="../media/image71.png"/></Relationships>
</file>

<file path=ppt/slides/_rels/slide111.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1.xml"/><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image" Target="../media/image7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image" Target="../media/image76.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p:cNvSpPr txBox="1"/>
          <p:nvPr/>
        </p:nvSpPr>
        <p:spPr>
          <a:xfrm>
            <a:off x="3791712" y="1239205"/>
            <a:ext cx="8191129"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indent="0" algn="r">
              <a:lnSpc>
                <a:spcPct val="100000"/>
              </a:lnSpc>
              <a:buNone/>
            </a:pPr>
            <a:r>
              <a:rPr lang="en-US" sz="4000" b="1" dirty="0">
                <a:solidFill>
                  <a:schemeClr val="accent1"/>
                </a:solidFill>
                <a:latin typeface="Helvetica" pitchFamily="2" charset="0"/>
                <a:cs typeface="Arial" panose="020B0604020202090204" pitchFamily="34" charset="0"/>
              </a:rPr>
              <a:t>B09S0061</a:t>
            </a:r>
            <a:r>
              <a:rPr lang="en-US" sz="4000" b="1" dirty="0">
                <a:solidFill>
                  <a:schemeClr val="accent1"/>
                </a:solidFill>
                <a:latin typeface="Helvetica" pitchFamily="2" charset="0"/>
                <a:cs typeface="Arial" panose="020B0604020202090204" pitchFamily="34" charset="0"/>
              </a:rPr>
              <a:t> </a:t>
            </a:r>
            <a:r>
              <a:rPr lang="en-US" altLang="zh-CN" sz="4000" b="1" dirty="0">
                <a:solidFill>
                  <a:schemeClr val="accent1"/>
                </a:solidFill>
                <a:latin typeface="Helvetica" pitchFamily="2" charset="0"/>
                <a:cs typeface="Arial" panose="020B0604020202090204" pitchFamily="34" charset="0"/>
                <a:sym typeface="+mn-lt"/>
              </a:rPr>
              <a:t>Software Engineering</a:t>
            </a:r>
            <a:endParaRPr lang="en-US" altLang="zh-CN" sz="4000" b="1" dirty="0">
              <a:solidFill>
                <a:schemeClr val="accent1"/>
              </a:solidFill>
              <a:latin typeface="Helvetica" pitchFamily="2" charset="0"/>
              <a:cs typeface="Arial" panose="020B0604020202090204" pitchFamily="34" charset="0"/>
              <a:sym typeface="+mn-lt"/>
            </a:endParaRPr>
          </a:p>
          <a:p>
            <a:pPr marL="0" indent="0" algn="r">
              <a:lnSpc>
                <a:spcPct val="100000"/>
              </a:lnSpc>
              <a:buNone/>
            </a:pPr>
            <a:r>
              <a:rPr lang="en-US" altLang="zh-CN" sz="4000" b="1" dirty="0">
                <a:solidFill>
                  <a:schemeClr val="accent1"/>
                </a:solidFill>
                <a:latin typeface="Helvetica" pitchFamily="2" charset="0"/>
                <a:cs typeface="Arial" panose="020B0604020202090204" pitchFamily="34" charset="0"/>
                <a:sym typeface="+mn-lt"/>
              </a:rPr>
              <a:t>Lecture 12</a:t>
            </a:r>
            <a:endParaRPr lang="zh-CN" altLang="en-US" sz="4000" b="1" dirty="0">
              <a:solidFill>
                <a:schemeClr val="accent1"/>
              </a:solidFill>
              <a:latin typeface="Helvetica" pitchFamily="2" charset="0"/>
              <a:cs typeface="Arial" panose="020B0604020202090204" pitchFamily="34" charset="0"/>
              <a:sym typeface="+mn-lt"/>
            </a:endParaRPr>
          </a:p>
        </p:txBody>
      </p:sp>
      <p:sp>
        <p:nvSpPr>
          <p:cNvPr id="64" name="矩形 63"/>
          <p:cNvSpPr/>
          <p:nvPr/>
        </p:nvSpPr>
        <p:spPr>
          <a:xfrm>
            <a:off x="8750859" y="4819809"/>
            <a:ext cx="3003067" cy="650875"/>
          </a:xfrm>
          <a:prstGeom prst="rect">
            <a:avLst/>
          </a:prstGeom>
        </p:spPr>
        <p:txBody>
          <a:bodyPr wrap="square" lIns="0" rIns="0">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2025/05/23</a:t>
            </a:r>
            <a:endParaRPr lang="zh-CN" altLang="en-US" sz="2800" dirty="0">
              <a:solidFill>
                <a:schemeClr val="accent1"/>
              </a:solidFill>
              <a:latin typeface="Helvetica" pitchFamily="2" charset="0"/>
              <a:cs typeface="Arial" panose="020B0604020202090204" pitchFamily="34" charset="0"/>
              <a:sym typeface="+mn-lt"/>
            </a:endParaRPr>
          </a:p>
        </p:txBody>
      </p:sp>
      <p:sp>
        <p:nvSpPr>
          <p:cNvPr id="67" name="矩形 66"/>
          <p:cNvSpPr/>
          <p:nvPr/>
        </p:nvSpPr>
        <p:spPr>
          <a:xfrm>
            <a:off x="5002654" y="4381010"/>
            <a:ext cx="6751272" cy="611514"/>
          </a:xfrm>
          <a:prstGeom prst="rect">
            <a:avLst/>
          </a:prstGeom>
        </p:spPr>
        <p:txBody>
          <a:bodyPr wrap="square">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Instructor: Liu, </a:t>
            </a:r>
            <a:r>
              <a:rPr lang="en-US" altLang="zh-CN" sz="2800" dirty="0" err="1">
                <a:solidFill>
                  <a:schemeClr val="accent1"/>
                </a:solidFill>
                <a:latin typeface="Helvetica" pitchFamily="2" charset="0"/>
                <a:cs typeface="Arial" panose="020B0604020202090204" pitchFamily="34" charset="0"/>
                <a:sym typeface="+mn-lt"/>
              </a:rPr>
              <a:t>Guangchi</a:t>
            </a:r>
            <a:r>
              <a:rPr lang="en-US" altLang="zh-CN" sz="2800" dirty="0">
                <a:solidFill>
                  <a:schemeClr val="accent1"/>
                </a:solidFill>
                <a:latin typeface="Helvetica" pitchFamily="2" charset="0"/>
                <a:cs typeface="Arial" panose="020B0604020202090204" pitchFamily="34" charset="0"/>
                <a:sym typeface="+mn-lt"/>
              </a:rPr>
              <a:t> Ph.D.</a:t>
            </a:r>
            <a:endParaRPr lang="en-US" altLang="zh-CN" sz="2800" dirty="0">
              <a:solidFill>
                <a:schemeClr val="accent1"/>
              </a:solidFill>
              <a:latin typeface="Helvetica" pitchFamily="2" charset="0"/>
              <a:cs typeface="Arial" panose="020B0604020202090204" pitchFamily="34" charset="0"/>
              <a:sym typeface="+mn-lt"/>
            </a:endParaRPr>
          </a:p>
        </p:txBody>
      </p:sp>
      <p:cxnSp>
        <p:nvCxnSpPr>
          <p:cNvPr id="3" name="直接连接符 2"/>
          <p:cNvCxnSpPr/>
          <p:nvPr/>
        </p:nvCxnSpPr>
        <p:spPr>
          <a:xfrm>
            <a:off x="11842946" y="4575127"/>
            <a:ext cx="0" cy="752777"/>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103" y="1226017"/>
            <a:ext cx="10946524" cy="70675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4</a:t>
            </a:r>
            <a:r>
              <a:rPr lang="en-US" altLang="zh-CN" sz="2000" b="1" baseline="30000" dirty="0">
                <a:solidFill>
                  <a:srgbClr val="515223"/>
                </a:solidFill>
                <a:latin typeface="Helvetica" pitchFamily="2" charset="0"/>
                <a:cs typeface="Arial" panose="020B0604020202090204" pitchFamily="34" charset="0"/>
              </a:rPr>
              <a:t>th</a:t>
            </a:r>
            <a:r>
              <a:rPr lang="en-US" altLang="zh-CN" sz="2000" b="1" dirty="0">
                <a:solidFill>
                  <a:srgbClr val="515223"/>
                </a:solidFill>
                <a:latin typeface="Helvetica" pitchFamily="2" charset="0"/>
                <a:cs typeface="Arial" panose="020B0604020202090204" pitchFamily="34" charset="0"/>
              </a:rPr>
              <a:t> Lab: </a:t>
            </a:r>
            <a:r>
              <a:rPr lang="en-US" altLang="zh-CN" sz="2000" b="1" dirty="0">
                <a:solidFill>
                  <a:srgbClr val="C00000"/>
                </a:solidFill>
                <a:latin typeface="Helvetica" pitchFamily="2" charset="0"/>
                <a:cs typeface="Arial" panose="020B0604020202090204" pitchFamily="34" charset="0"/>
              </a:rPr>
              <a:t>Jun 7</a:t>
            </a:r>
            <a:r>
              <a:rPr lang="en-US" altLang="zh-CN" sz="2000" b="1" baseline="30000" dirty="0">
                <a:solidFill>
                  <a:srgbClr val="C00000"/>
                </a:solidFill>
                <a:latin typeface="Helvetica" pitchFamily="2" charset="0"/>
                <a:cs typeface="Arial" panose="020B0604020202090204" pitchFamily="34" charset="0"/>
              </a:rPr>
              <a:t>th </a:t>
            </a:r>
            <a:r>
              <a:rPr lang="en-US" altLang="zh-CN" sz="2000" b="1" dirty="0">
                <a:solidFill>
                  <a:srgbClr val="C00000"/>
                </a:solidFill>
                <a:latin typeface="Helvetica" pitchFamily="2" charset="0"/>
                <a:cs typeface="Arial" panose="020B0604020202090204" pitchFamily="34" charset="0"/>
              </a:rPr>
              <a:t>(S</a:t>
            </a:r>
            <a:r>
              <a:rPr lang="en-US" altLang="zh-CN" sz="2000" b="1" dirty="0">
                <a:solidFill>
                  <a:srgbClr val="C00000"/>
                </a:solidFill>
                <a:latin typeface="Helvetica" pitchFamily="2" charset="0"/>
                <a:cs typeface="Arial" panose="020B0604020202090204" pitchFamily="34" charset="0"/>
              </a:rPr>
              <a:t>aturday), 14:00 – 17:25,  J6-102 </a:t>
            </a:r>
            <a:r>
              <a:rPr lang="en-US" altLang="zh-CN" sz="2000" b="1" dirty="0">
                <a:solidFill>
                  <a:srgbClr val="515223"/>
                </a:solidFill>
                <a:latin typeface="Helvetica" pitchFamily="2" charset="0"/>
                <a:cs typeface="Arial" panose="020B0604020202090204" pitchFamily="34" charset="0"/>
              </a:rPr>
              <a:t>(Lecture Classroom)</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622935" y="1216025"/>
            <a:ext cx="11568430" cy="70675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4</a:t>
            </a:r>
            <a:r>
              <a:rPr lang="en-US" altLang="zh-CN" sz="2000" b="1" baseline="30000" dirty="0">
                <a:solidFill>
                  <a:srgbClr val="515223"/>
                </a:solidFill>
                <a:latin typeface="Helvetica" pitchFamily="2" charset="0"/>
                <a:cs typeface="Arial" panose="020B0604020202090204" pitchFamily="34" charset="0"/>
              </a:rPr>
              <a:t>th</a:t>
            </a:r>
            <a:r>
              <a:rPr lang="en-US" altLang="zh-CN" sz="2000" b="1" dirty="0">
                <a:solidFill>
                  <a:srgbClr val="515223"/>
                </a:solidFill>
                <a:latin typeface="Helvetica" pitchFamily="2" charset="0"/>
                <a:cs typeface="Arial" panose="020B0604020202090204" pitchFamily="34" charset="0"/>
              </a:rPr>
              <a:t> Assignment will be uploaded to </a:t>
            </a:r>
            <a:r>
              <a:rPr lang="zh-CN" altLang="en-US" sz="2000" b="1" dirty="0">
                <a:solidFill>
                  <a:srgbClr val="515223"/>
                </a:solidFill>
                <a:latin typeface="Helvetica" pitchFamily="2" charset="0"/>
                <a:cs typeface="Arial" panose="020B0604020202090204" pitchFamily="34" charset="0"/>
              </a:rPr>
              <a:t>微助教</a:t>
            </a:r>
            <a:r>
              <a:rPr lang="en-US" altLang="zh-CN" sz="2000" b="1" dirty="0">
                <a:solidFill>
                  <a:srgbClr val="515223"/>
                </a:solidFill>
                <a:latin typeface="Helvetica" pitchFamily="2" charset="0"/>
                <a:cs typeface="Arial" panose="020B0604020202090204" pitchFamily="34" charset="0"/>
              </a:rPr>
              <a:t> next Monday </a:t>
            </a:r>
            <a:r>
              <a:rPr lang="zh-CN" altLang="en-US" sz="2000" b="1" dirty="0">
                <a:solidFill>
                  <a:srgbClr val="515223"/>
                </a:solidFill>
                <a:latin typeface="Helvetica" pitchFamily="2" charset="0"/>
                <a:cs typeface="Arial" panose="020B0604020202090204" pitchFamily="34" charset="0"/>
              </a:rPr>
              <a:t>（</a:t>
            </a:r>
            <a:r>
              <a:rPr lang="en-US" altLang="zh-CN" sz="2000" b="1" dirty="0">
                <a:solidFill>
                  <a:srgbClr val="C00000"/>
                </a:solidFill>
                <a:latin typeface="Helvetica" pitchFamily="2" charset="0"/>
                <a:cs typeface="Arial" panose="020B0604020202090204" pitchFamily="34" charset="0"/>
                <a:sym typeface="+mn-ea"/>
              </a:rPr>
              <a:t>May 26</a:t>
            </a:r>
            <a:r>
              <a:rPr lang="en-US" altLang="zh-CN" sz="2000" b="1" baseline="30000" dirty="0">
                <a:solidFill>
                  <a:srgbClr val="C00000"/>
                </a:solidFill>
                <a:latin typeface="Helvetica" pitchFamily="2" charset="0"/>
                <a:cs typeface="Arial" panose="020B0604020202090204" pitchFamily="34" charset="0"/>
                <a:sym typeface="+mn-ea"/>
              </a:rPr>
              <a:t>th </a:t>
            </a:r>
            <a:r>
              <a:rPr lang="en-US" altLang="zh-CN" sz="2000" b="1" dirty="0">
                <a:solidFill>
                  <a:srgbClr val="C00000"/>
                </a:solidFill>
                <a:latin typeface="Helvetica" pitchFamily="2" charset="0"/>
                <a:cs typeface="Arial" panose="020B0604020202090204" pitchFamily="34" charset="0"/>
                <a:sym typeface="+mn-ea"/>
              </a:rPr>
              <a:t>23:55 pm</a:t>
            </a:r>
            <a:r>
              <a:rPr lang="zh-CN" altLang="en-US" sz="2000" b="1" dirty="0">
                <a:solidFill>
                  <a:srgbClr val="515223"/>
                </a:solidFill>
                <a:latin typeface="Helvetica" pitchFamily="2" charset="0"/>
                <a:cs typeface="Arial" panose="020B0604020202090204" pitchFamily="34" charset="0"/>
              </a:rPr>
              <a:t>）， </a:t>
            </a:r>
            <a:r>
              <a:rPr lang="en-US" altLang="zh-CN" sz="2000" b="1" u="sng" dirty="0">
                <a:solidFill>
                  <a:srgbClr val="C00000"/>
                </a:solidFill>
                <a:latin typeface="Helvetica" pitchFamily="2" charset="0"/>
                <a:cs typeface="Arial" panose="020B0604020202090204" pitchFamily="34" charset="0"/>
              </a:rPr>
              <a:t>Due on June 2</a:t>
            </a:r>
            <a:r>
              <a:rPr lang="en-US" altLang="zh-CN" sz="2000" b="1" u="sng" baseline="30000" dirty="0">
                <a:solidFill>
                  <a:srgbClr val="C00000"/>
                </a:solidFill>
                <a:latin typeface="Helvetica" pitchFamily="2" charset="0"/>
                <a:cs typeface="Arial" panose="020B0604020202090204" pitchFamily="34" charset="0"/>
              </a:rPr>
              <a:t>nd</a:t>
            </a:r>
            <a:r>
              <a:rPr lang="en-US" altLang="zh-CN" sz="2000" b="1" u="sng" dirty="0">
                <a:solidFill>
                  <a:srgbClr val="C00000"/>
                </a:solidFill>
                <a:latin typeface="Helvetica" pitchFamily="2" charset="0"/>
                <a:cs typeface="Arial" panose="020B0604020202090204" pitchFamily="34" charset="0"/>
              </a:rPr>
              <a:t>, 23:55 pm</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966387" cy="790865"/>
          </a:xfrm>
        </p:spPr>
        <p:txBody>
          <a:bodyPr>
            <a:normAutofit/>
          </a:bodyPr>
          <a:lstStyle/>
          <a:p>
            <a:r>
              <a:rPr lang="en-US" altLang="zh-CN" dirty="0"/>
              <a:t>Heads Up</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623570" y="1215390"/>
            <a:ext cx="11568430" cy="706755"/>
          </a:xfrm>
          <a:prstGeom prst="rect">
            <a:avLst/>
          </a:prstGeom>
          <a:noFill/>
        </p:spPr>
        <p:txBody>
          <a:bodyPr wrap="square">
            <a:spAutoFit/>
          </a:bodyPr>
          <a:p>
            <a:r>
              <a:rPr lang="en-US" altLang="zh-CN" sz="2000" b="1" dirty="0">
                <a:solidFill>
                  <a:srgbClr val="515223"/>
                </a:solidFill>
                <a:latin typeface="Helvetica" pitchFamily="2" charset="0"/>
                <a:cs typeface="Arial" panose="020B0604020202090204" pitchFamily="34" charset="0"/>
              </a:rPr>
              <a:t>Final Project Report</a:t>
            </a:r>
            <a:r>
              <a:rPr lang="zh-CN" altLang="en-US" sz="2000" b="1" dirty="0">
                <a:solidFill>
                  <a:srgbClr val="515223"/>
                </a:solidFill>
                <a:latin typeface="Helvetica" pitchFamily="2" charset="0"/>
                <a:cs typeface="Arial" panose="020B0604020202090204" pitchFamily="34" charset="0"/>
              </a:rPr>
              <a:t>：</a:t>
            </a:r>
            <a:r>
              <a:rPr lang="en-US" altLang="zh-CN" sz="2000" b="1" u="sng" dirty="0">
                <a:solidFill>
                  <a:srgbClr val="C00000"/>
                </a:solidFill>
                <a:latin typeface="Helvetica" pitchFamily="2" charset="0"/>
                <a:cs typeface="Arial" panose="020B0604020202090204" pitchFamily="34" charset="0"/>
              </a:rPr>
              <a:t>Due on June 12th</a:t>
            </a:r>
            <a:r>
              <a:rPr lang="en-US" altLang="zh-CN" sz="2000" b="1" dirty="0">
                <a:solidFill>
                  <a:srgbClr val="515223"/>
                </a:solidFill>
                <a:latin typeface="Helvetica" pitchFamily="2" charset="0"/>
                <a:cs typeface="Arial" panose="020B0604020202090204" pitchFamily="34" charset="0"/>
              </a:rPr>
              <a:t>, including:</a:t>
            </a:r>
            <a:r>
              <a:rPr lang="en-US" altLang="zh-CN" sz="2000" b="1" dirty="0">
                <a:solidFill>
                  <a:srgbClr val="FF0000"/>
                </a:solidFill>
                <a:latin typeface="Helvetica" pitchFamily="2" charset="0"/>
                <a:cs typeface="Arial" panose="020B0604020202090204" pitchFamily="34" charset="0"/>
              </a:rPr>
              <a:t> </a:t>
            </a:r>
            <a:r>
              <a:rPr lang="en-US" altLang="zh-CN" sz="2000" b="1" dirty="0">
                <a:solidFill>
                  <a:srgbClr val="C00000"/>
                </a:solidFill>
                <a:latin typeface="Helvetica" pitchFamily="2" charset="0"/>
                <a:cs typeface="Arial" panose="020B0604020202090204" pitchFamily="34" charset="0"/>
              </a:rPr>
              <a:t>final report.pdf</a:t>
            </a:r>
            <a:r>
              <a:rPr lang="en-US" altLang="zh-CN" sz="2000" b="1" dirty="0">
                <a:solidFill>
                  <a:srgbClr val="515223"/>
                </a:solidFill>
                <a:latin typeface="Helvetica" pitchFamily="2" charset="0"/>
                <a:cs typeface="Arial" panose="020B0604020202090204" pitchFamily="34" charset="0"/>
              </a:rPr>
              <a:t>, </a:t>
            </a:r>
            <a:r>
              <a:rPr lang="en-US" altLang="zh-CN" sz="2000" b="1" dirty="0">
                <a:solidFill>
                  <a:srgbClr val="C00000"/>
                </a:solidFill>
                <a:latin typeface="Helvetica" pitchFamily="2" charset="0"/>
                <a:cs typeface="Arial" panose="020B0604020202090204" pitchFamily="34" charset="0"/>
              </a:rPr>
              <a:t>demo video</a:t>
            </a:r>
            <a:r>
              <a:rPr lang="en-US" altLang="zh-CN" sz="2000" b="1" dirty="0">
                <a:solidFill>
                  <a:srgbClr val="515223"/>
                </a:solidFill>
                <a:latin typeface="Helvetica" pitchFamily="2" charset="0"/>
                <a:cs typeface="Arial" panose="020B0604020202090204" pitchFamily="34" charset="0"/>
              </a:rPr>
              <a:t>, </a:t>
            </a:r>
            <a:r>
              <a:rPr lang="en-US" altLang="zh-CN" sz="2000" b="1" dirty="0">
                <a:solidFill>
                  <a:srgbClr val="C00000"/>
                </a:solidFill>
                <a:latin typeface="Helvetica" pitchFamily="2" charset="0"/>
                <a:cs typeface="Arial" panose="020B0604020202090204" pitchFamily="34" charset="0"/>
              </a:rPr>
              <a:t>github link</a:t>
            </a:r>
            <a:endParaRPr lang="en-US" altLang="zh-CN" sz="2000" b="1" dirty="0">
              <a:solidFill>
                <a:srgbClr val="C00000"/>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Send to your TA via QQ</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en-US" altLang="zh-CN" sz="3700" b="1" dirty="0">
                <a:solidFill>
                  <a:schemeClr val="accent1"/>
                </a:solidFill>
                <a:latin typeface="Helvetica" pitchFamily="2" charset="0"/>
                <a:cs typeface="+mn-ea"/>
              </a:rPr>
              <a:t>Course Review</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01</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ONE</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Grading Scale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240570" y="1148832"/>
            <a:ext cx="10573057" cy="4707890"/>
          </a:xfrm>
          <a:prstGeom prst="rect">
            <a:avLst/>
          </a:prstGeom>
          <a:noFill/>
        </p:spPr>
        <p:txBody>
          <a:bodyPr wrap="square">
            <a:spAutoFit/>
          </a:bodyPr>
          <a:lstStyle/>
          <a:p>
            <a:pPr>
              <a:defRPr/>
            </a:pPr>
            <a:r>
              <a:rPr lang="en-US" sz="2000" b="1" dirty="0">
                <a:solidFill>
                  <a:srgbClr val="515223"/>
                </a:solidFill>
                <a:latin typeface="Helvetica" pitchFamily="2" charset="0"/>
                <a:cs typeface="Arial" panose="020B0604020202090204" pitchFamily="34" charset="0"/>
              </a:rPr>
              <a:t>Attendance/In-Class Questions: 30%</a:t>
            </a:r>
            <a:endParaRPr lang="en-US" sz="2000" b="1" dirty="0">
              <a:solidFill>
                <a:srgbClr val="515223"/>
              </a:solidFill>
              <a:latin typeface="Helvetica" pitchFamily="2" charset="0"/>
              <a:cs typeface="Arial" panose="020B0604020202090204" pitchFamily="34" charset="0"/>
            </a:endParaRPr>
          </a:p>
          <a:p>
            <a:pPr>
              <a:defRPr/>
            </a:pPr>
            <a:r>
              <a:rPr lang="en-US" b="1" dirty="0">
                <a:solidFill>
                  <a:srgbClr val="515223"/>
                </a:solidFill>
                <a:latin typeface="Helvetica" pitchFamily="2" charset="0"/>
                <a:cs typeface="Arial" panose="020B0604020202090204" pitchFamily="34" charset="0"/>
              </a:rPr>
              <a:t>	</a:t>
            </a:r>
            <a:r>
              <a:rPr lang="en-US" dirty="0">
                <a:cs typeface="Arial" panose="020B0604020202090204" pitchFamily="34" charset="0"/>
              </a:rPr>
              <a:t>Randomly pick students to answer my questions --- </a:t>
            </a:r>
            <a:r>
              <a:rPr lang="en-US" b="1" dirty="0">
                <a:solidFill>
                  <a:srgbClr val="515223"/>
                </a:solidFill>
                <a:cs typeface="Arial" panose="020B0604020202090204" pitchFamily="34" charset="0"/>
              </a:rPr>
              <a:t>10%</a:t>
            </a:r>
            <a:endParaRPr lang="en-US" b="1" dirty="0">
              <a:solidFill>
                <a:srgbClr val="515223"/>
              </a:solidFill>
              <a:cs typeface="Arial" panose="020B0604020202090204" pitchFamily="34" charset="0"/>
            </a:endParaRPr>
          </a:p>
          <a:p>
            <a:pPr>
              <a:defRPr/>
            </a:pPr>
            <a:r>
              <a:rPr lang="en-US" dirty="0">
                <a:cs typeface="Arial" panose="020B0604020202090204" pitchFamily="34" charset="0"/>
              </a:rPr>
              <a:t>	Will lose points if you don’t show up or respond well (Second-major student is excluded)</a:t>
            </a:r>
            <a:endParaRPr lang="en-US" dirty="0">
              <a:cs typeface="Arial" panose="020B0604020202090204" pitchFamily="34" charset="0"/>
            </a:endParaRPr>
          </a:p>
          <a:p>
            <a:pPr>
              <a:defRPr/>
            </a:pPr>
            <a:r>
              <a:rPr lang="en-US" dirty="0">
                <a:cs typeface="Arial" panose="020B0604020202090204" pitchFamily="34" charset="0"/>
              </a:rPr>
              <a:t>	4 take-home assignments --- </a:t>
            </a:r>
            <a:r>
              <a:rPr lang="en-US" b="1" dirty="0">
                <a:solidFill>
                  <a:srgbClr val="515223"/>
                </a:solidFill>
                <a:cs typeface="Arial" panose="020B0604020202090204" pitchFamily="34" charset="0"/>
              </a:rPr>
              <a:t>20%</a:t>
            </a:r>
            <a:endParaRPr lang="en-US" dirty="0">
              <a:cs typeface="Arial" panose="020B0604020202090204" pitchFamily="34" charset="0"/>
            </a:endParaRPr>
          </a:p>
          <a:p>
            <a:pPr>
              <a:defRPr/>
            </a:pPr>
            <a:r>
              <a:rPr lang="en-US" dirty="0">
                <a:cs typeface="Arial" panose="020B0604020202090204" pitchFamily="34" charset="0"/>
              </a:rPr>
              <a:t>	</a:t>
            </a:r>
            <a:r>
              <a:rPr lang="en-US" u="sng" dirty="0">
                <a:solidFill>
                  <a:srgbClr val="C00000"/>
                </a:solidFill>
                <a:cs typeface="Arial" panose="020B0604020202090204" pitchFamily="34" charset="0"/>
              </a:rPr>
              <a:t>Score will be counted individually</a:t>
            </a:r>
            <a:endParaRPr lang="en-US" u="sng" dirty="0">
              <a:solidFill>
                <a:srgbClr val="C00000"/>
              </a:solidFill>
              <a:cs typeface="Arial" panose="020B0604020202090204" pitchFamily="34" charset="0"/>
            </a:endParaRPr>
          </a:p>
          <a:p>
            <a:pPr>
              <a:defRPr/>
            </a:pPr>
            <a:endParaRPr lang="en-US" sz="2000" b="1" dirty="0">
              <a:solidFill>
                <a:srgbClr val="515223"/>
              </a:solidFill>
              <a:latin typeface="Helvetica" pitchFamily="2" charset="0"/>
              <a:cs typeface="Arial" panose="020B0604020202090204" pitchFamily="34" charset="0"/>
            </a:endParaRPr>
          </a:p>
          <a:p>
            <a:pPr>
              <a:defRPr/>
            </a:pPr>
            <a:r>
              <a:rPr lang="en-US" sz="2000" b="1" dirty="0">
                <a:solidFill>
                  <a:srgbClr val="515223"/>
                </a:solidFill>
                <a:latin typeface="Helvetica" pitchFamily="2" charset="0"/>
                <a:cs typeface="Arial" panose="020B0604020202090204" pitchFamily="34" charset="0"/>
              </a:rPr>
              <a:t>Final Exam: 40%</a:t>
            </a:r>
            <a:endParaRPr lang="en-US" sz="2000" b="1" dirty="0">
              <a:solidFill>
                <a:srgbClr val="515223"/>
              </a:solidFill>
              <a:latin typeface="Helvetica" pitchFamily="2" charset="0"/>
              <a:cs typeface="Arial" panose="020B0604020202090204" pitchFamily="34" charset="0"/>
            </a:endParaRPr>
          </a:p>
          <a:p>
            <a:pPr>
              <a:defRPr/>
            </a:pPr>
            <a:r>
              <a:rPr lang="en-US" sz="2000" b="1" dirty="0">
                <a:solidFill>
                  <a:srgbClr val="515223"/>
                </a:solidFill>
                <a:latin typeface="Helvetica" pitchFamily="2" charset="0"/>
                <a:cs typeface="Arial" panose="020B0604020202090204" pitchFamily="34" charset="0"/>
              </a:rPr>
              <a:t>	</a:t>
            </a:r>
            <a:r>
              <a:rPr lang="en-US" sz="2000" b="1" dirty="0">
                <a:solidFill>
                  <a:srgbClr val="C00000"/>
                </a:solidFill>
                <a:latin typeface="Helvetica" pitchFamily="2" charset="0"/>
                <a:cs typeface="Arial" panose="020B0604020202090204" pitchFamily="34" charset="0"/>
              </a:rPr>
              <a:t>Jun 12</a:t>
            </a:r>
            <a:r>
              <a:rPr lang="en-US" sz="2000" b="1" baseline="30000" dirty="0">
                <a:solidFill>
                  <a:srgbClr val="C00000"/>
                </a:solidFill>
                <a:latin typeface="Helvetica" pitchFamily="2" charset="0"/>
                <a:cs typeface="Arial" panose="020B0604020202090204" pitchFamily="34" charset="0"/>
              </a:rPr>
              <a:t>nd</a:t>
            </a:r>
            <a:r>
              <a:rPr lang="en-US" sz="2000" b="1" dirty="0">
                <a:solidFill>
                  <a:srgbClr val="C00000"/>
                </a:solidFill>
                <a:latin typeface="Helvetica" pitchFamily="2" charset="0"/>
                <a:cs typeface="Arial" panose="020B0604020202090204" pitchFamily="34" charset="0"/>
              </a:rPr>
              <a:t>, 14:00-16:00, J6-301/302</a:t>
            </a:r>
            <a:endParaRPr lang="en-US" sz="2000" b="1" dirty="0">
              <a:solidFill>
                <a:srgbClr val="C00000"/>
              </a:solidFill>
              <a:latin typeface="Helvetica" pitchFamily="2" charset="0"/>
              <a:cs typeface="Arial" panose="020B0604020202090204" pitchFamily="34" charset="0"/>
            </a:endParaRPr>
          </a:p>
          <a:p>
            <a:pPr>
              <a:buFont typeface="Wingdings" panose="05000000000000000000" pitchFamily="2" charset="2"/>
              <a:buNone/>
              <a:defRPr/>
            </a:pPr>
            <a:r>
              <a:rPr lang="en-US" dirty="0"/>
              <a:t>	Basic concepts and understandings</a:t>
            </a:r>
            <a:endParaRPr lang="en-US" dirty="0"/>
          </a:p>
          <a:p>
            <a:pPr>
              <a:buFont typeface="Wingdings" panose="05000000000000000000" pitchFamily="2" charset="2"/>
              <a:buNone/>
              <a:defRPr/>
            </a:pPr>
            <a:r>
              <a:rPr lang="en-US" dirty="0"/>
              <a:t>	Single-choice, true/false and short-answer questions (like the take-home assignments)</a:t>
            </a:r>
            <a:endParaRPr lang="en-US" dirty="0"/>
          </a:p>
          <a:p>
            <a:pPr>
              <a:buFont typeface="Wingdings" panose="05000000000000000000" pitchFamily="2" charset="2"/>
              <a:buNone/>
              <a:defRPr/>
            </a:pPr>
            <a:r>
              <a:rPr lang="en-US" dirty="0"/>
              <a:t>	Closed-book exam</a:t>
            </a:r>
            <a:endParaRPr lang="en-US" dirty="0"/>
          </a:p>
          <a:p>
            <a:pPr>
              <a:buFont typeface="Wingdings" panose="05000000000000000000" pitchFamily="2" charset="2"/>
              <a:buNone/>
              <a:defRPr/>
            </a:pPr>
            <a:r>
              <a:rPr lang="en-US" dirty="0"/>
              <a:t>	Lecture 1 ~ 11</a:t>
            </a:r>
            <a:endParaRPr lang="en-US" dirty="0"/>
          </a:p>
          <a:p>
            <a:pPr>
              <a:buFont typeface="Wingdings" panose="05000000000000000000" pitchFamily="2" charset="2"/>
              <a:buNone/>
              <a:defRPr/>
            </a:pPr>
            <a:r>
              <a:rPr lang="en-US" dirty="0"/>
              <a:t>	</a:t>
            </a:r>
            <a:r>
              <a:rPr lang="en-US" altLang="zh-CN" b="1" dirty="0">
                <a:solidFill>
                  <a:srgbClr val="C00000"/>
                </a:solidFill>
              </a:rPr>
              <a:t>15</a:t>
            </a:r>
            <a:r>
              <a:rPr lang="en-US" b="1" dirty="0">
                <a:solidFill>
                  <a:srgbClr val="C00000"/>
                </a:solidFill>
              </a:rPr>
              <a:t> single choice, </a:t>
            </a:r>
            <a:r>
              <a:rPr lang="en-US" altLang="zh-CN" b="1" dirty="0">
                <a:solidFill>
                  <a:srgbClr val="C00000"/>
                </a:solidFill>
              </a:rPr>
              <a:t>15</a:t>
            </a:r>
            <a:r>
              <a:rPr lang="en-US" b="1" dirty="0">
                <a:solidFill>
                  <a:srgbClr val="C00000"/>
                </a:solidFill>
              </a:rPr>
              <a:t> true/false, </a:t>
            </a:r>
            <a:r>
              <a:rPr lang="en-US" altLang="zh-CN" b="1" dirty="0">
                <a:solidFill>
                  <a:srgbClr val="C00000"/>
                </a:solidFill>
              </a:rPr>
              <a:t>5</a:t>
            </a:r>
            <a:r>
              <a:rPr lang="en-US" b="1" dirty="0">
                <a:solidFill>
                  <a:srgbClr val="C00000"/>
                </a:solidFill>
              </a:rPr>
              <a:t> short answers</a:t>
            </a:r>
            <a:endParaRPr lang="en-US" b="1" dirty="0">
              <a:solidFill>
                <a:srgbClr val="C00000"/>
              </a:solidFill>
            </a:endParaRPr>
          </a:p>
          <a:p>
            <a:pPr>
              <a:buFont typeface="Wingdings" panose="05000000000000000000" pitchFamily="2" charset="2"/>
              <a:buNone/>
              <a:defRPr/>
            </a:pPr>
            <a:r>
              <a:rPr lang="en-US" dirty="0">
                <a:cs typeface="Arial" panose="020B0604020202090204" pitchFamily="34" charset="0"/>
              </a:rPr>
              <a:t>	</a:t>
            </a:r>
            <a:r>
              <a:rPr lang="en-US" u="sng" dirty="0">
                <a:solidFill>
                  <a:srgbClr val="C00000"/>
                </a:solidFill>
                <a:cs typeface="Arial" panose="020B0604020202090204" pitchFamily="34" charset="0"/>
              </a:rPr>
              <a:t>Score will be counted individually</a:t>
            </a:r>
            <a:endParaRPr lang="en-US" u="sng" dirty="0">
              <a:solidFill>
                <a:srgbClr val="C00000"/>
              </a:solidFill>
              <a:cs typeface="Arial" panose="020B0604020202090204" pitchFamily="34" charset="0"/>
            </a:endParaRPr>
          </a:p>
          <a:p>
            <a:pPr>
              <a:defRPr/>
            </a:pPr>
            <a:r>
              <a:rPr lang="en-US" sz="2000" dirty="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pPr lvl="1">
              <a:defRPr/>
            </a:pPr>
            <a:r>
              <a:rPr lang="en-US" sz="1600" b="0" kern="0" dirty="0">
                <a:effectLst/>
              </a:rPr>
              <a:t>	</a:t>
            </a:r>
            <a:r>
              <a:rPr lang="en-US" sz="2000" dirty="0">
                <a:cs typeface="Arial" panose="020B0604020202090204" pitchFamily="34" charset="0"/>
              </a:rPr>
              <a:t>	</a:t>
            </a:r>
            <a:endParaRPr lang="en-US" sz="1600" dirty="0">
              <a:cs typeface="Arial" panose="020B060402020209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Grading Scale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1240570" y="1148832"/>
            <a:ext cx="10951430" cy="4062651"/>
          </a:xfrm>
          <a:prstGeom prst="rect">
            <a:avLst/>
          </a:prstGeom>
          <a:noFill/>
        </p:spPr>
        <p:txBody>
          <a:bodyPr wrap="square">
            <a:spAutoFit/>
          </a:bodyPr>
          <a:lstStyle/>
          <a:p>
            <a:pPr>
              <a:defRPr/>
            </a:pPr>
            <a:r>
              <a:rPr lang="en-US" sz="2000" dirty="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pPr>
              <a:defRPr/>
            </a:pPr>
            <a:r>
              <a:rPr lang="en-US" sz="2000" b="1" dirty="0">
                <a:solidFill>
                  <a:srgbClr val="515223"/>
                </a:solidFill>
                <a:latin typeface="Helvetica" pitchFamily="2" charset="0"/>
                <a:cs typeface="Arial" panose="020B0604020202090204" pitchFamily="34" charset="0"/>
              </a:rPr>
              <a:t>Project: 30%</a:t>
            </a:r>
            <a:endParaRPr lang="en-US" sz="2000" b="1" dirty="0">
              <a:solidFill>
                <a:srgbClr val="515223"/>
              </a:solidFill>
              <a:latin typeface="Helvetica" pitchFamily="2" charset="0"/>
              <a:cs typeface="Arial" panose="020B0604020202090204" pitchFamily="34" charset="0"/>
            </a:endParaRPr>
          </a:p>
          <a:p>
            <a:pPr>
              <a:defRPr/>
            </a:pPr>
            <a:r>
              <a:rPr lang="en-US" b="1" kern="0" dirty="0">
                <a:solidFill>
                  <a:srgbClr val="515223"/>
                </a:solidFill>
                <a:latin typeface="Helvetica" pitchFamily="2" charset="0"/>
                <a:cs typeface="Arial" panose="020B0604020202090204" pitchFamily="34" charset="0"/>
              </a:rPr>
              <a:t>	</a:t>
            </a:r>
            <a:r>
              <a:rPr lang="en-US" b="0" kern="0" dirty="0">
                <a:effectLst/>
              </a:rPr>
              <a:t>Accomplish an industrial </a:t>
            </a:r>
            <a:r>
              <a:rPr lang="en-US" kern="0" dirty="0"/>
              <a:t>p</a:t>
            </a:r>
            <a:r>
              <a:rPr lang="en-US" b="0" kern="0" dirty="0">
                <a:effectLst/>
              </a:rPr>
              <a:t>roject, e.g., developing a SaaS App on cloud</a:t>
            </a:r>
            <a:endParaRPr lang="en-US" b="1" kern="0" dirty="0">
              <a:solidFill>
                <a:srgbClr val="515223"/>
              </a:solidFill>
              <a:latin typeface="Helvetica" pitchFamily="2" charset="0"/>
              <a:cs typeface="Arial" panose="020B0604020202090204" pitchFamily="34" charset="0"/>
            </a:endParaRPr>
          </a:p>
          <a:p>
            <a:pPr>
              <a:defRPr/>
            </a:pPr>
            <a:r>
              <a:rPr lang="en-US" b="1" kern="0" dirty="0">
                <a:solidFill>
                  <a:srgbClr val="515223"/>
                </a:solidFill>
                <a:latin typeface="Helvetica" pitchFamily="2" charset="0"/>
                <a:cs typeface="Arial" panose="020B0604020202090204" pitchFamily="34" charset="0"/>
              </a:rPr>
              <a:t>	</a:t>
            </a:r>
            <a:r>
              <a:rPr lang="en-US" kern="0" dirty="0"/>
              <a:t>4 ~ 6 students a team </a:t>
            </a:r>
            <a:endParaRPr lang="en-US" kern="0" dirty="0"/>
          </a:p>
          <a:p>
            <a:pPr>
              <a:defRPr/>
            </a:pPr>
            <a:r>
              <a:rPr lang="en-US" kern="0" dirty="0"/>
              <a:t>		Claim your Project Name, Team Name, Members in Team Info (QQ </a:t>
            </a:r>
            <a:r>
              <a:rPr lang="en-US" kern="0" dirty="0" err="1"/>
              <a:t>群在线文档</a:t>
            </a:r>
            <a:r>
              <a:rPr lang="en-US" kern="0" dirty="0"/>
              <a:t>)</a:t>
            </a:r>
            <a:endParaRPr lang="en-US" b="0" kern="0" dirty="0">
              <a:effectLst/>
            </a:endParaRPr>
          </a:p>
          <a:p>
            <a:pPr lvl="1">
              <a:defRPr/>
            </a:pPr>
            <a:r>
              <a:rPr lang="en-US" b="0" kern="0" dirty="0">
                <a:effectLst/>
              </a:rPr>
              <a:t>	</a:t>
            </a:r>
            <a:r>
              <a:rPr lang="en-US" u="sng" kern="0" dirty="0">
                <a:solidFill>
                  <a:srgbClr val="C00000"/>
                </a:solidFill>
              </a:rPr>
              <a:t>F</a:t>
            </a:r>
            <a:r>
              <a:rPr lang="en-US" b="0" u="sng" kern="0" dirty="0">
                <a:solidFill>
                  <a:srgbClr val="C00000"/>
                </a:solidFill>
                <a:effectLst/>
              </a:rPr>
              <a:t>ollow the process</a:t>
            </a:r>
            <a:r>
              <a:rPr lang="en-US" u="sng" kern="0" dirty="0">
                <a:solidFill>
                  <a:srgbClr val="C00000"/>
                </a:solidFill>
              </a:rPr>
              <a:t> </a:t>
            </a:r>
            <a:r>
              <a:rPr lang="en-US" b="0" u="sng" kern="0" dirty="0">
                <a:solidFill>
                  <a:srgbClr val="C00000"/>
                </a:solidFill>
                <a:effectLst/>
              </a:rPr>
              <a:t>learned in class </a:t>
            </a:r>
            <a:r>
              <a:rPr lang="en-US" b="0" kern="0" dirty="0">
                <a:effectLst/>
              </a:rPr>
              <a:t>and show your </a:t>
            </a:r>
            <a:r>
              <a:rPr lang="en-US" b="0" u="sng" kern="0" dirty="0">
                <a:solidFill>
                  <a:srgbClr val="C00000"/>
                </a:solidFill>
                <a:effectLst/>
              </a:rPr>
              <a:t>own </a:t>
            </a:r>
            <a:r>
              <a:rPr lang="en-US" u="sng" kern="0" dirty="0">
                <a:solidFill>
                  <a:srgbClr val="C00000"/>
                </a:solidFill>
              </a:rPr>
              <a:t>contribution</a:t>
            </a:r>
            <a:endParaRPr lang="en-US" b="0" u="sng" kern="0" dirty="0">
              <a:solidFill>
                <a:srgbClr val="C00000"/>
              </a:solidFill>
              <a:effectLst/>
            </a:endParaRPr>
          </a:p>
          <a:p>
            <a:pPr lvl="1">
              <a:defRPr/>
            </a:pPr>
            <a:r>
              <a:rPr lang="en-US" kern="0" dirty="0"/>
              <a:t>	4 Labs: discuss with us about your project following the process</a:t>
            </a:r>
            <a:endParaRPr lang="en-US" kern="0" dirty="0"/>
          </a:p>
          <a:p>
            <a:pPr lvl="1">
              <a:defRPr/>
            </a:pPr>
            <a:r>
              <a:rPr lang="en-US" kern="0" dirty="0"/>
              <a:t>		Requirements, System Design, Program Dev, Testing</a:t>
            </a:r>
            <a:endParaRPr lang="en-US" b="0" kern="0" dirty="0">
              <a:effectLst/>
            </a:endParaRPr>
          </a:p>
          <a:p>
            <a:pPr lvl="1">
              <a:defRPr/>
            </a:pPr>
            <a:r>
              <a:rPr lang="en-US" kern="0" dirty="0"/>
              <a:t>	Final Report: report file (.pdf), source code (</a:t>
            </a:r>
            <a:r>
              <a:rPr lang="en-US" kern="0" dirty="0" err="1"/>
              <a:t>github</a:t>
            </a:r>
            <a:r>
              <a:rPr lang="en-US" kern="0" dirty="0"/>
              <a:t>/</a:t>
            </a:r>
            <a:r>
              <a:rPr lang="en-US" kern="0" dirty="0" err="1"/>
              <a:t>gitee</a:t>
            </a:r>
            <a:r>
              <a:rPr lang="en-US" kern="0" dirty="0"/>
              <a:t> link) and demo video</a:t>
            </a:r>
            <a:endParaRPr lang="en-US" kern="0" dirty="0"/>
          </a:p>
          <a:p>
            <a:pPr lvl="1">
              <a:defRPr/>
            </a:pPr>
            <a:r>
              <a:rPr lang="en-US" kern="0" dirty="0"/>
              <a:t>		Will include the major components in software development process (introduce later)</a:t>
            </a:r>
            <a:endParaRPr lang="en-US" kern="0" dirty="0"/>
          </a:p>
          <a:p>
            <a:pPr lvl="1">
              <a:defRPr/>
            </a:pPr>
            <a:r>
              <a:rPr lang="en-US" b="0" kern="0" dirty="0">
                <a:effectLst/>
              </a:rPr>
              <a:t>	Every student in this class will have </a:t>
            </a:r>
            <a:r>
              <a:rPr lang="en-US" b="0" kern="0" dirty="0" err="1">
                <a:effectLst/>
              </a:rPr>
              <a:t>HuaweiYun</a:t>
            </a:r>
            <a:r>
              <a:rPr lang="en-US" b="0" kern="0" dirty="0">
                <a:effectLst/>
              </a:rPr>
              <a:t> credits for project development</a:t>
            </a:r>
            <a:endParaRPr lang="en-US" b="0" kern="0" dirty="0">
              <a:effectLst/>
            </a:endParaRPr>
          </a:p>
          <a:p>
            <a:pPr lvl="1">
              <a:defRPr/>
            </a:pPr>
            <a:r>
              <a:rPr lang="en-US" kern="0" dirty="0"/>
              <a:t>	</a:t>
            </a:r>
            <a:r>
              <a:rPr lang="en-US" u="sng" dirty="0">
                <a:solidFill>
                  <a:srgbClr val="C00000"/>
                </a:solidFill>
                <a:cs typeface="Arial" panose="020B0604020202090204" pitchFamily="34" charset="0"/>
              </a:rPr>
              <a:t>Score will be counted </a:t>
            </a:r>
            <a:r>
              <a:rPr lang="en-US" u="sng" dirty="0" err="1">
                <a:solidFill>
                  <a:srgbClr val="C00000"/>
                </a:solidFill>
                <a:cs typeface="Arial" panose="020B0604020202090204" pitchFamily="34" charset="0"/>
              </a:rPr>
              <a:t>grouply</a:t>
            </a:r>
            <a:endParaRPr lang="en-US" u="sng" dirty="0">
              <a:solidFill>
                <a:srgbClr val="C00000"/>
              </a:solidFill>
              <a:cs typeface="Arial" panose="020B0604020202090204" pitchFamily="34" charset="0"/>
            </a:endParaRPr>
          </a:p>
          <a:p>
            <a:pPr lvl="1">
              <a:defRPr/>
            </a:pPr>
            <a:endParaRPr lang="en-US" b="0" kern="0" dirty="0">
              <a:effectLst/>
            </a:endParaRPr>
          </a:p>
          <a:p>
            <a:pPr lvl="1">
              <a:defRPr/>
            </a:pPr>
            <a:r>
              <a:rPr lang="en-US" sz="1600" b="0" kern="0" dirty="0">
                <a:effectLst/>
              </a:rPr>
              <a:t>	</a:t>
            </a:r>
            <a:r>
              <a:rPr lang="en-US" sz="2000" dirty="0">
                <a:cs typeface="Arial" panose="020B0604020202090204" pitchFamily="34" charset="0"/>
              </a:rPr>
              <a:t>	</a:t>
            </a:r>
            <a:endParaRPr lang="en-US" sz="1600" dirty="0">
              <a:cs typeface="Arial" panose="020B0604020202090204" pitchFamily="34" charset="0"/>
            </a:endParaRPr>
          </a:p>
        </p:txBody>
      </p:sp>
      <p:sp>
        <p:nvSpPr>
          <p:cNvPr id="5" name="Rectangle 4"/>
          <p:cNvSpPr/>
          <p:nvPr/>
        </p:nvSpPr>
        <p:spPr bwMode="auto">
          <a:xfrm>
            <a:off x="2911695" y="5114303"/>
            <a:ext cx="1838325" cy="746125"/>
          </a:xfrm>
          <a:prstGeom prst="rect">
            <a:avLst/>
          </a:prstGeom>
          <a:noFill/>
          <a:ln w="9525" cap="flat" cmpd="sng" algn="ctr">
            <a:solidFill>
              <a:schemeClr val="tx1"/>
            </a:solidFill>
            <a:prstDash val="solid"/>
            <a:round/>
            <a:headEnd type="none" w="med" len="med"/>
            <a:tailEnd type="none" w="med" len="med"/>
          </a:ln>
          <a:effectLst/>
        </p:spPr>
        <p:txBody>
          <a:bodyPr/>
          <a:lstStyle/>
          <a:p>
            <a:pPr eaLnBrk="1" hangingPunct="1">
              <a:defRPr/>
            </a:pPr>
            <a:endParaRPr lang="en-US" dirty="0">
              <a:effectLst>
                <a:outerShdw blurRad="38100" dist="38100" dir="2700000" algn="tl">
                  <a:srgbClr val="000000">
                    <a:alpha val="43137"/>
                  </a:srgbClr>
                </a:outerShdw>
              </a:effectLst>
              <a:latin typeface="Arial" panose="020B0604020202090204" pitchFamily="34" charset="0"/>
              <a:ea typeface="MS PGothic" charset="0"/>
            </a:endParaRPr>
          </a:p>
        </p:txBody>
      </p:sp>
      <p:sp>
        <p:nvSpPr>
          <p:cNvPr id="6" name="Rectangle 5"/>
          <p:cNvSpPr/>
          <p:nvPr/>
        </p:nvSpPr>
        <p:spPr bwMode="auto">
          <a:xfrm>
            <a:off x="8188545" y="5115890"/>
            <a:ext cx="1839913" cy="744538"/>
          </a:xfrm>
          <a:prstGeom prst="rect">
            <a:avLst/>
          </a:prstGeom>
          <a:noFill/>
          <a:ln w="9525" cap="flat" cmpd="sng" algn="ctr">
            <a:solidFill>
              <a:schemeClr val="tx1"/>
            </a:solidFill>
            <a:prstDash val="solid"/>
            <a:round/>
            <a:headEnd type="none" w="med" len="med"/>
            <a:tailEnd type="none" w="med" len="med"/>
          </a:ln>
          <a:effectLst/>
        </p:spPr>
        <p:txBody>
          <a:bodyPr/>
          <a:lstStyle/>
          <a:p>
            <a:pPr eaLnBrk="1" hangingPunct="1">
              <a:defRPr/>
            </a:pPr>
            <a:endParaRPr lang="en-US" dirty="0">
              <a:effectLst>
                <a:outerShdw blurRad="38100" dist="38100" dir="2700000" algn="tl">
                  <a:srgbClr val="000000">
                    <a:alpha val="43137"/>
                  </a:srgbClr>
                </a:outerShdw>
              </a:effectLst>
              <a:latin typeface="Arial" panose="020B0604020202090204" pitchFamily="34" charset="0"/>
              <a:ea typeface="MS PGothic" charset="0"/>
            </a:endParaRPr>
          </a:p>
        </p:txBody>
      </p:sp>
      <p:sp>
        <p:nvSpPr>
          <p:cNvPr id="7" name="TextBox 2"/>
          <p:cNvSpPr txBox="1">
            <a:spLocks noChangeArrowheads="1"/>
          </p:cNvSpPr>
          <p:nvPr/>
        </p:nvSpPr>
        <p:spPr bwMode="auto">
          <a:xfrm>
            <a:off x="3105437" y="5552014"/>
            <a:ext cx="1451113" cy="30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90204" pitchFamily="34" charset="0"/>
                <a:ea typeface="MS PGothic" panose="020B0600070205080204" pitchFamily="34" charset="-128"/>
              </a:defRPr>
            </a:lvl1pPr>
            <a:lvl2pPr marL="742950" indent="-285750">
              <a:defRPr sz="3200" b="1">
                <a:solidFill>
                  <a:schemeClr val="tx1"/>
                </a:solidFill>
                <a:latin typeface="Arial" panose="020B0604020202090204" pitchFamily="34" charset="0"/>
                <a:ea typeface="MS PGothic" panose="020B0600070205080204" pitchFamily="34" charset="-128"/>
              </a:defRPr>
            </a:lvl2pPr>
            <a:lvl3pPr marL="1143000" indent="-228600">
              <a:defRPr sz="3200" b="1">
                <a:solidFill>
                  <a:schemeClr val="tx1"/>
                </a:solidFill>
                <a:latin typeface="Arial" panose="020B0604020202090204" pitchFamily="34" charset="0"/>
                <a:ea typeface="MS PGothic" panose="020B0600070205080204" pitchFamily="34" charset="-128"/>
              </a:defRPr>
            </a:lvl3pPr>
            <a:lvl4pPr marL="1600200" indent="-228600">
              <a:defRPr sz="3200" b="1">
                <a:solidFill>
                  <a:schemeClr val="tx1"/>
                </a:solidFill>
                <a:latin typeface="Arial" panose="020B0604020202090204" pitchFamily="34" charset="0"/>
                <a:ea typeface="MS PGothic" panose="020B0600070205080204" pitchFamily="34" charset="-128"/>
              </a:defRPr>
            </a:lvl4pPr>
            <a:lvl5pPr marL="2057400" indent="-228600">
              <a:defRPr sz="3200" b="1">
                <a:solidFill>
                  <a:schemeClr val="tx1"/>
                </a:solidFill>
                <a:latin typeface="Arial" panose="020B0604020202090204" pitchFamily="34" charset="0"/>
                <a:ea typeface="MS PGothic"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9pPr>
          </a:lstStyle>
          <a:p>
            <a:r>
              <a:rPr lang="en-US" altLang="en-US" sz="1400" b="0"/>
              <a:t>Local Machine </a:t>
            </a:r>
            <a:endParaRPr lang="en-US" altLang="en-US" sz="1400" b="0"/>
          </a:p>
        </p:txBody>
      </p:sp>
      <p:sp>
        <p:nvSpPr>
          <p:cNvPr id="8" name="TextBox 7"/>
          <p:cNvSpPr txBox="1">
            <a:spLocks noChangeArrowheads="1"/>
          </p:cNvSpPr>
          <p:nvPr/>
        </p:nvSpPr>
        <p:spPr bwMode="auto">
          <a:xfrm>
            <a:off x="8383047" y="5552884"/>
            <a:ext cx="1451113" cy="30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90204" pitchFamily="34" charset="0"/>
                <a:ea typeface="MS PGothic" panose="020B0600070205080204" pitchFamily="34" charset="-128"/>
              </a:defRPr>
            </a:lvl1pPr>
            <a:lvl2pPr marL="742950" indent="-285750">
              <a:defRPr sz="3200" b="1">
                <a:solidFill>
                  <a:schemeClr val="tx1"/>
                </a:solidFill>
                <a:latin typeface="Arial" panose="020B0604020202090204" pitchFamily="34" charset="0"/>
                <a:ea typeface="MS PGothic" panose="020B0600070205080204" pitchFamily="34" charset="-128"/>
              </a:defRPr>
            </a:lvl2pPr>
            <a:lvl3pPr marL="1143000" indent="-228600">
              <a:defRPr sz="3200" b="1">
                <a:solidFill>
                  <a:schemeClr val="tx1"/>
                </a:solidFill>
                <a:latin typeface="Arial" panose="020B0604020202090204" pitchFamily="34" charset="0"/>
                <a:ea typeface="MS PGothic" panose="020B0600070205080204" pitchFamily="34" charset="-128"/>
              </a:defRPr>
            </a:lvl3pPr>
            <a:lvl4pPr marL="1600200" indent="-228600">
              <a:defRPr sz="3200" b="1">
                <a:solidFill>
                  <a:schemeClr val="tx1"/>
                </a:solidFill>
                <a:latin typeface="Arial" panose="020B0604020202090204" pitchFamily="34" charset="0"/>
                <a:ea typeface="MS PGothic" panose="020B0600070205080204" pitchFamily="34" charset="-128"/>
              </a:defRPr>
            </a:lvl4pPr>
            <a:lvl5pPr marL="2057400" indent="-228600">
              <a:defRPr sz="3200" b="1">
                <a:solidFill>
                  <a:schemeClr val="tx1"/>
                </a:solidFill>
                <a:latin typeface="Arial" panose="020B0604020202090204" pitchFamily="34" charset="0"/>
                <a:ea typeface="MS PGothic"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9pPr>
          </a:lstStyle>
          <a:p>
            <a:pPr algn="ctr"/>
            <a:r>
              <a:rPr lang="en-US" altLang="en-US" sz="1400" b="0" dirty="0"/>
              <a:t>Cloud (Huawei)</a:t>
            </a:r>
            <a:endParaRPr lang="en-US" altLang="en-US" sz="1400" b="0" dirty="0"/>
          </a:p>
        </p:txBody>
      </p:sp>
      <p:sp>
        <p:nvSpPr>
          <p:cNvPr id="9" name="TextBox 8"/>
          <p:cNvSpPr txBox="1">
            <a:spLocks noChangeArrowheads="1"/>
          </p:cNvSpPr>
          <p:nvPr/>
        </p:nvSpPr>
        <p:spPr bwMode="auto">
          <a:xfrm>
            <a:off x="3393671" y="5244213"/>
            <a:ext cx="874644" cy="307800"/>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3200" b="1">
                <a:solidFill>
                  <a:schemeClr val="tx1"/>
                </a:solidFill>
                <a:latin typeface="Arial" panose="020B0604020202090204" pitchFamily="34" charset="0"/>
                <a:ea typeface="MS PGothic" panose="020B0600070205080204" pitchFamily="34" charset="-128"/>
              </a:defRPr>
            </a:lvl1pPr>
            <a:lvl2pPr marL="742950" indent="-285750">
              <a:defRPr sz="3200" b="1">
                <a:solidFill>
                  <a:schemeClr val="tx1"/>
                </a:solidFill>
                <a:latin typeface="Arial" panose="020B0604020202090204" pitchFamily="34" charset="0"/>
                <a:ea typeface="MS PGothic" panose="020B0600070205080204" pitchFamily="34" charset="-128"/>
              </a:defRPr>
            </a:lvl2pPr>
            <a:lvl3pPr marL="1143000" indent="-228600">
              <a:defRPr sz="3200" b="1">
                <a:solidFill>
                  <a:schemeClr val="tx1"/>
                </a:solidFill>
                <a:latin typeface="Arial" panose="020B0604020202090204" pitchFamily="34" charset="0"/>
                <a:ea typeface="MS PGothic" panose="020B0600070205080204" pitchFamily="34" charset="-128"/>
              </a:defRPr>
            </a:lvl3pPr>
            <a:lvl4pPr marL="1600200" indent="-228600">
              <a:defRPr sz="3200" b="1">
                <a:solidFill>
                  <a:schemeClr val="tx1"/>
                </a:solidFill>
                <a:latin typeface="Arial" panose="020B0604020202090204" pitchFamily="34" charset="0"/>
                <a:ea typeface="MS PGothic" panose="020B0600070205080204" pitchFamily="34" charset="-128"/>
              </a:defRPr>
            </a:lvl4pPr>
            <a:lvl5pPr marL="2057400" indent="-228600">
              <a:defRPr sz="3200" b="1">
                <a:solidFill>
                  <a:schemeClr val="tx1"/>
                </a:solidFill>
                <a:latin typeface="Arial" panose="020B0604020202090204" pitchFamily="34" charset="0"/>
                <a:ea typeface="MS PGothic"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9pPr>
          </a:lstStyle>
          <a:p>
            <a:r>
              <a:rPr lang="en-US" altLang="en-US" sz="1400" b="0">
                <a:solidFill>
                  <a:schemeClr val="tx2"/>
                </a:solidFill>
              </a:rPr>
              <a:t>Terminal</a:t>
            </a:r>
            <a:endParaRPr lang="en-US" altLang="en-US" sz="1400" b="0">
              <a:solidFill>
                <a:schemeClr val="tx2"/>
              </a:solidFill>
            </a:endParaRPr>
          </a:p>
        </p:txBody>
      </p:sp>
      <p:cxnSp>
        <p:nvCxnSpPr>
          <p:cNvPr id="10" name="Straight Arrow Connector 9"/>
          <p:cNvCxnSpPr>
            <a:cxnSpLocks noChangeShapeType="1"/>
          </p:cNvCxnSpPr>
          <p:nvPr/>
        </p:nvCxnSpPr>
        <p:spPr bwMode="auto">
          <a:xfrm>
            <a:off x="4986558" y="5398250"/>
            <a:ext cx="3054350"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cxnSp>
        <p:nvCxnSpPr>
          <p:cNvPr id="11" name="Straight Arrow Connector 13"/>
          <p:cNvCxnSpPr>
            <a:cxnSpLocks noChangeShapeType="1"/>
          </p:cNvCxnSpPr>
          <p:nvPr/>
        </p:nvCxnSpPr>
        <p:spPr bwMode="auto">
          <a:xfrm flipH="1">
            <a:off x="4986558" y="5552208"/>
            <a:ext cx="3054350" cy="0"/>
          </a:xfrm>
          <a:prstGeom prst="straightConnector1">
            <a:avLst/>
          </a:prstGeom>
          <a:noFill/>
          <a:ln w="9525" algn="ctr">
            <a:solidFill>
              <a:schemeClr val="tx1"/>
            </a:solidFill>
            <a:round/>
            <a:tailEnd type="triangle" w="med" len="med"/>
          </a:ln>
          <a:extLst>
            <a:ext uri="{909E8E84-426E-40DD-AFC4-6F175D3DCCD1}">
              <a14:hiddenFill xmlns:a14="http://schemas.microsoft.com/office/drawing/2010/main">
                <a:noFill/>
              </a14:hiddenFill>
            </a:ext>
          </a:extLst>
        </p:spPr>
      </p:cxnSp>
      <p:sp>
        <p:nvSpPr>
          <p:cNvPr id="12" name="TextBox 17"/>
          <p:cNvSpPr txBox="1">
            <a:spLocks noChangeArrowheads="1"/>
          </p:cNvSpPr>
          <p:nvPr/>
        </p:nvSpPr>
        <p:spPr bwMode="auto">
          <a:xfrm>
            <a:off x="8671281" y="5247468"/>
            <a:ext cx="874644" cy="307800"/>
          </a:xfrm>
          <a:prstGeom prst="rect">
            <a:avLst/>
          </a:prstGeom>
          <a:noFill/>
          <a:ln w="9525">
            <a:solidFill>
              <a:srgbClr val="FFC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defRPr sz="3200" b="1">
                <a:solidFill>
                  <a:schemeClr val="tx1"/>
                </a:solidFill>
                <a:latin typeface="Arial" panose="020B0604020202090204" pitchFamily="34" charset="0"/>
                <a:ea typeface="MS PGothic" panose="020B0600070205080204" pitchFamily="34" charset="-128"/>
              </a:defRPr>
            </a:lvl1pPr>
            <a:lvl2pPr marL="742950" indent="-285750">
              <a:defRPr sz="3200" b="1">
                <a:solidFill>
                  <a:schemeClr val="tx1"/>
                </a:solidFill>
                <a:latin typeface="Arial" panose="020B0604020202090204" pitchFamily="34" charset="0"/>
                <a:ea typeface="MS PGothic" panose="020B0600070205080204" pitchFamily="34" charset="-128"/>
              </a:defRPr>
            </a:lvl2pPr>
            <a:lvl3pPr marL="1143000" indent="-228600">
              <a:defRPr sz="3200" b="1">
                <a:solidFill>
                  <a:schemeClr val="tx1"/>
                </a:solidFill>
                <a:latin typeface="Arial" panose="020B0604020202090204" pitchFamily="34" charset="0"/>
                <a:ea typeface="MS PGothic" panose="020B0600070205080204" pitchFamily="34" charset="-128"/>
              </a:defRPr>
            </a:lvl3pPr>
            <a:lvl4pPr marL="1600200" indent="-228600">
              <a:defRPr sz="3200" b="1">
                <a:solidFill>
                  <a:schemeClr val="tx1"/>
                </a:solidFill>
                <a:latin typeface="Arial" panose="020B0604020202090204" pitchFamily="34" charset="0"/>
                <a:ea typeface="MS PGothic" panose="020B0600070205080204" pitchFamily="34" charset="-128"/>
              </a:defRPr>
            </a:lvl4pPr>
            <a:lvl5pPr marL="2057400" indent="-228600">
              <a:defRPr sz="3200" b="1">
                <a:solidFill>
                  <a:schemeClr val="tx1"/>
                </a:solidFill>
                <a:latin typeface="Arial" panose="020B0604020202090204" pitchFamily="34" charset="0"/>
                <a:ea typeface="MS PGothic"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9pPr>
          </a:lstStyle>
          <a:p>
            <a:pPr algn="ctr"/>
            <a:r>
              <a:rPr lang="en-US" altLang="en-US" sz="1400" b="0">
                <a:solidFill>
                  <a:schemeClr val="tx2"/>
                </a:solidFill>
              </a:rPr>
              <a:t>Service</a:t>
            </a:r>
            <a:endParaRPr lang="en-US" altLang="en-US" sz="1400" b="0">
              <a:solidFill>
                <a:schemeClr val="tx2"/>
              </a:solidFill>
            </a:endParaRPr>
          </a:p>
        </p:txBody>
      </p:sp>
      <p:sp>
        <p:nvSpPr>
          <p:cNvPr id="13" name="TextBox 18"/>
          <p:cNvSpPr txBox="1">
            <a:spLocks noChangeArrowheads="1"/>
          </p:cNvSpPr>
          <p:nvPr/>
        </p:nvSpPr>
        <p:spPr bwMode="auto">
          <a:xfrm>
            <a:off x="5115629" y="5090313"/>
            <a:ext cx="2708341" cy="30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90204" pitchFamily="34" charset="0"/>
                <a:ea typeface="MS PGothic" panose="020B0600070205080204" pitchFamily="34" charset="-128"/>
              </a:defRPr>
            </a:lvl1pPr>
            <a:lvl2pPr marL="742950" indent="-285750">
              <a:defRPr sz="3200" b="1">
                <a:solidFill>
                  <a:schemeClr val="tx1"/>
                </a:solidFill>
                <a:latin typeface="Arial" panose="020B0604020202090204" pitchFamily="34" charset="0"/>
                <a:ea typeface="MS PGothic" panose="020B0600070205080204" pitchFamily="34" charset="-128"/>
              </a:defRPr>
            </a:lvl2pPr>
            <a:lvl3pPr marL="1143000" indent="-228600">
              <a:defRPr sz="3200" b="1">
                <a:solidFill>
                  <a:schemeClr val="tx1"/>
                </a:solidFill>
                <a:latin typeface="Arial" panose="020B0604020202090204" pitchFamily="34" charset="0"/>
                <a:ea typeface="MS PGothic" panose="020B0600070205080204" pitchFamily="34" charset="-128"/>
              </a:defRPr>
            </a:lvl3pPr>
            <a:lvl4pPr marL="1600200" indent="-228600">
              <a:defRPr sz="3200" b="1">
                <a:solidFill>
                  <a:schemeClr val="tx1"/>
                </a:solidFill>
                <a:latin typeface="Arial" panose="020B0604020202090204" pitchFamily="34" charset="0"/>
                <a:ea typeface="MS PGothic" panose="020B0600070205080204" pitchFamily="34" charset="-128"/>
              </a:defRPr>
            </a:lvl4pPr>
            <a:lvl5pPr marL="2057400" indent="-228600">
              <a:defRPr sz="3200" b="1">
                <a:solidFill>
                  <a:schemeClr val="tx1"/>
                </a:solidFill>
                <a:latin typeface="Arial" panose="020B0604020202090204" pitchFamily="34" charset="0"/>
                <a:ea typeface="MS PGothic"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9pPr>
          </a:lstStyle>
          <a:p>
            <a:pPr algn="ctr"/>
            <a:r>
              <a:rPr lang="en-US" altLang="en-US" sz="1400" b="0"/>
              <a:t>Input (Text, Image, Query)</a:t>
            </a:r>
            <a:endParaRPr lang="en-US" altLang="en-US" sz="1400" b="0"/>
          </a:p>
        </p:txBody>
      </p:sp>
      <p:sp>
        <p:nvSpPr>
          <p:cNvPr id="14" name="TextBox 19"/>
          <p:cNvSpPr txBox="1">
            <a:spLocks noChangeArrowheads="1"/>
          </p:cNvSpPr>
          <p:nvPr/>
        </p:nvSpPr>
        <p:spPr bwMode="auto">
          <a:xfrm>
            <a:off x="4633580" y="5555268"/>
            <a:ext cx="3597966" cy="30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90204" pitchFamily="34" charset="0"/>
                <a:ea typeface="MS PGothic" panose="020B0600070205080204" pitchFamily="34" charset="-128"/>
              </a:defRPr>
            </a:lvl1pPr>
            <a:lvl2pPr marL="742950" indent="-285750">
              <a:defRPr sz="3200" b="1">
                <a:solidFill>
                  <a:schemeClr val="tx1"/>
                </a:solidFill>
                <a:latin typeface="Arial" panose="020B0604020202090204" pitchFamily="34" charset="0"/>
                <a:ea typeface="MS PGothic" panose="020B0600070205080204" pitchFamily="34" charset="-128"/>
              </a:defRPr>
            </a:lvl2pPr>
            <a:lvl3pPr marL="1143000" indent="-228600">
              <a:defRPr sz="3200" b="1">
                <a:solidFill>
                  <a:schemeClr val="tx1"/>
                </a:solidFill>
                <a:latin typeface="Arial" panose="020B0604020202090204" pitchFamily="34" charset="0"/>
                <a:ea typeface="MS PGothic" panose="020B0600070205080204" pitchFamily="34" charset="-128"/>
              </a:defRPr>
            </a:lvl3pPr>
            <a:lvl4pPr marL="1600200" indent="-228600">
              <a:defRPr sz="3200" b="1">
                <a:solidFill>
                  <a:schemeClr val="tx1"/>
                </a:solidFill>
                <a:latin typeface="Arial" panose="020B0604020202090204" pitchFamily="34" charset="0"/>
                <a:ea typeface="MS PGothic" panose="020B0600070205080204" pitchFamily="34" charset="-128"/>
              </a:defRPr>
            </a:lvl4pPr>
            <a:lvl5pPr marL="2057400" indent="-228600">
              <a:defRPr sz="3200" b="1">
                <a:solidFill>
                  <a:schemeClr val="tx1"/>
                </a:solidFill>
                <a:latin typeface="Arial" panose="020B0604020202090204" pitchFamily="34" charset="0"/>
                <a:ea typeface="MS PGothic"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90204" pitchFamily="34" charset="0"/>
                <a:ea typeface="MS PGothic" panose="020B0600070205080204" pitchFamily="34" charset="-128"/>
              </a:defRPr>
            </a:lvl9pPr>
          </a:lstStyle>
          <a:p>
            <a:pPr algn="ctr"/>
            <a:r>
              <a:rPr lang="en-US" altLang="en-US" sz="1400" b="0"/>
              <a:t>Output (Sentiment, Category, Result)</a:t>
            </a:r>
            <a:endParaRPr lang="en-US" altLang="en-US" sz="1400" b="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 Covered in this Course</a:t>
            </a:r>
            <a:r>
              <a:rPr lang="en-US" baseline="30000" dirty="0"/>
              <a:t>[1,2,3]</a:t>
            </a:r>
            <a:endParaRPr lang="en-US" dirty="0"/>
          </a:p>
        </p:txBody>
      </p:sp>
      <p:sp>
        <p:nvSpPr>
          <p:cNvPr id="3" name="Slide Number Placeholder 2"/>
          <p:cNvSpPr>
            <a:spLocks noGrp="1"/>
          </p:cNvSpPr>
          <p:nvPr>
            <p:ph type="sldNum" sz="quarter" idx="12"/>
          </p:nvPr>
        </p:nvSpPr>
        <p:spPr>
          <a:xfrm>
            <a:off x="8702548" y="6387385"/>
            <a:ext cx="2743200" cy="365125"/>
          </a:xfrm>
        </p:spPr>
        <p:txBody>
          <a:bodyPr/>
          <a:lstStyle/>
          <a:p>
            <a:fld id="{2515AB8F-1C56-49E9-90C8-78D22B0C1B97}" type="slidenum">
              <a:rPr lang="zh-CN" altLang="en-US" smtClean="0"/>
            </a:fld>
            <a:endParaRPr lang="zh-CN" altLang="en-US" dirty="0"/>
          </a:p>
        </p:txBody>
      </p:sp>
      <p:grpSp>
        <p:nvGrpSpPr>
          <p:cNvPr id="4" name="组合 2"/>
          <p:cNvGrpSpPr/>
          <p:nvPr/>
        </p:nvGrpSpPr>
        <p:grpSpPr>
          <a:xfrm>
            <a:off x="1002348" y="1188617"/>
            <a:ext cx="4621522" cy="1510352"/>
            <a:chOff x="1026732" y="2360338"/>
            <a:chExt cx="4621522" cy="1510352"/>
          </a:xfrm>
        </p:grpSpPr>
        <p:sp>
          <p:nvSpPr>
            <p:cNvPr id="5" name="文本框 13"/>
            <p:cNvSpPr txBox="1"/>
            <p:nvPr/>
          </p:nvSpPr>
          <p:spPr>
            <a:xfrm>
              <a:off x="2548688" y="2360338"/>
              <a:ext cx="2681022"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Introduction</a:t>
              </a:r>
              <a:endParaRPr lang="zh-CN" altLang="en-US" sz="2800" b="1" dirty="0">
                <a:solidFill>
                  <a:schemeClr val="accent1"/>
                </a:solidFill>
                <a:latin typeface="Helvetica" pitchFamily="2" charset="0"/>
                <a:cs typeface="+mn-ea"/>
                <a:sym typeface="+mn-lt"/>
              </a:endParaRPr>
            </a:p>
          </p:txBody>
        </p:sp>
        <p:sp>
          <p:nvSpPr>
            <p:cNvPr id="6" name="椭圆 160"/>
            <p:cNvSpPr/>
            <p:nvPr/>
          </p:nvSpPr>
          <p:spPr>
            <a:xfrm>
              <a:off x="1026732" y="2539881"/>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01</a:t>
              </a:r>
              <a:endParaRPr lang="zh-CN" altLang="en-US" sz="4400" b="1" dirty="0">
                <a:solidFill>
                  <a:schemeClr val="bg1"/>
                </a:solidFill>
                <a:latin typeface="Helvetica" pitchFamily="2" charset="0"/>
                <a:cs typeface="+mn-ea"/>
                <a:sym typeface="+mn-lt"/>
              </a:endParaRPr>
            </a:p>
          </p:txBody>
        </p:sp>
        <p:sp>
          <p:nvSpPr>
            <p:cNvPr id="7" name="文本框 1"/>
            <p:cNvSpPr txBox="1"/>
            <p:nvPr/>
          </p:nvSpPr>
          <p:spPr>
            <a:xfrm>
              <a:off x="2548688" y="3101249"/>
              <a:ext cx="3099566" cy="769441"/>
            </a:xfrm>
            <a:prstGeom prst="rect">
              <a:avLst/>
            </a:prstGeom>
            <a:noFill/>
          </p:spPr>
          <p:txBody>
            <a:bodyPr wrap="none" rtlCol="0">
              <a:spAutoFit/>
            </a:bodyPr>
            <a:lstStyle/>
            <a:p>
              <a:r>
                <a:rPr kumimoji="1" lang="en-US" altLang="zh-CN" sz="2200" dirty="0">
                  <a:latin typeface="Helvetica Regular" pitchFamily="2" charset="0"/>
                </a:rPr>
                <a:t>Process, Terminologies</a:t>
              </a:r>
              <a:endParaRPr kumimoji="1" lang="en-US" altLang="zh-CN" sz="2200" dirty="0">
                <a:latin typeface="Helvetica Regular" pitchFamily="2" charset="0"/>
              </a:endParaRPr>
            </a:p>
            <a:p>
              <a:r>
                <a:rPr kumimoji="1" lang="en-US" altLang="zh-CN" sz="2200" dirty="0">
                  <a:latin typeface="Helvetica Regular" pitchFamily="2" charset="0"/>
                </a:rPr>
                <a:t>Tools</a:t>
              </a:r>
              <a:endParaRPr kumimoji="1" lang="zh-CN" altLang="en-US" sz="2200" dirty="0">
                <a:latin typeface="Helvetica Regular" pitchFamily="2" charset="0"/>
              </a:endParaRPr>
            </a:p>
          </p:txBody>
        </p:sp>
      </p:grpSp>
      <p:grpSp>
        <p:nvGrpSpPr>
          <p:cNvPr id="8" name="组合 22"/>
          <p:cNvGrpSpPr/>
          <p:nvPr/>
        </p:nvGrpSpPr>
        <p:grpSpPr>
          <a:xfrm>
            <a:off x="1002347" y="2900163"/>
            <a:ext cx="5020106" cy="1301515"/>
            <a:chOff x="1026732" y="2539881"/>
            <a:chExt cx="5020106" cy="1301515"/>
          </a:xfrm>
        </p:grpSpPr>
        <p:sp>
          <p:nvSpPr>
            <p:cNvPr id="9" name="文本框 24"/>
            <p:cNvSpPr txBox="1"/>
            <p:nvPr/>
          </p:nvSpPr>
          <p:spPr>
            <a:xfrm>
              <a:off x="2550045" y="2539881"/>
              <a:ext cx="3496793"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Design</a:t>
              </a:r>
              <a:endParaRPr lang="zh-CN" altLang="en-US" sz="2800" b="1" dirty="0">
                <a:solidFill>
                  <a:schemeClr val="accent1"/>
                </a:solidFill>
                <a:latin typeface="Helvetica" pitchFamily="2" charset="0"/>
                <a:cs typeface="+mn-ea"/>
                <a:sym typeface="+mn-lt"/>
              </a:endParaRPr>
            </a:p>
          </p:txBody>
        </p:sp>
        <p:sp>
          <p:nvSpPr>
            <p:cNvPr id="10" name="椭圆 25"/>
            <p:cNvSpPr/>
            <p:nvPr/>
          </p:nvSpPr>
          <p:spPr>
            <a:xfrm>
              <a:off x="1026732" y="2539881"/>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03</a:t>
              </a:r>
              <a:endParaRPr lang="zh-CN" altLang="en-US" sz="4400" b="1" dirty="0">
                <a:solidFill>
                  <a:schemeClr val="bg1"/>
                </a:solidFill>
                <a:latin typeface="Helvetica" pitchFamily="2" charset="0"/>
                <a:cs typeface="+mn-ea"/>
                <a:sym typeface="+mn-lt"/>
              </a:endParaRPr>
            </a:p>
          </p:txBody>
        </p:sp>
        <p:sp>
          <p:nvSpPr>
            <p:cNvPr id="11" name="文本框 26"/>
            <p:cNvSpPr txBox="1"/>
            <p:nvPr/>
          </p:nvSpPr>
          <p:spPr>
            <a:xfrm>
              <a:off x="2550046" y="3280792"/>
              <a:ext cx="2805576" cy="430887"/>
            </a:xfrm>
            <a:prstGeom prst="rect">
              <a:avLst/>
            </a:prstGeom>
            <a:noFill/>
          </p:spPr>
          <p:txBody>
            <a:bodyPr wrap="none" rtlCol="0">
              <a:spAutoFit/>
            </a:bodyPr>
            <a:lstStyle/>
            <a:p>
              <a:r>
                <a:rPr kumimoji="1" lang="en-US" altLang="zh-CN" sz="2200" dirty="0">
                  <a:latin typeface="Helvetica Regular" pitchFamily="2" charset="0"/>
                </a:rPr>
                <a:t>UI, System, Program</a:t>
              </a:r>
              <a:endParaRPr kumimoji="1" lang="zh-CN" altLang="en-US" sz="2200" dirty="0">
                <a:latin typeface="Helvetica Regular" pitchFamily="2" charset="0"/>
              </a:endParaRPr>
            </a:p>
          </p:txBody>
        </p:sp>
      </p:grpSp>
      <p:grpSp>
        <p:nvGrpSpPr>
          <p:cNvPr id="12" name="组合 3"/>
          <p:cNvGrpSpPr/>
          <p:nvPr/>
        </p:nvGrpSpPr>
        <p:grpSpPr>
          <a:xfrm>
            <a:off x="6849540" y="1188617"/>
            <a:ext cx="4340112" cy="1301515"/>
            <a:chOff x="7657903" y="3280792"/>
            <a:chExt cx="4340112" cy="1301515"/>
          </a:xfrm>
        </p:grpSpPr>
        <p:sp>
          <p:nvSpPr>
            <p:cNvPr id="13" name="文本框 28"/>
            <p:cNvSpPr txBox="1"/>
            <p:nvPr/>
          </p:nvSpPr>
          <p:spPr>
            <a:xfrm>
              <a:off x="7657903" y="3280792"/>
              <a:ext cx="3350293"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Requirements</a:t>
              </a:r>
              <a:endParaRPr lang="zh-CN" altLang="en-US" sz="2800" b="1" dirty="0">
                <a:solidFill>
                  <a:schemeClr val="accent1"/>
                </a:solidFill>
                <a:latin typeface="Helvetica" pitchFamily="2" charset="0"/>
                <a:cs typeface="+mn-ea"/>
                <a:sym typeface="+mn-lt"/>
              </a:endParaRPr>
            </a:p>
          </p:txBody>
        </p:sp>
        <p:sp>
          <p:nvSpPr>
            <p:cNvPr id="14" name="椭圆 29"/>
            <p:cNvSpPr/>
            <p:nvPr/>
          </p:nvSpPr>
          <p:spPr>
            <a:xfrm>
              <a:off x="10696500" y="3280792"/>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02</a:t>
              </a:r>
              <a:endParaRPr lang="zh-CN" altLang="en-US" sz="4400" b="1" dirty="0">
                <a:solidFill>
                  <a:schemeClr val="bg1"/>
                </a:solidFill>
                <a:latin typeface="Helvetica" pitchFamily="2" charset="0"/>
                <a:cs typeface="+mn-ea"/>
                <a:sym typeface="+mn-lt"/>
              </a:endParaRPr>
            </a:p>
          </p:txBody>
        </p:sp>
        <p:sp>
          <p:nvSpPr>
            <p:cNvPr id="15" name="文本框 30"/>
            <p:cNvSpPr txBox="1"/>
            <p:nvPr/>
          </p:nvSpPr>
          <p:spPr>
            <a:xfrm>
              <a:off x="7657904" y="4021703"/>
              <a:ext cx="2537874" cy="430887"/>
            </a:xfrm>
            <a:prstGeom prst="rect">
              <a:avLst/>
            </a:prstGeom>
            <a:noFill/>
          </p:spPr>
          <p:txBody>
            <a:bodyPr wrap="none" rtlCol="0">
              <a:spAutoFit/>
            </a:bodyPr>
            <a:lstStyle/>
            <a:p>
              <a:r>
                <a:rPr kumimoji="1" lang="en-US" altLang="zh-CN" sz="2200" dirty="0">
                  <a:latin typeface="Helvetica Regular" pitchFamily="2" charset="0"/>
                </a:rPr>
                <a:t>Analysis, Modeling</a:t>
              </a:r>
              <a:endParaRPr kumimoji="1" lang="zh-CN" altLang="en-US" sz="2200" dirty="0">
                <a:latin typeface="Helvetica Regular" pitchFamily="2" charset="0"/>
              </a:endParaRPr>
            </a:p>
          </p:txBody>
        </p:sp>
      </p:grpSp>
      <p:grpSp>
        <p:nvGrpSpPr>
          <p:cNvPr id="16" name="组合 31"/>
          <p:cNvGrpSpPr/>
          <p:nvPr/>
        </p:nvGrpSpPr>
        <p:grpSpPr>
          <a:xfrm>
            <a:off x="6849540" y="2800361"/>
            <a:ext cx="4340111" cy="1301515"/>
            <a:chOff x="7657904" y="3280792"/>
            <a:chExt cx="4340111" cy="1301515"/>
          </a:xfrm>
        </p:grpSpPr>
        <p:sp>
          <p:nvSpPr>
            <p:cNvPr id="17" name="文本框 32"/>
            <p:cNvSpPr txBox="1"/>
            <p:nvPr/>
          </p:nvSpPr>
          <p:spPr>
            <a:xfrm>
              <a:off x="7657904" y="3280792"/>
              <a:ext cx="2681022"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Testing</a:t>
              </a:r>
              <a:endParaRPr lang="zh-CN" altLang="en-US" sz="2800" b="1" dirty="0">
                <a:solidFill>
                  <a:schemeClr val="accent1"/>
                </a:solidFill>
                <a:latin typeface="Helvetica" pitchFamily="2" charset="0"/>
                <a:cs typeface="+mn-ea"/>
                <a:sym typeface="+mn-lt"/>
              </a:endParaRPr>
            </a:p>
          </p:txBody>
        </p:sp>
        <p:sp>
          <p:nvSpPr>
            <p:cNvPr id="18" name="椭圆 33"/>
            <p:cNvSpPr/>
            <p:nvPr/>
          </p:nvSpPr>
          <p:spPr>
            <a:xfrm>
              <a:off x="10696500" y="3280792"/>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04</a:t>
              </a:r>
              <a:endParaRPr lang="zh-CN" altLang="en-US" sz="4400" b="1" dirty="0">
                <a:solidFill>
                  <a:schemeClr val="bg1"/>
                </a:solidFill>
                <a:latin typeface="Helvetica" pitchFamily="2" charset="0"/>
                <a:cs typeface="+mn-ea"/>
                <a:sym typeface="+mn-lt"/>
              </a:endParaRPr>
            </a:p>
          </p:txBody>
        </p:sp>
        <p:sp>
          <p:nvSpPr>
            <p:cNvPr id="19" name="文本框 34"/>
            <p:cNvSpPr txBox="1"/>
            <p:nvPr/>
          </p:nvSpPr>
          <p:spPr>
            <a:xfrm>
              <a:off x="7657904" y="4021703"/>
              <a:ext cx="2708434" cy="430887"/>
            </a:xfrm>
            <a:prstGeom prst="rect">
              <a:avLst/>
            </a:prstGeom>
            <a:noFill/>
          </p:spPr>
          <p:txBody>
            <a:bodyPr wrap="none" rtlCol="0">
              <a:spAutoFit/>
            </a:bodyPr>
            <a:lstStyle/>
            <a:p>
              <a:r>
                <a:rPr kumimoji="1" lang="en-US" altLang="zh-CN" sz="2200" dirty="0">
                  <a:latin typeface="Helvetica Regular" pitchFamily="2" charset="0"/>
                </a:rPr>
                <a:t>Unit/ Integrated Test</a:t>
              </a:r>
              <a:endParaRPr kumimoji="1" lang="zh-CN" altLang="en-US" sz="2200" dirty="0">
                <a:latin typeface="Helvetica Regular" pitchFamily="2" charset="0"/>
              </a:endParaRPr>
            </a:p>
          </p:txBody>
        </p:sp>
      </p:grpSp>
      <p:grpSp>
        <p:nvGrpSpPr>
          <p:cNvPr id="20" name="组合 22"/>
          <p:cNvGrpSpPr/>
          <p:nvPr/>
        </p:nvGrpSpPr>
        <p:grpSpPr>
          <a:xfrm>
            <a:off x="1002347" y="4432166"/>
            <a:ext cx="5020106" cy="1301515"/>
            <a:chOff x="1026732" y="2539881"/>
            <a:chExt cx="5020106" cy="1301515"/>
          </a:xfrm>
        </p:grpSpPr>
        <p:sp>
          <p:nvSpPr>
            <p:cNvPr id="21" name="文本框 24"/>
            <p:cNvSpPr txBox="1"/>
            <p:nvPr/>
          </p:nvSpPr>
          <p:spPr>
            <a:xfrm>
              <a:off x="2550045" y="2539881"/>
              <a:ext cx="3496793" cy="685701"/>
            </a:xfrm>
            <a:prstGeom prst="rect">
              <a:avLst/>
            </a:prstGeom>
            <a:noFill/>
          </p:spPr>
          <p:txBody>
            <a:bodyPr wrap="square" rtlCol="0">
              <a:spAutoFit/>
            </a:bodyPr>
            <a:lstStyle/>
            <a:p>
              <a:pPr>
                <a:lnSpc>
                  <a:spcPct val="130000"/>
                </a:lnSpc>
              </a:pPr>
              <a:r>
                <a:rPr lang="en-US" altLang="zh-CN" sz="3200" b="1" dirty="0">
                  <a:solidFill>
                    <a:schemeClr val="accent1"/>
                  </a:solidFill>
                  <a:latin typeface="Helvetica" pitchFamily="2" charset="0"/>
                  <a:cs typeface="+mn-ea"/>
                  <a:sym typeface="+mn-lt"/>
                </a:rPr>
                <a:t>Management</a:t>
              </a:r>
              <a:endParaRPr lang="zh-CN" altLang="en-US" sz="2800" b="1" dirty="0">
                <a:solidFill>
                  <a:schemeClr val="accent1"/>
                </a:solidFill>
                <a:latin typeface="Helvetica" pitchFamily="2" charset="0"/>
                <a:cs typeface="+mn-ea"/>
                <a:sym typeface="+mn-lt"/>
              </a:endParaRPr>
            </a:p>
          </p:txBody>
        </p:sp>
        <p:sp>
          <p:nvSpPr>
            <p:cNvPr id="22" name="椭圆 25"/>
            <p:cNvSpPr/>
            <p:nvPr/>
          </p:nvSpPr>
          <p:spPr>
            <a:xfrm>
              <a:off x="1026732" y="2539881"/>
              <a:ext cx="1301515" cy="130151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4400" b="1" dirty="0">
                  <a:solidFill>
                    <a:schemeClr val="bg1"/>
                  </a:solidFill>
                  <a:latin typeface="Helvetica" pitchFamily="2" charset="0"/>
                  <a:cs typeface="+mn-ea"/>
                  <a:sym typeface="+mn-lt"/>
                </a:rPr>
                <a:t>05</a:t>
              </a:r>
              <a:endParaRPr lang="zh-CN" altLang="en-US" sz="4400" b="1" dirty="0">
                <a:solidFill>
                  <a:schemeClr val="bg1"/>
                </a:solidFill>
                <a:latin typeface="Helvetica" pitchFamily="2" charset="0"/>
                <a:cs typeface="+mn-ea"/>
                <a:sym typeface="+mn-lt"/>
              </a:endParaRPr>
            </a:p>
          </p:txBody>
        </p:sp>
        <p:sp>
          <p:nvSpPr>
            <p:cNvPr id="23" name="文本框 26"/>
            <p:cNvSpPr txBox="1"/>
            <p:nvPr/>
          </p:nvSpPr>
          <p:spPr>
            <a:xfrm>
              <a:off x="2550046" y="3280792"/>
              <a:ext cx="2145139" cy="430887"/>
            </a:xfrm>
            <a:prstGeom prst="rect">
              <a:avLst/>
            </a:prstGeom>
            <a:noFill/>
          </p:spPr>
          <p:txBody>
            <a:bodyPr wrap="none" rtlCol="0">
              <a:spAutoFit/>
            </a:bodyPr>
            <a:lstStyle/>
            <a:p>
              <a:r>
                <a:rPr kumimoji="1" lang="en-US" altLang="zh-CN" sz="2200" dirty="0">
                  <a:latin typeface="Helvetica Regular" pitchFamily="2" charset="0"/>
                </a:rPr>
                <a:t>Legal, Risk, QA</a:t>
              </a:r>
              <a:endParaRPr kumimoji="1" lang="zh-CN" altLang="en-US" sz="2200" dirty="0">
                <a:latin typeface="Helvetica Regular" pitchFamily="2" charset="0"/>
              </a:endParaRPr>
            </a:p>
          </p:txBody>
        </p:sp>
      </p:grpSp>
      <p:sp>
        <p:nvSpPr>
          <p:cNvPr id="25" name="TextBox 24"/>
          <p:cNvSpPr txBox="1"/>
          <p:nvPr/>
        </p:nvSpPr>
        <p:spPr>
          <a:xfrm>
            <a:off x="1438656" y="5964169"/>
            <a:ext cx="11867916" cy="984885"/>
          </a:xfrm>
          <a:prstGeom prst="rect">
            <a:avLst/>
          </a:prstGeom>
          <a:noFill/>
        </p:spPr>
        <p:txBody>
          <a:bodyPr wrap="square">
            <a:spAutoFit/>
          </a:bodyPr>
          <a:lstStyle/>
          <a:p>
            <a:pPr lvl="2">
              <a:defRPr/>
            </a:pPr>
            <a:endParaRPr lang="en-US" sz="1600" dirty="0">
              <a:cs typeface="Arial" panose="020B0604020202090204" pitchFamily="34" charset="0"/>
            </a:endParaRPr>
          </a:p>
          <a:p>
            <a:pPr lvl="1">
              <a:defRPr/>
            </a:pPr>
            <a:r>
              <a:rPr lang="en-US" sz="1050" dirty="0">
                <a:cs typeface="Arial" panose="020B0604020202090204" pitchFamily="34" charset="0"/>
              </a:rPr>
              <a:t>[1] Software Engineering, Yue Chen, et al. Zhejiang University </a:t>
            </a:r>
            <a:r>
              <a:rPr lang="en-US" sz="1050" dirty="0">
                <a:cs typeface="Arial" panose="020B0604020202090204" pitchFamily="34" charset="0"/>
                <a:hlinkClick r:id="rId1"/>
              </a:rPr>
              <a:t>https://www.bilibili.com/video/BV16g411M7r2?p=1</a:t>
            </a:r>
            <a:endParaRPr lang="en-US" sz="1050" dirty="0">
              <a:cs typeface="Arial" panose="020B0604020202090204" pitchFamily="34" charset="0"/>
            </a:endParaRPr>
          </a:p>
          <a:p>
            <a:pPr lvl="1">
              <a:defRPr/>
            </a:pPr>
            <a:r>
              <a:rPr lang="en-US" sz="1050" dirty="0">
                <a:cs typeface="Arial" panose="020B0604020202090204" pitchFamily="34" charset="0"/>
              </a:rPr>
              <a:t>[2] Software Engineering, Curran Muhlberger, et al. Cornell University, </a:t>
            </a:r>
            <a:r>
              <a:rPr lang="en-US" sz="1050" dirty="0">
                <a:cs typeface="Arial" panose="020B0604020202090204" pitchFamily="34" charset="0"/>
                <a:hlinkClick r:id="rId2"/>
              </a:rPr>
              <a:t>https://www.cs.cornell.edu/courses/cs5150/2022sp/</a:t>
            </a:r>
            <a:endParaRPr lang="en-US" sz="1050" dirty="0">
              <a:cs typeface="Arial" panose="020B0604020202090204" pitchFamily="34" charset="0"/>
            </a:endParaRPr>
          </a:p>
          <a:p>
            <a:pPr lvl="1">
              <a:defRPr/>
            </a:pPr>
            <a:r>
              <a:rPr lang="en-US" sz="1050" dirty="0">
                <a:cs typeface="Arial" panose="020B0604020202090204" pitchFamily="34" charset="0"/>
              </a:rPr>
              <a:t>[3]</a:t>
            </a:r>
            <a:r>
              <a:rPr lang="zh-CN" altLang="en-US" sz="1050" dirty="0">
                <a:cs typeface="Arial" panose="020B0604020202090204" pitchFamily="34" charset="0"/>
              </a:rPr>
              <a:t>伊恩</a:t>
            </a:r>
            <a:r>
              <a:rPr lang="en-US" altLang="zh-CN" sz="1050" dirty="0">
                <a:cs typeface="Arial" panose="020B0604020202090204" pitchFamily="34" charset="0"/>
              </a:rPr>
              <a:t>·</a:t>
            </a:r>
            <a:r>
              <a:rPr lang="zh-CN" altLang="en-US" sz="1050" dirty="0">
                <a:cs typeface="Arial" panose="020B0604020202090204" pitchFamily="34" charset="0"/>
              </a:rPr>
              <a:t>萨默维尔</a:t>
            </a:r>
            <a:r>
              <a:rPr lang="en-US" sz="1050" dirty="0">
                <a:cs typeface="Arial" panose="020B0604020202090204" pitchFamily="34" charset="0"/>
              </a:rPr>
              <a:t>(Ian Sommerville).</a:t>
            </a:r>
            <a:r>
              <a:rPr lang="zh-CN" altLang="en-US" sz="1050" dirty="0">
                <a:cs typeface="Arial" panose="020B0604020202090204" pitchFamily="34" charset="0"/>
              </a:rPr>
              <a:t>软件工程</a:t>
            </a:r>
            <a:r>
              <a:rPr lang="en-US" sz="1050" dirty="0">
                <a:cs typeface="Arial" panose="020B0604020202090204" pitchFamily="34" charset="0"/>
              </a:rPr>
              <a:t>(</a:t>
            </a:r>
            <a:r>
              <a:rPr lang="zh-CN" altLang="en-US" sz="1050" dirty="0">
                <a:cs typeface="Arial" panose="020B0604020202090204" pitchFamily="34" charset="0"/>
              </a:rPr>
              <a:t>原书第</a:t>
            </a:r>
            <a:r>
              <a:rPr lang="en-US" sz="1050" dirty="0">
                <a:cs typeface="Arial" panose="020B0604020202090204" pitchFamily="34" charset="0"/>
              </a:rPr>
              <a:t>10</a:t>
            </a:r>
            <a:r>
              <a:rPr lang="zh-CN" altLang="en-US" sz="1050" dirty="0">
                <a:cs typeface="Arial" panose="020B0604020202090204" pitchFamily="34" charset="0"/>
              </a:rPr>
              <a:t>版</a:t>
            </a:r>
            <a:r>
              <a:rPr lang="en-US" sz="1050" dirty="0">
                <a:cs typeface="Arial" panose="020B0604020202090204" pitchFamily="34" charset="0"/>
              </a:rPr>
              <a:t>)</a:t>
            </a:r>
            <a:r>
              <a:rPr lang="zh-CN" altLang="en-US" sz="1050" dirty="0">
                <a:cs typeface="Arial" panose="020B0604020202090204" pitchFamily="34" charset="0"/>
              </a:rPr>
              <a:t>，机械工业出版社</a:t>
            </a:r>
            <a:r>
              <a:rPr lang="en-US" sz="1050" dirty="0">
                <a:cs typeface="Arial" panose="020B0604020202090204" pitchFamily="34" charset="0"/>
              </a:rPr>
              <a:t> (2018-02</a:t>
            </a:r>
            <a:r>
              <a:rPr lang="zh-CN" altLang="en-US" sz="1050" dirty="0">
                <a:cs typeface="Arial" panose="020B0604020202090204" pitchFamily="34" charset="0"/>
              </a:rPr>
              <a:t>出版</a:t>
            </a:r>
            <a:r>
              <a:rPr lang="en-US" sz="1050" dirty="0">
                <a:cs typeface="Arial" panose="020B0604020202090204" pitchFamily="34" charset="0"/>
              </a:rPr>
              <a:t>)</a:t>
            </a:r>
            <a:endParaRPr lang="en-US" sz="1050" dirty="0">
              <a:cs typeface="Arial" panose="020B0604020202090204" pitchFamily="34" charset="0"/>
            </a:endParaRPr>
          </a:p>
          <a:p>
            <a:pPr lvl="1">
              <a:defRPr/>
            </a:pPr>
            <a:endParaRPr lang="en-US" sz="1050" dirty="0">
              <a:cs typeface="Arial" panose="020B060402020209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Development Process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208689" y="1243051"/>
            <a:ext cx="4500249" cy="4093428"/>
          </a:xfrm>
          <a:prstGeom prst="rect">
            <a:avLst/>
          </a:prstGeom>
          <a:noFill/>
        </p:spPr>
        <p:txBody>
          <a:bodyPr wrap="square">
            <a:spAutoFit/>
          </a:bodyPr>
          <a:lstStyle/>
          <a:p>
            <a:r>
              <a:rPr lang="en-US" sz="2000" b="1" dirty="0">
                <a:solidFill>
                  <a:srgbClr val="515223"/>
                </a:solidFill>
                <a:latin typeface="Helvetica" pitchFamily="2" charset="0"/>
                <a:cs typeface="Arial" panose="020B0604020202090204" pitchFamily="34" charset="0"/>
              </a:rPr>
              <a:t>Feasibility and planning</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 </a:t>
            </a:r>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Requirements</a:t>
            </a:r>
            <a:endParaRPr lang="en-US" sz="2000" b="1" dirty="0">
              <a:solidFill>
                <a:srgbClr val="515223"/>
              </a:solidFill>
              <a:latin typeface="Helvetica" pitchFamily="2" charset="0"/>
              <a:cs typeface="Arial" panose="020B0604020202090204" pitchFamily="34" charset="0"/>
            </a:endParaRPr>
          </a:p>
          <a:p>
            <a:br>
              <a:rPr lang="en-US" sz="2000" b="1" dirty="0">
                <a:solidFill>
                  <a:srgbClr val="515223"/>
                </a:solidFill>
                <a:latin typeface="Helvetica" pitchFamily="2" charset="0"/>
                <a:cs typeface="Arial" panose="020B0604020202090204" pitchFamily="34" charset="0"/>
              </a:rPr>
            </a:br>
            <a:r>
              <a:rPr lang="en-US" sz="2000" b="1" dirty="0">
                <a:solidFill>
                  <a:srgbClr val="515223"/>
                </a:solidFill>
                <a:latin typeface="Helvetica" pitchFamily="2" charset="0"/>
                <a:cs typeface="Arial" panose="020B0604020202090204" pitchFamily="34" charset="0"/>
              </a:rPr>
              <a:t>User Interface/Experience design </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System design </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Program development </a:t>
            </a:r>
            <a:r>
              <a:rPr lang="en-US" sz="2000" dirty="0">
                <a:solidFill>
                  <a:srgbClr val="C00000"/>
                </a:solidFill>
                <a:latin typeface="Helvetica" pitchFamily="2" charset="0"/>
                <a:cs typeface="Arial" panose="020B0604020202090204" pitchFamily="34" charset="0"/>
              </a:rPr>
              <a:t>(coding part)</a:t>
            </a:r>
            <a:endParaRPr lang="en-US"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sz="2000" b="1" dirty="0">
                <a:solidFill>
                  <a:srgbClr val="515223"/>
                </a:solidFill>
                <a:latin typeface="Helvetica" pitchFamily="2" charset="0"/>
                <a:cs typeface="Arial" panose="020B0604020202090204" pitchFamily="34" charset="0"/>
              </a:rPr>
              <a:t>Acceptance and release</a:t>
            </a:r>
            <a:endParaRPr lang="en-US" sz="2000" b="1" dirty="0">
              <a:solidFill>
                <a:srgbClr val="515223"/>
              </a:solidFill>
              <a:latin typeface="Helvetica" pitchFamily="2" charset="0"/>
              <a:cs typeface="Arial" panose="020B0604020202090204" pitchFamily="34" charset="0"/>
            </a:endParaRPr>
          </a:p>
          <a:p>
            <a:br>
              <a:rPr lang="en-US" sz="2000" b="1" dirty="0">
                <a:solidFill>
                  <a:srgbClr val="515223"/>
                </a:solidFill>
                <a:latin typeface="Helvetica" pitchFamily="2" charset="0"/>
                <a:cs typeface="Arial" panose="020B0604020202090204" pitchFamily="34" charset="0"/>
              </a:rPr>
            </a:br>
            <a:r>
              <a:rPr lang="en-US" sz="2000" b="1" dirty="0">
                <a:solidFill>
                  <a:srgbClr val="515223"/>
                </a:solidFill>
                <a:latin typeface="Helvetica" pitchFamily="2" charset="0"/>
                <a:cs typeface="Arial" panose="020B0604020202090204" pitchFamily="34" charset="0"/>
              </a:rPr>
              <a:t>Operation and maintenance </a:t>
            </a:r>
            <a:endParaRPr lang="en-US" sz="2000" b="1" dirty="0">
              <a:solidFill>
                <a:srgbClr val="515223"/>
              </a:solidFill>
              <a:latin typeface="Helvetica" pitchFamily="2" charset="0"/>
              <a:cs typeface="Arial" panose="020B0604020202090204" pitchFamily="34" charset="0"/>
            </a:endParaRPr>
          </a:p>
        </p:txBody>
      </p:sp>
      <p:sp>
        <p:nvSpPr>
          <p:cNvPr id="7" name="TextBox 6"/>
          <p:cNvSpPr txBox="1"/>
          <p:nvPr/>
        </p:nvSpPr>
        <p:spPr>
          <a:xfrm>
            <a:off x="5708938" y="1755228"/>
            <a:ext cx="5656386" cy="1015663"/>
          </a:xfrm>
          <a:prstGeom prst="rect">
            <a:avLst/>
          </a:prstGeom>
          <a:noFill/>
        </p:spPr>
        <p:txBody>
          <a:bodyPr wrap="square">
            <a:spAutoFit/>
          </a:bodyPr>
          <a:lstStyle/>
          <a:p>
            <a:r>
              <a:rPr lang="en-US" sz="2000" dirty="0">
                <a:latin typeface="Helvetica" pitchFamily="2" charset="0"/>
                <a:cs typeface="Arial" panose="020B0604020202090204" pitchFamily="34" charset="0"/>
              </a:rPr>
              <a:t>May be repeated during the development cycle</a:t>
            </a:r>
            <a:endParaRPr lang="en-US" sz="2000" dirty="0">
              <a:latin typeface="Helvetica" pitchFamily="2" charset="0"/>
              <a:cs typeface="Arial" panose="020B0604020202090204" pitchFamily="34" charset="0"/>
            </a:endParaRPr>
          </a:p>
          <a:p>
            <a:endParaRPr lang="en-US" sz="2000" dirty="0">
              <a:latin typeface="Helvetica" pitchFamily="2" charset="0"/>
              <a:cs typeface="Arial" panose="020B0604020202090204" pitchFamily="34" charset="0"/>
            </a:endParaRPr>
          </a:p>
          <a:p>
            <a:r>
              <a:rPr lang="en-US" sz="2000" dirty="0">
                <a:latin typeface="Helvetica" pitchFamily="2" charset="0"/>
                <a:cs typeface="Arial" panose="020B0604020202090204" pitchFamily="34" charset="0"/>
              </a:rPr>
              <a:t>Distinguish among these steps</a:t>
            </a:r>
            <a:endParaRPr lang="en-US" sz="2000" dirty="0">
              <a:latin typeface="Helvetica" pitchFamily="2" charset="0"/>
              <a:cs typeface="Arial" panose="020B0604020202090204" pitchFamily="34" charset="0"/>
            </a:endParaRPr>
          </a:p>
        </p:txBody>
      </p:sp>
      <p:sp>
        <p:nvSpPr>
          <p:cNvPr id="9" name="Rounded Rectangle 8"/>
          <p:cNvSpPr/>
          <p:nvPr/>
        </p:nvSpPr>
        <p:spPr>
          <a:xfrm>
            <a:off x="1091254" y="1755228"/>
            <a:ext cx="4500249" cy="2959815"/>
          </a:xfrm>
          <a:prstGeom prst="roundRect">
            <a:avLst>
              <a:gd name="adj" fmla="val 3927"/>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930165" y="5685553"/>
            <a:ext cx="11193517" cy="400110"/>
          </a:xfrm>
          <a:prstGeom prst="rect">
            <a:avLst/>
          </a:prstGeom>
          <a:noFill/>
        </p:spPr>
        <p:txBody>
          <a:bodyPr wrap="square">
            <a:spAutoFit/>
          </a:bodyPr>
          <a:lstStyle/>
          <a:p>
            <a:r>
              <a:rPr lang="en-US" sz="2000" u="sng" dirty="0">
                <a:solidFill>
                  <a:srgbClr val="C00000"/>
                </a:solidFill>
                <a:latin typeface="Helvetica" pitchFamily="2" charset="0"/>
                <a:cs typeface="Arial" panose="020B0604020202090204" pitchFamily="34" charset="0"/>
              </a:rPr>
              <a:t>These are the major contents covered in this course and will be presented in your project report </a:t>
            </a:r>
            <a:endParaRPr lang="en-US" sz="2000" u="sng" dirty="0">
              <a:solidFill>
                <a:srgbClr val="C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Software Development Processes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372887"/>
            <a:ext cx="10946524" cy="440120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Waterfall model</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4472A3"/>
                </a:solidFill>
                <a:latin typeface="Calibri" panose="020F0502020204030204" pitchFamily="34" charset="0"/>
                <a:cs typeface="Arial" panose="020B0604020202090204" pitchFamily="34" charset="0"/>
              </a:rPr>
              <a:t>	</a:t>
            </a:r>
            <a:r>
              <a:rPr lang="en-US" altLang="zh-CN" sz="2000" dirty="0"/>
              <a:t>Complete each process step before beginning the next.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Iterative refinement</a:t>
            </a:r>
            <a:endParaRPr lang="en-US" altLang="zh-CN" sz="2000" b="1" dirty="0">
              <a:solidFill>
                <a:srgbClr val="515223"/>
              </a:solidFill>
              <a:latin typeface="Helvetica" pitchFamily="2" charset="0"/>
              <a:cs typeface="Arial" panose="020B0604020202090204" pitchFamily="34" charset="0"/>
            </a:endParaRPr>
          </a:p>
          <a:p>
            <a:r>
              <a:rPr lang="en-US" altLang="zh-CN" sz="2000" dirty="0"/>
              <a:t>	</a:t>
            </a:r>
            <a:r>
              <a:rPr lang="en-US" altLang="zh-CN" sz="2000"/>
              <a:t>Go quickly </a:t>
            </a:r>
            <a:r>
              <a:rPr lang="en-US" altLang="zh-CN" sz="2000" dirty="0"/>
              <a:t>through all the steps to create a rough system, then repeat them to improve 	the system</a:t>
            </a:r>
            <a:endParaRPr lang="en-US" altLang="zh-CN" sz="2000" b="1" dirty="0">
              <a:solidFill>
                <a:srgbClr val="515223"/>
              </a:solidFill>
              <a:latin typeface="Helvetica" pitchFamily="2" charset="0"/>
              <a:cs typeface="Arial" panose="020B0604020202090204" pitchFamily="34" charset="0"/>
            </a:endParaRPr>
          </a:p>
          <a:p>
            <a:endParaRPr lang="en-US"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Spiral</a:t>
            </a:r>
            <a:endParaRPr lang="en-US" altLang="zh-CN" sz="2000" b="1" dirty="0">
              <a:solidFill>
                <a:srgbClr val="515223"/>
              </a:solidFill>
              <a:latin typeface="Helvetica" pitchFamily="2" charset="0"/>
              <a:cs typeface="Arial" panose="020B0604020202090204" pitchFamily="34" charset="0"/>
            </a:endParaRPr>
          </a:p>
          <a:p>
            <a:r>
              <a:rPr lang="en-US" sz="2000" dirty="0"/>
              <a:t>	A variant of iterative refinement in which new and updated components are added to 	the developing system as they are completed.</a:t>
            </a:r>
            <a:endParaRPr lang="en-US" sz="2000" dirty="0"/>
          </a:p>
          <a:p>
            <a:endParaRPr lang="en-US" sz="2000" dirty="0"/>
          </a:p>
          <a:p>
            <a:r>
              <a:rPr lang="en-US" sz="2000" b="1" dirty="0">
                <a:solidFill>
                  <a:srgbClr val="515223"/>
                </a:solidFill>
                <a:latin typeface="Helvetica" pitchFamily="2" charset="0"/>
                <a:cs typeface="Arial" panose="020B0604020202090204" pitchFamily="34" charset="0"/>
              </a:rPr>
              <a:t>Agile development</a:t>
            </a:r>
            <a:endParaRPr lang="en-US" sz="2000" b="1" dirty="0">
              <a:solidFill>
                <a:srgbClr val="515223"/>
              </a:solidFill>
              <a:latin typeface="Helvetica" pitchFamily="2" charset="0"/>
              <a:cs typeface="Arial" panose="020B0604020202090204" pitchFamily="34" charset="0"/>
            </a:endParaRPr>
          </a:p>
          <a:p>
            <a:r>
              <a:rPr lang="en-US" sz="2000" dirty="0"/>
              <a:t>	Small increments of software are developed in </a:t>
            </a:r>
            <a:r>
              <a:rPr lang="en-US" sz="2000"/>
              <a:t>a sequence </a:t>
            </a:r>
            <a:r>
              <a:rPr lang="en-US" sz="2000" dirty="0"/>
              <a:t>of sprints, </a:t>
            </a:r>
            <a:r>
              <a:rPr lang="en-US" sz="2000" dirty="0" err="1"/>
              <a:t>eachof</a:t>
            </a:r>
            <a:r>
              <a:rPr lang="en-US" sz="2000" dirty="0"/>
              <a:t> which 	creates deployable code.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Iterative Refinement</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690062"/>
            <a:ext cx="1094652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Concept</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Requirements are hard to understand until there is an operational system, particularly with user interfaces. </a:t>
            </a:r>
            <a:endParaRPr lang="en-US" altLang="zh-CN" sz="2000" dirty="0"/>
          </a:p>
          <a:p>
            <a:pPr lvl="1"/>
            <a:r>
              <a:rPr lang="en-US" altLang="zh-CN" sz="2000" dirty="0"/>
              <a:t>System and program design may benefit from prototypes.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Process</a:t>
            </a:r>
            <a:r>
              <a:rPr lang="en-US" altLang="zh-CN" sz="2000" dirty="0"/>
              <a:t> </a:t>
            </a:r>
            <a:endParaRPr lang="en-US" altLang="zh-CN" sz="2000" dirty="0"/>
          </a:p>
          <a:p>
            <a:pPr lvl="1"/>
            <a:r>
              <a:rPr lang="en-US" altLang="zh-CN" sz="2000" dirty="0"/>
              <a:t>Create a </a:t>
            </a:r>
            <a:r>
              <a:rPr lang="en-US" altLang="zh-CN" sz="2000" b="1" dirty="0">
                <a:solidFill>
                  <a:srgbClr val="FF0000"/>
                </a:solidFill>
              </a:rPr>
              <a:t>prototype</a:t>
            </a:r>
            <a:r>
              <a:rPr lang="en-US" altLang="zh-CN" sz="2000" dirty="0"/>
              <a:t> system early in the development process.</a:t>
            </a:r>
            <a:endParaRPr lang="en-US" altLang="zh-CN" sz="2000" dirty="0"/>
          </a:p>
          <a:p>
            <a:pPr lvl="1"/>
            <a:r>
              <a:rPr lang="en-US" altLang="zh-CN" sz="2000" dirty="0"/>
              <a:t>Review the prototype with clients and test it with users, to </a:t>
            </a:r>
            <a:r>
              <a:rPr lang="en-US" altLang="zh-CN" sz="2000" b="1" dirty="0">
                <a:solidFill>
                  <a:srgbClr val="FF0000"/>
                </a:solidFill>
              </a:rPr>
              <a:t>improve the understanding of the requirements </a:t>
            </a:r>
            <a:r>
              <a:rPr lang="en-US" altLang="zh-CN" sz="2000" dirty="0"/>
              <a:t>and </a:t>
            </a:r>
            <a:r>
              <a:rPr lang="en-US" altLang="zh-CN" sz="2000" b="1" dirty="0">
                <a:solidFill>
                  <a:srgbClr val="FF0000"/>
                </a:solidFill>
              </a:rPr>
              <a:t>clarify the design</a:t>
            </a:r>
            <a:r>
              <a:rPr lang="en-US" altLang="zh-CN" sz="2000" dirty="0"/>
              <a:t>.</a:t>
            </a:r>
            <a:endParaRPr lang="en-US" altLang="zh-CN" sz="2000" dirty="0"/>
          </a:p>
          <a:p>
            <a:pPr lvl="1"/>
            <a:r>
              <a:rPr lang="en-US" altLang="zh-CN" sz="2000" dirty="0"/>
              <a:t>Refine the prototype in a series of </a:t>
            </a:r>
            <a:r>
              <a:rPr lang="en-US" altLang="zh-CN" sz="2000" b="1" dirty="0">
                <a:solidFill>
                  <a:srgbClr val="FF0000"/>
                </a:solidFill>
              </a:rPr>
              <a:t>iterations</a:t>
            </a:r>
            <a:r>
              <a:rPr lang="en-US" altLang="zh-CN" sz="2000" dirty="0"/>
              <a:t>. </a:t>
            </a:r>
            <a:endParaRPr 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Discussion of Iterative Refinement</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690062"/>
            <a:ext cx="1094652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This is a </a:t>
            </a:r>
            <a:r>
              <a:rPr lang="en-US" altLang="zh-CN" sz="2000" b="1" dirty="0">
                <a:solidFill>
                  <a:srgbClr val="FF0000"/>
                </a:solidFill>
                <a:latin typeface="Helvetica" pitchFamily="2" charset="0"/>
                <a:cs typeface="Arial" panose="020B0604020202090204" pitchFamily="34" charset="0"/>
              </a:rPr>
              <a:t>medium weight </a:t>
            </a:r>
            <a:r>
              <a:rPr lang="en-US" altLang="zh-CN" sz="2000" b="1" dirty="0">
                <a:solidFill>
                  <a:srgbClr val="515223"/>
                </a:solidFill>
                <a:latin typeface="Helvetica" pitchFamily="2" charset="0"/>
                <a:cs typeface="Arial" panose="020B0604020202090204" pitchFamily="34" charset="0"/>
              </a:rPr>
              <a:t>process with documentation created during the process. </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Iterative refinement uses various techniques that enable the client to review the planned system early during development: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User interface mock-ups </a:t>
            </a:r>
            <a:endParaRPr lang="en-US" altLang="zh-CN" sz="2000" dirty="0"/>
          </a:p>
          <a:p>
            <a:pPr lvl="1"/>
            <a:r>
              <a:rPr lang="en-US" altLang="zh-CN" sz="2000" dirty="0"/>
              <a:t>Throw-away software components</a:t>
            </a:r>
            <a:endParaRPr lang="en-US" altLang="zh-CN" sz="2000" dirty="0"/>
          </a:p>
          <a:p>
            <a:pPr lvl="1"/>
            <a:r>
              <a:rPr lang="en-US" altLang="zh-CN" sz="2000" dirty="0"/>
              <a:t>Dummy modules </a:t>
            </a:r>
            <a:endParaRPr lang="en-US" altLang="zh-CN" sz="2000" dirty="0"/>
          </a:p>
          <a:p>
            <a:pPr lvl="1"/>
            <a:r>
              <a:rPr lang="en-US" altLang="zh-CN" sz="2000" dirty="0"/>
              <a:t>Rapid prototyping </a:t>
            </a:r>
            <a:endParaRPr lang="en-US" altLang="zh-CN" sz="2000" dirty="0"/>
          </a:p>
          <a:p>
            <a:pPr lvl="1"/>
            <a:r>
              <a:rPr lang="en-US" altLang="zh-CN" sz="2000" dirty="0"/>
              <a:t>Successive refinement</a:t>
            </a:r>
            <a:endParaRPr lang="en-US" altLang="zh-CN" sz="2000" dirty="0"/>
          </a:p>
          <a:p>
            <a:pPr lvl="1"/>
            <a:r>
              <a:rPr lang="en-US" altLang="zh-CN" sz="2000" dirty="0"/>
              <a:t> </a:t>
            </a:r>
            <a:endParaRPr lang="en-US" altLang="zh-CN" sz="2000" dirty="0"/>
          </a:p>
          <a:p>
            <a:r>
              <a:rPr lang="en-US" altLang="zh-CN" sz="2000" b="1" dirty="0">
                <a:solidFill>
                  <a:srgbClr val="515223"/>
                </a:solidFill>
                <a:latin typeface="Helvetica" pitchFamily="2" charset="0"/>
                <a:cs typeface="Arial" panose="020B0604020202090204" pitchFamily="34" charset="0"/>
              </a:rPr>
              <a:t>Get something working as quickly as possible, for client and user evaluation, but do not release it. </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Spiral Development</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184145"/>
            <a:ext cx="10946524" cy="501675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Example</a:t>
            </a:r>
            <a:endParaRPr lang="en-US" altLang="zh-CN" sz="2000" b="1" dirty="0">
              <a:solidFill>
                <a:srgbClr val="515223"/>
              </a:solidFill>
              <a:latin typeface="Helvetica" pitchFamily="2" charset="0"/>
              <a:cs typeface="Arial" panose="020B0604020202090204" pitchFamily="34" charset="0"/>
            </a:endParaRPr>
          </a:p>
          <a:p>
            <a:r>
              <a:rPr lang="en-US" altLang="zh-CN" sz="2000" dirty="0"/>
              <a:t>	Developing a new version of an operating system (Microsoft).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Spiral development</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With spiral development there is always a fully tested system, but the functionality is incomplete.</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Create a base system that has the overall structure of the final product with dummy stubs for missing components.</a:t>
            </a:r>
            <a:endParaRPr lang="en-US" altLang="zh-CN" sz="2000" dirty="0"/>
          </a:p>
          <a:p>
            <a:pPr lvl="1"/>
            <a:endParaRPr lang="en-US" altLang="zh-CN" sz="2000" dirty="0"/>
          </a:p>
          <a:p>
            <a:pPr lvl="1"/>
            <a:r>
              <a:rPr lang="en-US" altLang="zh-CN" sz="2000" dirty="0"/>
              <a:t>For every completed component, create a comprehensive set of test cases.</a:t>
            </a:r>
            <a:endParaRPr lang="en-US" altLang="zh-CN" sz="2000" dirty="0"/>
          </a:p>
          <a:p>
            <a:pPr lvl="1"/>
            <a:endParaRPr lang="en-US" altLang="zh-CN" sz="2000" dirty="0"/>
          </a:p>
          <a:p>
            <a:pPr lvl="1"/>
            <a:r>
              <a:rPr lang="en-US" altLang="zh-CN" sz="2000" dirty="0"/>
              <a:t>Development teams build new or improved components, each with a set of test cases. Add these components to the source code library.</a:t>
            </a:r>
            <a:endParaRPr lang="en-US" altLang="zh-CN" sz="2000" dirty="0"/>
          </a:p>
          <a:p>
            <a:pPr lvl="1"/>
            <a:endParaRPr lang="en-US" altLang="zh-CN" sz="2000" dirty="0"/>
          </a:p>
          <a:p>
            <a:pPr lvl="1"/>
            <a:r>
              <a:rPr lang="en-US" altLang="zh-CN" sz="2000" dirty="0"/>
              <a:t>On a daily cycle, testers build the entire system from the source code library and run the complete set of test cases. </a:t>
            </a:r>
            <a:endParaRPr 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Discussion of Spiral Development</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690062"/>
            <a:ext cx="10946524"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Spiral development is widely used to develop new versions of large systems:</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The overall system architecture is well understood.</a:t>
            </a:r>
            <a:endParaRPr lang="en-US" altLang="zh-CN" sz="2000" dirty="0"/>
          </a:p>
          <a:p>
            <a:pPr lvl="1"/>
            <a:r>
              <a:rPr lang="en-US" altLang="zh-CN" sz="2000" dirty="0"/>
              <a:t>Large components can be developed and tested separately.</a:t>
            </a:r>
            <a:endParaRPr lang="en-US" altLang="zh-CN" sz="2000" dirty="0"/>
          </a:p>
          <a:p>
            <a:pPr lvl="1"/>
            <a:r>
              <a:rPr lang="en-US" altLang="zh-CN" sz="2000" dirty="0"/>
              <a:t>The importance of the system justifies the overhead of setting up a comprehensive set of automated tests.</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Challenges</a:t>
            </a:r>
            <a:r>
              <a:rPr lang="en-US" altLang="zh-CN" sz="2000" dirty="0"/>
              <a:t>	</a:t>
            </a:r>
            <a:endParaRPr lang="en-US" altLang="zh-CN" sz="2000" dirty="0"/>
          </a:p>
          <a:p>
            <a:pPr lvl="1"/>
            <a:r>
              <a:rPr lang="en-US" altLang="zh-CN" sz="2000" dirty="0"/>
              <a:t>Difficult to make major changes to the architecture.</a:t>
            </a:r>
            <a:endParaRPr lang="en-US" altLang="zh-CN" sz="2000" dirty="0"/>
          </a:p>
          <a:p>
            <a:pPr lvl="1"/>
            <a:r>
              <a:rPr lang="en-US" altLang="zh-CN" sz="2000" dirty="0"/>
              <a:t>Difficult to make changes that effect many components. </a:t>
            </a:r>
            <a:endParaRPr 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Agile Methods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22738" y="1690062"/>
            <a:ext cx="10946524"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The term Agile is used for a variety of methods. </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General principles: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A large project is divided into small increments called </a:t>
            </a:r>
            <a:r>
              <a:rPr lang="en-US" altLang="zh-CN" sz="2000" b="1" dirty="0">
                <a:solidFill>
                  <a:srgbClr val="FF0000"/>
                </a:solidFill>
              </a:rPr>
              <a:t>sprints</a:t>
            </a:r>
            <a:r>
              <a:rPr lang="en-US" altLang="zh-CN" sz="2000" dirty="0"/>
              <a:t>.</a:t>
            </a:r>
            <a:endParaRPr lang="en-US" altLang="zh-CN" sz="2000" dirty="0"/>
          </a:p>
          <a:p>
            <a:pPr lvl="1"/>
            <a:r>
              <a:rPr lang="en-US" altLang="zh-CN" sz="2000" dirty="0"/>
              <a:t>The development is carried out by small teams of 4 to 9 people.</a:t>
            </a:r>
            <a:endParaRPr lang="en-US" altLang="zh-CN" sz="2000" dirty="0"/>
          </a:p>
          <a:p>
            <a:pPr lvl="1"/>
            <a:r>
              <a:rPr lang="en-US" altLang="zh-CN" sz="2000" dirty="0"/>
              <a:t>The schedule is divided into fixed </a:t>
            </a:r>
            <a:r>
              <a:rPr lang="en-US" altLang="zh-CN" sz="2000" b="1" dirty="0">
                <a:solidFill>
                  <a:srgbClr val="FF0000"/>
                </a:solidFill>
              </a:rPr>
              <a:t>time boxes</a:t>
            </a:r>
            <a:r>
              <a:rPr lang="en-US" altLang="zh-CN" sz="2000" dirty="0"/>
              <a:t>, perhaps 2 to 4 weeks. </a:t>
            </a:r>
            <a:endParaRPr lang="en-US" altLang="zh-CN" sz="2000" dirty="0"/>
          </a:p>
          <a:p>
            <a:pPr lvl="1"/>
            <a:r>
              <a:rPr lang="en-US" altLang="zh-CN" sz="2000" dirty="0"/>
              <a:t>Each sprint is a time box during which the team completes part of a software project. A single sprint will go through several process steps, such as requirements, design, coding, and testing. Each sprint ends with fully tested code, ready to be put into production. </a:t>
            </a:r>
            <a:endParaRPr lang="en-US" altLang="zh-CN" sz="2000" dirty="0"/>
          </a:p>
          <a:p>
            <a:pPr lvl="1"/>
            <a:r>
              <a:rPr lang="en-US" altLang="zh-CN" sz="2000" dirty="0"/>
              <a:t>This is a </a:t>
            </a:r>
            <a:r>
              <a:rPr lang="en-US" altLang="zh-CN" sz="2000" b="1" dirty="0">
                <a:solidFill>
                  <a:srgbClr val="FF0000"/>
                </a:solidFill>
              </a:rPr>
              <a:t>lightweight process </a:t>
            </a:r>
            <a:r>
              <a:rPr lang="en-US" altLang="zh-CN" sz="2000" dirty="0"/>
              <a:t>with minimal documentation created during the process, but the final version needs full documentation for future maintenance. </a:t>
            </a:r>
            <a:endParaRPr lang="en-US"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Agile Development</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730996" y="4207686"/>
            <a:ext cx="10946524"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After each sprint the code may be:</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released (original agile method)</a:t>
            </a:r>
            <a:endParaRPr lang="en-US" altLang="zh-CN" sz="2000" dirty="0"/>
          </a:p>
          <a:p>
            <a:pPr lvl="1"/>
            <a:r>
              <a:rPr lang="en-US" altLang="zh-CN" sz="2000" dirty="0"/>
              <a:t>combined with code from other sprints for subsequent release</a:t>
            </a:r>
            <a:endParaRPr lang="en-US" altLang="zh-CN" sz="2000" dirty="0"/>
          </a:p>
          <a:p>
            <a:pPr lvl="1"/>
            <a:r>
              <a:rPr lang="en-US" altLang="zh-CN" sz="2000" dirty="0"/>
              <a:t>incorporated into a larger code base (spiral development)</a:t>
            </a:r>
            <a:endParaRPr lang="en-US" sz="2000" b="1" dirty="0">
              <a:solidFill>
                <a:srgbClr val="FF0000"/>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1820828" y="1303803"/>
            <a:ext cx="8550344" cy="269302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sz="2800" dirty="0"/>
              <a:t>Heavyweight and Lightweight Software Development</a:t>
            </a:r>
            <a:endParaRPr lang="en-US" sz="2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8473" y="1690062"/>
            <a:ext cx="10946524" cy="3477875"/>
          </a:xfrm>
          <a:prstGeom prst="rect">
            <a:avLst/>
          </a:prstGeom>
          <a:noFill/>
        </p:spPr>
        <p:txBody>
          <a:bodyPr wrap="square">
            <a:spAutoFit/>
          </a:bodyPr>
          <a:lstStyle/>
          <a:p>
            <a:r>
              <a:rPr lang="en-US" altLang="zh-CN" sz="2000" dirty="0"/>
              <a:t>In a </a:t>
            </a:r>
            <a:r>
              <a:rPr lang="en-US" altLang="zh-CN" sz="2000" b="1" dirty="0">
                <a:solidFill>
                  <a:srgbClr val="FF0000"/>
                </a:solidFill>
              </a:rPr>
              <a:t>heavyweight process</a:t>
            </a:r>
            <a:r>
              <a:rPr lang="en-US" altLang="zh-CN" sz="2000" dirty="0"/>
              <a:t>, the aim is to fully complete each step and have minimal changes and revisions later. Each step is fully documented before beginning the next.</a:t>
            </a:r>
            <a:endParaRPr lang="en-US" altLang="zh-CN" sz="2000" dirty="0"/>
          </a:p>
          <a:p>
            <a:endParaRPr lang="en-US" sz="2000" dirty="0"/>
          </a:p>
          <a:p>
            <a:r>
              <a:rPr lang="en-US" altLang="zh-CN" sz="2000" dirty="0"/>
              <a:t>Example: </a:t>
            </a:r>
            <a:r>
              <a:rPr lang="en-US" altLang="zh-CN" sz="2000" b="1" dirty="0">
                <a:solidFill>
                  <a:srgbClr val="FF0000"/>
                </a:solidFill>
              </a:rPr>
              <a:t>Modified Waterfall Model</a:t>
            </a:r>
            <a:endParaRPr lang="en-US" altLang="zh-CN" sz="2000" b="1" dirty="0">
              <a:solidFill>
                <a:srgbClr val="FF0000"/>
              </a:solidFill>
            </a:endParaRPr>
          </a:p>
          <a:p>
            <a:endParaRPr lang="en-US" sz="2000" dirty="0"/>
          </a:p>
          <a:p>
            <a:endParaRPr lang="en-US" sz="2000" dirty="0"/>
          </a:p>
          <a:p>
            <a:r>
              <a:rPr lang="en-US" altLang="zh-CN" sz="2000" dirty="0"/>
              <a:t>In a </a:t>
            </a:r>
            <a:r>
              <a:rPr lang="en-US" altLang="zh-CN" sz="2000" b="1" dirty="0">
                <a:solidFill>
                  <a:srgbClr val="FF0000"/>
                </a:solidFill>
              </a:rPr>
              <a:t>lightweight process</a:t>
            </a:r>
            <a:r>
              <a:rPr lang="en-US" altLang="zh-CN" sz="2000" dirty="0"/>
              <a:t>, the development team has minimal intermediate documentation. There is an expectation that changes will be made based on experience, and only the final system will be documented. </a:t>
            </a:r>
            <a:endParaRPr lang="en-US" altLang="zh-CN" sz="2000" dirty="0"/>
          </a:p>
          <a:p>
            <a:endParaRPr lang="en-US" altLang="zh-CN" sz="2000" dirty="0"/>
          </a:p>
          <a:p>
            <a:r>
              <a:rPr lang="en-US" altLang="zh-CN" sz="2000" dirty="0"/>
              <a:t>Example: </a:t>
            </a:r>
            <a:r>
              <a:rPr lang="en-US" altLang="zh-CN" sz="2000" b="1" dirty="0">
                <a:solidFill>
                  <a:srgbClr val="FF0000"/>
                </a:solidFill>
              </a:rPr>
              <a:t>Agile Software Development </a:t>
            </a:r>
            <a:endParaRPr lang="en-US" sz="2000" b="1"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sz="3200" dirty="0"/>
              <a:t>Heavyweight and Lightweight Methodologies</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1754549" y="1136841"/>
            <a:ext cx="8682901" cy="2840303"/>
          </a:xfrm>
          <a:prstGeom prst="rect">
            <a:avLst/>
          </a:prstGeom>
        </p:spPr>
      </p:pic>
      <p:sp>
        <p:nvSpPr>
          <p:cNvPr id="6" name="TextBox 3"/>
          <p:cNvSpPr txBox="1"/>
          <p:nvPr/>
        </p:nvSpPr>
        <p:spPr>
          <a:xfrm>
            <a:off x="8423379" y="5768564"/>
            <a:ext cx="3695048" cy="415498"/>
          </a:xfrm>
          <a:prstGeom prst="rect">
            <a:avLst/>
          </a:prstGeom>
          <a:noFill/>
        </p:spPr>
        <p:txBody>
          <a:bodyPr wrap="square">
            <a:spAutoFit/>
          </a:bodyPr>
          <a:lstStyle/>
          <a:p>
            <a:r>
              <a:rPr lang="en-US" altLang="zh-CN" sz="1050" dirty="0"/>
              <a:t>Based on the Manifesto for Agile Software Development: </a:t>
            </a:r>
            <a:endParaRPr lang="en-US" altLang="zh-CN" sz="1050" dirty="0"/>
          </a:p>
          <a:p>
            <a:r>
              <a:rPr lang="en-US" altLang="zh-CN" sz="1050" dirty="0"/>
              <a:t>http://agilemanifesto.org</a:t>
            </a:r>
            <a:endParaRPr lang="en-US" sz="1050" b="1" dirty="0">
              <a:solidFill>
                <a:srgbClr val="FF0000"/>
              </a:solidFill>
            </a:endParaRPr>
          </a:p>
        </p:txBody>
      </p:sp>
      <p:sp>
        <p:nvSpPr>
          <p:cNvPr id="4" name="TextBox 3"/>
          <p:cNvSpPr txBox="1"/>
          <p:nvPr/>
        </p:nvSpPr>
        <p:spPr>
          <a:xfrm>
            <a:off x="4386744" y="4089494"/>
            <a:ext cx="4656745" cy="1323439"/>
          </a:xfrm>
          <a:prstGeom prst="rect">
            <a:avLst/>
          </a:prstGeom>
          <a:noFill/>
        </p:spPr>
        <p:txBody>
          <a:bodyPr wrap="square">
            <a:spAutoFit/>
          </a:bodyPr>
          <a:lstStyle/>
          <a:p>
            <a:r>
              <a:rPr lang="zh-CN" altLang="en-US" sz="2000" b="1" dirty="0">
                <a:solidFill>
                  <a:srgbClr val="C00000"/>
                </a:solidFill>
                <a:latin typeface="Helvetica" pitchFamily="2" charset="0"/>
                <a:cs typeface="Arial" panose="020B0604020202090204" pitchFamily="34" charset="0"/>
              </a:rPr>
              <a:t>过程和工具</a:t>
            </a:r>
            <a:r>
              <a:rPr lang="en-US" altLang="zh-CN" sz="2000" b="1" dirty="0">
                <a:solidFill>
                  <a:srgbClr val="C00000"/>
                </a:solidFill>
                <a:latin typeface="Helvetica" pitchFamily="2" charset="0"/>
                <a:cs typeface="Arial" panose="020B0604020202090204" pitchFamily="34" charset="0"/>
              </a:rPr>
              <a:t> </a:t>
            </a:r>
            <a:r>
              <a:rPr lang="en-US" altLang="zh-CN" sz="2000" b="0" i="0" dirty="0" err="1">
                <a:solidFill>
                  <a:srgbClr val="191B1F"/>
                </a:solidFill>
                <a:effectLst/>
                <a:latin typeface="-apple-system"/>
              </a:rPr>
              <a:t>v.s</a:t>
            </a:r>
            <a:r>
              <a:rPr lang="en-US" altLang="zh-CN" sz="2000" b="0" i="0" dirty="0">
                <a:solidFill>
                  <a:srgbClr val="191B1F"/>
                </a:solidFill>
                <a:effectLst/>
                <a:latin typeface="-apple-system"/>
              </a:rPr>
              <a:t>.</a:t>
            </a:r>
            <a:r>
              <a:rPr lang="zh-CN" altLang="en-US" sz="2000" b="0" i="0" dirty="0">
                <a:solidFill>
                  <a:srgbClr val="191B1F"/>
                </a:solidFill>
                <a:effectLst/>
                <a:latin typeface="-apple-system"/>
              </a:rPr>
              <a:t> </a:t>
            </a:r>
            <a:r>
              <a:rPr lang="zh-CN" altLang="en-US" sz="2000" b="1" dirty="0">
                <a:solidFill>
                  <a:srgbClr val="C00000"/>
                </a:solidFill>
                <a:latin typeface="Helvetica" pitchFamily="2" charset="0"/>
                <a:cs typeface="Arial" panose="020B0604020202090204" pitchFamily="34" charset="0"/>
              </a:rPr>
              <a:t>个体和交互 </a:t>
            </a:r>
            <a:endParaRPr lang="en-US" altLang="zh-CN" sz="2000" b="1" dirty="0">
              <a:solidFill>
                <a:srgbClr val="C00000"/>
              </a:solidFill>
              <a:latin typeface="Helvetica" pitchFamily="2" charset="0"/>
              <a:cs typeface="Arial" panose="020B0604020202090204" pitchFamily="34" charset="0"/>
            </a:endParaRPr>
          </a:p>
          <a:p>
            <a:pPr algn="l"/>
            <a:r>
              <a:rPr lang="zh-CN" altLang="en-US" sz="2000" b="1" dirty="0">
                <a:solidFill>
                  <a:srgbClr val="C00000"/>
                </a:solidFill>
                <a:latin typeface="Helvetica" pitchFamily="2" charset="0"/>
                <a:cs typeface="Arial" panose="020B0604020202090204" pitchFamily="34" charset="0"/>
              </a:rPr>
              <a:t>面面俱到的文档</a:t>
            </a:r>
            <a:r>
              <a:rPr lang="en-US" altLang="zh-CN" sz="2000" b="1" dirty="0">
                <a:solidFill>
                  <a:srgbClr val="C00000"/>
                </a:solidFill>
                <a:latin typeface="Helvetica" pitchFamily="2" charset="0"/>
                <a:cs typeface="Arial" panose="020B0604020202090204" pitchFamily="34" charset="0"/>
              </a:rPr>
              <a:t> </a:t>
            </a:r>
            <a:r>
              <a:rPr lang="en-US" altLang="zh-CN" sz="2000" b="0" i="0" dirty="0" err="1">
                <a:solidFill>
                  <a:srgbClr val="191B1F"/>
                </a:solidFill>
                <a:effectLst/>
                <a:latin typeface="-apple-system"/>
              </a:rPr>
              <a:t>v.s</a:t>
            </a:r>
            <a:r>
              <a:rPr lang="en-US" altLang="zh-CN" sz="2000" b="0" i="0" dirty="0">
                <a:solidFill>
                  <a:srgbClr val="191B1F"/>
                </a:solidFill>
                <a:effectLst/>
                <a:latin typeface="-apple-system"/>
              </a:rPr>
              <a:t>. </a:t>
            </a:r>
            <a:r>
              <a:rPr lang="zh-CN" altLang="en-US" sz="2000" b="1" dirty="0">
                <a:solidFill>
                  <a:srgbClr val="C00000"/>
                </a:solidFill>
                <a:latin typeface="Helvetica" pitchFamily="2" charset="0"/>
                <a:cs typeface="Arial" panose="020B0604020202090204" pitchFamily="34" charset="0"/>
              </a:rPr>
              <a:t>可以工作的软件</a:t>
            </a:r>
            <a:endParaRPr lang="zh-CN" altLang="en-US" sz="2000" b="1" dirty="0">
              <a:solidFill>
                <a:srgbClr val="C00000"/>
              </a:solidFill>
              <a:latin typeface="Helvetica" pitchFamily="2" charset="0"/>
              <a:cs typeface="Arial" panose="020B0604020202090204" pitchFamily="34" charset="0"/>
            </a:endParaRPr>
          </a:p>
          <a:p>
            <a:r>
              <a:rPr lang="zh-CN" altLang="en-US" sz="2000" b="1" dirty="0">
                <a:solidFill>
                  <a:srgbClr val="C00000"/>
                </a:solidFill>
                <a:latin typeface="Helvetica" pitchFamily="2" charset="0"/>
                <a:cs typeface="Arial" panose="020B0604020202090204" pitchFamily="34" charset="0"/>
              </a:rPr>
              <a:t>遵循计划</a:t>
            </a:r>
            <a:r>
              <a:rPr lang="en-US" altLang="zh-CN" sz="2000" b="1" dirty="0">
                <a:solidFill>
                  <a:srgbClr val="C00000"/>
                </a:solidFill>
                <a:latin typeface="Helvetica" pitchFamily="2" charset="0"/>
                <a:cs typeface="Arial" panose="020B0604020202090204" pitchFamily="34" charset="0"/>
              </a:rPr>
              <a:t> </a:t>
            </a:r>
            <a:r>
              <a:rPr lang="en-US" altLang="zh-CN" sz="2000" b="0" i="0" dirty="0" err="1">
                <a:solidFill>
                  <a:srgbClr val="191B1F"/>
                </a:solidFill>
                <a:effectLst/>
                <a:latin typeface="-apple-system"/>
              </a:rPr>
              <a:t>v.s</a:t>
            </a:r>
            <a:r>
              <a:rPr lang="en-US" altLang="zh-CN" sz="2000" b="0" i="0" dirty="0">
                <a:solidFill>
                  <a:srgbClr val="191B1F"/>
                </a:solidFill>
                <a:effectLst/>
                <a:latin typeface="-apple-system"/>
              </a:rPr>
              <a:t>.</a:t>
            </a:r>
            <a:r>
              <a:rPr lang="zh-CN" altLang="en-US" sz="2000" b="0" i="0" dirty="0">
                <a:solidFill>
                  <a:srgbClr val="191B1F"/>
                </a:solidFill>
                <a:effectLst/>
                <a:latin typeface="-apple-system"/>
              </a:rPr>
              <a:t> </a:t>
            </a:r>
            <a:r>
              <a:rPr lang="zh-CN" altLang="en-US" sz="2000" b="1" dirty="0">
                <a:solidFill>
                  <a:srgbClr val="C00000"/>
                </a:solidFill>
                <a:latin typeface="Helvetica" pitchFamily="2" charset="0"/>
                <a:cs typeface="Arial" panose="020B0604020202090204" pitchFamily="34" charset="0"/>
              </a:rPr>
              <a:t>响应变化 </a:t>
            </a:r>
            <a:endParaRPr lang="en-US" altLang="zh-CN" sz="2000" b="1" dirty="0">
              <a:solidFill>
                <a:srgbClr val="C00000"/>
              </a:solidFill>
              <a:latin typeface="Helvetica" pitchFamily="2" charset="0"/>
              <a:cs typeface="Arial" panose="020B0604020202090204" pitchFamily="34" charset="0"/>
            </a:endParaRPr>
          </a:p>
          <a:p>
            <a:r>
              <a:rPr lang="zh-CN" altLang="en-US" sz="2000" b="1" dirty="0">
                <a:solidFill>
                  <a:srgbClr val="C00000"/>
                </a:solidFill>
                <a:latin typeface="Helvetica" pitchFamily="2" charset="0"/>
                <a:cs typeface="Arial" panose="020B0604020202090204" pitchFamily="34" charset="0"/>
              </a:rPr>
              <a:t>合同谈判</a:t>
            </a:r>
            <a:r>
              <a:rPr lang="en-US" altLang="zh-CN" sz="2000" b="1" dirty="0">
                <a:solidFill>
                  <a:srgbClr val="C00000"/>
                </a:solidFill>
                <a:latin typeface="Helvetica" pitchFamily="2" charset="0"/>
                <a:cs typeface="Arial" panose="020B0604020202090204" pitchFamily="34" charset="0"/>
              </a:rPr>
              <a:t> </a:t>
            </a:r>
            <a:r>
              <a:rPr lang="en-US" altLang="zh-CN" sz="2000" b="0" i="0" dirty="0" err="1">
                <a:solidFill>
                  <a:srgbClr val="191B1F"/>
                </a:solidFill>
                <a:effectLst/>
                <a:latin typeface="-apple-system"/>
              </a:rPr>
              <a:t>v.s</a:t>
            </a:r>
            <a:r>
              <a:rPr lang="en-US" altLang="zh-CN" sz="2000" b="0" i="0" dirty="0">
                <a:solidFill>
                  <a:srgbClr val="191B1F"/>
                </a:solidFill>
                <a:effectLst/>
                <a:latin typeface="-apple-system"/>
              </a:rPr>
              <a:t>.</a:t>
            </a:r>
            <a:r>
              <a:rPr lang="zh-CN" altLang="en-US" sz="2000" b="1" dirty="0">
                <a:solidFill>
                  <a:srgbClr val="C00000"/>
                </a:solidFill>
                <a:latin typeface="Helvetica" pitchFamily="2" charset="0"/>
                <a:cs typeface="Arial" panose="020B0604020202090204" pitchFamily="34" charset="0"/>
              </a:rPr>
              <a:t>客户合作</a:t>
            </a:r>
            <a:endParaRPr lang="zh-CN" altLang="en-US" sz="2000" b="1" dirty="0">
              <a:solidFill>
                <a:srgbClr val="C00000"/>
              </a:solidFill>
              <a:latin typeface="Helvetica" pitchFamily="2" charset="0"/>
              <a:cs typeface="Arial" panose="020B060402020209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Feasibility</a:t>
            </a:r>
            <a:r>
              <a:rPr lang="en-US" altLang="zh-CN"/>
              <a:t> </a:t>
            </a:r>
            <a:r>
              <a:rPr lang="zh-CN" altLang="en-US"/>
              <a:t>Study</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文本框 4"/>
          <p:cNvSpPr txBox="1"/>
          <p:nvPr/>
        </p:nvSpPr>
        <p:spPr>
          <a:xfrm>
            <a:off x="1091565" y="1458595"/>
            <a:ext cx="9785350" cy="398780"/>
          </a:xfrm>
          <a:prstGeom prst="rect">
            <a:avLst/>
          </a:prstGeom>
          <a:noFill/>
        </p:spPr>
        <p:txBody>
          <a:bodyPr wrap="square" rtlCol="0" anchor="t">
            <a:spAutoFit/>
          </a:bodyPr>
          <a:lstStyle/>
          <a:p>
            <a:pPr algn="l">
              <a:buClrTx/>
              <a:buSzTx/>
              <a:buNone/>
            </a:pPr>
            <a:r>
              <a:rPr lang="en-US" sz="2000" dirty="0"/>
              <a:t>A </a:t>
            </a:r>
            <a:r>
              <a:rPr lang="en-US" sz="2000" dirty="0">
                <a:solidFill>
                  <a:srgbClr val="C00000"/>
                </a:solidFill>
              </a:rPr>
              <a:t>feasibility study</a:t>
            </a:r>
            <a:r>
              <a:rPr lang="en-US" sz="2000" dirty="0"/>
              <a:t> is a study made before committing to a project.</a:t>
            </a:r>
            <a:endParaRPr lang="en-US" sz="2000" dirty="0"/>
          </a:p>
        </p:txBody>
      </p:sp>
      <p:sp>
        <p:nvSpPr>
          <p:cNvPr id="6" name="文本框 5"/>
          <p:cNvSpPr txBox="1"/>
          <p:nvPr/>
        </p:nvSpPr>
        <p:spPr>
          <a:xfrm>
            <a:off x="1091565" y="2374900"/>
            <a:ext cx="6096000" cy="1014730"/>
          </a:xfrm>
          <a:prstGeom prst="rect">
            <a:avLst/>
          </a:prstGeom>
          <a:noFill/>
        </p:spPr>
        <p:txBody>
          <a:bodyPr wrap="square" rtlCol="0" anchor="t">
            <a:spAutoFit/>
          </a:bodyPr>
          <a:lstStyle/>
          <a:p>
            <a:r>
              <a:rPr lang="en-US" sz="2000" dirty="0"/>
              <a:t>A feasibility study leads to a </a:t>
            </a:r>
            <a:r>
              <a:rPr lang="en-US" sz="2000" dirty="0">
                <a:solidFill>
                  <a:srgbClr val="C00000"/>
                </a:solidFill>
              </a:rPr>
              <a:t>decision:</a:t>
            </a:r>
            <a:endParaRPr lang="en-US" sz="2000" dirty="0"/>
          </a:p>
          <a:p>
            <a:r>
              <a:rPr lang="en-US" sz="2000" dirty="0"/>
              <a:t>• go ahead</a:t>
            </a:r>
            <a:endParaRPr lang="en-US" sz="2000" dirty="0"/>
          </a:p>
          <a:p>
            <a:r>
              <a:rPr lang="en-US" sz="2000" dirty="0"/>
              <a:t>• do not go ahead</a:t>
            </a:r>
            <a:endParaRPr lang="en-US" sz="2000" dirty="0"/>
          </a:p>
        </p:txBody>
      </p:sp>
      <p:sp>
        <p:nvSpPr>
          <p:cNvPr id="7" name="文本框 6"/>
          <p:cNvSpPr txBox="1"/>
          <p:nvPr/>
        </p:nvSpPr>
        <p:spPr>
          <a:xfrm>
            <a:off x="1090930" y="3907155"/>
            <a:ext cx="9785985" cy="779145"/>
          </a:xfrm>
          <a:prstGeom prst="rect">
            <a:avLst/>
          </a:prstGeom>
          <a:noFill/>
        </p:spPr>
        <p:txBody>
          <a:bodyPr wrap="square" rtlCol="0" anchor="t">
            <a:noAutofit/>
          </a:bodyPr>
          <a:lstStyle/>
          <a:p>
            <a:pPr algn="l">
              <a:buClrTx/>
              <a:buSzTx/>
              <a:buNone/>
            </a:pPr>
            <a:r>
              <a:rPr lang="en-US" sz="2000" dirty="0"/>
              <a:t>In production projects, the feasibility study often leads to a </a:t>
            </a:r>
            <a:r>
              <a:rPr lang="en-US" sz="2000" dirty="0">
                <a:solidFill>
                  <a:srgbClr val="C00000"/>
                </a:solidFill>
              </a:rPr>
              <a:t>budget request.</a:t>
            </a:r>
            <a:endParaRPr lang="en-US" sz="2000" dirty="0">
              <a:solidFill>
                <a:srgbClr val="C00000"/>
              </a:solidFill>
            </a:endParaRPr>
          </a:p>
          <a:p>
            <a:pPr algn="l">
              <a:buClrTx/>
              <a:buSzTx/>
              <a:buFontTx/>
              <a:buNone/>
            </a:pPr>
            <a:r>
              <a:rPr lang="en-US" sz="2000" dirty="0"/>
              <a:t>A feasibility study may be in the form of a </a:t>
            </a:r>
            <a:r>
              <a:rPr lang="en-US" sz="2000" dirty="0">
                <a:solidFill>
                  <a:srgbClr val="C00000"/>
                </a:solidFill>
              </a:rPr>
              <a:t>proposal.</a:t>
            </a:r>
            <a:endParaRPr lang="en-US" sz="2000" dirty="0">
              <a:solidFill>
                <a:srgbClr val="C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Feasibility</a:t>
            </a:r>
            <a:r>
              <a:rPr lang="en-US" altLang="zh-CN"/>
              <a:t> </a:t>
            </a:r>
            <a:r>
              <a:rPr lang="zh-CN" altLang="en-US"/>
              <a:t>Report</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0930" y="1111250"/>
            <a:ext cx="10506710" cy="3630930"/>
          </a:xfrm>
          <a:prstGeom prst="rect">
            <a:avLst/>
          </a:prstGeom>
          <a:noFill/>
        </p:spPr>
        <p:txBody>
          <a:bodyPr wrap="square" rtlCol="0" anchor="t">
            <a:spAutoFit/>
          </a:bodyPr>
          <a:lstStyle/>
          <a:p>
            <a:pPr indent="0" fontAlgn="auto">
              <a:spcBef>
                <a:spcPts val="1800"/>
              </a:spcBef>
            </a:pPr>
            <a:r>
              <a:rPr lang="zh-CN" altLang="en-US" sz="2000"/>
              <a:t>A</a:t>
            </a:r>
            <a:r>
              <a:rPr lang="en-US" altLang="zh-CN" sz="2000"/>
              <a:t> </a:t>
            </a:r>
            <a:r>
              <a:rPr lang="zh-CN" altLang="en-US" sz="2000"/>
              <a:t>feasibility</a:t>
            </a:r>
            <a:r>
              <a:rPr lang="en-US" altLang="zh-CN" sz="2000"/>
              <a:t> </a:t>
            </a:r>
            <a:r>
              <a:rPr lang="zh-CN" altLang="en-US" sz="2000"/>
              <a:t>study</a:t>
            </a:r>
            <a:r>
              <a:rPr lang="en-US" altLang="zh-CN" sz="2000"/>
              <a:t> </a:t>
            </a:r>
            <a:r>
              <a:rPr lang="zh-CN" altLang="en-US" sz="2000"/>
              <a:t>should</a:t>
            </a:r>
            <a:r>
              <a:rPr lang="en-US" altLang="zh-CN" sz="2000"/>
              <a:t> </a:t>
            </a:r>
            <a:r>
              <a:rPr lang="zh-CN" altLang="en-US" sz="2000"/>
              <a:t>have</a:t>
            </a:r>
            <a:r>
              <a:rPr lang="en-US" altLang="zh-CN" sz="2000"/>
              <a:t> </a:t>
            </a:r>
            <a:r>
              <a:rPr lang="zh-CN" altLang="en-US" sz="2000"/>
              <a:t>a</a:t>
            </a:r>
            <a:r>
              <a:rPr lang="en-US" altLang="zh-CN" sz="2000"/>
              <a:t> </a:t>
            </a:r>
            <a:r>
              <a:rPr lang="en-US" sz="2000" b="1" dirty="0">
                <a:solidFill>
                  <a:srgbClr val="515223"/>
                </a:solidFill>
                <a:latin typeface="Helvetica" pitchFamily="2" charset="0"/>
                <a:cs typeface="Arial" panose="020B0604020202090204" pitchFamily="34" charset="0"/>
              </a:rPr>
              <a:t>written report.</a:t>
            </a:r>
            <a:endParaRPr lang="en-US" sz="2000" b="1" dirty="0">
              <a:solidFill>
                <a:srgbClr val="515223"/>
              </a:solidFill>
              <a:latin typeface="Helvetica" pitchFamily="2" charset="0"/>
              <a:cs typeface="Arial" panose="020B0604020202090204" pitchFamily="34" charset="0"/>
            </a:endParaRPr>
          </a:p>
          <a:p>
            <a:pPr indent="0" fontAlgn="auto">
              <a:spcBef>
                <a:spcPts val="1800"/>
              </a:spcBef>
            </a:pPr>
            <a:r>
              <a:rPr lang="zh-CN" altLang="en-US" sz="2000">
                <a:solidFill>
                  <a:srgbClr val="C00000"/>
                </a:solidFill>
              </a:rPr>
              <a:t>It</a:t>
            </a:r>
            <a:r>
              <a:rPr lang="en-US" altLang="zh-CN" sz="2000">
                <a:solidFill>
                  <a:srgbClr val="C00000"/>
                </a:solidFill>
              </a:rPr>
              <a:t> </a:t>
            </a:r>
            <a:r>
              <a:rPr lang="zh-CN" altLang="en-US" sz="2000">
                <a:solidFill>
                  <a:srgbClr val="C00000"/>
                </a:solidFill>
              </a:rPr>
              <a:t>should</a:t>
            </a:r>
            <a:r>
              <a:rPr lang="en-US" altLang="zh-CN" sz="2000">
                <a:solidFill>
                  <a:srgbClr val="C00000"/>
                </a:solidFill>
              </a:rPr>
              <a:t> </a:t>
            </a:r>
            <a:r>
              <a:rPr lang="zh-CN" altLang="en-US" sz="2000">
                <a:solidFill>
                  <a:srgbClr val="C00000"/>
                </a:solidFill>
              </a:rPr>
              <a:t>be</a:t>
            </a:r>
            <a:r>
              <a:rPr lang="en-US" altLang="zh-CN" sz="2000">
                <a:solidFill>
                  <a:srgbClr val="C00000"/>
                </a:solidFill>
              </a:rPr>
              <a:t> </a:t>
            </a:r>
            <a:r>
              <a:rPr lang="zh-CN" altLang="en-US" sz="2000">
                <a:solidFill>
                  <a:srgbClr val="C00000"/>
                </a:solidFill>
              </a:rPr>
              <a:t>a</a:t>
            </a:r>
            <a:r>
              <a:rPr lang="en-US" altLang="zh-CN" sz="2000">
                <a:solidFill>
                  <a:srgbClr val="C00000"/>
                </a:solidFill>
              </a:rPr>
              <a:t> </a:t>
            </a:r>
            <a:r>
              <a:rPr lang="zh-CN" altLang="en-US" sz="2000">
                <a:solidFill>
                  <a:srgbClr val="C00000"/>
                </a:solidFill>
              </a:rPr>
              <a:t>well</a:t>
            </a:r>
            <a:r>
              <a:rPr lang="en-US" altLang="zh-CN" sz="2000">
                <a:solidFill>
                  <a:srgbClr val="C00000"/>
                </a:solidFill>
              </a:rPr>
              <a:t> </a:t>
            </a:r>
            <a:r>
              <a:rPr lang="zh-CN" altLang="en-US" sz="2000">
                <a:solidFill>
                  <a:srgbClr val="C00000"/>
                </a:solidFill>
              </a:rPr>
              <a:t>written,</a:t>
            </a:r>
            <a:r>
              <a:rPr lang="en-US" altLang="zh-CN" sz="2000">
                <a:solidFill>
                  <a:srgbClr val="C00000"/>
                </a:solidFill>
              </a:rPr>
              <a:t> </a:t>
            </a:r>
            <a:r>
              <a:rPr lang="zh-CN" altLang="en-US" sz="2000">
                <a:solidFill>
                  <a:srgbClr val="C00000"/>
                </a:solidFill>
              </a:rPr>
              <a:t>well</a:t>
            </a:r>
            <a:r>
              <a:rPr lang="en-US" altLang="zh-CN" sz="2000">
                <a:solidFill>
                  <a:srgbClr val="C00000"/>
                </a:solidFill>
              </a:rPr>
              <a:t> </a:t>
            </a:r>
            <a:r>
              <a:rPr lang="zh-CN" altLang="en-US" sz="2000">
                <a:solidFill>
                  <a:srgbClr val="C00000"/>
                </a:solidFill>
              </a:rPr>
              <a:t>presented</a:t>
            </a:r>
            <a:r>
              <a:rPr lang="en-US" altLang="zh-CN" sz="2000">
                <a:solidFill>
                  <a:srgbClr val="C00000"/>
                </a:solidFill>
              </a:rPr>
              <a:t> </a:t>
            </a:r>
            <a:r>
              <a:rPr lang="zh-CN" altLang="en-US" sz="2000">
                <a:solidFill>
                  <a:srgbClr val="C00000"/>
                </a:solidFill>
              </a:rPr>
              <a:t>document.</a:t>
            </a:r>
            <a:endParaRPr lang="zh-CN" altLang="en-US" sz="2000">
              <a:solidFill>
                <a:srgbClr val="C00000"/>
              </a:solidFill>
            </a:endParaRPr>
          </a:p>
          <a:p>
            <a:pPr indent="0" fontAlgn="auto">
              <a:spcBef>
                <a:spcPts val="1800"/>
              </a:spcBef>
            </a:pPr>
            <a:r>
              <a:rPr lang="zh-CN" altLang="en-US" sz="2000"/>
              <a:t>•</a:t>
            </a:r>
            <a:r>
              <a:rPr lang="en-US" altLang="zh-CN" sz="2000"/>
              <a:t> </a:t>
            </a:r>
            <a:r>
              <a:rPr lang="zh-CN" altLang="en-US" sz="2000"/>
              <a:t>For</a:t>
            </a:r>
            <a:r>
              <a:rPr lang="en-US" altLang="zh-CN" sz="2000"/>
              <a:t> </a:t>
            </a:r>
            <a:r>
              <a:rPr lang="zh-CN" altLang="en-US" sz="2000"/>
              <a:t>a</a:t>
            </a:r>
            <a:r>
              <a:rPr lang="en-US" altLang="zh-CN" sz="2000"/>
              <a:t> </a:t>
            </a:r>
            <a:r>
              <a:rPr lang="zh-CN" altLang="en-US" sz="2000"/>
              <a:t>general</a:t>
            </a:r>
            <a:r>
              <a:rPr lang="en-US" altLang="zh-CN" sz="2000"/>
              <a:t> </a:t>
            </a:r>
            <a:r>
              <a:rPr lang="zh-CN" altLang="en-US" sz="2000"/>
              <a:t>audience:</a:t>
            </a:r>
            <a:r>
              <a:rPr lang="en-US" altLang="zh-CN" sz="2000"/>
              <a:t> </a:t>
            </a:r>
            <a:r>
              <a:rPr lang="zh-CN" altLang="en-US" sz="2000"/>
              <a:t>client,</a:t>
            </a:r>
            <a:r>
              <a:rPr lang="en-US" altLang="zh-CN" sz="2000"/>
              <a:t> </a:t>
            </a:r>
            <a:r>
              <a:rPr lang="zh-CN" altLang="en-US" sz="2000"/>
              <a:t>financial</a:t>
            </a:r>
            <a:r>
              <a:rPr lang="en-US" altLang="zh-CN" sz="2000"/>
              <a:t> </a:t>
            </a:r>
            <a:r>
              <a:rPr lang="zh-CN" altLang="en-US" sz="2000"/>
              <a:t>management,</a:t>
            </a:r>
            <a:r>
              <a:rPr lang="en-US" altLang="zh-CN" sz="2000"/>
              <a:t> </a:t>
            </a:r>
            <a:r>
              <a:rPr lang="zh-CN" altLang="en-US" sz="2000"/>
              <a:t>technical</a:t>
            </a:r>
            <a:r>
              <a:rPr lang="en-US" altLang="zh-CN" sz="2000"/>
              <a:t> </a:t>
            </a:r>
            <a:r>
              <a:rPr lang="zh-CN" altLang="en-US" sz="2000"/>
              <a:t>management,etc.</a:t>
            </a:r>
            <a:endParaRPr lang="zh-CN" altLang="en-US" sz="2000"/>
          </a:p>
          <a:p>
            <a:pPr indent="0" fontAlgn="auto">
              <a:spcBef>
                <a:spcPts val="1800"/>
              </a:spcBef>
            </a:pPr>
            <a:r>
              <a:rPr lang="zh-CN" altLang="en-US" sz="2000"/>
              <a:t>•</a:t>
            </a:r>
            <a:r>
              <a:rPr lang="en-US" altLang="zh-CN" sz="2000"/>
              <a:t> </a:t>
            </a:r>
            <a:r>
              <a:rPr lang="zh-CN" altLang="en-US" sz="2000"/>
              <a:t>Short</a:t>
            </a:r>
            <a:r>
              <a:rPr lang="en-US" altLang="zh-CN" sz="2000"/>
              <a:t> </a:t>
            </a:r>
            <a:r>
              <a:rPr lang="zh-CN" altLang="en-US" sz="2000"/>
              <a:t>enough</a:t>
            </a:r>
            <a:r>
              <a:rPr lang="en-US" altLang="zh-CN" sz="2000"/>
              <a:t> </a:t>
            </a:r>
            <a:r>
              <a:rPr lang="zh-CN" altLang="en-US" sz="2000"/>
              <a:t>that</a:t>
            </a:r>
            <a:r>
              <a:rPr lang="en-US" altLang="zh-CN" sz="2000"/>
              <a:t> </a:t>
            </a:r>
            <a:r>
              <a:rPr lang="zh-CN" altLang="en-US" sz="2000"/>
              <a:t>everybody</a:t>
            </a:r>
            <a:r>
              <a:rPr lang="en-US" altLang="zh-CN" sz="2000"/>
              <a:t> </a:t>
            </a:r>
            <a:r>
              <a:rPr lang="zh-CN" altLang="en-US" sz="2000"/>
              <a:t>reads</a:t>
            </a:r>
            <a:r>
              <a:rPr lang="en-US" altLang="zh-CN" sz="2000"/>
              <a:t> </a:t>
            </a:r>
            <a:r>
              <a:rPr lang="zh-CN" altLang="en-US" sz="2000"/>
              <a:t>it.</a:t>
            </a:r>
            <a:endParaRPr lang="zh-CN" altLang="en-US" sz="2000"/>
          </a:p>
          <a:p>
            <a:pPr indent="0" fontAlgn="auto">
              <a:spcBef>
                <a:spcPts val="1800"/>
              </a:spcBef>
            </a:pPr>
            <a:r>
              <a:rPr lang="zh-CN" altLang="en-US" sz="2000"/>
              <a:t>•</a:t>
            </a:r>
            <a:r>
              <a:rPr lang="en-US" altLang="zh-CN" sz="2000"/>
              <a:t> </a:t>
            </a:r>
            <a:r>
              <a:rPr lang="zh-CN" altLang="en-US" sz="2000"/>
              <a:t>Long</a:t>
            </a:r>
            <a:r>
              <a:rPr lang="en-US" altLang="zh-CN" sz="2000"/>
              <a:t> </a:t>
            </a:r>
            <a:r>
              <a:rPr lang="zh-CN" altLang="en-US" sz="2000"/>
              <a:t>enough</a:t>
            </a:r>
            <a:r>
              <a:rPr lang="en-US" altLang="zh-CN" sz="2000"/>
              <a:t> </a:t>
            </a:r>
            <a:r>
              <a:rPr lang="zh-CN" altLang="en-US" sz="2000"/>
              <a:t>that</a:t>
            </a:r>
            <a:r>
              <a:rPr lang="en-US" altLang="zh-CN" sz="2000"/>
              <a:t> </a:t>
            </a:r>
            <a:r>
              <a:rPr lang="zh-CN" altLang="en-US" sz="2000"/>
              <a:t>no</a:t>
            </a:r>
            <a:r>
              <a:rPr lang="en-US" altLang="zh-CN" sz="2000"/>
              <a:t> </a:t>
            </a:r>
            <a:r>
              <a:rPr lang="zh-CN" altLang="en-US" sz="2000"/>
              <a:t>important</a:t>
            </a:r>
            <a:r>
              <a:rPr lang="en-US" altLang="zh-CN" sz="2000"/>
              <a:t> </a:t>
            </a:r>
            <a:r>
              <a:rPr lang="zh-CN" altLang="en-US" sz="2000"/>
              <a:t>topics</a:t>
            </a:r>
            <a:r>
              <a:rPr lang="en-US" altLang="zh-CN" sz="2000"/>
              <a:t> </a:t>
            </a:r>
            <a:r>
              <a:rPr lang="zh-CN" altLang="en-US" sz="2000"/>
              <a:t>are</a:t>
            </a:r>
            <a:r>
              <a:rPr lang="en-US" altLang="zh-CN" sz="2000"/>
              <a:t> </a:t>
            </a:r>
            <a:r>
              <a:rPr lang="zh-CN" altLang="en-US" sz="2000"/>
              <a:t>skipped.</a:t>
            </a:r>
            <a:endParaRPr lang="zh-CN" altLang="en-US" sz="2000"/>
          </a:p>
          <a:p>
            <a:pPr indent="0" fontAlgn="auto">
              <a:spcBef>
                <a:spcPts val="1800"/>
              </a:spcBef>
            </a:pPr>
            <a:r>
              <a:rPr lang="zh-CN" altLang="en-US" sz="2000"/>
              <a:t>•</a:t>
            </a:r>
            <a:r>
              <a:rPr lang="en-US" altLang="zh-CN" sz="2000"/>
              <a:t> </a:t>
            </a:r>
            <a:r>
              <a:rPr lang="zh-CN" altLang="en-US" sz="2000"/>
              <a:t>Details</a:t>
            </a:r>
            <a:r>
              <a:rPr lang="en-US" altLang="zh-CN" sz="2000"/>
              <a:t> </a:t>
            </a:r>
            <a:r>
              <a:rPr lang="zh-CN" altLang="en-US" sz="2000"/>
              <a:t>can</a:t>
            </a:r>
            <a:r>
              <a:rPr lang="en-US" altLang="zh-CN" sz="2000"/>
              <a:t> </a:t>
            </a:r>
            <a:r>
              <a:rPr lang="zh-CN" altLang="en-US" sz="2000"/>
              <a:t>be</a:t>
            </a:r>
            <a:r>
              <a:rPr lang="en-US" altLang="zh-CN" sz="2000"/>
              <a:t> </a:t>
            </a:r>
            <a:r>
              <a:rPr lang="zh-CN" altLang="en-US" sz="2000"/>
              <a:t>included</a:t>
            </a:r>
            <a:r>
              <a:rPr lang="en-US" altLang="zh-CN" sz="2000"/>
              <a:t> </a:t>
            </a:r>
            <a:r>
              <a:rPr lang="zh-CN" altLang="en-US" sz="2000"/>
              <a:t>in</a:t>
            </a:r>
            <a:r>
              <a:rPr lang="en-US" altLang="zh-CN" sz="2000"/>
              <a:t> </a:t>
            </a:r>
            <a:r>
              <a:rPr lang="zh-CN" altLang="en-US" sz="2000"/>
              <a:t>supporting</a:t>
            </a:r>
            <a:r>
              <a:rPr lang="en-US" altLang="zh-CN" sz="2000"/>
              <a:t> </a:t>
            </a:r>
            <a:r>
              <a:rPr lang="zh-CN" altLang="en-US" sz="2000"/>
              <a:t>documents.</a:t>
            </a:r>
            <a:endParaRPr lang="zh-CN" altLang="en-US" sz="2000"/>
          </a:p>
          <a:p>
            <a:pPr indent="0" fontAlgn="auto">
              <a:spcBef>
                <a:spcPts val="1800"/>
              </a:spcBef>
            </a:pPr>
            <a:r>
              <a:rPr lang="zh-CN" altLang="en-US" sz="2000">
                <a:solidFill>
                  <a:srgbClr val="C00000"/>
                </a:solidFill>
              </a:rPr>
              <a:t>A</a:t>
            </a:r>
            <a:r>
              <a:rPr lang="en-US" altLang="zh-CN" sz="2000">
                <a:solidFill>
                  <a:srgbClr val="C00000"/>
                </a:solidFill>
              </a:rPr>
              <a:t> </a:t>
            </a:r>
            <a:r>
              <a:rPr lang="zh-CN" altLang="en-US" sz="2000">
                <a:solidFill>
                  <a:srgbClr val="C00000"/>
                </a:solidFill>
              </a:rPr>
              <a:t>report	that</a:t>
            </a:r>
            <a:r>
              <a:rPr lang="en-US" altLang="zh-CN" sz="2000">
                <a:solidFill>
                  <a:srgbClr val="C00000"/>
                </a:solidFill>
              </a:rPr>
              <a:t> </a:t>
            </a:r>
            <a:r>
              <a:rPr lang="zh-CN" altLang="en-US" sz="2000">
                <a:solidFill>
                  <a:srgbClr val="C00000"/>
                </a:solidFill>
              </a:rPr>
              <a:t>is</a:t>
            </a:r>
            <a:r>
              <a:rPr lang="en-US" altLang="zh-CN" sz="2000">
                <a:solidFill>
                  <a:srgbClr val="C00000"/>
                </a:solidFill>
              </a:rPr>
              <a:t> </a:t>
            </a:r>
            <a:r>
              <a:rPr lang="zh-CN" altLang="en-US" sz="2000">
                <a:solidFill>
                  <a:srgbClr val="C00000"/>
                </a:solidFill>
              </a:rPr>
              <a:t>not</a:t>
            </a:r>
            <a:r>
              <a:rPr lang="en-US" altLang="zh-CN" sz="2000">
                <a:solidFill>
                  <a:srgbClr val="C00000"/>
                </a:solidFill>
              </a:rPr>
              <a:t> </a:t>
            </a:r>
            <a:r>
              <a:rPr lang="zh-CN" altLang="en-US" sz="2000">
                <a:solidFill>
                  <a:srgbClr val="C00000"/>
                </a:solidFill>
              </a:rPr>
              <a:t>read</a:t>
            </a:r>
            <a:r>
              <a:rPr lang="en-US" altLang="zh-CN" sz="2000">
                <a:solidFill>
                  <a:srgbClr val="C00000"/>
                </a:solidFill>
              </a:rPr>
              <a:t> </a:t>
            </a:r>
            <a:r>
              <a:rPr lang="zh-CN" altLang="en-US" sz="2000">
                <a:solidFill>
                  <a:srgbClr val="C00000"/>
                </a:solidFill>
              </a:rPr>
              <a:t>and</a:t>
            </a:r>
            <a:r>
              <a:rPr lang="en-US" altLang="zh-CN" sz="2000">
                <a:solidFill>
                  <a:srgbClr val="C00000"/>
                </a:solidFill>
              </a:rPr>
              <a:t> </a:t>
            </a:r>
            <a:r>
              <a:rPr lang="zh-CN" altLang="en-US" sz="2000">
                <a:solidFill>
                  <a:srgbClr val="C00000"/>
                </a:solidFill>
              </a:rPr>
              <a:t>understood</a:t>
            </a:r>
            <a:r>
              <a:rPr lang="en-US" altLang="zh-CN" sz="2000">
                <a:solidFill>
                  <a:srgbClr val="C00000"/>
                </a:solidFill>
              </a:rPr>
              <a:t> </a:t>
            </a:r>
            <a:r>
              <a:rPr lang="zh-CN" altLang="en-US" sz="2000">
                <a:solidFill>
                  <a:srgbClr val="C00000"/>
                </a:solidFill>
              </a:rPr>
              <a:t>is</a:t>
            </a:r>
            <a:r>
              <a:rPr lang="en-US" altLang="zh-CN" sz="2000">
                <a:solidFill>
                  <a:srgbClr val="C00000"/>
                </a:solidFill>
              </a:rPr>
              <a:t> </a:t>
            </a:r>
            <a:r>
              <a:rPr lang="zh-CN" altLang="en-US" sz="2000">
                <a:solidFill>
                  <a:srgbClr val="C00000"/>
                </a:solidFill>
              </a:rPr>
              <a:t>useless.</a:t>
            </a:r>
            <a:endParaRPr lang="zh-CN" altLang="en-US" sz="2000">
              <a:solidFill>
                <a:srgbClr val="C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The	Aim	of</a:t>
            </a:r>
            <a:r>
              <a:rPr lang="en-US" altLang="zh-CN"/>
              <a:t> </a:t>
            </a:r>
            <a:r>
              <a:rPr lang="zh-CN" altLang="en-US"/>
              <a:t>Project</a:t>
            </a:r>
            <a:r>
              <a:rPr lang="en-US" altLang="zh-CN"/>
              <a:t> </a:t>
            </a:r>
            <a:r>
              <a:rPr lang="zh-CN" altLang="en-US"/>
              <a:t>Management</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149985"/>
            <a:ext cx="10427335" cy="4208145"/>
          </a:xfrm>
          <a:prstGeom prst="rect">
            <a:avLst/>
          </a:prstGeom>
          <a:noFill/>
        </p:spPr>
        <p:txBody>
          <a:bodyPr wrap="square" rtlCol="0" anchor="t">
            <a:noAutofit/>
          </a:bodyPr>
          <a:lstStyle/>
          <a:p>
            <a:pPr indent="0" fontAlgn="auto">
              <a:spcBef>
                <a:spcPts val="1800"/>
              </a:spcBef>
            </a:pPr>
            <a:r>
              <a:rPr lang="zh-CN" altLang="en-US" dirty="0"/>
              <a:t>To</a:t>
            </a:r>
            <a:r>
              <a:rPr lang="en-US" altLang="zh-CN" dirty="0"/>
              <a:t> </a:t>
            </a:r>
            <a:r>
              <a:rPr lang="zh-CN" altLang="en-US" dirty="0"/>
              <a:t>complete</a:t>
            </a:r>
            <a:r>
              <a:rPr lang="en-US" altLang="zh-CN" dirty="0"/>
              <a:t> </a:t>
            </a:r>
            <a:r>
              <a:rPr lang="zh-CN" altLang="en-US" dirty="0"/>
              <a:t>a</a:t>
            </a:r>
            <a:r>
              <a:rPr lang="en-US" altLang="zh-CN" dirty="0"/>
              <a:t> </a:t>
            </a:r>
            <a:r>
              <a:rPr lang="zh-CN" altLang="en-US" dirty="0"/>
              <a:t>project:</a:t>
            </a:r>
            <a:endParaRPr lang="zh-CN" altLang="en-US" dirty="0"/>
          </a:p>
          <a:p>
            <a:pPr indent="0" fontAlgn="auto">
              <a:spcBef>
                <a:spcPts val="1800"/>
              </a:spcBef>
            </a:pPr>
            <a:r>
              <a:rPr lang="zh-CN" altLang="en-US" dirty="0"/>
              <a:t>•</a:t>
            </a:r>
            <a:r>
              <a:rPr lang="en-US" altLang="zh-CN" dirty="0"/>
              <a:t> </a:t>
            </a:r>
            <a:r>
              <a:rPr lang="zh-CN" altLang="en-US" dirty="0"/>
              <a:t>On</a:t>
            </a:r>
            <a:r>
              <a:rPr lang="en-US" altLang="zh-CN" dirty="0"/>
              <a:t> </a:t>
            </a:r>
            <a:r>
              <a:rPr lang="en-US" altLang="zh-CN" dirty="0" err="1"/>
              <a:t>ti</a:t>
            </a:r>
            <a:r>
              <a:rPr lang="zh-CN" altLang="en-US" dirty="0"/>
              <a:t>me</a:t>
            </a:r>
            <a:endParaRPr lang="zh-CN" altLang="en-US" dirty="0"/>
          </a:p>
          <a:p>
            <a:pPr indent="0" fontAlgn="auto">
              <a:spcBef>
                <a:spcPts val="1800"/>
              </a:spcBef>
            </a:pPr>
            <a:r>
              <a:rPr lang="zh-CN" altLang="en-US" dirty="0"/>
              <a:t>•</a:t>
            </a:r>
            <a:r>
              <a:rPr lang="en-US" altLang="zh-CN" dirty="0"/>
              <a:t> </a:t>
            </a:r>
            <a:r>
              <a:rPr lang="zh-CN" altLang="en-US" dirty="0"/>
              <a:t>On</a:t>
            </a:r>
            <a:r>
              <a:rPr lang="en-US" altLang="zh-CN" dirty="0"/>
              <a:t> </a:t>
            </a:r>
            <a:r>
              <a:rPr lang="zh-CN" altLang="en-US" dirty="0"/>
              <a:t>budget</a:t>
            </a:r>
            <a:endParaRPr lang="zh-CN" altLang="en-US" dirty="0"/>
          </a:p>
          <a:p>
            <a:pPr indent="0" fontAlgn="auto">
              <a:spcBef>
                <a:spcPts val="1800"/>
              </a:spcBef>
            </a:pPr>
            <a:r>
              <a:rPr lang="zh-CN" altLang="en-US" dirty="0"/>
              <a:t>•</a:t>
            </a:r>
            <a:r>
              <a:rPr lang="en-US" altLang="zh-CN" dirty="0"/>
              <a:t> </a:t>
            </a:r>
            <a:r>
              <a:rPr lang="zh-CN" altLang="en-US" dirty="0"/>
              <a:t>With</a:t>
            </a:r>
            <a:r>
              <a:rPr lang="en-US" altLang="zh-CN" dirty="0"/>
              <a:t> </a:t>
            </a:r>
            <a:r>
              <a:rPr lang="zh-CN" altLang="en-US" dirty="0"/>
              <a:t>required</a:t>
            </a:r>
            <a:r>
              <a:rPr lang="en-US" altLang="zh-CN" dirty="0"/>
              <a:t> </a:t>
            </a:r>
            <a:r>
              <a:rPr lang="zh-CN" altLang="en-US" dirty="0"/>
              <a:t>func</a:t>
            </a:r>
            <a:r>
              <a:rPr lang="en-US" altLang="zh-CN" dirty="0" err="1"/>
              <a:t>ti</a:t>
            </a:r>
            <a:r>
              <a:rPr lang="zh-CN" altLang="en-US" dirty="0"/>
              <a:t>onality</a:t>
            </a:r>
            <a:endParaRPr lang="zh-CN" altLang="en-US" dirty="0"/>
          </a:p>
          <a:p>
            <a:pPr indent="0" fontAlgn="auto">
              <a:spcBef>
                <a:spcPts val="1800"/>
              </a:spcBef>
            </a:pPr>
            <a:r>
              <a:rPr lang="zh-CN" altLang="en-US" dirty="0"/>
              <a:t>•</a:t>
            </a:r>
            <a:r>
              <a:rPr lang="en-US" altLang="zh-CN" dirty="0"/>
              <a:t> </a:t>
            </a:r>
            <a:r>
              <a:rPr lang="zh-CN" altLang="en-US" dirty="0"/>
              <a:t>To</a:t>
            </a:r>
            <a:r>
              <a:rPr lang="en-US" altLang="zh-CN" dirty="0"/>
              <a:t> </a:t>
            </a:r>
            <a:r>
              <a:rPr lang="zh-CN" altLang="en-US" dirty="0"/>
              <a:t>the</a:t>
            </a:r>
            <a:r>
              <a:rPr lang="en-US" altLang="zh-CN" dirty="0"/>
              <a:t> </a:t>
            </a:r>
            <a:r>
              <a:rPr lang="zh-CN" altLang="en-US" dirty="0"/>
              <a:t>sa</a:t>
            </a:r>
            <a:r>
              <a:rPr lang="en-US" altLang="zh-CN" dirty="0" err="1"/>
              <a:t>ti</a:t>
            </a:r>
            <a:r>
              <a:rPr lang="zh-CN" altLang="en-US" dirty="0"/>
              <a:t>sfac</a:t>
            </a:r>
            <a:r>
              <a:rPr lang="en-US" altLang="zh-CN" dirty="0" err="1"/>
              <a:t>ti</a:t>
            </a:r>
            <a:r>
              <a:rPr lang="zh-CN" altLang="en-US" dirty="0"/>
              <a:t>on</a:t>
            </a:r>
            <a:r>
              <a:rPr lang="en-US" altLang="zh-CN" dirty="0"/>
              <a:t> </a:t>
            </a:r>
            <a:r>
              <a:rPr lang="zh-CN" altLang="en-US" dirty="0"/>
              <a:t>of</a:t>
            </a:r>
            <a:r>
              <a:rPr lang="en-US" altLang="zh-CN" dirty="0"/>
              <a:t> </a:t>
            </a:r>
            <a:r>
              <a:rPr lang="zh-CN" altLang="en-US" dirty="0"/>
              <a:t>the</a:t>
            </a:r>
            <a:r>
              <a:rPr lang="en-US" altLang="zh-CN" dirty="0"/>
              <a:t> </a:t>
            </a:r>
            <a:r>
              <a:rPr lang="zh-CN" altLang="en-US" dirty="0"/>
              <a:t>client</a:t>
            </a:r>
            <a:endParaRPr lang="zh-CN" altLang="en-US" dirty="0"/>
          </a:p>
          <a:p>
            <a:pPr indent="0" fontAlgn="auto">
              <a:spcBef>
                <a:spcPts val="1800"/>
              </a:spcBef>
            </a:pPr>
            <a:r>
              <a:rPr lang="zh-CN" altLang="en-US" dirty="0"/>
              <a:t>•</a:t>
            </a:r>
            <a:r>
              <a:rPr lang="en-US" altLang="zh-CN" dirty="0"/>
              <a:t> </a:t>
            </a:r>
            <a:r>
              <a:rPr lang="zh-CN" altLang="en-US" dirty="0"/>
              <a:t>Without</a:t>
            </a:r>
            <a:r>
              <a:rPr lang="en-US" altLang="zh-CN" dirty="0"/>
              <a:t> </a:t>
            </a:r>
            <a:r>
              <a:rPr lang="zh-CN" altLang="en-US" dirty="0"/>
              <a:t>exhaus</a:t>
            </a:r>
            <a:r>
              <a:rPr lang="en-US" altLang="zh-CN" dirty="0" err="1"/>
              <a:t>ti</a:t>
            </a:r>
            <a:r>
              <a:rPr lang="zh-CN" altLang="en-US" dirty="0"/>
              <a:t>ng</a:t>
            </a:r>
            <a:r>
              <a:rPr lang="en-US" altLang="zh-CN" dirty="0"/>
              <a:t> </a:t>
            </a:r>
            <a:r>
              <a:rPr lang="zh-CN" altLang="en-US" dirty="0"/>
              <a:t>the</a:t>
            </a:r>
            <a:r>
              <a:rPr lang="en-US" altLang="zh-CN" dirty="0"/>
              <a:t> </a:t>
            </a:r>
            <a:r>
              <a:rPr lang="zh-CN" altLang="en-US" dirty="0"/>
              <a:t>team</a:t>
            </a:r>
            <a:endParaRPr lang="zh-CN" altLang="en-US" dirty="0"/>
          </a:p>
          <a:p>
            <a:pPr indent="0" fontAlgn="auto">
              <a:spcBef>
                <a:spcPts val="1800"/>
              </a:spcBef>
            </a:pPr>
            <a:r>
              <a:rPr lang="zh-CN" altLang="en-US" dirty="0">
                <a:solidFill>
                  <a:srgbClr val="C00000"/>
                </a:solidFill>
              </a:rPr>
              <a:t>To</a:t>
            </a:r>
            <a:r>
              <a:rPr lang="en-US" altLang="zh-CN" dirty="0">
                <a:solidFill>
                  <a:srgbClr val="C00000"/>
                </a:solidFill>
              </a:rPr>
              <a:t> </a:t>
            </a:r>
            <a:r>
              <a:rPr lang="zh-CN" altLang="en-US" dirty="0">
                <a:solidFill>
                  <a:srgbClr val="C00000"/>
                </a:solidFill>
              </a:rPr>
              <a:t>provide</a:t>
            </a:r>
            <a:r>
              <a:rPr lang="en-US" altLang="zh-CN" dirty="0">
                <a:solidFill>
                  <a:srgbClr val="C00000"/>
                </a:solidFill>
              </a:rPr>
              <a:t> </a:t>
            </a:r>
            <a:r>
              <a:rPr lang="zh-CN" altLang="en-US" dirty="0">
                <a:solidFill>
                  <a:srgbClr val="C00000"/>
                </a:solidFill>
              </a:rPr>
              <a:t>visibility</a:t>
            </a:r>
            <a:r>
              <a:rPr lang="en-US" altLang="zh-CN" dirty="0">
                <a:solidFill>
                  <a:srgbClr val="C00000"/>
                </a:solidFill>
              </a:rPr>
              <a:t> </a:t>
            </a:r>
            <a:r>
              <a:rPr lang="zh-CN" altLang="en-US" dirty="0">
                <a:solidFill>
                  <a:srgbClr val="C00000"/>
                </a:solidFill>
              </a:rPr>
              <a:t>about</a:t>
            </a:r>
            <a:r>
              <a:rPr lang="en-US" altLang="zh-CN" dirty="0">
                <a:solidFill>
                  <a:srgbClr val="C00000"/>
                </a:solidFill>
              </a:rPr>
              <a:t> </a:t>
            </a:r>
            <a:r>
              <a:rPr lang="zh-CN" altLang="en-US" dirty="0">
                <a:solidFill>
                  <a:srgbClr val="C00000"/>
                </a:solidFill>
              </a:rPr>
              <a:t>the</a:t>
            </a:r>
            <a:r>
              <a:rPr lang="en-US" altLang="zh-CN" dirty="0">
                <a:solidFill>
                  <a:srgbClr val="C00000"/>
                </a:solidFill>
              </a:rPr>
              <a:t> </a:t>
            </a:r>
            <a:r>
              <a:rPr lang="zh-CN" altLang="en-US" dirty="0">
                <a:solidFill>
                  <a:srgbClr val="C00000"/>
                </a:solidFill>
              </a:rPr>
              <a:t>progress</a:t>
            </a:r>
            <a:r>
              <a:rPr lang="en-US" altLang="zh-CN" dirty="0">
                <a:solidFill>
                  <a:srgbClr val="C00000"/>
                </a:solidFill>
              </a:rPr>
              <a:t> </a:t>
            </a:r>
            <a:r>
              <a:rPr lang="zh-CN" altLang="en-US" dirty="0">
                <a:solidFill>
                  <a:srgbClr val="C00000"/>
                </a:solidFill>
              </a:rPr>
              <a:t>of</a:t>
            </a:r>
            <a:r>
              <a:rPr lang="en-US" altLang="zh-CN" dirty="0">
                <a:solidFill>
                  <a:srgbClr val="C00000"/>
                </a:solidFill>
              </a:rPr>
              <a:t> </a:t>
            </a:r>
            <a:r>
              <a:rPr lang="zh-CN" altLang="en-US" dirty="0">
                <a:solidFill>
                  <a:srgbClr val="C00000"/>
                </a:solidFill>
              </a:rPr>
              <a:t>a</a:t>
            </a:r>
            <a:r>
              <a:rPr lang="en-US" altLang="zh-CN" dirty="0">
                <a:solidFill>
                  <a:srgbClr val="C00000"/>
                </a:solidFill>
              </a:rPr>
              <a:t> </a:t>
            </a:r>
            <a:r>
              <a:rPr lang="zh-CN" altLang="en-US" dirty="0">
                <a:solidFill>
                  <a:srgbClr val="C00000"/>
                </a:solidFill>
              </a:rPr>
              <a:t>project	</a:t>
            </a:r>
            <a:endParaRPr lang="zh-CN" altLang="en-US" dirty="0">
              <a:solidFill>
                <a:srgbClr val="C00000"/>
              </a:solidFill>
            </a:endParaRPr>
          </a:p>
          <a:p>
            <a:pPr indent="0" fontAlgn="auto">
              <a:spcBef>
                <a:spcPts val="1800"/>
              </a:spcBef>
            </a:pPr>
            <a:r>
              <a:rPr lang="zh-CN" altLang="en-US" dirty="0">
                <a:solidFill>
                  <a:srgbClr val="C00000"/>
                </a:solidFill>
              </a:rPr>
              <a:t>To</a:t>
            </a:r>
            <a:r>
              <a:rPr lang="en-US" altLang="zh-CN" dirty="0">
                <a:solidFill>
                  <a:srgbClr val="C00000"/>
                </a:solidFill>
              </a:rPr>
              <a:t> </a:t>
            </a:r>
            <a:r>
              <a:rPr lang="zh-CN" altLang="en-US" dirty="0">
                <a:solidFill>
                  <a:srgbClr val="C00000"/>
                </a:solidFill>
              </a:rPr>
              <a:t>give</a:t>
            </a:r>
            <a:r>
              <a:rPr lang="en-US" altLang="zh-CN" dirty="0">
                <a:solidFill>
                  <a:srgbClr val="C00000"/>
                </a:solidFill>
              </a:rPr>
              <a:t> </a:t>
            </a:r>
            <a:r>
              <a:rPr lang="zh-CN" altLang="en-US" dirty="0">
                <a:solidFill>
                  <a:srgbClr val="C00000"/>
                </a:solidFill>
              </a:rPr>
              <a:t>early</a:t>
            </a:r>
            <a:r>
              <a:rPr lang="en-US" altLang="zh-CN" dirty="0">
                <a:solidFill>
                  <a:srgbClr val="C00000"/>
                </a:solidFill>
              </a:rPr>
              <a:t> </a:t>
            </a:r>
            <a:r>
              <a:rPr lang="zh-CN" altLang="en-US" dirty="0">
                <a:solidFill>
                  <a:srgbClr val="C00000"/>
                </a:solidFill>
              </a:rPr>
              <a:t>warning</a:t>
            </a:r>
            <a:r>
              <a:rPr lang="en-US" altLang="zh-CN" dirty="0">
                <a:solidFill>
                  <a:srgbClr val="C00000"/>
                </a:solidFill>
              </a:rPr>
              <a:t> </a:t>
            </a:r>
            <a:r>
              <a:rPr lang="zh-CN" altLang="en-US" dirty="0">
                <a:solidFill>
                  <a:srgbClr val="C00000"/>
                </a:solidFill>
              </a:rPr>
              <a:t>of</a:t>
            </a:r>
            <a:r>
              <a:rPr lang="en-US" altLang="zh-CN" dirty="0">
                <a:solidFill>
                  <a:srgbClr val="C00000"/>
                </a:solidFill>
              </a:rPr>
              <a:t> </a:t>
            </a:r>
            <a:r>
              <a:rPr lang="zh-CN" altLang="en-US" dirty="0">
                <a:solidFill>
                  <a:srgbClr val="C00000"/>
                </a:solidFill>
              </a:rPr>
              <a:t>problems</a:t>
            </a:r>
            <a:r>
              <a:rPr lang="en-US" altLang="zh-CN" dirty="0">
                <a:solidFill>
                  <a:srgbClr val="C00000"/>
                </a:solidFill>
              </a:rPr>
              <a:t> </a:t>
            </a:r>
            <a:r>
              <a:rPr lang="zh-CN" altLang="en-US" dirty="0">
                <a:solidFill>
                  <a:srgbClr val="C00000"/>
                </a:solidFill>
              </a:rPr>
              <a:t>so</a:t>
            </a:r>
            <a:r>
              <a:rPr lang="en-US" altLang="zh-CN" dirty="0">
                <a:solidFill>
                  <a:srgbClr val="C00000"/>
                </a:solidFill>
              </a:rPr>
              <a:t> </a:t>
            </a:r>
            <a:r>
              <a:rPr lang="zh-CN" altLang="en-US" dirty="0">
                <a:solidFill>
                  <a:srgbClr val="C00000"/>
                </a:solidFill>
              </a:rPr>
              <a:t>that</a:t>
            </a:r>
            <a:r>
              <a:rPr lang="en-US" altLang="zh-CN" dirty="0">
                <a:solidFill>
                  <a:srgbClr val="C00000"/>
                </a:solidFill>
              </a:rPr>
              <a:t> </a:t>
            </a:r>
            <a:r>
              <a:rPr lang="zh-CN" altLang="en-US" dirty="0">
                <a:solidFill>
                  <a:srgbClr val="C00000"/>
                </a:solidFill>
              </a:rPr>
              <a:t>correc</a:t>
            </a:r>
            <a:r>
              <a:rPr lang="en-US" altLang="zh-CN" dirty="0" err="1">
                <a:solidFill>
                  <a:srgbClr val="C00000"/>
                </a:solidFill>
              </a:rPr>
              <a:t>ti</a:t>
            </a:r>
            <a:r>
              <a:rPr lang="zh-CN" altLang="en-US" dirty="0">
                <a:solidFill>
                  <a:srgbClr val="C00000"/>
                </a:solidFill>
              </a:rPr>
              <a:t>ons</a:t>
            </a:r>
            <a:r>
              <a:rPr lang="en-US" altLang="zh-CN" dirty="0">
                <a:solidFill>
                  <a:srgbClr val="C00000"/>
                </a:solidFill>
              </a:rPr>
              <a:t> </a:t>
            </a:r>
            <a:r>
              <a:rPr lang="zh-CN" altLang="en-US" dirty="0">
                <a:solidFill>
                  <a:srgbClr val="C00000"/>
                </a:solidFill>
              </a:rPr>
              <a:t>can</a:t>
            </a:r>
            <a:r>
              <a:rPr lang="en-US" altLang="zh-CN" dirty="0">
                <a:solidFill>
                  <a:srgbClr val="C00000"/>
                </a:solidFill>
              </a:rPr>
              <a:t> </a:t>
            </a:r>
            <a:r>
              <a:rPr lang="zh-CN" altLang="en-US" dirty="0">
                <a:solidFill>
                  <a:srgbClr val="C00000"/>
                </a:solidFill>
              </a:rPr>
              <a:t>be</a:t>
            </a:r>
            <a:r>
              <a:rPr lang="en-US" altLang="zh-CN" dirty="0">
                <a:solidFill>
                  <a:srgbClr val="C00000"/>
                </a:solidFill>
              </a:rPr>
              <a:t> </a:t>
            </a:r>
            <a:r>
              <a:rPr lang="zh-CN" altLang="en-US" dirty="0">
                <a:solidFill>
                  <a:srgbClr val="C00000"/>
                </a:solidFill>
              </a:rPr>
              <a:t>made</a:t>
            </a:r>
            <a:endParaRPr lang="zh-CN" altLang="en-US" dirty="0">
              <a:solidFill>
                <a:srgbClr val="C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A</a:t>
            </a:r>
            <a:r>
              <a:rPr lang="en-US" altLang="zh-CN"/>
              <a:t> </a:t>
            </a:r>
            <a:r>
              <a:rPr lang="zh-CN" altLang="en-US"/>
              <a:t>Simple</a:t>
            </a:r>
            <a:r>
              <a:rPr lang="en-US" altLang="zh-CN"/>
              <a:t> </a:t>
            </a:r>
            <a:r>
              <a:rPr lang="zh-CN" altLang="en-US"/>
              <a:t>Gan</a:t>
            </a:r>
            <a:r>
              <a:rPr lang="en-US" altLang="zh-CN"/>
              <a:t>tt </a:t>
            </a:r>
            <a:r>
              <a:rPr lang="zh-CN" altLang="en-US"/>
              <a:t>Chart</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custDataLst>
              <p:tags r:id="rId1"/>
            </p:custDataLst>
          </p:nvPr>
        </p:nvPicPr>
        <p:blipFill>
          <a:blip r:embed="rId2"/>
          <a:stretch>
            <a:fillRect/>
          </a:stretch>
        </p:blipFill>
        <p:spPr>
          <a:xfrm>
            <a:off x="2022475" y="1402715"/>
            <a:ext cx="7167245" cy="3284220"/>
          </a:xfrm>
          <a:prstGeom prst="rect">
            <a:avLst/>
          </a:prstGeom>
        </p:spPr>
      </p:pic>
      <p:sp>
        <p:nvSpPr>
          <p:cNvPr id="5" name="文本框 4"/>
          <p:cNvSpPr txBox="1"/>
          <p:nvPr/>
        </p:nvSpPr>
        <p:spPr>
          <a:xfrm>
            <a:off x="4102100" y="5151120"/>
            <a:ext cx="5523230" cy="368300"/>
          </a:xfrm>
          <a:prstGeom prst="rect">
            <a:avLst/>
          </a:prstGeom>
          <a:noFill/>
        </p:spPr>
        <p:txBody>
          <a:bodyPr wrap="square" rtlCol="0" anchor="t">
            <a:spAutoFit/>
          </a:bodyPr>
          <a:lstStyle/>
          <a:p>
            <a:r>
              <a:rPr lang="zh-CN" altLang="en-US"/>
              <a:t>Source:</a:t>
            </a:r>
            <a:r>
              <a:rPr lang="en-US" altLang="zh-CN"/>
              <a:t> </a:t>
            </a:r>
            <a:r>
              <a:rPr lang="zh-CN" altLang="en-US"/>
              <a:t>Advanced</a:t>
            </a:r>
            <a:r>
              <a:rPr lang="en-US" altLang="zh-CN"/>
              <a:t> </a:t>
            </a:r>
            <a:r>
              <a:rPr lang="zh-CN" altLang="en-US"/>
              <a:t>SoIware</a:t>
            </a:r>
            <a:r>
              <a:rPr lang="en-US" altLang="zh-CN"/>
              <a:t> </a:t>
            </a:r>
            <a:r>
              <a:rPr lang="zh-CN" altLang="en-US"/>
              <a:t>Engineering</a:t>
            </a:r>
            <a:r>
              <a:rPr lang="en-US" altLang="zh-CN"/>
              <a:t> </a:t>
            </a:r>
            <a:r>
              <a:rPr lang="zh-CN" altLang="en-US"/>
              <a:t>Limited</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Gan</a:t>
            </a:r>
            <a:r>
              <a:rPr lang="en-US" altLang="zh-CN"/>
              <a:t>tt </a:t>
            </a:r>
            <a:r>
              <a:rPr lang="zh-CN" altLang="en-US"/>
              <a:t>Charts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167130"/>
            <a:ext cx="10083165" cy="4625975"/>
          </a:xfrm>
          <a:prstGeom prst="rect">
            <a:avLst/>
          </a:prstGeom>
          <a:noFill/>
        </p:spPr>
        <p:txBody>
          <a:bodyPr wrap="square" rtlCol="0" anchor="t">
            <a:noAutofit/>
          </a:bodyPr>
          <a:lstStyle/>
          <a:p>
            <a:pPr indent="0" fontAlgn="auto">
              <a:spcBef>
                <a:spcPts val="1800"/>
              </a:spcBef>
            </a:pPr>
            <a:r>
              <a:rPr lang="zh-CN" altLang="en-US" b="1" dirty="0">
                <a:solidFill>
                  <a:schemeClr val="accent1"/>
                </a:solidFill>
                <a:latin typeface="+mj-lt"/>
                <a:ea typeface="黑体" panose="02010609060101010101" charset="-122"/>
                <a:cs typeface="+mj-lt"/>
              </a:rPr>
              <a:t>Used for small projects, single time-boxes, and sprints</a:t>
            </a:r>
            <a:endParaRPr lang="zh-CN" altLang="en-US" b="1" dirty="0">
              <a:solidFill>
                <a:schemeClr val="accent1"/>
              </a:solidFill>
              <a:latin typeface="+mj-lt"/>
              <a:ea typeface="黑体" panose="02010609060101010101" charset="-122"/>
              <a:cs typeface="+mj-lt"/>
            </a:endParaRPr>
          </a:p>
          <a:p>
            <a:pPr indent="0" fontAlgn="auto">
              <a:spcBef>
                <a:spcPts val="1800"/>
              </a:spcBef>
            </a:pPr>
            <a:r>
              <a:rPr lang="zh-CN" altLang="en-US" dirty="0"/>
              <a:t>•</a:t>
            </a:r>
            <a:r>
              <a:rPr lang="en-US" altLang="zh-CN" dirty="0"/>
              <a:t> </a:t>
            </a:r>
            <a:r>
              <a:rPr lang="zh-CN" altLang="en-US" dirty="0"/>
              <a:t>Dates</a:t>
            </a:r>
            <a:r>
              <a:rPr lang="en-US" altLang="zh-CN" dirty="0"/>
              <a:t> </a:t>
            </a:r>
            <a:r>
              <a:rPr lang="zh-CN" altLang="en-US" dirty="0"/>
              <a:t>run</a:t>
            </a:r>
            <a:r>
              <a:rPr lang="en-US" altLang="zh-CN" dirty="0"/>
              <a:t> </a:t>
            </a:r>
            <a:r>
              <a:rPr lang="zh-CN" altLang="en-US" dirty="0"/>
              <a:t>along	the</a:t>
            </a:r>
            <a:r>
              <a:rPr lang="en-US" altLang="zh-CN" dirty="0"/>
              <a:t> </a:t>
            </a:r>
            <a:r>
              <a:rPr lang="zh-CN" altLang="en-US" dirty="0"/>
              <a:t>top</a:t>
            </a:r>
            <a:r>
              <a:rPr lang="en-US" altLang="zh-CN" dirty="0"/>
              <a:t> </a:t>
            </a:r>
            <a:r>
              <a:rPr lang="zh-CN" altLang="en-US" dirty="0"/>
              <a:t>(days,</a:t>
            </a:r>
            <a:r>
              <a:rPr lang="en-US" altLang="zh-CN" dirty="0"/>
              <a:t> </a:t>
            </a:r>
            <a:r>
              <a:rPr lang="zh-CN" altLang="en-US" dirty="0"/>
              <a:t>weeks,</a:t>
            </a:r>
            <a:r>
              <a:rPr lang="en-US" altLang="zh-CN" dirty="0"/>
              <a:t> </a:t>
            </a:r>
            <a:r>
              <a:rPr lang="zh-CN" altLang="en-US" dirty="0"/>
              <a:t>or</a:t>
            </a:r>
            <a:r>
              <a:rPr lang="en-US" altLang="zh-CN" dirty="0"/>
              <a:t> </a:t>
            </a:r>
            <a:r>
              <a:rPr lang="zh-CN" altLang="en-US" dirty="0"/>
              <a:t>months).</a:t>
            </a:r>
            <a:endParaRPr lang="zh-CN" altLang="en-US" dirty="0"/>
          </a:p>
          <a:p>
            <a:pPr indent="0" fontAlgn="auto">
              <a:spcBef>
                <a:spcPts val="1800"/>
              </a:spcBef>
            </a:pPr>
            <a:r>
              <a:rPr lang="zh-CN" altLang="en-US" dirty="0"/>
              <a:t>•</a:t>
            </a:r>
            <a:r>
              <a:rPr lang="en-US" altLang="zh-CN" dirty="0"/>
              <a:t> </a:t>
            </a:r>
            <a:r>
              <a:rPr lang="zh-CN" altLang="en-US" dirty="0"/>
              <a:t>Each</a:t>
            </a:r>
            <a:r>
              <a:rPr lang="en-US" altLang="zh-CN" dirty="0"/>
              <a:t> </a:t>
            </a:r>
            <a:r>
              <a:rPr lang="zh-CN" altLang="en-US" dirty="0"/>
              <a:t>row</a:t>
            </a:r>
            <a:r>
              <a:rPr lang="en-US" altLang="zh-CN" dirty="0"/>
              <a:t> </a:t>
            </a:r>
            <a:r>
              <a:rPr lang="zh-CN" altLang="en-US" dirty="0"/>
              <a:t>represents</a:t>
            </a:r>
            <a:r>
              <a:rPr lang="en-US" altLang="zh-CN" dirty="0"/>
              <a:t> </a:t>
            </a:r>
            <a:r>
              <a:rPr lang="zh-CN" altLang="en-US" dirty="0"/>
              <a:t>an</a:t>
            </a:r>
            <a:r>
              <a:rPr lang="en-US" altLang="zh-CN" dirty="0"/>
              <a:t> </a:t>
            </a:r>
            <a:r>
              <a:rPr lang="zh-CN" altLang="en-US" dirty="0"/>
              <a:t>ac</a:t>
            </a:r>
            <a:r>
              <a:rPr lang="en-US" altLang="zh-CN" dirty="0" err="1"/>
              <a:t>ti</a:t>
            </a:r>
            <a:r>
              <a:rPr lang="zh-CN" altLang="en-US" dirty="0"/>
              <a:t>vity.</a:t>
            </a:r>
            <a:r>
              <a:rPr lang="en-US" altLang="zh-CN" dirty="0"/>
              <a:t> </a:t>
            </a:r>
            <a:r>
              <a:rPr lang="zh-CN" altLang="en-US" dirty="0"/>
              <a:t>Ac</a:t>
            </a:r>
            <a:r>
              <a:rPr lang="en-US" altLang="zh-CN" dirty="0" err="1"/>
              <a:t>ti</a:t>
            </a:r>
            <a:r>
              <a:rPr lang="zh-CN" altLang="en-US" dirty="0"/>
              <a:t>vi</a:t>
            </a:r>
            <a:r>
              <a:rPr lang="en-US" altLang="zh-CN" dirty="0" err="1"/>
              <a:t>ti</a:t>
            </a:r>
            <a:r>
              <a:rPr lang="zh-CN" altLang="en-US" dirty="0"/>
              <a:t>es</a:t>
            </a:r>
            <a:r>
              <a:rPr lang="en-US" altLang="zh-CN" dirty="0"/>
              <a:t> </a:t>
            </a:r>
            <a:r>
              <a:rPr lang="zh-CN" altLang="en-US" dirty="0"/>
              <a:t>may</a:t>
            </a:r>
            <a:r>
              <a:rPr lang="en-US" altLang="zh-CN" dirty="0"/>
              <a:t> </a:t>
            </a:r>
            <a:r>
              <a:rPr lang="zh-CN" altLang="en-US" dirty="0"/>
              <a:t>be</a:t>
            </a:r>
            <a:r>
              <a:rPr lang="en-US" altLang="zh-CN" dirty="0"/>
              <a:t> </a:t>
            </a:r>
            <a:r>
              <a:rPr lang="zh-CN" altLang="en-US" dirty="0"/>
              <a:t>sequen</a:t>
            </a:r>
            <a:r>
              <a:rPr lang="en-US" altLang="zh-CN" dirty="0" err="1"/>
              <a:t>ti</a:t>
            </a:r>
            <a:r>
              <a:rPr lang="zh-CN" altLang="en-US" dirty="0"/>
              <a:t>al,</a:t>
            </a:r>
            <a:r>
              <a:rPr lang="en-US" altLang="zh-CN" dirty="0"/>
              <a:t> </a:t>
            </a:r>
            <a:r>
              <a:rPr lang="zh-CN" altLang="en-US" dirty="0"/>
              <a:t>in</a:t>
            </a:r>
            <a:r>
              <a:rPr lang="en-US" altLang="zh-CN" dirty="0"/>
              <a:t> </a:t>
            </a:r>
            <a:r>
              <a:rPr lang="zh-CN" altLang="en-US" dirty="0"/>
              <a:t>parallel</a:t>
            </a:r>
            <a:r>
              <a:rPr lang="en-US" altLang="zh-CN" dirty="0"/>
              <a:t> </a:t>
            </a:r>
            <a:r>
              <a:rPr lang="zh-CN" altLang="en-US" dirty="0"/>
              <a:t>or</a:t>
            </a:r>
            <a:r>
              <a:rPr lang="en-US" altLang="zh-CN" dirty="0"/>
              <a:t> </a:t>
            </a:r>
            <a:r>
              <a:rPr lang="zh-CN" altLang="en-US" dirty="0"/>
              <a:t>overlapping.	</a:t>
            </a:r>
            <a:endParaRPr lang="zh-CN" altLang="en-US" dirty="0"/>
          </a:p>
          <a:p>
            <a:pPr indent="0" fontAlgn="auto">
              <a:spcBef>
                <a:spcPts val="1800"/>
              </a:spcBef>
            </a:pPr>
            <a:r>
              <a:rPr lang="zh-CN" altLang="en-US" dirty="0"/>
              <a:t>•</a:t>
            </a:r>
            <a:r>
              <a:rPr lang="en-US" altLang="zh-CN" dirty="0"/>
              <a:t> </a:t>
            </a:r>
            <a:r>
              <a:rPr lang="zh-CN" altLang="en-US" dirty="0"/>
              <a:t>The</a:t>
            </a:r>
            <a:r>
              <a:rPr lang="en-US" altLang="zh-CN" dirty="0"/>
              <a:t> </a:t>
            </a:r>
            <a:r>
              <a:rPr lang="zh-CN" altLang="en-US" dirty="0"/>
              <a:t>schedule</a:t>
            </a:r>
            <a:r>
              <a:rPr lang="en-US" altLang="zh-CN" dirty="0"/>
              <a:t> </a:t>
            </a:r>
            <a:r>
              <a:rPr lang="zh-CN" altLang="en-US" dirty="0"/>
              <a:t>for</a:t>
            </a:r>
            <a:r>
              <a:rPr lang="en-US" altLang="zh-CN" dirty="0"/>
              <a:t> </a:t>
            </a:r>
            <a:r>
              <a:rPr lang="zh-CN" altLang="en-US" dirty="0"/>
              <a:t>an</a:t>
            </a:r>
            <a:r>
              <a:rPr lang="en-US" altLang="zh-CN" dirty="0"/>
              <a:t> </a:t>
            </a:r>
            <a:r>
              <a:rPr lang="zh-CN" altLang="en-US" dirty="0"/>
              <a:t>ac</a:t>
            </a:r>
            <a:r>
              <a:rPr lang="en-US" altLang="zh-CN" dirty="0" err="1"/>
              <a:t>ti</a:t>
            </a:r>
            <a:r>
              <a:rPr lang="zh-CN" altLang="en-US" dirty="0"/>
              <a:t>vity</a:t>
            </a:r>
            <a:r>
              <a:rPr lang="en-US" altLang="zh-CN" dirty="0"/>
              <a:t> </a:t>
            </a:r>
            <a:r>
              <a:rPr lang="zh-CN" altLang="en-US" dirty="0"/>
              <a:t>is</a:t>
            </a:r>
            <a:r>
              <a:rPr lang="en-US" altLang="zh-CN" dirty="0"/>
              <a:t> </a:t>
            </a:r>
            <a:r>
              <a:rPr lang="zh-CN" altLang="en-US" dirty="0"/>
              <a:t>a</a:t>
            </a:r>
            <a:r>
              <a:rPr lang="en-US" altLang="zh-CN" dirty="0"/>
              <a:t> </a:t>
            </a:r>
            <a:r>
              <a:rPr lang="zh-CN" altLang="en-US" dirty="0"/>
              <a:t>horizontal</a:t>
            </a:r>
            <a:r>
              <a:rPr lang="en-US" altLang="zh-CN" dirty="0"/>
              <a:t> </a:t>
            </a:r>
            <a:r>
              <a:rPr lang="zh-CN" altLang="en-US" dirty="0"/>
              <a:t>bar.</a:t>
            </a:r>
            <a:r>
              <a:rPr lang="en-US" altLang="zh-CN" dirty="0"/>
              <a:t> </a:t>
            </a:r>
            <a:r>
              <a:rPr lang="zh-CN" altLang="en-US" dirty="0"/>
              <a:t>The</a:t>
            </a:r>
            <a:r>
              <a:rPr lang="en-US" altLang="zh-CN" dirty="0"/>
              <a:t> </a:t>
            </a:r>
            <a:r>
              <a:rPr lang="zh-CN" altLang="en-US" dirty="0"/>
              <a:t>le</a:t>
            </a:r>
            <a:r>
              <a:rPr lang="en-US" altLang="zh-CN" dirty="0"/>
              <a:t>ft </a:t>
            </a:r>
            <a:r>
              <a:rPr lang="zh-CN" altLang="en-US" dirty="0"/>
              <a:t>end</a:t>
            </a:r>
            <a:r>
              <a:rPr lang="en-US" altLang="zh-CN" dirty="0"/>
              <a:t> </a:t>
            </a:r>
            <a:r>
              <a:rPr lang="zh-CN" altLang="en-US" dirty="0"/>
              <a:t>marks</a:t>
            </a:r>
            <a:r>
              <a:rPr lang="en-US" altLang="zh-CN" dirty="0"/>
              <a:t> </a:t>
            </a:r>
            <a:r>
              <a:rPr lang="zh-CN" altLang="en-US" dirty="0"/>
              <a:t>the</a:t>
            </a:r>
            <a:r>
              <a:rPr lang="en-US" altLang="zh-CN" dirty="0"/>
              <a:t> </a:t>
            </a:r>
            <a:r>
              <a:rPr lang="zh-CN" altLang="en-US" dirty="0"/>
              <a:t>planned</a:t>
            </a:r>
            <a:r>
              <a:rPr lang="en-US" altLang="zh-CN" dirty="0"/>
              <a:t> </a:t>
            </a:r>
            <a:r>
              <a:rPr lang="zh-CN" altLang="en-US" dirty="0"/>
              <a:t>beginning</a:t>
            </a:r>
            <a:r>
              <a:rPr lang="en-US" altLang="zh-CN" dirty="0"/>
              <a:t> </a:t>
            </a:r>
            <a:r>
              <a:rPr lang="zh-CN" altLang="en-US" dirty="0"/>
              <a:t>of</a:t>
            </a:r>
            <a:r>
              <a:rPr lang="en-US" altLang="zh-CN" dirty="0"/>
              <a:t> </a:t>
            </a:r>
            <a:r>
              <a:rPr lang="zh-CN" altLang="en-US" dirty="0"/>
              <a:t>the</a:t>
            </a:r>
            <a:r>
              <a:rPr lang="en-US" altLang="zh-CN" dirty="0"/>
              <a:t> </a:t>
            </a:r>
            <a:r>
              <a:rPr lang="zh-CN" altLang="en-US" dirty="0"/>
              <a:t>task.</a:t>
            </a:r>
            <a:r>
              <a:rPr lang="en-US" altLang="zh-CN" dirty="0"/>
              <a:t> </a:t>
            </a:r>
            <a:r>
              <a:rPr lang="zh-CN" altLang="en-US" dirty="0"/>
              <a:t>The</a:t>
            </a:r>
            <a:r>
              <a:rPr lang="en-US" altLang="zh-CN" dirty="0"/>
              <a:t> </a:t>
            </a:r>
            <a:r>
              <a:rPr lang="zh-CN" altLang="en-US" dirty="0"/>
              <a:t>right</a:t>
            </a:r>
            <a:r>
              <a:rPr lang="en-US" altLang="zh-CN" dirty="0"/>
              <a:t> </a:t>
            </a:r>
            <a:r>
              <a:rPr lang="zh-CN" altLang="en-US" dirty="0"/>
              <a:t>end</a:t>
            </a:r>
            <a:r>
              <a:rPr lang="en-US" altLang="zh-CN" dirty="0"/>
              <a:t> </a:t>
            </a:r>
            <a:r>
              <a:rPr lang="zh-CN" altLang="en-US" dirty="0"/>
              <a:t>marks</a:t>
            </a:r>
            <a:r>
              <a:rPr lang="en-US" altLang="zh-CN" dirty="0"/>
              <a:t> </a:t>
            </a:r>
            <a:r>
              <a:rPr lang="zh-CN" altLang="en-US" dirty="0"/>
              <a:t>the</a:t>
            </a:r>
            <a:r>
              <a:rPr lang="en-US" altLang="zh-CN" dirty="0"/>
              <a:t> </a:t>
            </a:r>
            <a:r>
              <a:rPr lang="zh-CN" altLang="en-US" dirty="0"/>
              <a:t>expected</a:t>
            </a:r>
            <a:r>
              <a:rPr lang="en-US" altLang="zh-CN" dirty="0"/>
              <a:t> </a:t>
            </a:r>
            <a:r>
              <a:rPr lang="zh-CN" altLang="en-US" dirty="0"/>
              <a:t>end</a:t>
            </a:r>
            <a:r>
              <a:rPr lang="en-US" altLang="zh-CN" dirty="0"/>
              <a:t> </a:t>
            </a:r>
            <a:r>
              <a:rPr lang="zh-CN" altLang="en-US" dirty="0"/>
              <a:t>date.	</a:t>
            </a:r>
            <a:endParaRPr lang="zh-CN" altLang="en-US" dirty="0"/>
          </a:p>
          <a:p>
            <a:pPr indent="0" fontAlgn="auto">
              <a:spcBef>
                <a:spcPts val="1800"/>
              </a:spcBef>
            </a:pPr>
            <a:r>
              <a:rPr lang="zh-CN" altLang="en-US" dirty="0"/>
              <a:t>•</a:t>
            </a:r>
            <a:r>
              <a:rPr lang="en-US" altLang="zh-CN" dirty="0"/>
              <a:t> </a:t>
            </a:r>
            <a:r>
              <a:rPr lang="zh-CN" altLang="en-US" dirty="0"/>
              <a:t>The</a:t>
            </a:r>
            <a:r>
              <a:rPr lang="en-US" altLang="zh-CN" dirty="0"/>
              <a:t> </a:t>
            </a:r>
            <a:r>
              <a:rPr lang="zh-CN" altLang="en-US" dirty="0"/>
              <a:t>chart</a:t>
            </a:r>
            <a:r>
              <a:rPr lang="en-US" altLang="zh-CN" dirty="0"/>
              <a:t> </a:t>
            </a:r>
            <a:r>
              <a:rPr lang="zh-CN" altLang="en-US" dirty="0"/>
              <a:t>is</a:t>
            </a:r>
            <a:r>
              <a:rPr lang="en-US" altLang="zh-CN" dirty="0"/>
              <a:t> </a:t>
            </a:r>
            <a:r>
              <a:rPr lang="zh-CN" altLang="en-US" dirty="0"/>
              <a:t>updated</a:t>
            </a:r>
            <a:r>
              <a:rPr lang="en-US" altLang="zh-CN" dirty="0"/>
              <a:t> </a:t>
            </a:r>
            <a:r>
              <a:rPr lang="zh-CN" altLang="en-US" dirty="0"/>
              <a:t>by</a:t>
            </a:r>
            <a:r>
              <a:rPr lang="en-US" altLang="zh-CN" dirty="0"/>
              <a:t> </a:t>
            </a:r>
            <a:r>
              <a:rPr lang="zh-CN" altLang="en-US" dirty="0"/>
              <a:t>filling</a:t>
            </a:r>
            <a:r>
              <a:rPr lang="en-US" altLang="zh-CN" dirty="0"/>
              <a:t> </a:t>
            </a:r>
            <a:r>
              <a:rPr lang="zh-CN" altLang="en-US" dirty="0"/>
              <a:t>in</a:t>
            </a:r>
            <a:r>
              <a:rPr lang="en-US" altLang="zh-CN" dirty="0"/>
              <a:t> </a:t>
            </a:r>
            <a:r>
              <a:rPr lang="zh-CN" altLang="en-US" dirty="0"/>
              <a:t>each</a:t>
            </a:r>
            <a:r>
              <a:rPr lang="en-US" altLang="zh-CN" dirty="0"/>
              <a:t> </a:t>
            </a:r>
            <a:r>
              <a:rPr lang="zh-CN" altLang="en-US" dirty="0"/>
              <a:t>ac</a:t>
            </a:r>
            <a:r>
              <a:rPr lang="en-US" altLang="zh-CN" dirty="0" err="1"/>
              <a:t>ti</a:t>
            </a:r>
            <a:r>
              <a:rPr lang="zh-CN" altLang="en-US" dirty="0"/>
              <a:t>vity</a:t>
            </a:r>
            <a:r>
              <a:rPr lang="en-US" altLang="zh-CN" dirty="0"/>
              <a:t> </a:t>
            </a:r>
            <a:r>
              <a:rPr lang="zh-CN" altLang="en-US" dirty="0"/>
              <a:t>to</a:t>
            </a:r>
            <a:r>
              <a:rPr lang="en-US" altLang="zh-CN" dirty="0"/>
              <a:t> </a:t>
            </a:r>
            <a:r>
              <a:rPr lang="zh-CN" altLang="en-US" dirty="0"/>
              <a:t>a</a:t>
            </a:r>
            <a:r>
              <a:rPr lang="en-US" altLang="zh-CN" dirty="0"/>
              <a:t> </a:t>
            </a:r>
            <a:r>
              <a:rPr lang="zh-CN" altLang="en-US" dirty="0"/>
              <a:t>length</a:t>
            </a:r>
            <a:r>
              <a:rPr lang="en-US" altLang="zh-CN" dirty="0"/>
              <a:t> </a:t>
            </a:r>
            <a:r>
              <a:rPr lang="zh-CN" altLang="en-US" dirty="0"/>
              <a:t>propor</a:t>
            </a:r>
            <a:r>
              <a:rPr lang="en-US" altLang="zh-CN" dirty="0" err="1"/>
              <a:t>ti</a:t>
            </a:r>
            <a:r>
              <a:rPr lang="zh-CN" altLang="en-US" dirty="0"/>
              <a:t>onal</a:t>
            </a:r>
            <a:r>
              <a:rPr lang="en-US" altLang="zh-CN" dirty="0"/>
              <a:t> </a:t>
            </a:r>
            <a:r>
              <a:rPr lang="zh-CN" altLang="en-US" dirty="0"/>
              <a:t>to</a:t>
            </a:r>
            <a:r>
              <a:rPr lang="en-US" altLang="zh-CN" dirty="0"/>
              <a:t> </a:t>
            </a:r>
            <a:r>
              <a:rPr lang="zh-CN" altLang="en-US" dirty="0"/>
              <a:t>the</a:t>
            </a:r>
            <a:r>
              <a:rPr lang="en-US" altLang="zh-CN" dirty="0"/>
              <a:t> </a:t>
            </a:r>
            <a:r>
              <a:rPr lang="zh-CN" altLang="en-US" dirty="0"/>
              <a:t>work</a:t>
            </a:r>
            <a:r>
              <a:rPr lang="en-US" altLang="zh-CN" dirty="0"/>
              <a:t> </a:t>
            </a:r>
            <a:r>
              <a:rPr lang="zh-CN" altLang="en-US" dirty="0"/>
              <a:t>accomplished.</a:t>
            </a:r>
            <a:r>
              <a:rPr lang="en-US" altLang="zh-CN" dirty="0"/>
              <a:t> </a:t>
            </a:r>
            <a:r>
              <a:rPr lang="zh-CN" altLang="en-US" dirty="0">
                <a:solidFill>
                  <a:srgbClr val="C00000"/>
                </a:solidFill>
              </a:rPr>
              <a:t>This</a:t>
            </a:r>
            <a:r>
              <a:rPr lang="en-US" altLang="zh-CN" dirty="0">
                <a:solidFill>
                  <a:srgbClr val="C00000"/>
                </a:solidFill>
              </a:rPr>
              <a:t> </a:t>
            </a:r>
            <a:r>
              <a:rPr lang="zh-CN" altLang="en-US" dirty="0">
                <a:solidFill>
                  <a:srgbClr val="C00000"/>
                </a:solidFill>
              </a:rPr>
              <a:t>is</a:t>
            </a:r>
            <a:r>
              <a:rPr lang="en-US" altLang="zh-CN" dirty="0">
                <a:solidFill>
                  <a:srgbClr val="C00000"/>
                </a:solidFill>
              </a:rPr>
              <a:t> </a:t>
            </a:r>
            <a:r>
              <a:rPr lang="zh-CN" altLang="en-US" dirty="0">
                <a:solidFill>
                  <a:srgbClr val="C00000"/>
                </a:solidFill>
              </a:rPr>
              <a:t>o</a:t>
            </a:r>
            <a:r>
              <a:rPr lang="en-US" altLang="zh-CN" dirty="0">
                <a:solidFill>
                  <a:srgbClr val="C00000"/>
                </a:solidFill>
              </a:rPr>
              <a:t>ft</a:t>
            </a:r>
            <a:r>
              <a:rPr lang="zh-CN" altLang="en-US" dirty="0">
                <a:solidFill>
                  <a:srgbClr val="C00000"/>
                </a:solidFill>
              </a:rPr>
              <a:t>en</a:t>
            </a:r>
            <a:r>
              <a:rPr lang="en-US" altLang="zh-CN" dirty="0">
                <a:solidFill>
                  <a:srgbClr val="C00000"/>
                </a:solidFill>
              </a:rPr>
              <a:t> </a:t>
            </a:r>
            <a:r>
              <a:rPr lang="zh-CN" altLang="en-US" dirty="0">
                <a:solidFill>
                  <a:srgbClr val="C00000"/>
                </a:solidFill>
              </a:rPr>
              <a:t>difficult.</a:t>
            </a:r>
            <a:endParaRPr lang="zh-CN" altLang="en-US" dirty="0">
              <a:solidFill>
                <a:srgbClr val="C00000"/>
              </a:solidFill>
            </a:endParaRPr>
          </a:p>
          <a:p>
            <a:pPr indent="0" fontAlgn="auto">
              <a:spcBef>
                <a:spcPts val="1800"/>
              </a:spcBef>
            </a:pPr>
            <a:r>
              <a:rPr lang="zh-CN" altLang="en-US" dirty="0"/>
              <a:t>•</a:t>
            </a:r>
            <a:r>
              <a:rPr lang="en-US" altLang="zh-CN" dirty="0"/>
              <a:t> </a:t>
            </a:r>
            <a:r>
              <a:rPr lang="zh-CN" altLang="en-US" dirty="0"/>
              <a:t>Progress</a:t>
            </a:r>
            <a:r>
              <a:rPr lang="en-US" altLang="zh-CN" dirty="0"/>
              <a:t> </a:t>
            </a:r>
            <a:r>
              <a:rPr lang="zh-CN" altLang="en-US" dirty="0"/>
              <a:t>to</a:t>
            </a:r>
            <a:r>
              <a:rPr lang="en-US" altLang="zh-CN" dirty="0"/>
              <a:t> </a:t>
            </a:r>
            <a:r>
              <a:rPr lang="zh-CN" altLang="en-US" dirty="0"/>
              <a:t>dat</a:t>
            </a:r>
            <a:r>
              <a:rPr lang="en-US" altLang="zh-CN" dirty="0"/>
              <a:t>e </a:t>
            </a:r>
            <a:r>
              <a:rPr lang="zh-CN" altLang="en-US" dirty="0"/>
              <a:t>can</a:t>
            </a:r>
            <a:r>
              <a:rPr lang="en-US" altLang="zh-CN" dirty="0"/>
              <a:t> </a:t>
            </a:r>
            <a:r>
              <a:rPr lang="zh-CN" altLang="en-US" dirty="0"/>
              <a:t>be</a:t>
            </a:r>
            <a:r>
              <a:rPr lang="en-US" altLang="zh-CN" dirty="0"/>
              <a:t> </a:t>
            </a:r>
            <a:r>
              <a:rPr lang="zh-CN" altLang="en-US" dirty="0"/>
              <a:t>compared</a:t>
            </a:r>
            <a:r>
              <a:rPr lang="en-US" altLang="zh-CN" dirty="0"/>
              <a:t> </a:t>
            </a:r>
            <a:r>
              <a:rPr lang="zh-CN" altLang="en-US" dirty="0"/>
              <a:t>with</a:t>
            </a:r>
            <a:r>
              <a:rPr lang="en-US" altLang="zh-CN" dirty="0"/>
              <a:t> </a:t>
            </a:r>
            <a:r>
              <a:rPr lang="zh-CN" altLang="en-US" dirty="0"/>
              <a:t>the</a:t>
            </a:r>
            <a:r>
              <a:rPr lang="en-US" altLang="zh-CN" dirty="0"/>
              <a:t> </a:t>
            </a:r>
            <a:r>
              <a:rPr lang="zh-CN" altLang="en-US" dirty="0"/>
              <a:t>plan</a:t>
            </a:r>
            <a:r>
              <a:rPr lang="en-US" altLang="zh-CN" dirty="0"/>
              <a:t> </a:t>
            </a:r>
            <a:r>
              <a:rPr lang="zh-CN" altLang="en-US" dirty="0"/>
              <a:t>by</a:t>
            </a:r>
            <a:r>
              <a:rPr lang="en-US" altLang="zh-CN" dirty="0"/>
              <a:t> </a:t>
            </a:r>
            <a:r>
              <a:rPr lang="zh-CN" altLang="en-US" dirty="0"/>
              <a:t>drawing</a:t>
            </a:r>
            <a:r>
              <a:rPr lang="en-US" altLang="zh-CN" dirty="0"/>
              <a:t> </a:t>
            </a:r>
            <a:r>
              <a:rPr lang="zh-CN" altLang="en-US" dirty="0"/>
              <a:t>a</a:t>
            </a:r>
            <a:r>
              <a:rPr lang="en-US" altLang="zh-CN" dirty="0"/>
              <a:t> </a:t>
            </a:r>
            <a:r>
              <a:rPr lang="zh-CN" altLang="en-US" dirty="0"/>
              <a:t>ver</a:t>
            </a:r>
            <a:r>
              <a:rPr lang="en-US" altLang="zh-CN" dirty="0" err="1"/>
              <a:t>ti</a:t>
            </a:r>
            <a:r>
              <a:rPr lang="zh-CN" altLang="en-US" dirty="0"/>
              <a:t>cal</a:t>
            </a:r>
            <a:r>
              <a:rPr lang="en-US" altLang="zh-CN" dirty="0"/>
              <a:t> </a:t>
            </a:r>
            <a:r>
              <a:rPr lang="zh-CN" altLang="en-US" dirty="0"/>
              <a:t>line</a:t>
            </a:r>
            <a:r>
              <a:rPr lang="en-US" altLang="zh-CN" dirty="0"/>
              <a:t> </a:t>
            </a:r>
            <a:r>
              <a:rPr lang="zh-CN" altLang="en-US" dirty="0"/>
              <a:t>through</a:t>
            </a:r>
            <a:r>
              <a:rPr lang="en-US" altLang="zh-CN" dirty="0"/>
              <a:t> </a:t>
            </a:r>
            <a:r>
              <a:rPr lang="zh-CN" altLang="en-US" dirty="0"/>
              <a:t>the</a:t>
            </a:r>
            <a:r>
              <a:rPr lang="en-US" altLang="zh-CN" dirty="0"/>
              <a:t> </a:t>
            </a:r>
            <a:r>
              <a:rPr lang="zh-CN" altLang="en-US" dirty="0"/>
              <a:t>chart</a:t>
            </a:r>
            <a:r>
              <a:rPr lang="en-US" altLang="zh-CN" dirty="0"/>
              <a:t> </a:t>
            </a:r>
            <a:r>
              <a:rPr lang="zh-CN" altLang="en-US" dirty="0"/>
              <a:t>at</a:t>
            </a:r>
            <a:r>
              <a:rPr lang="en-US" altLang="zh-CN" dirty="0"/>
              <a:t> </a:t>
            </a:r>
            <a:r>
              <a:rPr lang="zh-CN" altLang="en-US" dirty="0"/>
              <a:t>the</a:t>
            </a:r>
            <a:r>
              <a:rPr lang="en-US" altLang="zh-CN" dirty="0"/>
              <a:t> </a:t>
            </a:r>
            <a:r>
              <a:rPr lang="zh-CN" altLang="en-US" dirty="0"/>
              <a:t>current</a:t>
            </a:r>
            <a:r>
              <a:rPr lang="en-US" altLang="zh-CN" dirty="0"/>
              <a:t> </a:t>
            </a:r>
            <a:r>
              <a:rPr lang="zh-CN" altLang="en-US" dirty="0"/>
              <a:t>date.	</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t>Example:Ac</a:t>
            </a:r>
            <a:r>
              <a:rPr lang="en-US" altLang="zh-CN" dirty="0" err="1"/>
              <a:t>ti</a:t>
            </a:r>
            <a:r>
              <a:rPr lang="zh-CN" altLang="en-US" dirty="0"/>
              <a:t>vity</a:t>
            </a:r>
            <a:r>
              <a:rPr lang="en-US" altLang="zh-CN" dirty="0"/>
              <a:t> </a:t>
            </a:r>
            <a:r>
              <a:rPr lang="zh-CN" altLang="en-US" dirty="0"/>
              <a:t>Graph</a:t>
            </a:r>
            <a:r>
              <a:rPr lang="en-US" altLang="zh-CN" dirty="0"/>
              <a:t> w/ Time Estimate</a:t>
            </a:r>
            <a:endParaRPr lang="zh-CN" alt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custDataLst>
              <p:tags r:id="rId1"/>
            </p:custDataLst>
          </p:nvPr>
        </p:nvPicPr>
        <p:blipFill>
          <a:blip r:embed="rId2"/>
          <a:stretch>
            <a:fillRect/>
          </a:stretch>
        </p:blipFill>
        <p:spPr>
          <a:xfrm>
            <a:off x="1585595" y="1329055"/>
            <a:ext cx="8496935" cy="39141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9333230" cy="790575"/>
          </a:xfrm>
        </p:spPr>
        <p:txBody>
          <a:bodyPr>
            <a:normAutofit fontScale="90000"/>
          </a:bodyPr>
          <a:lstStyle/>
          <a:p>
            <a:r>
              <a:rPr lang="zh-CN" altLang="en-US"/>
              <a:t>Earliest</a:t>
            </a:r>
            <a:r>
              <a:rPr lang="en-US" altLang="zh-CN"/>
              <a:t> </a:t>
            </a:r>
            <a:r>
              <a:rPr lang="zh-CN" altLang="en-US"/>
              <a:t>Event</a:t>
            </a:r>
            <a:r>
              <a:rPr lang="en-US" altLang="zh-CN"/>
              <a:t> </a:t>
            </a:r>
            <a:r>
              <a:rPr lang="zh-CN" altLang="en-US"/>
              <a:t>Dates</a:t>
            </a:r>
            <a:r>
              <a:rPr lang="en-US" altLang="zh-CN"/>
              <a:t> </a:t>
            </a:r>
            <a:r>
              <a:rPr lang="zh-CN" altLang="en-US"/>
              <a:t>and</a:t>
            </a:r>
            <a:r>
              <a:rPr lang="en-US" altLang="zh-CN"/>
              <a:t> </a:t>
            </a:r>
            <a:r>
              <a:rPr lang="zh-CN" altLang="en-US"/>
              <a:t>Earliest</a:t>
            </a:r>
            <a:r>
              <a:rPr lang="en-US" altLang="zh-CN"/>
              <a:t> </a:t>
            </a:r>
            <a:r>
              <a:rPr lang="zh-CN" altLang="en-US"/>
              <a:t>Start</a:t>
            </a:r>
            <a:r>
              <a:rPr lang="en-US" altLang="zh-CN"/>
              <a:t> </a:t>
            </a:r>
            <a:r>
              <a:rPr lang="zh-CN" altLang="en-US"/>
              <a:t>Dates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430020"/>
            <a:ext cx="9880600" cy="3084195"/>
          </a:xfrm>
          <a:prstGeom prst="rect">
            <a:avLst/>
          </a:prstGeom>
          <a:noFill/>
        </p:spPr>
        <p:txBody>
          <a:bodyPr wrap="square" rtlCol="0" anchor="t">
            <a:noAutofit/>
          </a:bodyPr>
          <a:lstStyle/>
          <a:p>
            <a:pPr indent="0" fontAlgn="auto">
              <a:spcBef>
                <a:spcPts val="1800"/>
              </a:spcBef>
            </a:pPr>
            <a:r>
              <a:rPr lang="zh-CN" altLang="en-US" b="1">
                <a:solidFill>
                  <a:schemeClr val="accent1"/>
                </a:solidFill>
                <a:latin typeface="+mj-lt"/>
                <a:ea typeface="黑体" panose="02010609060101010101" charset="-122"/>
                <a:cs typeface="+mj-lt"/>
              </a:rPr>
              <a:t>Earliest start date:</a:t>
            </a:r>
            <a:r>
              <a:rPr lang="en-US" altLang="zh-CN"/>
              <a:t> </a:t>
            </a:r>
            <a:r>
              <a:rPr lang="zh-CN" altLang="en-US"/>
              <a:t>the</a:t>
            </a:r>
            <a:r>
              <a:rPr lang="en-US" altLang="zh-CN"/>
              <a:t> </a:t>
            </a:r>
            <a:r>
              <a:rPr lang="zh-CN" altLang="en-US"/>
              <a:t>earliest</a:t>
            </a:r>
            <a:r>
              <a:rPr lang="en-US" altLang="zh-CN"/>
              <a:t> </a:t>
            </a:r>
            <a:r>
              <a:rPr lang="zh-CN" altLang="en-US"/>
              <a:t>date</a:t>
            </a:r>
            <a:r>
              <a:rPr lang="en-US" altLang="zh-CN"/>
              <a:t> </a:t>
            </a:r>
            <a:r>
              <a:rPr lang="zh-CN" altLang="en-US"/>
              <a:t>that</a:t>
            </a:r>
            <a:r>
              <a:rPr lang="en-US" altLang="zh-CN"/>
              <a:t> </a:t>
            </a:r>
            <a:r>
              <a:rPr lang="zh-CN" altLang="en-US"/>
              <a:t>it</a:t>
            </a:r>
            <a:r>
              <a:rPr lang="en-US" altLang="zh-CN"/>
              <a:t> </a:t>
            </a:r>
            <a:r>
              <a:rPr lang="zh-CN" altLang="en-US"/>
              <a:t>is</a:t>
            </a:r>
            <a:r>
              <a:rPr lang="en-US" altLang="zh-CN"/>
              <a:t> </a:t>
            </a:r>
            <a:r>
              <a:rPr lang="zh-CN" altLang="en-US"/>
              <a:t>possible</a:t>
            </a:r>
            <a:r>
              <a:rPr lang="en-US" altLang="zh-CN"/>
              <a:t> </a:t>
            </a:r>
            <a:r>
              <a:rPr lang="zh-CN" altLang="en-US"/>
              <a:t>to</a:t>
            </a:r>
            <a:r>
              <a:rPr lang="en-US" altLang="zh-CN"/>
              <a:t> </a:t>
            </a:r>
            <a:r>
              <a:rPr lang="zh-CN" altLang="en-US"/>
              <a:t>start</a:t>
            </a:r>
            <a:r>
              <a:rPr lang="en-US" altLang="zh-CN"/>
              <a:t> </a:t>
            </a:r>
            <a:r>
              <a:rPr lang="zh-CN" altLang="en-US"/>
              <a:t>an</a:t>
            </a:r>
            <a:r>
              <a:rPr lang="en-US" altLang="zh-CN"/>
              <a:t> </a:t>
            </a:r>
            <a:r>
              <a:rPr lang="zh-CN" altLang="en-US"/>
              <a:t>ac</a:t>
            </a:r>
            <a:r>
              <a:rPr lang="en-US" altLang="zh-CN"/>
              <a:t>ti</a:t>
            </a:r>
            <a:r>
              <a:rPr lang="zh-CN" altLang="en-US"/>
              <a:t>vity.</a:t>
            </a:r>
            <a:endParaRPr lang="zh-CN" altLang="en-US"/>
          </a:p>
          <a:p>
            <a:pPr indent="0" fontAlgn="auto">
              <a:spcBef>
                <a:spcPts val="1800"/>
              </a:spcBef>
            </a:pPr>
            <a:r>
              <a:rPr lang="zh-CN" altLang="en-US" b="1">
                <a:solidFill>
                  <a:schemeClr val="accent1"/>
                </a:solidFill>
                <a:latin typeface="+mj-lt"/>
                <a:ea typeface="黑体" panose="02010609060101010101" charset="-122"/>
                <a:cs typeface="+mj-lt"/>
              </a:rPr>
              <a:t>Earliest event date:</a:t>
            </a:r>
            <a:r>
              <a:rPr lang="en-US" altLang="zh-CN"/>
              <a:t> </a:t>
            </a:r>
            <a:r>
              <a:rPr lang="zh-CN" altLang="en-US"/>
              <a:t>the</a:t>
            </a:r>
            <a:r>
              <a:rPr lang="en-US" altLang="zh-CN"/>
              <a:t> </a:t>
            </a:r>
            <a:r>
              <a:rPr lang="zh-CN" altLang="en-US"/>
              <a:t>date</a:t>
            </a:r>
            <a:r>
              <a:rPr lang="en-US" altLang="zh-CN"/>
              <a:t> </a:t>
            </a:r>
            <a:r>
              <a:rPr lang="zh-CN" altLang="en-US"/>
              <a:t>that</a:t>
            </a:r>
            <a:r>
              <a:rPr lang="en-US" altLang="zh-CN"/>
              <a:t> </a:t>
            </a:r>
            <a:r>
              <a:rPr lang="zh-CN" altLang="en-US"/>
              <a:t>all</a:t>
            </a:r>
            <a:r>
              <a:rPr lang="en-US" altLang="zh-CN"/>
              <a:t> </a:t>
            </a:r>
            <a:r>
              <a:rPr lang="zh-CN" altLang="en-US"/>
              <a:t>the</a:t>
            </a:r>
            <a:r>
              <a:rPr lang="en-US" altLang="zh-CN"/>
              <a:t> </a:t>
            </a:r>
            <a:r>
              <a:rPr lang="zh-CN" altLang="en-US"/>
              <a:t>ac</a:t>
            </a:r>
            <a:r>
              <a:rPr lang="en-US" altLang="zh-CN"/>
              <a:t>ti</a:t>
            </a:r>
            <a:r>
              <a:rPr lang="zh-CN" altLang="en-US"/>
              <a:t>vi</a:t>
            </a:r>
            <a:r>
              <a:rPr lang="en-US" altLang="zh-CN"/>
              <a:t>ti</a:t>
            </a:r>
            <a:r>
              <a:rPr lang="zh-CN" altLang="en-US"/>
              <a:t>es</a:t>
            </a:r>
            <a:r>
              <a:rPr lang="en-US" altLang="zh-CN"/>
              <a:t> </a:t>
            </a:r>
            <a:r>
              <a:rPr lang="zh-CN" altLang="en-US"/>
              <a:t>ending</a:t>
            </a:r>
            <a:r>
              <a:rPr lang="en-US" altLang="zh-CN"/>
              <a:t> </a:t>
            </a:r>
            <a:r>
              <a:rPr lang="zh-CN" altLang="en-US"/>
              <a:t>at</a:t>
            </a:r>
            <a:r>
              <a:rPr lang="en-US" altLang="zh-CN"/>
              <a:t> </a:t>
            </a:r>
            <a:r>
              <a:rPr lang="zh-CN" altLang="en-US"/>
              <a:t>that</a:t>
            </a:r>
            <a:r>
              <a:rPr lang="en-US" altLang="zh-CN"/>
              <a:t> </a:t>
            </a:r>
            <a:r>
              <a:rPr lang="zh-CN" altLang="en-US"/>
              <a:t>node</a:t>
            </a:r>
            <a:r>
              <a:rPr lang="en-US" altLang="zh-CN"/>
              <a:t> </a:t>
            </a:r>
            <a:r>
              <a:rPr lang="zh-CN" altLang="en-US"/>
              <a:t>will</a:t>
            </a:r>
            <a:r>
              <a:rPr lang="en-US" altLang="zh-CN"/>
              <a:t> </a:t>
            </a:r>
            <a:r>
              <a:rPr lang="zh-CN" altLang="en-US"/>
              <a:t>be</a:t>
            </a:r>
            <a:r>
              <a:rPr lang="en-US" altLang="zh-CN"/>
              <a:t> </a:t>
            </a:r>
            <a:r>
              <a:rPr lang="zh-CN" altLang="en-US"/>
              <a:t>completed,</a:t>
            </a:r>
            <a:r>
              <a:rPr lang="en-US" altLang="zh-CN"/>
              <a:t> </a:t>
            </a:r>
            <a:r>
              <a:rPr lang="zh-CN" altLang="en-US"/>
              <a:t>assuming</a:t>
            </a:r>
            <a:r>
              <a:rPr lang="en-US" altLang="zh-CN"/>
              <a:t> </a:t>
            </a:r>
            <a:r>
              <a:rPr lang="zh-CN" altLang="en-US"/>
              <a:t>that</a:t>
            </a:r>
            <a:r>
              <a:rPr lang="en-US" altLang="zh-CN"/>
              <a:t> </a:t>
            </a:r>
            <a:r>
              <a:rPr lang="zh-CN" altLang="en-US"/>
              <a:t>every</a:t>
            </a:r>
            <a:r>
              <a:rPr lang="en-US" altLang="zh-CN"/>
              <a:t> </a:t>
            </a:r>
            <a:r>
              <a:rPr lang="zh-CN" altLang="en-US"/>
              <a:t>ac</a:t>
            </a:r>
            <a:r>
              <a:rPr lang="en-US" altLang="zh-CN"/>
              <a:t>ti</a:t>
            </a:r>
            <a:r>
              <a:rPr lang="zh-CN" altLang="en-US"/>
              <a:t>vity</a:t>
            </a:r>
            <a:r>
              <a:rPr lang="en-US" altLang="zh-CN"/>
              <a:t> </a:t>
            </a:r>
            <a:r>
              <a:rPr lang="zh-CN" altLang="en-US"/>
              <a:t>begins</a:t>
            </a:r>
            <a:r>
              <a:rPr lang="en-US" altLang="zh-CN"/>
              <a:t> </a:t>
            </a:r>
            <a:r>
              <a:rPr lang="zh-CN" altLang="en-US"/>
              <a:t>at</a:t>
            </a:r>
            <a:r>
              <a:rPr lang="en-US" altLang="zh-CN"/>
              <a:t> </a:t>
            </a:r>
            <a:r>
              <a:rPr lang="zh-CN" altLang="en-US"/>
              <a:t>its</a:t>
            </a:r>
            <a:r>
              <a:rPr lang="en-US" altLang="zh-CN"/>
              <a:t> </a:t>
            </a:r>
            <a:r>
              <a:rPr lang="zh-CN" altLang="en-US"/>
              <a:t>earliest</a:t>
            </a:r>
            <a:r>
              <a:rPr lang="en-US" altLang="zh-CN"/>
              <a:t> </a:t>
            </a:r>
            <a:r>
              <a:rPr lang="zh-CN" altLang="en-US"/>
              <a:t>start</a:t>
            </a:r>
            <a:r>
              <a:rPr lang="en-US" altLang="zh-CN"/>
              <a:t> </a:t>
            </a:r>
            <a:r>
              <a:rPr lang="zh-CN" altLang="en-US"/>
              <a:t>date.</a:t>
            </a:r>
            <a:endParaRPr lang="zh-CN" altLang="en-US"/>
          </a:p>
          <a:p>
            <a:pPr indent="0" fontAlgn="auto">
              <a:spcBef>
                <a:spcPts val="1800"/>
              </a:spcBef>
            </a:pPr>
            <a:r>
              <a:rPr lang="zh-CN" altLang="en-US" b="1">
                <a:solidFill>
                  <a:schemeClr val="accent1"/>
                </a:solidFill>
                <a:latin typeface="+mj-lt"/>
                <a:ea typeface="黑体" panose="02010609060101010101" charset="-122"/>
                <a:cs typeface="+mj-lt"/>
              </a:rPr>
              <a:t>Earliest project completion date:</a:t>
            </a:r>
            <a:r>
              <a:rPr lang="en-US" altLang="zh-CN"/>
              <a:t> </a:t>
            </a:r>
            <a:r>
              <a:rPr lang="zh-CN" altLang="en-US"/>
              <a:t>the</a:t>
            </a:r>
            <a:r>
              <a:rPr lang="en-US" altLang="zh-CN"/>
              <a:t> </a:t>
            </a:r>
            <a:r>
              <a:rPr lang="zh-CN" altLang="en-US"/>
              <a:t>date</a:t>
            </a:r>
            <a:r>
              <a:rPr lang="en-US" altLang="zh-CN"/>
              <a:t> </a:t>
            </a:r>
            <a:r>
              <a:rPr lang="zh-CN" altLang="en-US"/>
              <a:t>on</a:t>
            </a:r>
            <a:r>
              <a:rPr lang="en-US" altLang="zh-CN"/>
              <a:t> </a:t>
            </a:r>
            <a:r>
              <a:rPr lang="zh-CN" altLang="en-US"/>
              <a:t>which</a:t>
            </a:r>
            <a:r>
              <a:rPr lang="en-US" altLang="zh-CN"/>
              <a:t> </a:t>
            </a:r>
            <a:r>
              <a:rPr lang="zh-CN" altLang="en-US"/>
              <a:t>the</a:t>
            </a:r>
            <a:r>
              <a:rPr lang="en-US" altLang="zh-CN"/>
              <a:t> </a:t>
            </a:r>
            <a:r>
              <a:rPr lang="zh-CN" altLang="en-US"/>
              <a:t>project</a:t>
            </a:r>
            <a:r>
              <a:rPr lang="en-US" altLang="zh-CN"/>
              <a:t> </a:t>
            </a:r>
            <a:r>
              <a:rPr lang="zh-CN" altLang="en-US"/>
              <a:t>is</a:t>
            </a:r>
            <a:r>
              <a:rPr lang="en-US" altLang="zh-CN"/>
              <a:t> </a:t>
            </a:r>
            <a:r>
              <a:rPr lang="zh-CN" altLang="en-US"/>
              <a:t>completed</a:t>
            </a:r>
            <a:r>
              <a:rPr lang="en-US" altLang="zh-CN"/>
              <a:t> </a:t>
            </a:r>
            <a:r>
              <a:rPr lang="zh-CN" altLang="en-US"/>
              <a:t>assuming</a:t>
            </a:r>
            <a:r>
              <a:rPr lang="en-US" altLang="zh-CN"/>
              <a:t> </a:t>
            </a:r>
            <a:r>
              <a:rPr lang="zh-CN" altLang="en-US"/>
              <a:t>that</a:t>
            </a:r>
            <a:r>
              <a:rPr lang="en-US" altLang="zh-CN"/>
              <a:t> </a:t>
            </a:r>
            <a:r>
              <a:rPr lang="zh-CN" altLang="en-US"/>
              <a:t>every</a:t>
            </a:r>
            <a:r>
              <a:rPr lang="en-US" altLang="zh-CN"/>
              <a:t> </a:t>
            </a:r>
            <a:r>
              <a:rPr lang="zh-CN" altLang="en-US"/>
              <a:t>ac</a:t>
            </a:r>
            <a:r>
              <a:rPr lang="en-US" altLang="zh-CN"/>
              <a:t>ti</a:t>
            </a:r>
            <a:r>
              <a:rPr lang="zh-CN" altLang="en-US"/>
              <a:t>vity</a:t>
            </a:r>
            <a:r>
              <a:rPr lang="en-US" altLang="zh-CN"/>
              <a:t> </a:t>
            </a:r>
            <a:r>
              <a:rPr lang="zh-CN" altLang="en-US"/>
              <a:t>begins</a:t>
            </a:r>
            <a:r>
              <a:rPr lang="en-US" altLang="zh-CN"/>
              <a:t> </a:t>
            </a:r>
            <a:r>
              <a:rPr lang="zh-CN" altLang="en-US"/>
              <a:t>on</a:t>
            </a:r>
            <a:r>
              <a:rPr lang="en-US" altLang="zh-CN"/>
              <a:t> </a:t>
            </a:r>
            <a:r>
              <a:rPr lang="zh-CN" altLang="en-US"/>
              <a:t>its</a:t>
            </a:r>
            <a:r>
              <a:rPr lang="en-US" altLang="zh-CN"/>
              <a:t> </a:t>
            </a:r>
            <a:r>
              <a:rPr lang="zh-CN" altLang="en-US"/>
              <a:t>earliest</a:t>
            </a:r>
            <a:r>
              <a:rPr lang="en-US" altLang="zh-CN"/>
              <a:t> </a:t>
            </a:r>
            <a:r>
              <a:rPr lang="zh-CN" altLang="en-US"/>
              <a:t>start</a:t>
            </a:r>
            <a:r>
              <a:rPr lang="en-US" altLang="zh-CN"/>
              <a:t> </a:t>
            </a:r>
            <a:r>
              <a:rPr lang="zh-CN" altLang="en-US"/>
              <a:t>date.</a:t>
            </a:r>
            <a:endParaRPr lang="zh-CN" altLang="en-US"/>
          </a:p>
          <a:p>
            <a:pPr indent="0" fontAlgn="auto">
              <a:spcBef>
                <a:spcPts val="1800"/>
              </a:spcBef>
            </a:pPr>
            <a:r>
              <a:rPr lang="zh-CN" altLang="en-US"/>
              <a:t>These</a:t>
            </a:r>
            <a:r>
              <a:rPr lang="en-US" altLang="zh-CN"/>
              <a:t> </a:t>
            </a:r>
            <a:r>
              <a:rPr lang="zh-CN" altLang="en-US"/>
              <a:t>calcula</a:t>
            </a:r>
            <a:r>
              <a:rPr lang="en-US" altLang="zh-CN"/>
              <a:t>ti</a:t>
            </a:r>
            <a:r>
              <a:rPr lang="zh-CN" altLang="en-US"/>
              <a:t>ons</a:t>
            </a:r>
            <a:r>
              <a:rPr lang="en-US" altLang="zh-CN"/>
              <a:t> </a:t>
            </a:r>
            <a:r>
              <a:rPr lang="zh-CN" altLang="en-US"/>
              <a:t>all</a:t>
            </a:r>
            <a:r>
              <a:rPr lang="en-US" altLang="zh-CN"/>
              <a:t> </a:t>
            </a:r>
            <a:r>
              <a:rPr lang="zh-CN" altLang="en-US"/>
              <a:t>depend</a:t>
            </a:r>
            <a:r>
              <a:rPr lang="en-US" altLang="zh-CN"/>
              <a:t> </a:t>
            </a:r>
            <a:r>
              <a:rPr lang="zh-CN" altLang="en-US"/>
              <a:t>on</a:t>
            </a:r>
            <a:r>
              <a:rPr lang="en-US" altLang="zh-CN"/>
              <a:t> </a:t>
            </a:r>
            <a:r>
              <a:rPr lang="zh-CN" altLang="en-US"/>
              <a:t>the</a:t>
            </a:r>
            <a:r>
              <a:rPr lang="en-US" altLang="zh-CN"/>
              <a:t> </a:t>
            </a:r>
            <a:r>
              <a:rPr lang="zh-CN" altLang="en-US">
                <a:solidFill>
                  <a:srgbClr val="C00000"/>
                </a:solidFill>
              </a:rPr>
              <a:t>dependencies</a:t>
            </a:r>
            <a:r>
              <a:rPr lang="en-US" altLang="zh-CN"/>
              <a:t> </a:t>
            </a:r>
            <a:r>
              <a:rPr lang="zh-CN" altLang="en-US"/>
              <a:t>represented</a:t>
            </a:r>
            <a:r>
              <a:rPr lang="en-US" altLang="zh-CN"/>
              <a:t> </a:t>
            </a:r>
            <a:r>
              <a:rPr lang="zh-CN" altLang="en-US"/>
              <a:t>by</a:t>
            </a:r>
            <a:r>
              <a:rPr lang="en-US" altLang="zh-CN"/>
              <a:t> </a:t>
            </a:r>
            <a:r>
              <a:rPr lang="zh-CN" altLang="en-US"/>
              <a:t>the</a:t>
            </a:r>
            <a:r>
              <a:rPr lang="en-US" altLang="zh-CN"/>
              <a:t> </a:t>
            </a:r>
            <a:r>
              <a:rPr lang="zh-CN" altLang="en-US"/>
              <a:t>ac</a:t>
            </a:r>
            <a:r>
              <a:rPr lang="en-US" altLang="zh-CN"/>
              <a:t>ti</a:t>
            </a:r>
            <a:r>
              <a:rPr lang="zh-CN" altLang="en-US"/>
              <a:t>vity</a:t>
            </a:r>
            <a:r>
              <a:rPr lang="en-US" altLang="zh-CN"/>
              <a:t> </a:t>
            </a:r>
            <a:r>
              <a:rPr lang="zh-CN" altLang="en-US"/>
              <a:t>graph</a:t>
            </a:r>
            <a:r>
              <a:rPr lang="en-US" altLang="zh-CN"/>
              <a:t> </a:t>
            </a:r>
            <a:r>
              <a:rPr lang="zh-CN" altLang="en-US"/>
              <a:t>and</a:t>
            </a:r>
            <a:r>
              <a:rPr lang="en-US" altLang="zh-CN"/>
              <a:t> </a:t>
            </a:r>
            <a:r>
              <a:rPr lang="zh-CN" altLang="en-US"/>
              <a:t>the</a:t>
            </a:r>
            <a:r>
              <a:rPr lang="en-US" altLang="zh-CN"/>
              <a:t> </a:t>
            </a:r>
            <a:r>
              <a:rPr lang="zh-CN" altLang="en-US"/>
              <a:t>accuracy</a:t>
            </a:r>
            <a:r>
              <a:rPr lang="en-US" altLang="zh-CN"/>
              <a:t> </a:t>
            </a:r>
            <a:r>
              <a:rPr lang="zh-CN" altLang="en-US"/>
              <a:t>of</a:t>
            </a:r>
            <a:r>
              <a:rPr lang="en-US" altLang="zh-CN"/>
              <a:t> </a:t>
            </a:r>
            <a:r>
              <a:rPr lang="zh-CN" altLang="en-US"/>
              <a:t>the</a:t>
            </a:r>
            <a:r>
              <a:rPr lang="en-US" altLang="zh-CN"/>
              <a:t> </a:t>
            </a:r>
            <a:r>
              <a:rPr lang="zh-CN" altLang="en-US">
                <a:solidFill>
                  <a:srgbClr val="C00000"/>
                </a:solidFill>
              </a:rPr>
              <a:t>es</a:t>
            </a:r>
            <a:r>
              <a:rPr lang="en-US" altLang="zh-CN">
                <a:solidFill>
                  <a:srgbClr val="C00000"/>
                </a:solidFill>
              </a:rPr>
              <a:t>ti</a:t>
            </a:r>
            <a:r>
              <a:rPr lang="zh-CN" altLang="en-US">
                <a:solidFill>
                  <a:srgbClr val="C00000"/>
                </a:solidFill>
              </a:rPr>
              <a:t>mates</a:t>
            </a:r>
            <a:r>
              <a:rPr lang="en-US" altLang="zh-CN">
                <a:solidFill>
                  <a:srgbClr val="C00000"/>
                </a:solidFill>
              </a:rPr>
              <a:t> </a:t>
            </a:r>
            <a:r>
              <a:rPr lang="zh-CN" altLang="en-US">
                <a:solidFill>
                  <a:srgbClr val="C00000"/>
                </a:solidFill>
              </a:rPr>
              <a:t>of</a:t>
            </a:r>
            <a:r>
              <a:rPr lang="en-US" altLang="zh-CN">
                <a:solidFill>
                  <a:srgbClr val="C00000"/>
                </a:solidFill>
              </a:rPr>
              <a:t> </a:t>
            </a:r>
            <a:r>
              <a:rPr lang="zh-CN" altLang="en-US">
                <a:solidFill>
                  <a:srgbClr val="C00000"/>
                </a:solidFill>
              </a:rPr>
              <a:t>the</a:t>
            </a:r>
            <a:r>
              <a:rPr lang="en-US" altLang="zh-CN">
                <a:solidFill>
                  <a:srgbClr val="C00000"/>
                </a:solidFill>
              </a:rPr>
              <a:t> ti</a:t>
            </a:r>
            <a:r>
              <a:rPr lang="zh-CN" altLang="en-US">
                <a:solidFill>
                  <a:srgbClr val="C00000"/>
                </a:solidFill>
              </a:rPr>
              <a:t>me</a:t>
            </a:r>
            <a:r>
              <a:rPr lang="en-US" altLang="zh-CN"/>
              <a:t> </a:t>
            </a:r>
            <a:r>
              <a:rPr lang="zh-CN" altLang="en-US"/>
              <a:t>to</a:t>
            </a:r>
            <a:r>
              <a:rPr lang="en-US" altLang="zh-CN"/>
              <a:t> </a:t>
            </a:r>
            <a:r>
              <a:rPr lang="zh-CN" altLang="en-US"/>
              <a:t>carry</a:t>
            </a:r>
            <a:r>
              <a:rPr lang="en-US" altLang="zh-CN"/>
              <a:t> </a:t>
            </a:r>
            <a:r>
              <a:rPr lang="zh-CN" altLang="en-US"/>
              <a:t>out</a:t>
            </a:r>
            <a:r>
              <a:rPr lang="en-US" altLang="zh-CN"/>
              <a:t> </a:t>
            </a:r>
            <a:r>
              <a:rPr lang="zh-CN" altLang="en-US"/>
              <a:t>the</a:t>
            </a:r>
            <a:r>
              <a:rPr lang="en-US" altLang="zh-CN"/>
              <a:t> </a:t>
            </a:r>
            <a:r>
              <a:rPr lang="zh-CN" altLang="en-US"/>
              <a:t>individual</a:t>
            </a:r>
            <a:r>
              <a:rPr lang="en-US" altLang="zh-CN"/>
              <a:t> </a:t>
            </a:r>
            <a:r>
              <a:rPr lang="zh-CN" altLang="en-US"/>
              <a:t>tasks.</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9015095" cy="790575"/>
          </a:xfrm>
        </p:spPr>
        <p:txBody>
          <a:bodyPr>
            <a:normAutofit fontScale="90000"/>
          </a:bodyPr>
          <a:lstStyle/>
          <a:p>
            <a:r>
              <a:rPr lang="zh-CN" altLang="en-US"/>
              <a:t>Earliest</a:t>
            </a:r>
            <a:r>
              <a:rPr lang="en-US" altLang="zh-CN"/>
              <a:t> </a:t>
            </a:r>
            <a:r>
              <a:rPr lang="zh-CN" altLang="en-US"/>
              <a:t>Event</a:t>
            </a:r>
            <a:r>
              <a:rPr lang="en-US" altLang="zh-CN"/>
              <a:t> </a:t>
            </a:r>
            <a:r>
              <a:rPr lang="zh-CN" altLang="en-US"/>
              <a:t>Dates</a:t>
            </a:r>
            <a:r>
              <a:rPr lang="en-US" altLang="zh-CN"/>
              <a:t> </a:t>
            </a:r>
            <a:r>
              <a:rPr lang="zh-CN" altLang="en-US"/>
              <a:t>and</a:t>
            </a:r>
            <a:r>
              <a:rPr lang="en-US" altLang="zh-CN"/>
              <a:t> </a:t>
            </a:r>
            <a:r>
              <a:rPr lang="zh-CN" altLang="en-US"/>
              <a:t>Earliest</a:t>
            </a:r>
            <a:r>
              <a:rPr lang="en-US" altLang="zh-CN"/>
              <a:t> </a:t>
            </a:r>
            <a:r>
              <a:rPr lang="zh-CN" altLang="en-US"/>
              <a:t>Start</a:t>
            </a:r>
            <a:r>
              <a:rPr lang="en-US" altLang="zh-CN"/>
              <a:t> </a:t>
            </a:r>
            <a:r>
              <a:rPr lang="zh-CN" altLang="en-US"/>
              <a:t>Dates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custDataLst>
              <p:tags r:id="rId1"/>
            </p:custDataLst>
          </p:nvPr>
        </p:nvPicPr>
        <p:blipFill>
          <a:blip r:embed="rId2"/>
          <a:stretch>
            <a:fillRect/>
          </a:stretch>
        </p:blipFill>
        <p:spPr>
          <a:xfrm>
            <a:off x="1313180" y="1351280"/>
            <a:ext cx="7545705" cy="433705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Latest</a:t>
            </a:r>
            <a:r>
              <a:rPr lang="en-US" altLang="zh-CN"/>
              <a:t> </a:t>
            </a:r>
            <a:r>
              <a:rPr lang="zh-CN" altLang="en-US"/>
              <a:t>Event</a:t>
            </a:r>
            <a:r>
              <a:rPr lang="en-US" altLang="zh-CN"/>
              <a:t> </a:t>
            </a:r>
            <a:r>
              <a:rPr lang="zh-CN" altLang="en-US"/>
              <a:t>Dates</a:t>
            </a:r>
            <a:r>
              <a:rPr lang="en-US" altLang="zh-CN"/>
              <a:t> </a:t>
            </a:r>
            <a:r>
              <a:rPr lang="zh-CN" altLang="en-US"/>
              <a:t>and</a:t>
            </a:r>
            <a:r>
              <a:rPr lang="en-US" altLang="zh-CN"/>
              <a:t> </a:t>
            </a:r>
            <a:r>
              <a:rPr lang="zh-CN" altLang="en-US"/>
              <a:t>Latest</a:t>
            </a:r>
            <a:r>
              <a:rPr lang="en-US" altLang="zh-CN"/>
              <a:t> </a:t>
            </a:r>
            <a:r>
              <a:rPr lang="zh-CN" altLang="en-US"/>
              <a:t>Start</a:t>
            </a:r>
            <a:r>
              <a:rPr lang="en-US" altLang="zh-CN"/>
              <a:t> </a:t>
            </a:r>
            <a:r>
              <a:rPr lang="zh-CN" altLang="en-US"/>
              <a:t>Dates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482725"/>
            <a:ext cx="8470265" cy="3440430"/>
          </a:xfrm>
          <a:prstGeom prst="rect">
            <a:avLst/>
          </a:prstGeom>
          <a:noFill/>
        </p:spPr>
        <p:txBody>
          <a:bodyPr wrap="square" rtlCol="0" anchor="t">
            <a:noAutofit/>
          </a:bodyPr>
          <a:lstStyle/>
          <a:p>
            <a:pPr indent="0" fontAlgn="auto">
              <a:spcBef>
                <a:spcPts val="1800"/>
              </a:spcBef>
            </a:pPr>
            <a:r>
              <a:rPr lang="zh-CN" altLang="en-US" b="1">
                <a:solidFill>
                  <a:schemeClr val="accent1"/>
                </a:solidFill>
                <a:latin typeface="+mj-lt"/>
                <a:ea typeface="黑体" panose="02010609060101010101" charset="-122"/>
                <a:cs typeface="+mj-lt"/>
              </a:rPr>
              <a:t>Latest start date: </a:t>
            </a:r>
            <a:r>
              <a:rPr lang="zh-CN" altLang="en-US"/>
              <a:t>the</a:t>
            </a:r>
            <a:r>
              <a:rPr lang="en-US" altLang="zh-CN"/>
              <a:t> </a:t>
            </a:r>
            <a:r>
              <a:rPr lang="zh-CN" altLang="en-US"/>
              <a:t>latest</a:t>
            </a:r>
            <a:r>
              <a:rPr lang="en-US" altLang="zh-CN"/>
              <a:t> </a:t>
            </a:r>
            <a:r>
              <a:rPr lang="zh-CN" altLang="en-US"/>
              <a:t>date</a:t>
            </a:r>
            <a:r>
              <a:rPr lang="en-US" altLang="zh-CN"/>
              <a:t> </a:t>
            </a:r>
            <a:r>
              <a:rPr lang="zh-CN" altLang="en-US"/>
              <a:t>that</a:t>
            </a:r>
            <a:r>
              <a:rPr lang="en-US" altLang="zh-CN"/>
              <a:t> </a:t>
            </a:r>
            <a:r>
              <a:rPr lang="zh-CN" altLang="en-US"/>
              <a:t>it</a:t>
            </a:r>
            <a:r>
              <a:rPr lang="en-US" altLang="zh-CN"/>
              <a:t> </a:t>
            </a:r>
            <a:r>
              <a:rPr lang="zh-CN" altLang="en-US"/>
              <a:t>is</a:t>
            </a:r>
            <a:r>
              <a:rPr lang="en-US" altLang="zh-CN"/>
              <a:t> </a:t>
            </a:r>
            <a:r>
              <a:rPr lang="zh-CN" altLang="en-US"/>
              <a:t>possible</a:t>
            </a:r>
            <a:r>
              <a:rPr lang="en-US" altLang="zh-CN"/>
              <a:t> </a:t>
            </a:r>
            <a:r>
              <a:rPr lang="zh-CN" altLang="en-US"/>
              <a:t>to</a:t>
            </a:r>
            <a:r>
              <a:rPr lang="en-US" altLang="zh-CN"/>
              <a:t> </a:t>
            </a:r>
            <a:r>
              <a:rPr lang="zh-CN" altLang="en-US"/>
              <a:t>start</a:t>
            </a:r>
            <a:r>
              <a:rPr lang="en-US" altLang="zh-CN"/>
              <a:t> </a:t>
            </a:r>
            <a:r>
              <a:rPr lang="zh-CN" altLang="en-US"/>
              <a:t>an</a:t>
            </a:r>
            <a:r>
              <a:rPr lang="en-US" altLang="zh-CN"/>
              <a:t> </a:t>
            </a:r>
            <a:r>
              <a:rPr lang="zh-CN" altLang="en-US"/>
              <a:t>ac</a:t>
            </a:r>
            <a:r>
              <a:rPr lang="en-US" altLang="zh-CN"/>
              <a:t>ti</a:t>
            </a:r>
            <a:r>
              <a:rPr lang="zh-CN" altLang="en-US"/>
              <a:t>vity</a:t>
            </a:r>
            <a:r>
              <a:rPr lang="en-US" altLang="zh-CN"/>
              <a:t> </a:t>
            </a:r>
            <a:r>
              <a:rPr lang="zh-CN" altLang="en-US"/>
              <a:t>and</a:t>
            </a:r>
            <a:r>
              <a:rPr lang="en-US" altLang="zh-CN"/>
              <a:t> </a:t>
            </a:r>
            <a:r>
              <a:rPr lang="zh-CN" altLang="en-US"/>
              <a:t>s</a:t>
            </a:r>
            <a:r>
              <a:rPr lang="en-US" altLang="zh-CN"/>
              <a:t>ti</a:t>
            </a:r>
            <a:r>
              <a:rPr lang="zh-CN" altLang="en-US"/>
              <a:t>ll</a:t>
            </a:r>
            <a:r>
              <a:rPr lang="en-US" altLang="zh-CN"/>
              <a:t> </a:t>
            </a:r>
            <a:r>
              <a:rPr lang="zh-CN" altLang="en-US"/>
              <a:t>complete</a:t>
            </a:r>
            <a:r>
              <a:rPr lang="en-US" altLang="zh-CN"/>
              <a:t> </a:t>
            </a:r>
            <a:r>
              <a:rPr lang="zh-CN" altLang="en-US"/>
              <a:t>the</a:t>
            </a:r>
            <a:r>
              <a:rPr lang="en-US" altLang="zh-CN"/>
              <a:t> </a:t>
            </a:r>
            <a:r>
              <a:rPr lang="zh-CN" altLang="en-US"/>
              <a:t>project</a:t>
            </a:r>
            <a:r>
              <a:rPr lang="en-US" altLang="zh-CN"/>
              <a:t> </a:t>
            </a:r>
            <a:r>
              <a:rPr lang="zh-CN" altLang="en-US"/>
              <a:t>by</a:t>
            </a:r>
            <a:r>
              <a:rPr lang="en-US" altLang="zh-CN"/>
              <a:t> </a:t>
            </a:r>
            <a:r>
              <a:rPr lang="zh-CN" altLang="en-US"/>
              <a:t>the</a:t>
            </a:r>
            <a:r>
              <a:rPr lang="en-US" altLang="zh-CN"/>
              <a:t> </a:t>
            </a:r>
            <a:r>
              <a:rPr lang="zh-CN" altLang="en-US"/>
              <a:t>earliest</a:t>
            </a:r>
            <a:r>
              <a:rPr lang="en-US" altLang="zh-CN"/>
              <a:t> </a:t>
            </a:r>
            <a:r>
              <a:rPr lang="zh-CN" altLang="en-US"/>
              <a:t>project</a:t>
            </a:r>
            <a:r>
              <a:rPr lang="en-US" altLang="zh-CN"/>
              <a:t> </a:t>
            </a:r>
            <a:r>
              <a:rPr lang="zh-CN" altLang="en-US"/>
              <a:t>comple</a:t>
            </a:r>
            <a:r>
              <a:rPr lang="en-US" altLang="zh-CN"/>
              <a:t>ti</a:t>
            </a:r>
            <a:r>
              <a:rPr lang="zh-CN" altLang="en-US"/>
              <a:t>on</a:t>
            </a:r>
            <a:r>
              <a:rPr lang="en-US" altLang="zh-CN"/>
              <a:t> </a:t>
            </a:r>
            <a:r>
              <a:rPr lang="zh-CN" altLang="en-US"/>
              <a:t>date.</a:t>
            </a:r>
            <a:endParaRPr lang="zh-CN" altLang="en-US"/>
          </a:p>
          <a:p>
            <a:pPr indent="0" fontAlgn="auto">
              <a:spcBef>
                <a:spcPts val="1800"/>
              </a:spcBef>
            </a:pPr>
            <a:r>
              <a:rPr lang="zh-CN" altLang="en-US" b="1">
                <a:solidFill>
                  <a:schemeClr val="accent1"/>
                </a:solidFill>
                <a:latin typeface="+mj-lt"/>
                <a:ea typeface="黑体" panose="02010609060101010101" charset="-122"/>
                <a:cs typeface="+mj-lt"/>
              </a:rPr>
              <a:t>Latest event date: </a:t>
            </a:r>
            <a:r>
              <a:rPr lang="zh-CN" altLang="en-US"/>
              <a:t>the</a:t>
            </a:r>
            <a:r>
              <a:rPr lang="en-US" altLang="zh-CN"/>
              <a:t> </a:t>
            </a:r>
            <a:r>
              <a:rPr lang="zh-CN" altLang="en-US"/>
              <a:t>latest</a:t>
            </a:r>
            <a:r>
              <a:rPr lang="en-US" altLang="zh-CN"/>
              <a:t> </a:t>
            </a:r>
            <a:r>
              <a:rPr lang="zh-CN" altLang="en-US"/>
              <a:t>date</a:t>
            </a:r>
            <a:r>
              <a:rPr lang="en-US" altLang="zh-CN"/>
              <a:t> </a:t>
            </a:r>
            <a:r>
              <a:rPr lang="zh-CN" altLang="en-US"/>
              <a:t>that</a:t>
            </a:r>
            <a:r>
              <a:rPr lang="en-US" altLang="zh-CN"/>
              <a:t> </a:t>
            </a:r>
            <a:r>
              <a:rPr lang="zh-CN" altLang="en-US"/>
              <a:t>all</a:t>
            </a:r>
            <a:r>
              <a:rPr lang="en-US" altLang="zh-CN"/>
              <a:t> </a:t>
            </a:r>
            <a:r>
              <a:rPr lang="zh-CN" altLang="en-US"/>
              <a:t>the</a:t>
            </a:r>
            <a:r>
              <a:rPr lang="en-US" altLang="zh-CN"/>
              <a:t> </a:t>
            </a:r>
            <a:r>
              <a:rPr lang="zh-CN" altLang="en-US"/>
              <a:t>ac</a:t>
            </a:r>
            <a:r>
              <a:rPr lang="en-US" altLang="zh-CN"/>
              <a:t>ti</a:t>
            </a:r>
            <a:r>
              <a:rPr lang="zh-CN" altLang="en-US"/>
              <a:t>vi</a:t>
            </a:r>
            <a:r>
              <a:rPr lang="en-US" altLang="zh-CN"/>
              <a:t>ti</a:t>
            </a:r>
            <a:r>
              <a:rPr lang="zh-CN" altLang="en-US"/>
              <a:t>es</a:t>
            </a:r>
            <a:r>
              <a:rPr lang="en-US" altLang="zh-CN"/>
              <a:t> </a:t>
            </a:r>
            <a:r>
              <a:rPr lang="zh-CN" altLang="en-US"/>
              <a:t>ending</a:t>
            </a:r>
            <a:r>
              <a:rPr lang="en-US" altLang="zh-CN"/>
              <a:t> </a:t>
            </a:r>
            <a:r>
              <a:rPr lang="zh-CN" altLang="en-US"/>
              <a:t>at</a:t>
            </a:r>
            <a:r>
              <a:rPr lang="en-US" altLang="zh-CN"/>
              <a:t> </a:t>
            </a:r>
            <a:r>
              <a:rPr lang="zh-CN" altLang="en-US"/>
              <a:t>that</a:t>
            </a:r>
            <a:r>
              <a:rPr lang="en-US" altLang="zh-CN"/>
              <a:t> </a:t>
            </a:r>
            <a:r>
              <a:rPr lang="zh-CN" altLang="en-US"/>
              <a:t>node</a:t>
            </a:r>
            <a:r>
              <a:rPr lang="en-US" altLang="zh-CN"/>
              <a:t> </a:t>
            </a:r>
            <a:r>
              <a:rPr lang="zh-CN" altLang="en-US"/>
              <a:t>must</a:t>
            </a:r>
            <a:r>
              <a:rPr lang="en-US" altLang="zh-CN"/>
              <a:t> </a:t>
            </a:r>
            <a:r>
              <a:rPr lang="zh-CN" altLang="en-US"/>
              <a:t>be</a:t>
            </a:r>
            <a:r>
              <a:rPr lang="en-US" altLang="zh-CN"/>
              <a:t> </a:t>
            </a:r>
            <a:r>
              <a:rPr lang="zh-CN" altLang="en-US"/>
              <a:t>completed,</a:t>
            </a:r>
            <a:r>
              <a:rPr lang="en-US" altLang="zh-CN"/>
              <a:t> </a:t>
            </a:r>
            <a:r>
              <a:rPr lang="zh-CN" altLang="en-US"/>
              <a:t>in</a:t>
            </a:r>
            <a:r>
              <a:rPr lang="en-US" altLang="zh-CN"/>
              <a:t> </a:t>
            </a:r>
            <a:r>
              <a:rPr lang="zh-CN" altLang="en-US"/>
              <a:t>order</a:t>
            </a:r>
            <a:r>
              <a:rPr lang="en-US" altLang="zh-CN"/>
              <a:t> </a:t>
            </a:r>
            <a:r>
              <a:rPr lang="zh-CN" altLang="en-US"/>
              <a:t>to</a:t>
            </a:r>
            <a:r>
              <a:rPr lang="en-US" altLang="zh-CN"/>
              <a:t> </a:t>
            </a:r>
            <a:r>
              <a:rPr lang="zh-CN" altLang="en-US"/>
              <a:t>complete</a:t>
            </a:r>
            <a:r>
              <a:rPr lang="en-US" altLang="zh-CN"/>
              <a:t> </a:t>
            </a:r>
            <a:r>
              <a:rPr lang="zh-CN" altLang="en-US"/>
              <a:t>the</a:t>
            </a:r>
            <a:r>
              <a:rPr lang="en-US" altLang="zh-CN"/>
              <a:t> </a:t>
            </a:r>
            <a:r>
              <a:rPr lang="zh-CN" altLang="en-US"/>
              <a:t>project</a:t>
            </a:r>
            <a:r>
              <a:rPr lang="en-US" altLang="zh-CN"/>
              <a:t> </a:t>
            </a:r>
            <a:r>
              <a:rPr lang="zh-CN" altLang="en-US"/>
              <a:t>by</a:t>
            </a:r>
            <a:r>
              <a:rPr lang="en-US" altLang="zh-CN"/>
              <a:t> </a:t>
            </a:r>
            <a:r>
              <a:rPr lang="zh-CN" altLang="en-US"/>
              <a:t>the</a:t>
            </a:r>
            <a:r>
              <a:rPr lang="en-US" altLang="zh-CN"/>
              <a:t> </a:t>
            </a:r>
            <a:r>
              <a:rPr lang="zh-CN" altLang="en-US"/>
              <a:t>earliest</a:t>
            </a:r>
            <a:r>
              <a:rPr lang="en-US" altLang="zh-CN"/>
              <a:t> </a:t>
            </a:r>
            <a:r>
              <a:rPr lang="zh-CN" altLang="en-US"/>
              <a:t>project</a:t>
            </a:r>
            <a:r>
              <a:rPr lang="en-US" altLang="zh-CN"/>
              <a:t> </a:t>
            </a:r>
            <a:r>
              <a:rPr lang="zh-CN" altLang="en-US"/>
              <a:t>comple</a:t>
            </a:r>
            <a:r>
              <a:rPr lang="en-US" altLang="zh-CN"/>
              <a:t>ti</a:t>
            </a:r>
            <a:r>
              <a:rPr lang="zh-CN" altLang="en-US"/>
              <a:t>on</a:t>
            </a:r>
            <a:r>
              <a:rPr lang="en-US" altLang="zh-CN"/>
              <a:t> </a:t>
            </a:r>
            <a:r>
              <a:rPr lang="zh-CN" altLang="en-US"/>
              <a:t>date.</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Latest</a:t>
            </a:r>
            <a:r>
              <a:rPr lang="en-US" altLang="zh-CN"/>
              <a:t> </a:t>
            </a:r>
            <a:r>
              <a:rPr lang="zh-CN" altLang="en-US"/>
              <a:t>Event</a:t>
            </a:r>
            <a:r>
              <a:rPr lang="en-US" altLang="zh-CN"/>
              <a:t> </a:t>
            </a:r>
            <a:r>
              <a:rPr lang="zh-CN" altLang="en-US"/>
              <a:t>Dates</a:t>
            </a:r>
            <a:r>
              <a:rPr lang="en-US" altLang="zh-CN"/>
              <a:t> </a:t>
            </a:r>
            <a:r>
              <a:rPr lang="zh-CN" altLang="en-US"/>
              <a:t>and</a:t>
            </a:r>
            <a:r>
              <a:rPr lang="en-US" altLang="zh-CN"/>
              <a:t> </a:t>
            </a:r>
            <a:r>
              <a:rPr lang="zh-CN" altLang="en-US"/>
              <a:t>Latest</a:t>
            </a:r>
            <a:r>
              <a:rPr lang="en-US" altLang="zh-CN"/>
              <a:t> </a:t>
            </a:r>
            <a:r>
              <a:rPr lang="zh-CN" altLang="en-US"/>
              <a:t>Start</a:t>
            </a:r>
            <a:r>
              <a:rPr lang="en-US" altLang="zh-CN"/>
              <a:t> </a:t>
            </a:r>
            <a:r>
              <a:rPr lang="zh-CN" altLang="en-US"/>
              <a:t>Dates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4707890" y="1156970"/>
            <a:ext cx="5742305" cy="645160"/>
          </a:xfrm>
          <a:prstGeom prst="rect">
            <a:avLst/>
          </a:prstGeom>
          <a:noFill/>
        </p:spPr>
        <p:txBody>
          <a:bodyPr wrap="square" rtlCol="0" anchor="t">
            <a:spAutoFit/>
          </a:bodyPr>
          <a:lstStyle/>
          <a:p>
            <a:r>
              <a:rPr lang="zh-CN" altLang="en-US"/>
              <a:t>Each</a:t>
            </a:r>
            <a:r>
              <a:rPr lang="en-US" altLang="zh-CN"/>
              <a:t> </a:t>
            </a:r>
            <a:r>
              <a:rPr lang="zh-CN" altLang="en-US"/>
              <a:t>event</a:t>
            </a:r>
            <a:r>
              <a:rPr lang="en-US" altLang="zh-CN"/>
              <a:t> </a:t>
            </a:r>
            <a:r>
              <a:rPr lang="zh-CN" altLang="en-US"/>
              <a:t>must</a:t>
            </a:r>
            <a:r>
              <a:rPr lang="en-US" altLang="zh-CN"/>
              <a:t> </a:t>
            </a:r>
            <a:r>
              <a:rPr lang="zh-CN" altLang="en-US"/>
              <a:t>be</a:t>
            </a:r>
            <a:r>
              <a:rPr lang="en-US" altLang="zh-CN"/>
              <a:t> </a:t>
            </a:r>
            <a:r>
              <a:rPr lang="zh-CN" altLang="en-US"/>
              <a:t>achieved</a:t>
            </a:r>
            <a:r>
              <a:rPr lang="en-US" altLang="zh-CN"/>
              <a:t> </a:t>
            </a:r>
            <a:r>
              <a:rPr lang="zh-CN" altLang="en-US"/>
              <a:t>by</a:t>
            </a:r>
            <a:r>
              <a:rPr lang="en-US" altLang="zh-CN"/>
              <a:t> </a:t>
            </a:r>
            <a:r>
              <a:rPr lang="zh-CN" altLang="en-US"/>
              <a:t>the</a:t>
            </a:r>
            <a:r>
              <a:rPr lang="en-US" altLang="zh-CN"/>
              <a:t> </a:t>
            </a:r>
            <a:r>
              <a:rPr lang="zh-CN" altLang="en-US"/>
              <a:t>date</a:t>
            </a:r>
            <a:r>
              <a:rPr lang="en-US" altLang="zh-CN"/>
              <a:t> </a:t>
            </a:r>
            <a:r>
              <a:rPr lang="zh-CN" altLang="en-US"/>
              <a:t>shown</a:t>
            </a:r>
            <a:r>
              <a:rPr lang="en-US" altLang="zh-CN"/>
              <a:t> </a:t>
            </a:r>
            <a:r>
              <a:rPr lang="zh-CN" altLang="en-US"/>
              <a:t>or</a:t>
            </a:r>
            <a:r>
              <a:rPr lang="en-US" altLang="zh-CN"/>
              <a:t> </a:t>
            </a:r>
            <a:r>
              <a:rPr lang="zh-CN" altLang="en-US"/>
              <a:t>the</a:t>
            </a:r>
            <a:r>
              <a:rPr lang="en-US" altLang="zh-CN"/>
              <a:t> </a:t>
            </a:r>
            <a:r>
              <a:rPr lang="zh-CN" altLang="en-US"/>
              <a:t>final</a:t>
            </a:r>
            <a:r>
              <a:rPr lang="en-US" altLang="zh-CN"/>
              <a:t> </a:t>
            </a:r>
            <a:r>
              <a:rPr lang="zh-CN" altLang="en-US"/>
              <a:t>date</a:t>
            </a:r>
            <a:r>
              <a:rPr lang="en-US" altLang="zh-CN"/>
              <a:t> </a:t>
            </a:r>
            <a:r>
              <a:rPr lang="zh-CN" altLang="en-US"/>
              <a:t>will</a:t>
            </a:r>
            <a:r>
              <a:rPr lang="en-US" altLang="zh-CN"/>
              <a:t> </a:t>
            </a:r>
            <a:r>
              <a:rPr lang="zh-CN" altLang="en-US"/>
              <a:t>not</a:t>
            </a:r>
            <a:r>
              <a:rPr lang="en-US" altLang="zh-CN"/>
              <a:t> </a:t>
            </a:r>
            <a:r>
              <a:rPr lang="zh-CN" altLang="en-US"/>
              <a:t>be</a:t>
            </a:r>
            <a:r>
              <a:rPr lang="en-US" altLang="zh-CN"/>
              <a:t> </a:t>
            </a:r>
            <a:r>
              <a:rPr lang="zh-CN" altLang="en-US"/>
              <a:t>met.</a:t>
            </a:r>
            <a:endParaRPr lang="zh-CN" altLang="en-US"/>
          </a:p>
        </p:txBody>
      </p:sp>
      <p:sp>
        <p:nvSpPr>
          <p:cNvPr id="5" name="文本框 4"/>
          <p:cNvSpPr txBox="1"/>
          <p:nvPr/>
        </p:nvSpPr>
        <p:spPr>
          <a:xfrm>
            <a:off x="1091565" y="1211580"/>
            <a:ext cx="2027555" cy="680085"/>
          </a:xfrm>
          <a:prstGeom prst="rect">
            <a:avLst/>
          </a:prstGeom>
          <a:noFill/>
          <a:ln>
            <a:solidFill>
              <a:srgbClr val="00B0F0"/>
            </a:solidFill>
          </a:ln>
        </p:spPr>
        <p:txBody>
          <a:bodyPr wrap="square" rtlCol="0" anchor="t">
            <a:noAutofit/>
          </a:bodyPr>
          <a:lstStyle/>
          <a:p>
            <a:pPr algn="ctr"/>
            <a:r>
              <a:rPr lang="zh-CN" altLang="en-US">
                <a:solidFill>
                  <a:srgbClr val="00B0F0"/>
                </a:solidFill>
                <a:latin typeface="+mj-lt"/>
                <a:ea typeface="黑体" panose="02010609060101010101" charset="-122"/>
                <a:cs typeface="+mj-lt"/>
              </a:rPr>
              <a:t>Latest event </a:t>
            </a:r>
            <a:endParaRPr lang="zh-CN" altLang="en-US">
              <a:solidFill>
                <a:srgbClr val="00B0F0"/>
              </a:solidFill>
              <a:latin typeface="+mj-lt"/>
              <a:ea typeface="黑体" panose="02010609060101010101" charset="-122"/>
              <a:cs typeface="+mj-lt"/>
            </a:endParaRPr>
          </a:p>
          <a:p>
            <a:pPr algn="ctr"/>
            <a:r>
              <a:rPr lang="zh-CN" altLang="en-US">
                <a:solidFill>
                  <a:srgbClr val="00B0F0"/>
                </a:solidFill>
                <a:latin typeface="+mj-lt"/>
                <a:ea typeface="黑体" panose="02010609060101010101" charset="-122"/>
                <a:cs typeface="+mj-lt"/>
              </a:rPr>
              <a:t>dates in blue</a:t>
            </a:r>
            <a:endParaRPr lang="zh-CN" altLang="en-US">
              <a:solidFill>
                <a:srgbClr val="00B0F0"/>
              </a:solidFill>
              <a:latin typeface="+mj-lt"/>
              <a:ea typeface="黑体" panose="02010609060101010101" charset="-122"/>
              <a:cs typeface="+mj-lt"/>
            </a:endParaRPr>
          </a:p>
        </p:txBody>
      </p:sp>
      <p:pic>
        <p:nvPicPr>
          <p:cNvPr id="6" name="图片 5"/>
          <p:cNvPicPr>
            <a:picLocks noChangeAspect="1"/>
          </p:cNvPicPr>
          <p:nvPr>
            <p:custDataLst>
              <p:tags r:id="rId1"/>
            </p:custDataLst>
          </p:nvPr>
        </p:nvPicPr>
        <p:blipFill>
          <a:blip r:embed="rId2"/>
          <a:stretch>
            <a:fillRect/>
          </a:stretch>
        </p:blipFill>
        <p:spPr>
          <a:xfrm>
            <a:off x="1091565" y="2021205"/>
            <a:ext cx="8350250" cy="37668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Cri</a:t>
            </a:r>
            <a:r>
              <a:rPr lang="en-US" altLang="zh-CN"/>
              <a:t>ti</a:t>
            </a:r>
            <a:r>
              <a:rPr lang="zh-CN" altLang="en-US"/>
              <a:t>cal</a:t>
            </a:r>
            <a:r>
              <a:rPr lang="en-US" altLang="zh-CN"/>
              <a:t> </a:t>
            </a:r>
            <a:r>
              <a:rPr lang="zh-CN" altLang="en-US"/>
              <a:t>Path</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3348990" y="1155065"/>
            <a:ext cx="7401560" cy="1234440"/>
          </a:xfrm>
          <a:prstGeom prst="rect">
            <a:avLst/>
          </a:prstGeom>
          <a:noFill/>
        </p:spPr>
        <p:txBody>
          <a:bodyPr wrap="square" rtlCol="0" anchor="t">
            <a:noAutofit/>
          </a:bodyPr>
          <a:lstStyle/>
          <a:p>
            <a:pPr indent="0" fontAlgn="auto">
              <a:spcBef>
                <a:spcPts val="1800"/>
              </a:spcBef>
            </a:pPr>
            <a:r>
              <a:rPr lang="zh-CN" altLang="en-US"/>
              <a:t>Events</a:t>
            </a:r>
            <a:r>
              <a:rPr lang="en-US" altLang="zh-CN"/>
              <a:t> </a:t>
            </a:r>
            <a:r>
              <a:rPr lang="zh-CN" altLang="en-US"/>
              <a:t>on</a:t>
            </a:r>
            <a:r>
              <a:rPr lang="en-US" altLang="zh-CN"/>
              <a:t> </a:t>
            </a:r>
            <a:r>
              <a:rPr lang="zh-CN" altLang="en-US"/>
              <a:t>the</a:t>
            </a:r>
            <a:r>
              <a:rPr lang="en-US" altLang="zh-CN"/>
              <a:t> </a:t>
            </a:r>
            <a:r>
              <a:rPr lang="zh-CN" altLang="en-US"/>
              <a:t>cri</a:t>
            </a:r>
            <a:r>
              <a:rPr lang="en-US" altLang="zh-CN"/>
              <a:t>ti</a:t>
            </a:r>
            <a:r>
              <a:rPr lang="zh-CN" altLang="en-US"/>
              <a:t>cal</a:t>
            </a:r>
            <a:r>
              <a:rPr lang="en-US" altLang="zh-CN"/>
              <a:t> </a:t>
            </a:r>
            <a:r>
              <a:rPr lang="zh-CN" altLang="en-US"/>
              <a:t>path</a:t>
            </a:r>
            <a:r>
              <a:rPr lang="en-US" altLang="zh-CN"/>
              <a:t> </a:t>
            </a:r>
            <a:r>
              <a:rPr lang="zh-CN" altLang="en-US"/>
              <a:t>have</a:t>
            </a:r>
            <a:r>
              <a:rPr lang="en-US" altLang="zh-CN"/>
              <a:t> </a:t>
            </a:r>
            <a:r>
              <a:rPr lang="zh-CN" altLang="en-US"/>
              <a:t>the</a:t>
            </a:r>
            <a:r>
              <a:rPr lang="en-US" altLang="zh-CN"/>
              <a:t> </a:t>
            </a:r>
            <a:r>
              <a:rPr lang="zh-CN" altLang="en-US">
                <a:solidFill>
                  <a:srgbClr val="C00000"/>
                </a:solidFill>
              </a:rPr>
              <a:t>earliest</a:t>
            </a:r>
            <a:r>
              <a:rPr lang="en-US" altLang="zh-CN">
                <a:solidFill>
                  <a:srgbClr val="C00000"/>
                </a:solidFill>
              </a:rPr>
              <a:t> </a:t>
            </a:r>
            <a:r>
              <a:rPr lang="zh-CN" altLang="en-US">
                <a:solidFill>
                  <a:srgbClr val="C00000"/>
                </a:solidFill>
              </a:rPr>
              <a:t>event</a:t>
            </a:r>
            <a:r>
              <a:rPr lang="en-US" altLang="zh-CN">
                <a:solidFill>
                  <a:srgbClr val="C00000"/>
                </a:solidFill>
              </a:rPr>
              <a:t> </a:t>
            </a:r>
            <a:r>
              <a:rPr lang="zh-CN" altLang="en-US">
                <a:solidFill>
                  <a:srgbClr val="C00000"/>
                </a:solidFill>
              </a:rPr>
              <a:t>date</a:t>
            </a:r>
            <a:r>
              <a:rPr lang="en-US" altLang="zh-CN"/>
              <a:t> </a:t>
            </a:r>
            <a:r>
              <a:rPr lang="zh-CN" altLang="en-US"/>
              <a:t>equal</a:t>
            </a:r>
            <a:r>
              <a:rPr lang="en-US" altLang="zh-CN"/>
              <a:t> </a:t>
            </a:r>
            <a:r>
              <a:rPr lang="zh-CN" altLang="en-US"/>
              <a:t>to</a:t>
            </a:r>
            <a:r>
              <a:rPr lang="en-US" altLang="zh-CN"/>
              <a:t> </a:t>
            </a:r>
            <a:r>
              <a:rPr lang="zh-CN" altLang="en-US"/>
              <a:t>the</a:t>
            </a:r>
            <a:r>
              <a:rPr lang="en-US" altLang="zh-CN"/>
              <a:t> </a:t>
            </a:r>
            <a:r>
              <a:rPr lang="zh-CN" altLang="en-US" b="1">
                <a:solidFill>
                  <a:schemeClr val="accent1"/>
                </a:solidFill>
                <a:latin typeface="+mj-lt"/>
                <a:ea typeface="黑体" panose="02010609060101010101" charset="-122"/>
                <a:cs typeface="+mj-lt"/>
              </a:rPr>
              <a:t>latest event date</a:t>
            </a:r>
            <a:r>
              <a:rPr lang="zh-CN" altLang="en-US"/>
              <a:t>.</a:t>
            </a:r>
            <a:endParaRPr lang="zh-CN" altLang="en-US"/>
          </a:p>
          <a:p>
            <a:pPr indent="0" fontAlgn="auto">
              <a:spcBef>
                <a:spcPts val="1800"/>
              </a:spcBef>
            </a:pPr>
            <a:r>
              <a:rPr lang="zh-CN" altLang="en-US"/>
              <a:t>Every</a:t>
            </a:r>
            <a:r>
              <a:rPr lang="en-US" altLang="zh-CN"/>
              <a:t> </a:t>
            </a:r>
            <a:r>
              <a:rPr lang="zh-CN" altLang="en-US"/>
              <a:t>ac</a:t>
            </a:r>
            <a:r>
              <a:rPr lang="en-US" altLang="zh-CN"/>
              <a:t>ti</a:t>
            </a:r>
            <a:r>
              <a:rPr lang="zh-CN" altLang="en-US"/>
              <a:t>vity</a:t>
            </a:r>
            <a:r>
              <a:rPr lang="en-US" altLang="zh-CN"/>
              <a:t> </a:t>
            </a:r>
            <a:r>
              <a:rPr lang="zh-CN" altLang="en-US"/>
              <a:t>on</a:t>
            </a:r>
            <a:r>
              <a:rPr lang="en-US" altLang="zh-CN"/>
              <a:t> </a:t>
            </a:r>
            <a:r>
              <a:rPr lang="zh-CN" altLang="en-US" b="1">
                <a:solidFill>
                  <a:schemeClr val="accent1"/>
                </a:solidFill>
                <a:latin typeface="+mj-lt"/>
                <a:ea typeface="黑体" panose="02010609060101010101" charset="-122"/>
                <a:cs typeface="+mj-lt"/>
              </a:rPr>
              <a:t>the critical path</a:t>
            </a:r>
            <a:r>
              <a:rPr lang="en-US" altLang="zh-CN"/>
              <a:t> </a:t>
            </a:r>
            <a:r>
              <a:rPr lang="zh-CN" altLang="en-US"/>
              <a:t>must</a:t>
            </a:r>
            <a:r>
              <a:rPr lang="en-US" altLang="zh-CN"/>
              <a:t> </a:t>
            </a:r>
            <a:r>
              <a:rPr lang="zh-CN" altLang="en-US"/>
              <a:t>begin</a:t>
            </a:r>
            <a:r>
              <a:rPr lang="en-US" altLang="zh-CN"/>
              <a:t> </a:t>
            </a:r>
            <a:r>
              <a:rPr lang="zh-CN" altLang="en-US"/>
              <a:t>on</a:t>
            </a:r>
            <a:r>
              <a:rPr lang="en-US" altLang="zh-CN"/>
              <a:t> </a:t>
            </a:r>
            <a:r>
              <a:rPr lang="zh-CN" altLang="en-US"/>
              <a:t>the</a:t>
            </a:r>
            <a:r>
              <a:rPr lang="en-US" altLang="zh-CN"/>
              <a:t> </a:t>
            </a:r>
            <a:r>
              <a:rPr lang="zh-CN" altLang="en-US"/>
              <a:t>earliest</a:t>
            </a:r>
            <a:r>
              <a:rPr lang="en-US" altLang="zh-CN"/>
              <a:t> </a:t>
            </a:r>
            <a:r>
              <a:rPr lang="zh-CN" altLang="en-US"/>
              <a:t>start</a:t>
            </a:r>
            <a:r>
              <a:rPr lang="en-US" altLang="zh-CN"/>
              <a:t> </a:t>
            </a:r>
            <a:r>
              <a:rPr lang="zh-CN" altLang="en-US"/>
              <a:t>date.</a:t>
            </a:r>
            <a:endParaRPr lang="zh-CN" altLang="en-US"/>
          </a:p>
        </p:txBody>
      </p:sp>
      <p:sp>
        <p:nvSpPr>
          <p:cNvPr id="5" name="文本框 4"/>
          <p:cNvSpPr txBox="1"/>
          <p:nvPr/>
        </p:nvSpPr>
        <p:spPr>
          <a:xfrm>
            <a:off x="1091565" y="1449705"/>
            <a:ext cx="1631315" cy="645160"/>
          </a:xfrm>
          <a:prstGeom prst="rect">
            <a:avLst/>
          </a:prstGeom>
          <a:noFill/>
          <a:ln>
            <a:solidFill>
              <a:srgbClr val="FFC000"/>
            </a:solidFill>
          </a:ln>
        </p:spPr>
        <p:txBody>
          <a:bodyPr wrap="square" rtlCol="0" anchor="t">
            <a:spAutoFit/>
          </a:bodyPr>
          <a:lstStyle/>
          <a:p>
            <a:pPr algn="ctr"/>
            <a:r>
              <a:rPr lang="zh-CN" altLang="en-US">
                <a:solidFill>
                  <a:srgbClr val="FFC000"/>
                </a:solidFill>
              </a:rPr>
              <a:t>Cri</a:t>
            </a:r>
            <a:r>
              <a:rPr lang="en-US" altLang="zh-CN">
                <a:solidFill>
                  <a:srgbClr val="FFC000"/>
                </a:solidFill>
              </a:rPr>
              <a:t>ti</a:t>
            </a:r>
            <a:r>
              <a:rPr lang="zh-CN" altLang="en-US">
                <a:solidFill>
                  <a:srgbClr val="FFC000"/>
                </a:solidFill>
              </a:rPr>
              <a:t>cal</a:t>
            </a:r>
            <a:r>
              <a:rPr lang="en-US" altLang="zh-CN">
                <a:solidFill>
                  <a:srgbClr val="FFC000"/>
                </a:solidFill>
              </a:rPr>
              <a:t> </a:t>
            </a:r>
            <a:r>
              <a:rPr lang="zh-CN" altLang="en-US">
                <a:solidFill>
                  <a:srgbClr val="FFC000"/>
                </a:solidFill>
              </a:rPr>
              <a:t>path</a:t>
            </a:r>
            <a:r>
              <a:rPr lang="en-US" altLang="zh-CN">
                <a:solidFill>
                  <a:srgbClr val="FFC000"/>
                </a:solidFill>
              </a:rPr>
              <a:t> </a:t>
            </a:r>
            <a:r>
              <a:rPr lang="zh-CN" altLang="en-US">
                <a:solidFill>
                  <a:srgbClr val="FFC000"/>
                </a:solidFill>
              </a:rPr>
              <a:t>in</a:t>
            </a:r>
            <a:r>
              <a:rPr lang="en-US" altLang="zh-CN">
                <a:solidFill>
                  <a:srgbClr val="FFC000"/>
                </a:solidFill>
              </a:rPr>
              <a:t> </a:t>
            </a:r>
            <a:r>
              <a:rPr lang="zh-CN" altLang="en-US">
                <a:solidFill>
                  <a:srgbClr val="FFC000"/>
                </a:solidFill>
              </a:rPr>
              <a:t>orange</a:t>
            </a:r>
            <a:endParaRPr lang="zh-CN" altLang="en-US">
              <a:solidFill>
                <a:srgbClr val="FFC000"/>
              </a:solidFill>
            </a:endParaRPr>
          </a:p>
        </p:txBody>
      </p:sp>
      <p:graphicFrame>
        <p:nvGraphicFramePr>
          <p:cNvPr id="6" name="对象 5"/>
          <p:cNvGraphicFramePr/>
          <p:nvPr>
            <p:custDataLst>
              <p:tags r:id="rId1"/>
            </p:custDataLst>
          </p:nvPr>
        </p:nvGraphicFramePr>
        <p:xfrm>
          <a:off x="1177290" y="2247265"/>
          <a:ext cx="9279255" cy="3761740"/>
        </p:xfrm>
        <a:graphic>
          <a:graphicData uri="http://schemas.openxmlformats.org/presentationml/2006/ole">
            <mc:AlternateContent xmlns:mc="http://schemas.openxmlformats.org/markup-compatibility/2006">
              <mc:Choice xmlns:v="urn:schemas-microsoft-com:vml" Requires="v">
                <p:oleObj spid="_x0000_s7" name="" r:id="rId2" imgW="10895965" imgH="6029325" progId="Paint.Picture">
                  <p:embed/>
                </p:oleObj>
              </mc:Choice>
              <mc:Fallback>
                <p:oleObj name="" r:id="rId2" imgW="10895965" imgH="6029325" progId="Paint.Picture">
                  <p:embed/>
                  <p:pic>
                    <p:nvPicPr>
                      <p:cNvPr id="0" name="对象 5"/>
                      <p:cNvPicPr/>
                      <p:nvPr/>
                    </p:nvPicPr>
                    <p:blipFill>
                      <a:blip r:embed="rId3"/>
                      <a:stretch>
                        <a:fillRect/>
                      </a:stretch>
                    </p:blipFill>
                    <p:spPr>
                      <a:xfrm>
                        <a:off x="1177290" y="2247265"/>
                        <a:ext cx="9279255" cy="3761740"/>
                      </a:xfrm>
                      <a:prstGeom prst="rect">
                        <a:avLst/>
                      </a:prstGeom>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User Experience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384252"/>
            <a:ext cx="10946524"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User experience (UX) </a:t>
            </a:r>
            <a:endParaRPr lang="en-US" altLang="zh-CN" sz="2000" b="1" dirty="0">
              <a:solidFill>
                <a:srgbClr val="515223"/>
              </a:solidFill>
              <a:latin typeface="Helvetica" pitchFamily="2" charset="0"/>
              <a:cs typeface="Arial" panose="020B0604020202090204" pitchFamily="34" charset="0"/>
            </a:endParaRPr>
          </a:p>
          <a:p>
            <a:r>
              <a:rPr lang="en-US" altLang="zh-CN" sz="2000" dirty="0"/>
              <a:t>The </a:t>
            </a:r>
            <a:r>
              <a:rPr lang="en-US" altLang="zh-CN" sz="2000" b="1" dirty="0">
                <a:solidFill>
                  <a:srgbClr val="FF0000"/>
                </a:solidFill>
              </a:rPr>
              <a:t>user experience (UX) </a:t>
            </a:r>
            <a:r>
              <a:rPr lang="en-US" altLang="zh-CN" sz="2000" dirty="0"/>
              <a:t>refers to the total of all the factors that contribute to the usability (or otherwise) of a computer and its systems.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User interface (UI) </a:t>
            </a:r>
            <a:endParaRPr lang="en-US" altLang="zh-CN" sz="2000" dirty="0"/>
          </a:p>
          <a:p>
            <a:r>
              <a:rPr lang="en-US" altLang="zh-CN" sz="2000" dirty="0"/>
              <a:t>The </a:t>
            </a:r>
            <a:r>
              <a:rPr lang="en-US" altLang="zh-CN" sz="2000" b="1" dirty="0">
                <a:solidFill>
                  <a:srgbClr val="FF0000"/>
                </a:solidFill>
              </a:rPr>
              <a:t>user interface (UI) </a:t>
            </a:r>
            <a:r>
              <a:rPr lang="en-US" altLang="zh-CN" sz="2000" dirty="0"/>
              <a:t>refers to the interactivity, look, and feel of a product screen or web page</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Human computer interaction (HCI) </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FF0000"/>
                </a:solidFill>
              </a:rPr>
              <a:t>Human computer interaction </a:t>
            </a:r>
            <a:r>
              <a:rPr lang="en-US" altLang="zh-CN" sz="2000" dirty="0"/>
              <a:t>is the academic discipline that studies how people interact with computers.</a:t>
            </a:r>
            <a:endParaRPr lang="en-US" altLang="zh-CN" sz="2000" dirty="0"/>
          </a:p>
          <a:p>
            <a:endParaRPr lang="en-US" sz="2000" b="1" dirty="0">
              <a:solidFill>
                <a:srgbClr val="515223"/>
              </a:solidFill>
              <a:latin typeface="Helvetica" pitchFamily="2" charset="0"/>
              <a:cs typeface="Arial" panose="020B0604020202090204" pitchFamily="34" charset="0"/>
            </a:endParaRPr>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097564" y="4762731"/>
            <a:ext cx="2704403" cy="1422033"/>
          </a:xfrm>
          <a:prstGeom prst="rect">
            <a:avLst/>
          </a:prstGeom>
        </p:spPr>
      </p:pic>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50978" y="4787928"/>
            <a:ext cx="1812248" cy="1422033"/>
          </a:xfrm>
          <a:prstGeom prst="rect">
            <a:avLst/>
          </a:prstGeom>
        </p:spPr>
      </p:pic>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5095" y="4762731"/>
            <a:ext cx="1921809" cy="1447230"/>
          </a:xfrm>
          <a:prstGeom prst="rect">
            <a:avLst/>
          </a:prstGeom>
        </p:spPr>
      </p:pic>
      <p:sp>
        <p:nvSpPr>
          <p:cNvPr id="14" name="TextBox 13"/>
          <p:cNvSpPr txBox="1"/>
          <p:nvPr/>
        </p:nvSpPr>
        <p:spPr>
          <a:xfrm>
            <a:off x="503385" y="4765861"/>
            <a:ext cx="4187026" cy="707886"/>
          </a:xfrm>
          <a:prstGeom prst="rect">
            <a:avLst/>
          </a:prstGeom>
          <a:noFill/>
        </p:spPr>
        <p:txBody>
          <a:bodyPr wrap="square">
            <a:spAutoFit/>
          </a:bodyPr>
          <a:lstStyle/>
          <a:p>
            <a:r>
              <a:rPr lang="en-US" altLang="zh-CN" sz="2000" dirty="0"/>
              <a:t>Computing</a:t>
            </a:r>
            <a:r>
              <a:rPr lang="en-US" altLang="zh-CN" sz="2000" b="1" dirty="0">
                <a:solidFill>
                  <a:srgbClr val="515223"/>
                </a:solidFill>
                <a:latin typeface="Helvetica" pitchFamily="2" charset="0"/>
                <a:cs typeface="Arial" panose="020B0604020202090204" pitchFamily="34" charset="0"/>
              </a:rPr>
              <a:t> </a:t>
            </a:r>
            <a:r>
              <a:rPr lang="en-US" altLang="zh-CN" sz="2000" dirty="0"/>
              <a:t>Machine without UI:</a:t>
            </a:r>
            <a:endParaRPr lang="en-US" altLang="zh-CN" sz="2000" dirty="0"/>
          </a:p>
          <a:p>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Mental Model and Computer Model</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3329941" y="1646262"/>
            <a:ext cx="8110132"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Mental Model </a:t>
            </a:r>
            <a:endParaRPr lang="en-US" altLang="zh-CN" sz="2000" b="1" dirty="0">
              <a:solidFill>
                <a:srgbClr val="515223"/>
              </a:solidFill>
              <a:latin typeface="Helvetica" pitchFamily="2" charset="0"/>
              <a:cs typeface="Arial" panose="020B0604020202090204" pitchFamily="34" charset="0"/>
            </a:endParaRPr>
          </a:p>
          <a:p>
            <a:r>
              <a:rPr lang="en-US" altLang="zh-CN" sz="2000" dirty="0"/>
              <a:t>The mental model is the user’s view of the system and the user experience that it provides. </a:t>
            </a:r>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Computer Model </a:t>
            </a:r>
            <a:endParaRPr lang="en-US" altLang="zh-CN" sz="2000" b="1" dirty="0">
              <a:solidFill>
                <a:srgbClr val="515223"/>
              </a:solidFill>
              <a:latin typeface="Helvetica" pitchFamily="2" charset="0"/>
              <a:cs typeface="Arial" panose="020B0604020202090204" pitchFamily="34" charset="0"/>
            </a:endParaRPr>
          </a:p>
          <a:p>
            <a:r>
              <a:rPr lang="en-US" altLang="zh-CN" sz="2000" dirty="0"/>
              <a:t>The computer model is the functions, data, content, etc. provided by the system.</a:t>
            </a:r>
            <a:endParaRPr lang="en-US" altLang="zh-CN" sz="2000" dirty="0"/>
          </a:p>
        </p:txBody>
      </p:sp>
      <p:pic>
        <p:nvPicPr>
          <p:cNvPr id="5" name="图片 4"/>
          <p:cNvPicPr>
            <a:picLocks noChangeAspect="1"/>
          </p:cNvPicPr>
          <p:nvPr/>
        </p:nvPicPr>
        <p:blipFill>
          <a:blip r:embed="rId1"/>
          <a:stretch>
            <a:fillRect/>
          </a:stretch>
        </p:blipFill>
        <p:spPr>
          <a:xfrm>
            <a:off x="864771" y="1527718"/>
            <a:ext cx="2278577" cy="2126164"/>
          </a:xfrm>
          <a:prstGeom prst="rect">
            <a:avLst/>
          </a:prstGeom>
        </p:spPr>
      </p:pic>
      <p:pic>
        <p:nvPicPr>
          <p:cNvPr id="6" name="图片 5"/>
          <p:cNvPicPr>
            <a:picLocks noChangeAspect="1"/>
          </p:cNvPicPr>
          <p:nvPr/>
        </p:nvPicPr>
        <p:blipFill>
          <a:blip r:embed="rId2"/>
          <a:stretch>
            <a:fillRect/>
          </a:stretch>
        </p:blipFill>
        <p:spPr>
          <a:xfrm>
            <a:off x="864771" y="4053841"/>
            <a:ext cx="2217612" cy="21261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438486" cy="790865"/>
          </a:xfrm>
        </p:spPr>
        <p:txBody>
          <a:bodyPr>
            <a:normAutofit/>
          </a:bodyPr>
          <a:lstStyle/>
          <a:p>
            <a:r>
              <a:rPr lang="en-US" altLang="zh-CN" dirty="0"/>
              <a:t>The Model View Controller</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622738" y="1484322"/>
            <a:ext cx="10946524" cy="1323439"/>
          </a:xfrm>
          <a:prstGeom prst="rect">
            <a:avLst/>
          </a:prstGeom>
          <a:noFill/>
        </p:spPr>
        <p:txBody>
          <a:bodyPr wrap="square">
            <a:spAutoFit/>
          </a:bodyPr>
          <a:lstStyle/>
          <a:p>
            <a:r>
              <a:rPr lang="en-US" altLang="zh-CN" sz="2000" dirty="0"/>
              <a:t>The </a:t>
            </a:r>
            <a:r>
              <a:rPr lang="en-US" altLang="zh-CN" sz="2000" b="1" dirty="0">
                <a:solidFill>
                  <a:srgbClr val="FF0000"/>
                </a:solidFill>
              </a:rPr>
              <a:t>Model View Controller (MVC) </a:t>
            </a:r>
            <a:r>
              <a:rPr lang="en-US" altLang="zh-CN" sz="2000" dirty="0"/>
              <a:t>is a computer model with layers that correspond to the layers of the mental model. </a:t>
            </a:r>
            <a:endParaRPr lang="en-US" altLang="zh-CN" sz="2000" dirty="0"/>
          </a:p>
          <a:p>
            <a:endParaRPr lang="en-US" altLang="zh-CN" sz="2000" dirty="0"/>
          </a:p>
          <a:p>
            <a:r>
              <a:rPr lang="en-US" altLang="zh-CN" sz="2000" dirty="0"/>
              <a:t>It is a very widely used model for interactive systems.</a:t>
            </a:r>
            <a:endParaRPr lang="en-US" sz="2000" b="1" dirty="0">
              <a:solidFill>
                <a:srgbClr val="FF0000"/>
              </a:solidFill>
              <a:latin typeface="Helvetica" pitchFamily="2" charset="0"/>
              <a:cs typeface="Arial" panose="020B0604020202090204" pitchFamily="34" charset="0"/>
            </a:endParaRPr>
          </a:p>
        </p:txBody>
      </p:sp>
      <p:pic>
        <p:nvPicPr>
          <p:cNvPr id="4" name="图片 3"/>
          <p:cNvPicPr>
            <a:picLocks noChangeAspect="1"/>
          </p:cNvPicPr>
          <p:nvPr/>
        </p:nvPicPr>
        <p:blipFill>
          <a:blip r:embed="rId1"/>
          <a:stretch>
            <a:fillRect/>
          </a:stretch>
        </p:blipFill>
        <p:spPr>
          <a:xfrm>
            <a:off x="408931" y="3117664"/>
            <a:ext cx="11374138" cy="243731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7351" y="233626"/>
            <a:ext cx="10427646" cy="790865"/>
          </a:xfrm>
        </p:spPr>
        <p:txBody>
          <a:bodyPr>
            <a:normAutofit/>
          </a:bodyPr>
          <a:lstStyle/>
          <a:p>
            <a:r>
              <a:rPr lang="en-US" altLang="zh-CN" dirty="0"/>
              <a:t>Requirements Steps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图片 4"/>
          <p:cNvPicPr>
            <a:picLocks noChangeAspect="1"/>
          </p:cNvPicPr>
          <p:nvPr/>
        </p:nvPicPr>
        <p:blipFill>
          <a:blip r:embed="rId1"/>
          <a:stretch>
            <a:fillRect/>
          </a:stretch>
        </p:blipFill>
        <p:spPr>
          <a:xfrm>
            <a:off x="1645439" y="1128622"/>
            <a:ext cx="8901121" cy="489510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Requirement Goals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356887"/>
            <a:ext cx="10946524" cy="3785652"/>
          </a:xfrm>
          <a:prstGeom prst="rect">
            <a:avLst/>
          </a:prstGeom>
          <a:noFill/>
        </p:spPr>
        <p:txBody>
          <a:bodyPr wrap="square">
            <a:spAutoFit/>
          </a:bodyPr>
          <a:lstStyle/>
          <a:p>
            <a:r>
              <a:rPr lang="en-US" altLang="zh-CN" sz="2000" b="1" dirty="0">
                <a:solidFill>
                  <a:srgbClr val="FF0000"/>
                </a:solidFill>
              </a:rPr>
              <a:t>Understand</a:t>
            </a:r>
            <a:r>
              <a:rPr lang="en-US" altLang="zh-CN" sz="2000" dirty="0"/>
              <a:t> the requirements </a:t>
            </a:r>
            <a:r>
              <a:rPr lang="en-US" altLang="zh-CN" sz="2000" b="1" dirty="0">
                <a:solidFill>
                  <a:srgbClr val="FF0000"/>
                </a:solidFill>
              </a:rPr>
              <a:t>in appropriate detail</a:t>
            </a:r>
            <a:r>
              <a:rPr lang="en-US" altLang="zh-CN" sz="2000" dirty="0"/>
              <a:t>.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FF0000"/>
                </a:solidFill>
              </a:rPr>
              <a:t>Ensure</a:t>
            </a:r>
            <a:r>
              <a:rPr lang="en-US" altLang="zh-CN" sz="2000" dirty="0"/>
              <a:t> that the </a:t>
            </a:r>
            <a:r>
              <a:rPr lang="en-US" altLang="zh-CN" sz="2000" b="1" dirty="0">
                <a:solidFill>
                  <a:srgbClr val="FF0000"/>
                </a:solidFill>
              </a:rPr>
              <a:t>client and developers understand </a:t>
            </a:r>
            <a:r>
              <a:rPr lang="en-US" altLang="zh-CN" sz="2000" dirty="0"/>
              <a:t>the requirements and their </a:t>
            </a:r>
            <a:r>
              <a:rPr lang="en-US" altLang="zh-CN" sz="2000" b="1" dirty="0">
                <a:solidFill>
                  <a:srgbClr val="FF0000"/>
                </a:solidFill>
              </a:rPr>
              <a:t>implications</a:t>
            </a:r>
            <a:r>
              <a:rPr lang="en-US" altLang="zh-CN" sz="2000" dirty="0"/>
              <a:t>.</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FF0000"/>
                </a:solidFill>
              </a:rPr>
              <a:t>Define</a:t>
            </a:r>
            <a:r>
              <a:rPr lang="en-US" altLang="zh-CN" sz="2000" dirty="0"/>
              <a:t> the requirements in a manner that is </a:t>
            </a:r>
            <a:r>
              <a:rPr lang="en-US" altLang="zh-CN" sz="2000" b="1" dirty="0">
                <a:solidFill>
                  <a:srgbClr val="FF0000"/>
                </a:solidFill>
              </a:rPr>
              <a:t>clear to the client</a:t>
            </a:r>
            <a:r>
              <a:rPr lang="en-US" altLang="zh-CN" sz="2000" dirty="0"/>
              <a:t>. This may be a written specification, prototype system, or other form of communication.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FF0000"/>
                </a:solidFill>
              </a:rPr>
              <a:t>Define</a:t>
            </a:r>
            <a:r>
              <a:rPr lang="en-US" altLang="zh-CN" sz="2000" dirty="0"/>
              <a:t> the requirements in a manner that is </a:t>
            </a:r>
            <a:r>
              <a:rPr lang="en-US" altLang="zh-CN" sz="2000" b="1" dirty="0">
                <a:solidFill>
                  <a:srgbClr val="FF0000"/>
                </a:solidFill>
              </a:rPr>
              <a:t>clear to the people </a:t>
            </a:r>
            <a:r>
              <a:rPr lang="en-US" altLang="zh-CN" sz="2000" dirty="0"/>
              <a:t>who will </a:t>
            </a:r>
            <a:r>
              <a:rPr lang="en-US" altLang="zh-CN" sz="2000" b="1" dirty="0">
                <a:solidFill>
                  <a:srgbClr val="FF0000"/>
                </a:solidFill>
              </a:rPr>
              <a:t>design, implement, and maintain the system.</a:t>
            </a:r>
            <a:endParaRPr lang="en-US" altLang="zh-CN" sz="2000" b="1" dirty="0">
              <a:solidFill>
                <a:srgbClr val="FF0000"/>
              </a:solidFill>
            </a:endParaRPr>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"Our understanding of your requirements is that ...”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Non-Functional Requirements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6" y="1690062"/>
            <a:ext cx="1094652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Requirements that are not directly related to the functions that the system must perform</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Product requirements </a:t>
            </a:r>
            <a:r>
              <a:rPr lang="en-US" altLang="zh-CN" sz="2000" dirty="0"/>
              <a:t>performance, reliability, portability, etc...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Organizational requirements </a:t>
            </a:r>
            <a:r>
              <a:rPr lang="en-US" altLang="zh-CN" sz="2000" dirty="0"/>
              <a:t>delivery, training, standards, etc...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External requirements </a:t>
            </a:r>
            <a:r>
              <a:rPr lang="en-US" altLang="zh-CN" sz="2000" dirty="0"/>
              <a:t>legal, interoperability, etc...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Marketing and public relations </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Requirements vs. System Design</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4013"/>
            <a:ext cx="11163995"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Technical decisions</a:t>
            </a:r>
            <a:endParaRPr lang="en-US" altLang="zh-CN" sz="2000" b="1" dirty="0">
              <a:solidFill>
                <a:srgbClr val="515223"/>
              </a:solidFill>
              <a:latin typeface="Helvetica" pitchFamily="2" charset="0"/>
              <a:cs typeface="Arial" panose="020B0604020202090204" pitchFamily="34" charset="0"/>
            </a:endParaRPr>
          </a:p>
          <a:p>
            <a:r>
              <a:rPr lang="en-US" altLang="zh-CN" sz="2000" dirty="0"/>
              <a:t>	Requirements analysis should make minimal assumptions about the system design.</a:t>
            </a:r>
            <a:endParaRPr lang="en-US" altLang="zh-CN" sz="2000" dirty="0"/>
          </a:p>
          <a:p>
            <a:r>
              <a:rPr lang="en-US" altLang="zh-CN" sz="2000" dirty="0"/>
              <a:t>	But the requirements definition must be consistent with computing technology and the 	resources available.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In practice, analysis and design are interwoven. However: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1. Do not allow assumptions about the design to influence the requirements analysis. </a:t>
            </a:r>
            <a:endParaRPr lang="en-US" altLang="zh-CN" sz="2000" dirty="0"/>
          </a:p>
          <a:p>
            <a:pPr lvl="1"/>
            <a:r>
              <a:rPr lang="en-US" altLang="zh-CN" sz="2000" dirty="0"/>
              <a:t>2. Do not to allow the requirements analysis to prejudge the system design.</a:t>
            </a:r>
            <a:endParaRPr lang="en-US" altLang="zh-CN"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Scenario</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4013"/>
            <a:ext cx="11163995"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Scenario </a:t>
            </a:r>
            <a:endParaRPr lang="en-US" altLang="zh-CN" sz="2000" b="1" dirty="0">
              <a:solidFill>
                <a:srgbClr val="515223"/>
              </a:solidFill>
              <a:latin typeface="Helvetica" pitchFamily="2" charset="0"/>
              <a:cs typeface="Arial" panose="020B0604020202090204" pitchFamily="34" charset="0"/>
            </a:endParaRPr>
          </a:p>
          <a:p>
            <a:r>
              <a:rPr lang="en-US" altLang="zh-CN" sz="2000" dirty="0"/>
              <a:t>	A </a:t>
            </a:r>
            <a:r>
              <a:rPr lang="en-US" altLang="zh-CN" sz="2000" b="1" dirty="0">
                <a:solidFill>
                  <a:srgbClr val="FF0000"/>
                </a:solidFill>
              </a:rPr>
              <a:t>scenario</a:t>
            </a:r>
            <a:r>
              <a:rPr lang="en-US" altLang="zh-CN" sz="2000" dirty="0"/>
              <a:t> is a </a:t>
            </a:r>
            <a:r>
              <a:rPr lang="en-US" altLang="zh-CN" sz="2000" b="1" dirty="0">
                <a:solidFill>
                  <a:srgbClr val="FF0000"/>
                </a:solidFill>
              </a:rPr>
              <a:t>scene</a:t>
            </a:r>
            <a:r>
              <a:rPr lang="en-US" altLang="zh-CN" sz="2000" dirty="0"/>
              <a:t> that illustrates some interaction with a proposed system. </a:t>
            </a:r>
            <a:endParaRPr lang="en-US" altLang="zh-CN" sz="2000" dirty="0"/>
          </a:p>
          <a:p>
            <a:r>
              <a:rPr lang="en-US" altLang="zh-CN" sz="2000" dirty="0"/>
              <a:t>	A </a:t>
            </a:r>
            <a:r>
              <a:rPr lang="en-US" altLang="zh-CN" sz="2000" b="1" dirty="0">
                <a:solidFill>
                  <a:srgbClr val="FF0000"/>
                </a:solidFill>
              </a:rPr>
              <a:t>scenario</a:t>
            </a:r>
            <a:r>
              <a:rPr lang="en-US" altLang="zh-CN" sz="2000" dirty="0"/>
              <a:t> is a tool used during requirements analysis to describe a specific use of a 	proposed system. Scenarios capture the system, as viewed from the outside, e.g., by a 	user, using specific examples.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Note on terminology </a:t>
            </a:r>
            <a:endParaRPr lang="en-US" altLang="zh-CN" sz="2000" b="1" dirty="0">
              <a:solidFill>
                <a:srgbClr val="515223"/>
              </a:solidFill>
              <a:latin typeface="Helvetica" pitchFamily="2" charset="0"/>
              <a:cs typeface="Arial" panose="020B0604020202090204" pitchFamily="34" charset="0"/>
            </a:endParaRPr>
          </a:p>
          <a:p>
            <a:r>
              <a:rPr lang="en-US" altLang="zh-CN" sz="2000" dirty="0"/>
              <a:t>	Some authors restrict the word "scenario" to refer to a user's total interaction with the 	system. </a:t>
            </a:r>
            <a:endParaRPr lang="en-US" altLang="zh-CN" sz="2000" dirty="0"/>
          </a:p>
          <a:p>
            <a:r>
              <a:rPr lang="en-US" altLang="zh-CN" sz="2000" dirty="0"/>
              <a:t>	Other authors use the word "scenario" to refer to parts of the interaction. </a:t>
            </a:r>
            <a:endParaRPr lang="en-US" altLang="zh-CN" sz="2000" dirty="0"/>
          </a:p>
          <a:p>
            <a:r>
              <a:rPr lang="en-US" altLang="zh-CN" sz="2000" dirty="0"/>
              <a:t>	In this course, the term is used with both meanings. </a:t>
            </a:r>
            <a:endParaRPr lang="en-US" altLang="zh-CN"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Describing a Scenario</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4013"/>
            <a:ext cx="11163995"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Some organizations have complex documentation standards for describing a scenario.</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At the very least, the description should include: </a:t>
            </a:r>
            <a:endParaRPr lang="en-US" altLang="zh-CN" sz="2000" b="1" dirty="0">
              <a:solidFill>
                <a:srgbClr val="515223"/>
              </a:solidFill>
              <a:latin typeface="Helvetica" pitchFamily="2" charset="0"/>
              <a:cs typeface="Arial" panose="020B0604020202090204" pitchFamily="34" charset="0"/>
            </a:endParaRPr>
          </a:p>
          <a:p>
            <a:r>
              <a:rPr lang="en-US" altLang="zh-CN" sz="2000" dirty="0"/>
              <a:t>	A statement of the </a:t>
            </a:r>
            <a:r>
              <a:rPr lang="en-US" altLang="zh-CN" sz="2000" b="1" dirty="0">
                <a:solidFill>
                  <a:srgbClr val="FF0000"/>
                </a:solidFill>
              </a:rPr>
              <a:t>purpose</a:t>
            </a:r>
            <a:r>
              <a:rPr lang="en-US" altLang="zh-CN" sz="2000" dirty="0"/>
              <a:t> of the scenario</a:t>
            </a:r>
            <a:endParaRPr lang="en-US" altLang="zh-CN" sz="2000" dirty="0"/>
          </a:p>
          <a:p>
            <a:r>
              <a:rPr lang="en-US" altLang="zh-CN" sz="2000" dirty="0"/>
              <a:t>	Choose a </a:t>
            </a:r>
            <a:r>
              <a:rPr lang="en-US" altLang="zh-CN" sz="2000" b="1" dirty="0">
                <a:solidFill>
                  <a:srgbClr val="FF0000"/>
                </a:solidFill>
              </a:rPr>
              <a:t>viewpoint </a:t>
            </a:r>
            <a:endParaRPr lang="en-US" altLang="zh-CN" sz="2000" b="1" dirty="0">
              <a:solidFill>
                <a:srgbClr val="FF0000"/>
              </a:solidFill>
            </a:endParaRPr>
          </a:p>
          <a:p>
            <a:r>
              <a:rPr lang="en-US" altLang="zh-CN" sz="2000" dirty="0"/>
              <a:t>		The individual </a:t>
            </a:r>
            <a:r>
              <a:rPr lang="en-US" altLang="zh-CN" sz="2000" b="1" dirty="0">
                <a:solidFill>
                  <a:srgbClr val="FF0000"/>
                </a:solidFill>
              </a:rPr>
              <a:t>user</a:t>
            </a:r>
            <a:r>
              <a:rPr lang="en-US" altLang="zh-CN" sz="2000" dirty="0"/>
              <a:t> or </a:t>
            </a:r>
            <a:r>
              <a:rPr lang="en-US" altLang="zh-CN" sz="2000" b="1" dirty="0">
                <a:solidFill>
                  <a:srgbClr val="FF0000"/>
                </a:solidFill>
              </a:rPr>
              <a:t>transaction</a:t>
            </a:r>
            <a:r>
              <a:rPr lang="en-US" altLang="zh-CN" sz="2000" dirty="0"/>
              <a:t> that is being followed through the scenario 	Assumptions about </a:t>
            </a:r>
            <a:r>
              <a:rPr lang="en-US" altLang="zh-CN" sz="2000" b="1" dirty="0">
                <a:solidFill>
                  <a:srgbClr val="FF0000"/>
                </a:solidFill>
              </a:rPr>
              <a:t>equipment</a:t>
            </a:r>
            <a:r>
              <a:rPr lang="en-US" altLang="zh-CN" sz="2000" dirty="0"/>
              <a:t> or software</a:t>
            </a:r>
            <a:endParaRPr lang="en-US" altLang="zh-CN" sz="2000" dirty="0"/>
          </a:p>
          <a:p>
            <a:r>
              <a:rPr lang="en-US" altLang="zh-CN" sz="2000" dirty="0"/>
              <a:t>	The </a:t>
            </a:r>
            <a:r>
              <a:rPr lang="en-US" altLang="zh-CN" sz="2000" b="1" dirty="0">
                <a:solidFill>
                  <a:srgbClr val="FF0000"/>
                </a:solidFill>
              </a:rPr>
              <a:t>steps</a:t>
            </a:r>
            <a:r>
              <a:rPr lang="en-US" altLang="zh-CN" sz="2000" dirty="0"/>
              <a:t> of the scenario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In Agile development, a scenario is described as a user story</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Requirement Modeling</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689853"/>
            <a:ext cx="11163995" cy="3785652"/>
          </a:xfrm>
          <a:prstGeom prst="rect">
            <a:avLst/>
          </a:prstGeom>
          <a:noFill/>
        </p:spPr>
        <p:txBody>
          <a:bodyPr wrap="square">
            <a:spAutoFit/>
          </a:bodyPr>
          <a:lstStyle/>
          <a:p>
            <a:r>
              <a:rPr lang="en-US" altLang="zh-CN" sz="2000" b="1" dirty="0">
                <a:solidFill>
                  <a:srgbClr val="FF0000"/>
                </a:solidFill>
              </a:rPr>
              <a:t>Models </a:t>
            </a:r>
            <a:endParaRPr lang="en-US" altLang="zh-CN" sz="2000" b="1" dirty="0">
              <a:solidFill>
                <a:srgbClr val="FF0000"/>
              </a:solidFill>
            </a:endParaRPr>
          </a:p>
          <a:p>
            <a:endParaRPr lang="en-US" altLang="zh-CN" sz="2000" b="1" dirty="0">
              <a:solidFill>
                <a:srgbClr val="FF0000"/>
              </a:solidFill>
            </a:endParaRPr>
          </a:p>
          <a:p>
            <a:r>
              <a:rPr lang="en-US" altLang="zh-CN" sz="2000" b="1" dirty="0">
                <a:solidFill>
                  <a:srgbClr val="FF0000"/>
                </a:solidFill>
              </a:rPr>
              <a:t>Scenarios</a:t>
            </a:r>
            <a:r>
              <a:rPr lang="en-US" altLang="zh-CN" sz="2000" dirty="0"/>
              <a:t> are useful in discussing a proposed system with a client, but requirements need to be made more precise before a system is fully understood.</a:t>
            </a:r>
            <a:endParaRPr lang="en-US" altLang="zh-CN" sz="2000" dirty="0"/>
          </a:p>
          <a:p>
            <a:endParaRPr lang="en-US" altLang="zh-CN" sz="2000" dirty="0"/>
          </a:p>
          <a:p>
            <a:r>
              <a:rPr lang="en-US" altLang="zh-CN" sz="2000" dirty="0"/>
              <a:t>This is the purpose of requirements </a:t>
            </a:r>
            <a:r>
              <a:rPr lang="en-US" altLang="zh-CN" sz="2000" b="1" dirty="0">
                <a:solidFill>
                  <a:srgbClr val="FF0000"/>
                </a:solidFill>
              </a:rPr>
              <a:t>modeling</a:t>
            </a:r>
            <a:r>
              <a:rPr lang="en-US" altLang="zh-CN" sz="2000" dirty="0"/>
              <a:t>.</a:t>
            </a:r>
            <a:endParaRPr lang="en-US" altLang="zh-CN" sz="2000" dirty="0"/>
          </a:p>
          <a:p>
            <a:r>
              <a:rPr lang="en-US" altLang="zh-CN" sz="2000" dirty="0"/>
              <a:t> </a:t>
            </a:r>
            <a:endParaRPr lang="en-US" altLang="zh-CN" sz="2000" dirty="0"/>
          </a:p>
          <a:p>
            <a:r>
              <a:rPr lang="en-US" altLang="zh-CN" sz="2000" dirty="0"/>
              <a:t>A </a:t>
            </a:r>
            <a:r>
              <a:rPr lang="en-US" altLang="zh-CN" sz="2000" b="1" dirty="0">
                <a:solidFill>
                  <a:srgbClr val="FF0000"/>
                </a:solidFill>
              </a:rPr>
              <a:t>use case </a:t>
            </a:r>
            <a:r>
              <a:rPr lang="en-US" altLang="zh-CN" sz="2000" dirty="0"/>
              <a:t>provides such a model. </a:t>
            </a:r>
            <a:endParaRPr lang="en-US" altLang="zh-CN" sz="2000" dirty="0"/>
          </a:p>
          <a:p>
            <a:endParaRPr lang="en-US" altLang="zh-CN" sz="2000" dirty="0"/>
          </a:p>
          <a:p>
            <a:endParaRPr lang="en-US" altLang="zh-CN" sz="2000" dirty="0"/>
          </a:p>
          <a:p>
            <a:endParaRPr lang="en-US" altLang="zh-CN" sz="2000" dirty="0"/>
          </a:p>
          <a:p>
            <a:endParaRPr lang="en-US" altLang="zh-CN"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Use Case Diagrams</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Use case diagrams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A use case diagram shows the </a:t>
            </a:r>
            <a:r>
              <a:rPr lang="en-US" altLang="zh-CN" sz="2000" b="1" dirty="0">
                <a:solidFill>
                  <a:srgbClr val="FF0000"/>
                </a:solidFill>
              </a:rPr>
              <a:t>relationships</a:t>
            </a:r>
            <a:r>
              <a:rPr lang="en-US" altLang="zh-CN" sz="2000" dirty="0"/>
              <a:t> between actors and their interactions with a system. </a:t>
            </a:r>
            <a:endParaRPr lang="en-US" altLang="zh-CN" sz="2000" dirty="0"/>
          </a:p>
          <a:p>
            <a:pPr lvl="1"/>
            <a:endParaRPr lang="en-US" altLang="zh-CN" sz="2000" dirty="0"/>
          </a:p>
          <a:p>
            <a:pPr lvl="1"/>
            <a:r>
              <a:rPr lang="en-US" altLang="zh-CN" sz="2000" dirty="0"/>
              <a:t>It does not show the </a:t>
            </a:r>
            <a:r>
              <a:rPr lang="en-US" altLang="zh-CN" sz="2000" b="1" dirty="0">
                <a:solidFill>
                  <a:srgbClr val="FF0000"/>
                </a:solidFill>
              </a:rPr>
              <a:t>logic</a:t>
            </a:r>
            <a:r>
              <a:rPr lang="en-US" altLang="zh-CN" sz="2000" dirty="0"/>
              <a:t> of those interactions</a:t>
            </a:r>
            <a:endParaRPr lang="en-US" altLang="zh-CN"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883325" cy="790865"/>
          </a:xfrm>
        </p:spPr>
        <p:txBody>
          <a:bodyPr>
            <a:noAutofit/>
          </a:bodyPr>
          <a:lstStyle/>
          <a:p>
            <a:r>
              <a:rPr lang="en-US" altLang="zh-CN" dirty="0"/>
              <a:t>UML Models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493549" y="1886302"/>
            <a:ext cx="10946524"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Models used mainly for requirements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Use case diagram </a:t>
            </a:r>
            <a:r>
              <a:rPr lang="en-US" altLang="zh-CN" sz="2000" dirty="0"/>
              <a:t>shows a set of use cases and actors, and their relationships.</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Models used mainly for systems architecture</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Component diagram </a:t>
            </a:r>
            <a:r>
              <a:rPr lang="en-US" altLang="zh-CN" sz="2000" dirty="0"/>
              <a:t>shows the organization and dependencies among a set of components.</a:t>
            </a: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Deployment diagram </a:t>
            </a:r>
            <a:r>
              <a:rPr lang="en-US" altLang="zh-CN" sz="2000" dirty="0"/>
              <a:t>shows the configuration of processing nodes and the components that live on them.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Models used mainly for program design</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Class diagram</a:t>
            </a:r>
            <a:r>
              <a:rPr lang="en-US" altLang="zh-CN" sz="2000" dirty="0"/>
              <a:t> shows a set of classes, interfaces, and collaborations with their relationships.</a:t>
            </a: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Object diagram </a:t>
            </a:r>
            <a:r>
              <a:rPr lang="en-US" altLang="zh-CN" sz="2000" dirty="0"/>
              <a:t>or </a:t>
            </a:r>
            <a:r>
              <a:rPr lang="en-US" altLang="zh-CN" sz="2000" dirty="0">
                <a:solidFill>
                  <a:srgbClr val="FF0000"/>
                </a:solidFill>
              </a:rPr>
              <a:t>sequence diagram </a:t>
            </a:r>
            <a:r>
              <a:rPr lang="en-US" altLang="zh-CN" sz="2000" dirty="0"/>
              <a:t>show a set of objects and their relationships.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Models: Diagrams and Specification in UML</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In UML, a </a:t>
            </a:r>
            <a:r>
              <a:rPr lang="en-US" altLang="zh-CN" sz="2000" b="1" dirty="0">
                <a:solidFill>
                  <a:srgbClr val="FF0000"/>
                </a:solidFill>
                <a:latin typeface="Helvetica" pitchFamily="2" charset="0"/>
                <a:cs typeface="Arial" panose="020B0604020202090204" pitchFamily="34" charset="0"/>
              </a:rPr>
              <a:t>model</a:t>
            </a:r>
            <a:r>
              <a:rPr lang="en-US" altLang="zh-CN" sz="2000" b="1" dirty="0">
                <a:solidFill>
                  <a:srgbClr val="515223"/>
                </a:solidFill>
                <a:latin typeface="Helvetica" pitchFamily="2" charset="0"/>
                <a:cs typeface="Arial" panose="020B0604020202090204" pitchFamily="34" charset="0"/>
              </a:rPr>
              <a:t> consists of a </a:t>
            </a:r>
            <a:r>
              <a:rPr lang="en-US" altLang="zh-CN" sz="2000" b="1" dirty="0">
                <a:solidFill>
                  <a:srgbClr val="FF0000"/>
                </a:solidFill>
                <a:latin typeface="Helvetica" pitchFamily="2" charset="0"/>
                <a:cs typeface="Arial" panose="020B0604020202090204" pitchFamily="34" charset="0"/>
              </a:rPr>
              <a:t>diagram</a:t>
            </a:r>
            <a:r>
              <a:rPr lang="en-US" altLang="zh-CN" sz="2000" b="1" dirty="0">
                <a:solidFill>
                  <a:srgbClr val="515223"/>
                </a:solidFill>
                <a:latin typeface="Helvetica" pitchFamily="2" charset="0"/>
                <a:cs typeface="Arial" panose="020B0604020202090204" pitchFamily="34" charset="0"/>
              </a:rPr>
              <a:t> and a </a:t>
            </a:r>
            <a:r>
              <a:rPr lang="en-US" altLang="zh-CN" sz="2000" b="1" dirty="0">
                <a:solidFill>
                  <a:srgbClr val="FF0000"/>
                </a:solidFill>
                <a:latin typeface="Helvetica" pitchFamily="2" charset="0"/>
                <a:cs typeface="Arial" panose="020B0604020202090204" pitchFamily="34" charset="0"/>
              </a:rPr>
              <a:t>specification</a:t>
            </a:r>
            <a:r>
              <a:rPr lang="en-US" altLang="zh-CN" sz="2000" b="1" dirty="0">
                <a:solidFill>
                  <a:srgbClr val="515223"/>
                </a:solidFill>
                <a:latin typeface="Helvetica" pitchFamily="2" charset="0"/>
                <a:cs typeface="Arial" panose="020B0604020202090204" pitchFamily="34" charset="0"/>
              </a:rPr>
              <a:t>.</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A </a:t>
            </a:r>
            <a:r>
              <a:rPr lang="en-US" altLang="zh-CN" sz="2000" b="1" dirty="0">
                <a:solidFill>
                  <a:srgbClr val="FF0000"/>
                </a:solidFill>
              </a:rPr>
              <a:t>diagram</a:t>
            </a:r>
            <a:r>
              <a:rPr lang="en-US" altLang="zh-CN" sz="2000" dirty="0"/>
              <a:t> is the graphical representation of a set of elements, usually rendered as a connected graph of vertices (things) and arcs (relationships).</a:t>
            </a:r>
            <a:endParaRPr lang="en-US" altLang="zh-CN" sz="2000" dirty="0"/>
          </a:p>
          <a:p>
            <a:pPr lvl="1"/>
            <a:r>
              <a:rPr lang="en-US" altLang="zh-CN" sz="2000" dirty="0"/>
              <a:t>Each diagram is supported by technical </a:t>
            </a:r>
            <a:r>
              <a:rPr lang="en-US" altLang="zh-CN" sz="2000" b="1" dirty="0">
                <a:solidFill>
                  <a:srgbClr val="FF0000"/>
                </a:solidFill>
              </a:rPr>
              <a:t>documentation</a:t>
            </a:r>
            <a:r>
              <a:rPr lang="en-US" altLang="zh-CN" sz="2000" dirty="0"/>
              <a:t> that </a:t>
            </a:r>
            <a:r>
              <a:rPr lang="en-US" altLang="zh-CN" sz="2000" b="1" dirty="0">
                <a:solidFill>
                  <a:srgbClr val="FF0000"/>
                </a:solidFill>
              </a:rPr>
              <a:t>specifies</a:t>
            </a:r>
            <a:r>
              <a:rPr lang="en-US" altLang="zh-CN" sz="2000" dirty="0"/>
              <a:t> in more detail the model represented by the diagram.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 diagram without a specification is of little use</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Actor and Use Case Diagram</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2256689" y="1204921"/>
            <a:ext cx="2293819" cy="2540724"/>
          </a:xfrm>
          <a:prstGeom prst="rect">
            <a:avLst/>
          </a:prstGeom>
        </p:spPr>
      </p:pic>
      <p:pic>
        <p:nvPicPr>
          <p:cNvPr id="5" name="图片 4"/>
          <p:cNvPicPr>
            <a:picLocks noChangeAspect="1"/>
          </p:cNvPicPr>
          <p:nvPr/>
        </p:nvPicPr>
        <p:blipFill>
          <a:blip r:embed="rId2"/>
          <a:stretch>
            <a:fillRect/>
          </a:stretch>
        </p:blipFill>
        <p:spPr>
          <a:xfrm>
            <a:off x="2190002" y="3656232"/>
            <a:ext cx="2427191" cy="2378808"/>
          </a:xfrm>
          <a:prstGeom prst="rect">
            <a:avLst/>
          </a:prstGeom>
        </p:spPr>
      </p:pic>
      <p:sp>
        <p:nvSpPr>
          <p:cNvPr id="6" name="TextBox 3"/>
          <p:cNvSpPr txBox="1"/>
          <p:nvPr/>
        </p:nvSpPr>
        <p:spPr>
          <a:xfrm>
            <a:off x="4947920" y="1834634"/>
            <a:ext cx="4744720" cy="1323439"/>
          </a:xfrm>
          <a:prstGeom prst="rect">
            <a:avLst/>
          </a:prstGeom>
          <a:noFill/>
        </p:spPr>
        <p:txBody>
          <a:bodyPr wrap="square">
            <a:spAutoFit/>
          </a:bodyPr>
          <a:lstStyle/>
          <a:p>
            <a:r>
              <a:rPr lang="en-US" altLang="zh-CN" sz="2000" dirty="0"/>
              <a:t>An </a:t>
            </a:r>
            <a:r>
              <a:rPr lang="en-US" altLang="zh-CN" sz="2000" b="1" dirty="0">
                <a:solidFill>
                  <a:srgbClr val="FF0000"/>
                </a:solidFill>
              </a:rPr>
              <a:t>actor</a:t>
            </a:r>
            <a:r>
              <a:rPr lang="en-US" altLang="zh-CN" sz="2000" dirty="0"/>
              <a:t> is a user of a system in a particular </a:t>
            </a:r>
            <a:r>
              <a:rPr lang="en-US" altLang="zh-CN" sz="2000" b="1" dirty="0">
                <a:solidFill>
                  <a:srgbClr val="FF0000"/>
                </a:solidFill>
              </a:rPr>
              <a:t>role</a:t>
            </a:r>
            <a:r>
              <a:rPr lang="en-US" altLang="zh-CN" sz="2000" dirty="0"/>
              <a:t>. </a:t>
            </a:r>
            <a:endParaRPr lang="en-US" altLang="zh-CN" sz="2000" dirty="0"/>
          </a:p>
          <a:p>
            <a:r>
              <a:rPr lang="en-US" altLang="zh-CN" sz="2000" dirty="0"/>
              <a:t>An actor can be human or an external system.</a:t>
            </a:r>
            <a:endParaRPr lang="en-US" altLang="zh-CN" sz="2000" dirty="0"/>
          </a:p>
        </p:txBody>
      </p:sp>
      <p:sp>
        <p:nvSpPr>
          <p:cNvPr id="7" name="TextBox 3"/>
          <p:cNvSpPr txBox="1"/>
          <p:nvPr/>
        </p:nvSpPr>
        <p:spPr>
          <a:xfrm>
            <a:off x="4947920" y="4459724"/>
            <a:ext cx="4744720" cy="707886"/>
          </a:xfrm>
          <a:prstGeom prst="rect">
            <a:avLst/>
          </a:prstGeom>
          <a:noFill/>
        </p:spPr>
        <p:txBody>
          <a:bodyPr wrap="square">
            <a:spAutoFit/>
          </a:bodyPr>
          <a:lstStyle/>
          <a:p>
            <a:r>
              <a:rPr lang="en-US" altLang="zh-CN" sz="2000" dirty="0"/>
              <a:t>A </a:t>
            </a:r>
            <a:r>
              <a:rPr lang="en-US" altLang="zh-CN" sz="2000" b="1" dirty="0">
                <a:solidFill>
                  <a:srgbClr val="FF0000"/>
                </a:solidFill>
              </a:rPr>
              <a:t>use case </a:t>
            </a:r>
            <a:r>
              <a:rPr lang="en-US" altLang="zh-CN" sz="2000" dirty="0"/>
              <a:t>is a task that an actor needs to perform with the help of the system.</a:t>
            </a:r>
            <a:endParaRPr lang="en-US" altLang="zh-CN"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53226" cy="790865"/>
          </a:xfrm>
        </p:spPr>
        <p:txBody>
          <a:bodyPr>
            <a:noAutofit/>
          </a:bodyPr>
          <a:lstStyle/>
          <a:p>
            <a:r>
              <a:rPr lang="en-US" altLang="zh-CN" sz="3000" dirty="0"/>
              <a:t>Relationships Between Use Cases: &lt;&lt;extend&gt;&gt;</a:t>
            </a:r>
            <a:endParaRPr lang="en-US" sz="3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506701" y="1589967"/>
            <a:ext cx="9178598" cy="367806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The &lt;&lt;extends&gt;&gt; Relationship</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689853"/>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The «extends» relationship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Uses cases can make use of other use cases </a:t>
            </a:r>
            <a:endParaRPr lang="en-US" altLang="zh-CN" sz="2000" dirty="0"/>
          </a:p>
          <a:p>
            <a:pPr lvl="1"/>
            <a:endParaRPr lang="en-US" altLang="zh-CN" sz="2000" dirty="0"/>
          </a:p>
          <a:p>
            <a:pPr lvl="1"/>
            <a:r>
              <a:rPr lang="en-US" altLang="zh-CN" sz="2000" dirty="0"/>
              <a:t>If an alternate flow or an exception needs extra detail, it can be modeled as a separate use case using the </a:t>
            </a:r>
            <a:r>
              <a:rPr lang="en-US" altLang="zh-CN" sz="2000" b="1" dirty="0">
                <a:solidFill>
                  <a:srgbClr val="FF0000"/>
                </a:solidFill>
              </a:rPr>
              <a:t>«extends»</a:t>
            </a:r>
            <a:r>
              <a:rPr lang="en-US" altLang="zh-CN" sz="2000" dirty="0"/>
              <a:t> relationship. </a:t>
            </a:r>
            <a:endParaRPr lang="en-US" altLang="zh-CN"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The &lt;&lt;includes&gt;&gt; Relationship</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89853"/>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The «includes» relationship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The </a:t>
            </a:r>
            <a:r>
              <a:rPr lang="en-US" altLang="zh-CN" sz="2000" b="1" dirty="0">
                <a:solidFill>
                  <a:srgbClr val="FF0000"/>
                </a:solidFill>
              </a:rPr>
              <a:t>«includes» </a:t>
            </a:r>
            <a:r>
              <a:rPr lang="en-US" altLang="zh-CN" sz="2000" dirty="0"/>
              <a:t>relationship allows a use case to include the steps from another use case.</a:t>
            </a:r>
            <a:endParaRPr lang="en-US" altLang="zh-CN" sz="2000" dirty="0"/>
          </a:p>
          <a:p>
            <a:pPr lvl="1"/>
            <a:endParaRPr lang="en-US" altLang="zh-CN" sz="2000" dirty="0"/>
          </a:p>
          <a:p>
            <a:pPr lvl="1"/>
            <a:r>
              <a:rPr lang="en-US" altLang="zh-CN" sz="2000" dirty="0"/>
              <a:t>This is valuable when the included use case occurs in other contexts. It is often developed independently.</a:t>
            </a:r>
            <a:endParaRPr lang="en-US" altLang="zh-CN"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000" dirty="0"/>
              <a:t>Relationships Between Use Cases: &lt;&lt;includes&gt;&gt;</a:t>
            </a:r>
            <a:endParaRPr lang="en-US" sz="3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157066" y="1453516"/>
            <a:ext cx="9877868" cy="2841096"/>
          </a:xfrm>
          <a:prstGeom prst="rect">
            <a:avLst/>
          </a:prstGeom>
        </p:spPr>
      </p:pic>
      <p:sp>
        <p:nvSpPr>
          <p:cNvPr id="5" name="TextBox 3"/>
          <p:cNvSpPr txBox="1"/>
          <p:nvPr/>
        </p:nvSpPr>
        <p:spPr>
          <a:xfrm>
            <a:off x="6496374" y="4617594"/>
            <a:ext cx="4029386" cy="707886"/>
          </a:xfrm>
          <a:prstGeom prst="rect">
            <a:avLst/>
          </a:prstGeom>
          <a:noFill/>
        </p:spPr>
        <p:txBody>
          <a:bodyPr wrap="square">
            <a:spAutoFit/>
          </a:bodyPr>
          <a:lstStyle/>
          <a:p>
            <a:r>
              <a:rPr lang="en-US" altLang="zh-CN" sz="2000" dirty="0"/>
              <a:t>The Authenticate use case may be used in other contexts. </a:t>
            </a:r>
            <a:endParaRPr lang="en-US" altLang="zh-CN"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Use Cases with Several Actors</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2530950" y="1178130"/>
            <a:ext cx="7130100" cy="431481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Data-Flow Models</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14002" y="1435853"/>
            <a:ext cx="11163995" cy="400110"/>
          </a:xfrm>
          <a:prstGeom prst="rect">
            <a:avLst/>
          </a:prstGeom>
          <a:noFill/>
        </p:spPr>
        <p:txBody>
          <a:bodyPr wrap="square">
            <a:spAutoFit/>
          </a:bodyPr>
          <a:lstStyle/>
          <a:p>
            <a:r>
              <a:rPr lang="en-US" altLang="zh-CN" sz="2000" dirty="0"/>
              <a:t>An informal modeling technique to show the flow of data through a system.</a:t>
            </a:r>
            <a:endParaRPr lang="en-US" altLang="zh-CN" sz="2000" dirty="0"/>
          </a:p>
        </p:txBody>
      </p:sp>
      <p:pic>
        <p:nvPicPr>
          <p:cNvPr id="4" name="图片 3"/>
          <p:cNvPicPr>
            <a:picLocks noChangeAspect="1"/>
          </p:cNvPicPr>
          <p:nvPr/>
        </p:nvPicPr>
        <p:blipFill>
          <a:blip r:embed="rId1"/>
          <a:stretch>
            <a:fillRect/>
          </a:stretch>
        </p:blipFill>
        <p:spPr>
          <a:xfrm>
            <a:off x="3784599" y="2112393"/>
            <a:ext cx="4622800" cy="3728439"/>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t>Data-Flow Model </a:t>
            </a:r>
            <a:br>
              <a:rPr lang="en-US" altLang="zh-CN" sz="3200" dirty="0"/>
            </a:br>
            <a:r>
              <a:rPr lang="en-US" altLang="zh-CN" sz="3200" dirty="0"/>
              <a:t>Example: University Admissions (first attempt)</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1424809" y="1349168"/>
            <a:ext cx="9342381" cy="4159664"/>
          </a:xfrm>
          <a:prstGeom prst="rect">
            <a:avLst/>
          </a:prstGeom>
        </p:spPr>
      </p:pic>
      <p:sp>
        <p:nvSpPr>
          <p:cNvPr id="4" name="Rectangle 3"/>
          <p:cNvSpPr/>
          <p:nvPr/>
        </p:nvSpPr>
        <p:spPr>
          <a:xfrm>
            <a:off x="1719470" y="3985591"/>
            <a:ext cx="4502426" cy="15232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Any Problems?</a:t>
            </a:r>
            <a:endParaRPr lang="en-US" dirty="0">
              <a:solidFill>
                <a:schemeClr val="tx1"/>
              </a:solidFill>
            </a:endParaRPr>
          </a:p>
        </p:txBody>
      </p:sp>
      <p:pic>
        <p:nvPicPr>
          <p:cNvPr id="5" name="图片 3"/>
          <p:cNvPicPr>
            <a:picLocks noChangeAspect="1"/>
          </p:cNvPicPr>
          <p:nvPr/>
        </p:nvPicPr>
        <p:blipFill>
          <a:blip r:embed="rId2"/>
          <a:stretch>
            <a:fillRect/>
          </a:stretch>
        </p:blipFill>
        <p:spPr>
          <a:xfrm>
            <a:off x="97753" y="4513601"/>
            <a:ext cx="2177034" cy="1755849"/>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t>Data-Flow Model </a:t>
            </a:r>
            <a:br>
              <a:rPr lang="en-US" altLang="zh-CN" sz="3200" dirty="0"/>
            </a:br>
            <a:r>
              <a:rPr lang="en-US" altLang="zh-CN" sz="3200" dirty="0"/>
              <a:t>Example: University Admissions (first attempt)</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图片 5"/>
          <p:cNvPicPr>
            <a:picLocks noChangeAspect="1"/>
          </p:cNvPicPr>
          <p:nvPr/>
        </p:nvPicPr>
        <p:blipFill>
          <a:blip r:embed="rId1"/>
          <a:stretch>
            <a:fillRect/>
          </a:stretch>
        </p:blipFill>
        <p:spPr>
          <a:xfrm>
            <a:off x="1424809" y="1349168"/>
            <a:ext cx="9342381" cy="41596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t>Data-Flow Model </a:t>
            </a:r>
            <a:br>
              <a:rPr lang="en-US" altLang="zh-CN" sz="3200" dirty="0"/>
            </a:br>
            <a:r>
              <a:rPr lang="en-US" altLang="zh-CN" sz="3200" dirty="0"/>
              <a:t>Example: Assemble Application</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404356" y="1306410"/>
            <a:ext cx="9383288" cy="4474630"/>
          </a:xfrm>
          <a:prstGeom prst="rect">
            <a:avLst/>
          </a:prstGeom>
        </p:spPr>
      </p:pic>
      <p:pic>
        <p:nvPicPr>
          <p:cNvPr id="5" name="图片 3"/>
          <p:cNvPicPr>
            <a:picLocks noChangeAspect="1"/>
          </p:cNvPicPr>
          <p:nvPr/>
        </p:nvPicPr>
        <p:blipFill>
          <a:blip r:embed="rId2"/>
          <a:stretch>
            <a:fillRect/>
          </a:stretch>
        </p:blipFill>
        <p:spPr>
          <a:xfrm>
            <a:off x="0" y="4461352"/>
            <a:ext cx="2177034" cy="1755849"/>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t>Data-Flow Model </a:t>
            </a:r>
            <a:br>
              <a:rPr lang="en-US" altLang="zh-CN" sz="3200" dirty="0"/>
            </a:br>
            <a:r>
              <a:rPr lang="en-US" altLang="zh-CN" sz="3200" dirty="0"/>
              <a:t>Example: Process Completed Application</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811611" y="1128068"/>
            <a:ext cx="8568778" cy="4774892"/>
          </a:xfrm>
          <a:prstGeom prst="rect">
            <a:avLst/>
          </a:prstGeom>
        </p:spPr>
      </p:pic>
      <p:pic>
        <p:nvPicPr>
          <p:cNvPr id="5" name="图片 3"/>
          <p:cNvPicPr>
            <a:picLocks noChangeAspect="1"/>
          </p:cNvPicPr>
          <p:nvPr/>
        </p:nvPicPr>
        <p:blipFill>
          <a:blip r:embed="rId2"/>
          <a:stretch>
            <a:fillRect/>
          </a:stretch>
        </p:blipFill>
        <p:spPr>
          <a:xfrm>
            <a:off x="0" y="4461352"/>
            <a:ext cx="2177034" cy="1755849"/>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sz="3200" dirty="0"/>
              <a:t>Flowchart Models</a:t>
            </a:r>
            <a:endParaRPr lang="en-US" sz="32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364733"/>
            <a:ext cx="11163995" cy="707886"/>
          </a:xfrm>
          <a:prstGeom prst="rect">
            <a:avLst/>
          </a:prstGeom>
          <a:noFill/>
        </p:spPr>
        <p:txBody>
          <a:bodyPr wrap="square">
            <a:spAutoFit/>
          </a:bodyPr>
          <a:lstStyle/>
          <a:p>
            <a:r>
              <a:rPr lang="en-US" altLang="zh-CN" sz="2000" dirty="0"/>
              <a:t>An informal modeling technique to show the logic of part of a system and paths that data takes through a system. </a:t>
            </a:r>
            <a:endParaRPr lang="en-US" altLang="zh-CN" sz="2000" b="1" dirty="0">
              <a:solidFill>
                <a:srgbClr val="515223"/>
              </a:solidFill>
              <a:latin typeface="Helvetica" pitchFamily="2" charset="0"/>
              <a:cs typeface="Arial" panose="020B0604020202090204" pitchFamily="34" charset="0"/>
            </a:endParaRPr>
          </a:p>
        </p:txBody>
      </p:sp>
      <p:pic>
        <p:nvPicPr>
          <p:cNvPr id="5" name="图片 4"/>
          <p:cNvPicPr>
            <a:picLocks noChangeAspect="1"/>
          </p:cNvPicPr>
          <p:nvPr/>
        </p:nvPicPr>
        <p:blipFill>
          <a:blip r:embed="rId1"/>
          <a:stretch>
            <a:fillRect/>
          </a:stretch>
        </p:blipFill>
        <p:spPr>
          <a:xfrm>
            <a:off x="3955120" y="2072619"/>
            <a:ext cx="4281759" cy="3862189"/>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318867" cy="790865"/>
          </a:xfrm>
        </p:spPr>
        <p:txBody>
          <a:bodyPr>
            <a:normAutofit fontScale="90000"/>
          </a:bodyPr>
          <a:lstStyle/>
          <a:p>
            <a:r>
              <a:rPr lang="en-US" dirty="0"/>
              <a:t>Example:</a:t>
            </a:r>
            <a:r>
              <a:rPr lang="zh-CN" altLang="en-US" dirty="0"/>
              <a:t> </a:t>
            </a:r>
            <a:r>
              <a:rPr lang="en-US" dirty="0"/>
              <a:t>University</a:t>
            </a:r>
            <a:r>
              <a:rPr lang="zh-CN" altLang="en-US" dirty="0"/>
              <a:t> </a:t>
            </a:r>
            <a:r>
              <a:rPr lang="en-US" dirty="0"/>
              <a:t>Admissions</a:t>
            </a:r>
            <a:r>
              <a:rPr lang="zh-CN" altLang="en-US" dirty="0"/>
              <a:t> </a:t>
            </a:r>
            <a:r>
              <a:rPr lang="en-US" dirty="0"/>
              <a:t>Assemble</a:t>
            </a:r>
            <a:r>
              <a:rPr lang="zh-CN" altLang="en-US" dirty="0"/>
              <a:t> </a:t>
            </a:r>
            <a:r>
              <a:rPr lang="en-US" dirty="0"/>
              <a:t>Application</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82756" y="1480931"/>
            <a:ext cx="9569711" cy="4747710"/>
          </a:xfrm>
          <a:prstGeom prst="rect">
            <a:avLst/>
          </a:prstGeom>
        </p:spPr>
      </p:pic>
      <p:sp>
        <p:nvSpPr>
          <p:cNvPr id="6" name="Rectangle 5"/>
          <p:cNvSpPr/>
          <p:nvPr/>
        </p:nvSpPr>
        <p:spPr>
          <a:xfrm>
            <a:off x="6096000" y="4373217"/>
            <a:ext cx="3041926" cy="1855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C00000"/>
                </a:solidFill>
              </a:rPr>
              <a:t>Compared with Data-flow?</a:t>
            </a:r>
            <a:endParaRPr lang="en-US" dirty="0">
              <a:solidFill>
                <a:srgbClr val="C00000"/>
              </a:solidFill>
            </a:endParaRPr>
          </a:p>
        </p:txBody>
      </p:sp>
      <p:pic>
        <p:nvPicPr>
          <p:cNvPr id="4" name="图片 4"/>
          <p:cNvPicPr>
            <a:picLocks noChangeAspect="1"/>
          </p:cNvPicPr>
          <p:nvPr/>
        </p:nvPicPr>
        <p:blipFill>
          <a:blip r:embed="rId2"/>
          <a:stretch>
            <a:fillRect/>
          </a:stretch>
        </p:blipFill>
        <p:spPr>
          <a:xfrm>
            <a:off x="0" y="3836505"/>
            <a:ext cx="2662408" cy="240151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Diagrams for System Architecture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85076" y="1619250"/>
            <a:ext cx="8562224" cy="4146548"/>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Purpose of Various Diagrams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34267" y="1657609"/>
            <a:ext cx="6143733" cy="4242547"/>
          </a:xfrm>
          <a:prstGeom prst="rect">
            <a:avLst/>
          </a:prstGeom>
        </p:spPr>
      </p:pic>
      <p:sp>
        <p:nvSpPr>
          <p:cNvPr id="7" name="TextBox 6"/>
          <p:cNvSpPr txBox="1"/>
          <p:nvPr/>
        </p:nvSpPr>
        <p:spPr>
          <a:xfrm>
            <a:off x="411817" y="1832420"/>
            <a:ext cx="3171824" cy="2554545"/>
          </a:xfrm>
          <a:prstGeom prst="rect">
            <a:avLst/>
          </a:prstGeom>
          <a:noFill/>
        </p:spPr>
        <p:txBody>
          <a:bodyPr wrap="square">
            <a:spAutoFit/>
          </a:bodyPr>
          <a:lstStyle/>
          <a:p>
            <a:pPr>
              <a:spcBef>
                <a:spcPts val="1800"/>
              </a:spcBef>
            </a:pPr>
            <a:r>
              <a:rPr lang="en-US" sz="2000" b="1" dirty="0">
                <a:solidFill>
                  <a:srgbClr val="515223"/>
                </a:solidFill>
                <a:latin typeface="Helvetica" pitchFamily="2" charset="0"/>
                <a:cs typeface="Arial" panose="020B0604020202090204" pitchFamily="34" charset="0"/>
              </a:rPr>
              <a:t>Use Case View</a:t>
            </a:r>
            <a:endParaRPr lang="en-US" sz="2000" b="1" dirty="0">
              <a:solidFill>
                <a:srgbClr val="515223"/>
              </a:solidFill>
              <a:latin typeface="Helvetica" pitchFamily="2" charset="0"/>
              <a:cs typeface="Arial" panose="020B0604020202090204" pitchFamily="34" charset="0"/>
            </a:endParaRPr>
          </a:p>
          <a:p>
            <a:pPr>
              <a:spcBef>
                <a:spcPts val="1800"/>
              </a:spcBef>
            </a:pPr>
            <a:r>
              <a:rPr lang="en-US" sz="2000" b="1" dirty="0">
                <a:solidFill>
                  <a:srgbClr val="515223"/>
                </a:solidFill>
                <a:latin typeface="Helvetica" pitchFamily="2" charset="0"/>
                <a:cs typeface="Arial" panose="020B0604020202090204" pitchFamily="34" charset="0"/>
              </a:rPr>
              <a:t>Logical View</a:t>
            </a:r>
            <a:endParaRPr lang="en-US" sz="2000" b="1" dirty="0">
              <a:solidFill>
                <a:srgbClr val="515223"/>
              </a:solidFill>
              <a:latin typeface="Helvetica" pitchFamily="2" charset="0"/>
              <a:cs typeface="Arial" panose="020B0604020202090204" pitchFamily="34" charset="0"/>
            </a:endParaRPr>
          </a:p>
          <a:p>
            <a:pPr>
              <a:spcBef>
                <a:spcPts val="1800"/>
              </a:spcBef>
            </a:pPr>
            <a:r>
              <a:rPr lang="en-US" sz="2000" b="1" dirty="0">
                <a:solidFill>
                  <a:srgbClr val="515223"/>
                </a:solidFill>
                <a:latin typeface="Helvetica" pitchFamily="2" charset="0"/>
                <a:cs typeface="Arial" panose="020B0604020202090204" pitchFamily="34" charset="0"/>
              </a:rPr>
              <a:t>Implementation View</a:t>
            </a:r>
            <a:endParaRPr lang="en-US" sz="2000" b="1" dirty="0">
              <a:solidFill>
                <a:srgbClr val="515223"/>
              </a:solidFill>
              <a:latin typeface="Helvetica" pitchFamily="2" charset="0"/>
              <a:cs typeface="Arial" panose="020B0604020202090204" pitchFamily="34" charset="0"/>
            </a:endParaRPr>
          </a:p>
          <a:p>
            <a:pPr>
              <a:spcBef>
                <a:spcPts val="1800"/>
              </a:spcBef>
            </a:pPr>
            <a:r>
              <a:rPr lang="en-US" sz="2000" b="1" dirty="0">
                <a:solidFill>
                  <a:srgbClr val="515223"/>
                </a:solidFill>
                <a:latin typeface="Helvetica" pitchFamily="2" charset="0"/>
                <a:cs typeface="Arial" panose="020B0604020202090204" pitchFamily="34" charset="0"/>
              </a:rPr>
              <a:t>Process View</a:t>
            </a:r>
            <a:endParaRPr lang="en-US" sz="2000" b="1" dirty="0">
              <a:solidFill>
                <a:srgbClr val="515223"/>
              </a:solidFill>
              <a:latin typeface="Helvetica" pitchFamily="2" charset="0"/>
              <a:cs typeface="Arial" panose="020B0604020202090204" pitchFamily="34" charset="0"/>
            </a:endParaRPr>
          </a:p>
          <a:p>
            <a:pPr>
              <a:spcBef>
                <a:spcPts val="1800"/>
              </a:spcBef>
            </a:pPr>
            <a:r>
              <a:rPr lang="en-US" sz="2000" b="1" dirty="0">
                <a:solidFill>
                  <a:srgbClr val="515223"/>
                </a:solidFill>
                <a:latin typeface="Helvetica" pitchFamily="2" charset="0"/>
                <a:cs typeface="Arial" panose="020B0604020202090204" pitchFamily="34" charset="0"/>
              </a:rPr>
              <a:t>Deployment View</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Component</a:t>
            </a:r>
            <a:r>
              <a:rPr lang="en-US" altLang="zh-CN" dirty="0"/>
              <a:t> Diagram</a:t>
            </a:r>
            <a:endParaRPr lang="zh-CN" alt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0612" y="2069465"/>
            <a:ext cx="10010775" cy="2719070"/>
          </a:xfrm>
          <a:prstGeom prst="rect">
            <a:avLst/>
          </a:prstGeom>
          <a:noFill/>
        </p:spPr>
        <p:txBody>
          <a:bodyPr wrap="square" rtlCol="0" anchor="t">
            <a:noAutofit/>
          </a:bodyPr>
          <a:lstStyle/>
          <a:p>
            <a:pPr algn="l" fontAlgn="auto">
              <a:spcBef>
                <a:spcPts val="1800"/>
              </a:spcBef>
              <a:buClrTx/>
              <a:buSzTx/>
              <a:buFontTx/>
            </a:pPr>
            <a:r>
              <a:rPr lang="zh-CN" altLang="en-US" dirty="0"/>
              <a:t>A</a:t>
            </a:r>
            <a:r>
              <a:rPr lang="en-US" altLang="zh-CN" b="1" dirty="0">
                <a:solidFill>
                  <a:srgbClr val="017AB8"/>
                </a:solidFill>
              </a:rPr>
              <a:t> </a:t>
            </a:r>
            <a:r>
              <a:rPr lang="en-US" altLang="zh-CN" b="1" dirty="0">
                <a:solidFill>
                  <a:srgbClr val="C00000"/>
                </a:solidFill>
              </a:rPr>
              <a:t>component </a:t>
            </a:r>
            <a:r>
              <a:rPr lang="zh-CN" altLang="en-US" dirty="0"/>
              <a:t>is</a:t>
            </a:r>
            <a:r>
              <a:rPr lang="en-US" altLang="zh-CN" dirty="0"/>
              <a:t> </a:t>
            </a:r>
            <a:r>
              <a:rPr lang="zh-CN" altLang="en-US" dirty="0"/>
              <a:t>a</a:t>
            </a:r>
            <a:r>
              <a:rPr lang="en-US" altLang="zh-CN" dirty="0"/>
              <a:t> </a:t>
            </a:r>
            <a:r>
              <a:rPr lang="zh-CN" altLang="en-US" dirty="0"/>
              <a:t>replaceable</a:t>
            </a:r>
            <a:r>
              <a:rPr lang="en-US" altLang="zh-CN" dirty="0"/>
              <a:t> </a:t>
            </a:r>
            <a:r>
              <a:rPr lang="zh-CN" altLang="en-US" dirty="0"/>
              <a:t>part</a:t>
            </a:r>
            <a:r>
              <a:rPr lang="en-US" altLang="zh-CN" dirty="0"/>
              <a:t> </a:t>
            </a:r>
            <a:r>
              <a:rPr lang="zh-CN" altLang="en-US" dirty="0"/>
              <a:t>of</a:t>
            </a:r>
            <a:r>
              <a:rPr lang="en-US" altLang="zh-CN" dirty="0"/>
              <a:t> </a:t>
            </a:r>
            <a:r>
              <a:rPr lang="zh-CN" altLang="en-US" dirty="0"/>
              <a:t>a</a:t>
            </a:r>
            <a:r>
              <a:rPr lang="en-US" altLang="zh-CN" dirty="0"/>
              <a:t> </a:t>
            </a:r>
            <a:r>
              <a:rPr lang="zh-CN" altLang="en-US" dirty="0"/>
              <a:t>system</a:t>
            </a:r>
            <a:r>
              <a:rPr lang="en-US" altLang="zh-CN" dirty="0"/>
              <a:t> </a:t>
            </a:r>
            <a:r>
              <a:rPr lang="zh-CN" altLang="en-US" dirty="0"/>
              <a:t>that</a:t>
            </a:r>
            <a:r>
              <a:rPr lang="en-US" altLang="zh-CN" dirty="0"/>
              <a:t> </a:t>
            </a:r>
            <a:r>
              <a:rPr lang="zh-CN" altLang="en-US" dirty="0"/>
              <a:t>conforms</a:t>
            </a:r>
            <a:r>
              <a:rPr lang="en-US" altLang="zh-CN" dirty="0"/>
              <a:t> </a:t>
            </a:r>
            <a:r>
              <a:rPr lang="zh-CN" altLang="en-US" dirty="0"/>
              <a:t>to</a:t>
            </a:r>
            <a:r>
              <a:rPr lang="en-US" altLang="zh-CN" dirty="0"/>
              <a:t> </a:t>
            </a:r>
            <a:r>
              <a:rPr lang="zh-CN" altLang="en-US" dirty="0"/>
              <a:t>and</a:t>
            </a:r>
            <a:r>
              <a:rPr lang="en-US" altLang="zh-CN" dirty="0"/>
              <a:t> </a:t>
            </a:r>
            <a:r>
              <a:rPr lang="zh-CN" altLang="en-US" dirty="0"/>
              <a:t>provides</a:t>
            </a:r>
            <a:r>
              <a:rPr lang="en-US" altLang="zh-CN" dirty="0"/>
              <a:t> </a:t>
            </a:r>
            <a:r>
              <a:rPr lang="zh-CN" altLang="en-US" dirty="0"/>
              <a:t>the</a:t>
            </a:r>
            <a:r>
              <a:rPr lang="en-US" altLang="zh-CN" dirty="0"/>
              <a:t> </a:t>
            </a:r>
            <a:r>
              <a:rPr lang="zh-CN" altLang="en-US" dirty="0"/>
              <a:t>realiza</a:t>
            </a:r>
            <a:r>
              <a:rPr lang="en-US" altLang="zh-CN" dirty="0" err="1"/>
              <a:t>ti</a:t>
            </a:r>
            <a:r>
              <a:rPr lang="zh-CN" altLang="en-US" dirty="0"/>
              <a:t>on</a:t>
            </a:r>
            <a:r>
              <a:rPr lang="en-US" altLang="zh-CN" dirty="0"/>
              <a:t> </a:t>
            </a:r>
            <a:r>
              <a:rPr lang="zh-CN" altLang="en-US" dirty="0"/>
              <a:t>of</a:t>
            </a:r>
            <a:r>
              <a:rPr lang="en-US" altLang="zh-CN" dirty="0"/>
              <a:t> </a:t>
            </a:r>
            <a:r>
              <a:rPr lang="zh-CN" altLang="en-US" dirty="0"/>
              <a:t>a</a:t>
            </a:r>
            <a:r>
              <a:rPr lang="en-US" altLang="zh-CN" dirty="0"/>
              <a:t> </a:t>
            </a:r>
            <a:r>
              <a:rPr lang="zh-CN" altLang="en-US" dirty="0"/>
              <a:t>set</a:t>
            </a:r>
            <a:r>
              <a:rPr lang="en-US" altLang="zh-CN" dirty="0"/>
              <a:t> </a:t>
            </a:r>
            <a:r>
              <a:rPr lang="zh-CN" altLang="en-US" dirty="0"/>
              <a:t>of</a:t>
            </a:r>
            <a:r>
              <a:rPr lang="en-US" altLang="zh-CN" dirty="0"/>
              <a:t> </a:t>
            </a:r>
            <a:r>
              <a:rPr lang="zh-CN" altLang="en-US" dirty="0"/>
              <a:t>interfaces.</a:t>
            </a:r>
            <a:endParaRPr lang="zh-CN" altLang="en-US" dirty="0"/>
          </a:p>
          <a:p>
            <a:pPr algn="l" fontAlgn="auto">
              <a:spcBef>
                <a:spcPts val="1800"/>
              </a:spcBef>
              <a:buClrTx/>
              <a:buSzTx/>
              <a:buFontTx/>
            </a:pPr>
            <a:r>
              <a:rPr lang="zh-CN" altLang="en-US" dirty="0"/>
              <a:t>A</a:t>
            </a:r>
            <a:r>
              <a:rPr lang="en-US" altLang="zh-CN" dirty="0"/>
              <a:t> </a:t>
            </a:r>
            <a:r>
              <a:rPr lang="zh-CN" altLang="en-US" dirty="0"/>
              <a:t>component</a:t>
            </a:r>
            <a:r>
              <a:rPr lang="en-US" altLang="zh-CN" dirty="0"/>
              <a:t> </a:t>
            </a:r>
            <a:r>
              <a:rPr lang="zh-CN" altLang="en-US" dirty="0"/>
              <a:t>can</a:t>
            </a:r>
            <a:r>
              <a:rPr lang="en-US" altLang="zh-CN" dirty="0"/>
              <a:t> </a:t>
            </a:r>
            <a:r>
              <a:rPr lang="zh-CN" altLang="en-US" dirty="0"/>
              <a:t>be</a:t>
            </a:r>
            <a:r>
              <a:rPr lang="en-US" altLang="zh-CN" dirty="0"/>
              <a:t> </a:t>
            </a:r>
            <a:r>
              <a:rPr lang="zh-CN" altLang="en-US" dirty="0"/>
              <a:t>thought</a:t>
            </a:r>
            <a:r>
              <a:rPr lang="en-US" altLang="zh-CN" dirty="0"/>
              <a:t> </a:t>
            </a:r>
            <a:r>
              <a:rPr lang="zh-CN" altLang="en-US" dirty="0"/>
              <a:t>of</a:t>
            </a:r>
            <a:r>
              <a:rPr lang="en-US" altLang="zh-CN" dirty="0"/>
              <a:t> </a:t>
            </a:r>
            <a:r>
              <a:rPr lang="zh-CN" altLang="en-US" dirty="0"/>
              <a:t>as</a:t>
            </a:r>
            <a:r>
              <a:rPr lang="en-US" altLang="zh-CN" dirty="0"/>
              <a:t> </a:t>
            </a:r>
            <a:r>
              <a:rPr lang="zh-CN" altLang="en-US" dirty="0"/>
              <a:t>an</a:t>
            </a:r>
            <a:r>
              <a:rPr lang="en-US" altLang="zh-CN" dirty="0"/>
              <a:t> </a:t>
            </a:r>
            <a:r>
              <a:rPr lang="zh-CN" altLang="en-US" dirty="0"/>
              <a:t>implementa</a:t>
            </a:r>
            <a:r>
              <a:rPr lang="en-US" altLang="zh-CN" dirty="0" err="1"/>
              <a:t>ti</a:t>
            </a:r>
            <a:r>
              <a:rPr lang="zh-CN" altLang="en-US" dirty="0"/>
              <a:t>on</a:t>
            </a:r>
            <a:r>
              <a:rPr lang="en-US" altLang="zh-CN" dirty="0"/>
              <a:t> </a:t>
            </a:r>
            <a:r>
              <a:rPr lang="zh-CN" altLang="en-US" dirty="0"/>
              <a:t>of</a:t>
            </a:r>
            <a:r>
              <a:rPr lang="en-US" altLang="zh-CN" dirty="0"/>
              <a:t> </a:t>
            </a:r>
            <a:r>
              <a:rPr lang="zh-CN" altLang="en-US" dirty="0"/>
              <a:t>a</a:t>
            </a:r>
            <a:r>
              <a:rPr lang="en-US" altLang="zh-CN" dirty="0"/>
              <a:t> </a:t>
            </a:r>
            <a:r>
              <a:rPr lang="zh-CN" altLang="en-US" dirty="0"/>
              <a:t>subsystem.</a:t>
            </a:r>
            <a:endParaRPr lang="zh-CN" altLang="en-US" dirty="0"/>
          </a:p>
          <a:p>
            <a:pPr algn="l" fontAlgn="auto">
              <a:spcBef>
                <a:spcPts val="1800"/>
              </a:spcBef>
              <a:buClrTx/>
              <a:buSzTx/>
              <a:buFontTx/>
            </a:pPr>
            <a:r>
              <a:rPr lang="en-US" altLang="zh-CN" b="1" dirty="0">
                <a:solidFill>
                  <a:srgbClr val="C00000"/>
                </a:solidFill>
              </a:rPr>
              <a:t>UML definition of a component</a:t>
            </a:r>
            <a:endParaRPr lang="en-US" altLang="zh-CN" b="1" dirty="0">
              <a:solidFill>
                <a:srgbClr val="C00000"/>
              </a:solidFill>
            </a:endParaRPr>
          </a:p>
          <a:p>
            <a:pPr algn="l" fontAlgn="auto">
              <a:spcBef>
                <a:spcPts val="1800"/>
              </a:spcBef>
              <a:buClrTx/>
              <a:buSzTx/>
              <a:buFontTx/>
            </a:pPr>
            <a:r>
              <a:rPr lang="zh-CN" altLang="en-US" dirty="0"/>
              <a:t>"A</a:t>
            </a:r>
            <a:r>
              <a:rPr lang="en-US" altLang="zh-CN" dirty="0"/>
              <a:t> </a:t>
            </a:r>
            <a:r>
              <a:rPr lang="zh-CN" altLang="en-US" dirty="0"/>
              <a:t>distributable</a:t>
            </a:r>
            <a:r>
              <a:rPr lang="en-US" altLang="zh-CN" dirty="0"/>
              <a:t> </a:t>
            </a:r>
            <a:r>
              <a:rPr lang="zh-CN" altLang="en-US" dirty="0"/>
              <a:t>piece</a:t>
            </a:r>
            <a:r>
              <a:rPr lang="en-US" altLang="zh-CN" dirty="0"/>
              <a:t> </a:t>
            </a:r>
            <a:r>
              <a:rPr lang="zh-CN" altLang="en-US" dirty="0"/>
              <a:t>of</a:t>
            </a:r>
            <a:r>
              <a:rPr lang="en-US" altLang="zh-CN" dirty="0"/>
              <a:t> </a:t>
            </a:r>
            <a:r>
              <a:rPr lang="zh-CN" altLang="en-US" dirty="0"/>
              <a:t>implementa</a:t>
            </a:r>
            <a:r>
              <a:rPr lang="en-US" altLang="zh-CN" dirty="0" err="1"/>
              <a:t>ti</a:t>
            </a:r>
            <a:r>
              <a:rPr lang="zh-CN" altLang="en-US" dirty="0"/>
              <a:t>on</a:t>
            </a:r>
            <a:r>
              <a:rPr lang="en-US" altLang="zh-CN" dirty="0"/>
              <a:t> </a:t>
            </a:r>
            <a:r>
              <a:rPr lang="zh-CN" altLang="en-US" dirty="0"/>
              <a:t>of</a:t>
            </a:r>
            <a:r>
              <a:rPr lang="en-US" altLang="zh-CN" dirty="0"/>
              <a:t> </a:t>
            </a:r>
            <a:r>
              <a:rPr lang="zh-CN" altLang="en-US" dirty="0"/>
              <a:t>a</a:t>
            </a:r>
            <a:r>
              <a:rPr lang="en-US" altLang="zh-CN" dirty="0"/>
              <a:t> </a:t>
            </a:r>
            <a:r>
              <a:rPr lang="zh-CN" altLang="en-US" dirty="0"/>
              <a:t>system,</a:t>
            </a:r>
            <a:r>
              <a:rPr lang="en-US" altLang="zh-CN" dirty="0"/>
              <a:t> </a:t>
            </a:r>
            <a:r>
              <a:rPr lang="zh-CN" altLang="en-US" dirty="0"/>
              <a:t>including</a:t>
            </a:r>
            <a:r>
              <a:rPr lang="en-US" altLang="zh-CN" dirty="0"/>
              <a:t> </a:t>
            </a:r>
            <a:r>
              <a:rPr lang="zh-CN" altLang="en-US" dirty="0"/>
              <a:t>so</a:t>
            </a:r>
            <a:r>
              <a:rPr lang="en-US" altLang="zh-CN" dirty="0"/>
              <a:t>ft</a:t>
            </a:r>
            <a:r>
              <a:rPr lang="zh-CN" altLang="en-US" dirty="0"/>
              <a:t>ware</a:t>
            </a:r>
            <a:r>
              <a:rPr lang="en-US" altLang="zh-CN" dirty="0"/>
              <a:t> </a:t>
            </a:r>
            <a:r>
              <a:rPr lang="zh-CN" altLang="en-US" dirty="0"/>
              <a:t>code</a:t>
            </a:r>
            <a:r>
              <a:rPr lang="en-US" altLang="zh-CN" dirty="0"/>
              <a:t> </a:t>
            </a:r>
            <a:r>
              <a:rPr lang="zh-CN" altLang="en-US" dirty="0"/>
              <a:t>(source,</a:t>
            </a:r>
            <a:r>
              <a:rPr lang="en-US" altLang="zh-CN" dirty="0"/>
              <a:t> </a:t>
            </a:r>
            <a:r>
              <a:rPr lang="zh-CN" altLang="en-US" dirty="0"/>
              <a:t>binary,</a:t>
            </a:r>
            <a:r>
              <a:rPr lang="en-US" altLang="zh-CN" dirty="0"/>
              <a:t> </a:t>
            </a:r>
            <a:r>
              <a:rPr lang="zh-CN" altLang="en-US" dirty="0"/>
              <a:t>or</a:t>
            </a:r>
            <a:r>
              <a:rPr lang="en-US" altLang="zh-CN" dirty="0"/>
              <a:t> </a:t>
            </a:r>
            <a:r>
              <a:rPr lang="zh-CN" altLang="en-US" dirty="0"/>
              <a:t>executable),</a:t>
            </a:r>
            <a:r>
              <a:rPr lang="en-US" altLang="zh-CN" dirty="0"/>
              <a:t> </a:t>
            </a:r>
            <a:r>
              <a:rPr lang="zh-CN" altLang="en-US" dirty="0"/>
              <a:t>but</a:t>
            </a:r>
            <a:r>
              <a:rPr lang="en-US" altLang="zh-CN" dirty="0"/>
              <a:t> </a:t>
            </a:r>
            <a:r>
              <a:rPr lang="zh-CN" altLang="en-US" dirty="0"/>
              <a:t>also</a:t>
            </a:r>
            <a:r>
              <a:rPr lang="en-US" altLang="zh-CN" dirty="0"/>
              <a:t> </a:t>
            </a:r>
            <a:r>
              <a:rPr lang="zh-CN" altLang="en-US" dirty="0"/>
              <a:t>including</a:t>
            </a:r>
            <a:r>
              <a:rPr lang="en-US" altLang="zh-CN" dirty="0"/>
              <a:t> </a:t>
            </a:r>
            <a:r>
              <a:rPr lang="zh-CN" altLang="en-US" dirty="0"/>
              <a:t>business</a:t>
            </a:r>
            <a:r>
              <a:rPr lang="en-US" altLang="zh-CN" dirty="0"/>
              <a:t> </a:t>
            </a:r>
            <a:r>
              <a:rPr lang="zh-CN" altLang="en-US" dirty="0"/>
              <a:t>documents,</a:t>
            </a:r>
            <a:r>
              <a:rPr lang="en-US" altLang="zh-CN" dirty="0"/>
              <a:t> </a:t>
            </a:r>
            <a:r>
              <a:rPr lang="zh-CN" altLang="en-US" dirty="0"/>
              <a:t>etc.,</a:t>
            </a:r>
            <a:r>
              <a:rPr lang="en-US" altLang="zh-CN" dirty="0"/>
              <a:t> </a:t>
            </a:r>
            <a:r>
              <a:rPr lang="zh-CN" altLang="en-US" dirty="0"/>
              <a:t>in</a:t>
            </a:r>
            <a:r>
              <a:rPr lang="en-US" altLang="zh-CN" dirty="0"/>
              <a:t> </a:t>
            </a:r>
            <a:r>
              <a:rPr lang="zh-CN" altLang="en-US" dirty="0"/>
              <a:t>a</a:t>
            </a:r>
            <a:r>
              <a:rPr lang="en-US" altLang="zh-CN" dirty="0"/>
              <a:t> </a:t>
            </a:r>
            <a:r>
              <a:rPr lang="zh-CN" altLang="en-US" dirty="0"/>
              <a:t>human</a:t>
            </a:r>
            <a:r>
              <a:rPr lang="en-US" altLang="zh-CN" dirty="0"/>
              <a:t> </a:t>
            </a:r>
            <a:r>
              <a:rPr lang="zh-CN" altLang="en-US" dirty="0"/>
              <a:t>system."</a:t>
            </a:r>
            <a:endParaRPr lang="zh-CN"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a:t>Components</a:t>
            </a:r>
            <a:r>
              <a:rPr lang="en-US" altLang="zh-CN"/>
              <a:t> </a:t>
            </a:r>
            <a:r>
              <a:rPr lang="zh-CN" altLang="en-US"/>
              <a:t>as</a:t>
            </a:r>
            <a:r>
              <a:rPr lang="en-US" altLang="zh-CN"/>
              <a:t> </a:t>
            </a:r>
            <a:r>
              <a:rPr lang="zh-CN" altLang="en-US"/>
              <a:t>Replaceable</a:t>
            </a:r>
            <a:r>
              <a:rPr lang="en-US" altLang="zh-CN"/>
              <a:t> </a:t>
            </a:r>
            <a:r>
              <a:rPr lang="zh-CN" altLang="en-US"/>
              <a:t>Elements</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91565" y="1583055"/>
            <a:ext cx="10223500" cy="3006090"/>
          </a:xfrm>
          <a:prstGeom prst="rect">
            <a:avLst/>
          </a:prstGeom>
          <a:noFill/>
        </p:spPr>
        <p:txBody>
          <a:bodyPr wrap="square" rtlCol="0" anchor="t">
            <a:noAutofit/>
          </a:bodyPr>
          <a:lstStyle/>
          <a:p>
            <a:pPr indent="0" fontAlgn="auto">
              <a:spcBef>
                <a:spcPts val="1800"/>
              </a:spcBef>
            </a:pPr>
            <a:r>
              <a:rPr lang="zh-CN" altLang="en-US" dirty="0"/>
              <a:t>Components</a:t>
            </a:r>
            <a:r>
              <a:rPr lang="en-US" altLang="zh-CN" dirty="0"/>
              <a:t> </a:t>
            </a:r>
            <a:r>
              <a:rPr lang="zh-CN" altLang="en-US" dirty="0"/>
              <a:t>allow</a:t>
            </a:r>
            <a:r>
              <a:rPr lang="en-US" altLang="zh-CN" dirty="0"/>
              <a:t> </a:t>
            </a:r>
            <a:r>
              <a:rPr lang="zh-CN" altLang="en-US" dirty="0"/>
              <a:t>systems</a:t>
            </a:r>
            <a:r>
              <a:rPr lang="en-US" altLang="zh-CN" dirty="0"/>
              <a:t> </a:t>
            </a:r>
            <a:r>
              <a:rPr lang="zh-CN" altLang="en-US" dirty="0"/>
              <a:t>to</a:t>
            </a:r>
            <a:r>
              <a:rPr lang="en-US" altLang="zh-CN" dirty="0"/>
              <a:t> </a:t>
            </a:r>
            <a:r>
              <a:rPr lang="zh-CN" altLang="en-US" dirty="0"/>
              <a:t>be</a:t>
            </a:r>
            <a:r>
              <a:rPr lang="en-US" altLang="zh-CN" dirty="0"/>
              <a:t> </a:t>
            </a:r>
            <a:r>
              <a:rPr lang="zh-CN" altLang="en-US" dirty="0"/>
              <a:t>assembled</a:t>
            </a:r>
            <a:r>
              <a:rPr lang="en-US" altLang="zh-CN" dirty="0"/>
              <a:t> </a:t>
            </a:r>
            <a:r>
              <a:rPr lang="zh-CN" altLang="en-US" dirty="0"/>
              <a:t>from</a:t>
            </a:r>
            <a:r>
              <a:rPr lang="en-US" altLang="zh-CN" dirty="0"/>
              <a:t> </a:t>
            </a:r>
            <a:r>
              <a:rPr lang="en-US" altLang="zh-CN" b="1" dirty="0">
                <a:solidFill>
                  <a:srgbClr val="C00000"/>
                </a:solidFill>
              </a:rPr>
              <a:t>binary replaceable elements.</a:t>
            </a:r>
            <a:endParaRPr lang="en-US" altLang="zh-CN" b="1" dirty="0">
              <a:solidFill>
                <a:srgbClr val="C00000"/>
              </a:solidFill>
            </a:endParaRPr>
          </a:p>
          <a:p>
            <a:pPr indent="0" fontAlgn="auto">
              <a:spcBef>
                <a:spcPts val="1800"/>
              </a:spcBef>
            </a:pPr>
            <a:r>
              <a:rPr lang="zh-CN" altLang="en-US" dirty="0"/>
              <a:t>• A</a:t>
            </a:r>
            <a:r>
              <a:rPr lang="en-US" altLang="zh-CN" dirty="0"/>
              <a:t> </a:t>
            </a:r>
            <a:r>
              <a:rPr lang="zh-CN" altLang="en-US" dirty="0"/>
              <a:t>component</a:t>
            </a:r>
            <a:r>
              <a:rPr lang="en-US" altLang="zh-CN" dirty="0"/>
              <a:t> </a:t>
            </a:r>
            <a:r>
              <a:rPr lang="zh-CN" altLang="en-US" dirty="0"/>
              <a:t>is</a:t>
            </a:r>
            <a:r>
              <a:rPr lang="en-US" altLang="zh-CN" dirty="0"/>
              <a:t> </a:t>
            </a:r>
            <a:r>
              <a:rPr lang="zh-CN" altLang="en-US" dirty="0">
                <a:solidFill>
                  <a:srgbClr val="C00000"/>
                </a:solidFill>
              </a:rPr>
              <a:t>bits</a:t>
            </a:r>
            <a:r>
              <a:rPr lang="en-US" altLang="zh-CN" dirty="0">
                <a:solidFill>
                  <a:srgbClr val="C00000"/>
                </a:solidFill>
              </a:rPr>
              <a:t> </a:t>
            </a:r>
            <a:r>
              <a:rPr lang="zh-CN" altLang="en-US" dirty="0"/>
              <a:t>not</a:t>
            </a:r>
            <a:r>
              <a:rPr lang="en-US" altLang="zh-CN" dirty="0"/>
              <a:t> </a:t>
            </a:r>
            <a:r>
              <a:rPr lang="zh-CN" altLang="en-US" dirty="0"/>
              <a:t>concepts.</a:t>
            </a:r>
            <a:endParaRPr lang="zh-CN" altLang="en-US" dirty="0"/>
          </a:p>
          <a:p>
            <a:pPr indent="0" fontAlgn="auto">
              <a:spcBef>
                <a:spcPts val="1800"/>
              </a:spcBef>
            </a:pPr>
            <a:r>
              <a:rPr lang="zh-CN" altLang="en-US" dirty="0"/>
              <a:t>• A</a:t>
            </a:r>
            <a:r>
              <a:rPr lang="en-US" altLang="zh-CN" dirty="0"/>
              <a:t> </a:t>
            </a:r>
            <a:r>
              <a:rPr lang="zh-CN" altLang="en-US" dirty="0"/>
              <a:t>component</a:t>
            </a:r>
            <a:r>
              <a:rPr lang="en-US" altLang="zh-CN" dirty="0"/>
              <a:t> </a:t>
            </a:r>
            <a:r>
              <a:rPr lang="zh-CN" altLang="en-US" dirty="0"/>
              <a:t>can</a:t>
            </a:r>
            <a:r>
              <a:rPr lang="en-US" altLang="zh-CN" dirty="0"/>
              <a:t> </a:t>
            </a:r>
            <a:r>
              <a:rPr lang="zh-CN" altLang="en-US" dirty="0"/>
              <a:t>be</a:t>
            </a:r>
            <a:r>
              <a:rPr lang="en-US" altLang="zh-CN" dirty="0">
                <a:solidFill>
                  <a:srgbClr val="017AB8"/>
                </a:solidFill>
              </a:rPr>
              <a:t> </a:t>
            </a:r>
            <a:r>
              <a:rPr lang="zh-CN" altLang="en-US" dirty="0">
                <a:solidFill>
                  <a:srgbClr val="C00000"/>
                </a:solidFill>
              </a:rPr>
              <a:t>replaced</a:t>
            </a:r>
            <a:r>
              <a:rPr lang="en-US" altLang="zh-CN" dirty="0">
                <a:solidFill>
                  <a:srgbClr val="C00000"/>
                </a:solidFill>
              </a:rPr>
              <a:t> </a:t>
            </a:r>
            <a:r>
              <a:rPr lang="zh-CN" altLang="en-US" dirty="0"/>
              <a:t>by</a:t>
            </a:r>
            <a:r>
              <a:rPr lang="en-US" altLang="zh-CN" dirty="0"/>
              <a:t> </a:t>
            </a:r>
            <a:r>
              <a:rPr lang="zh-CN" altLang="en-US" dirty="0"/>
              <a:t>any</a:t>
            </a:r>
            <a:r>
              <a:rPr lang="en-US" altLang="zh-CN" dirty="0"/>
              <a:t> </a:t>
            </a:r>
            <a:r>
              <a:rPr lang="zh-CN" altLang="en-US" dirty="0"/>
              <a:t>other</a:t>
            </a:r>
            <a:r>
              <a:rPr lang="en-US" altLang="zh-CN" dirty="0"/>
              <a:t> </a:t>
            </a:r>
            <a:r>
              <a:rPr lang="zh-CN" altLang="en-US" dirty="0"/>
              <a:t>component(s)</a:t>
            </a:r>
            <a:r>
              <a:rPr lang="en-US" altLang="zh-CN" dirty="0"/>
              <a:t> </a:t>
            </a:r>
            <a:r>
              <a:rPr lang="zh-CN" altLang="en-US" dirty="0"/>
              <a:t>that	</a:t>
            </a:r>
            <a:r>
              <a:rPr lang="en-US" altLang="zh-CN" dirty="0"/>
              <a:t> </a:t>
            </a:r>
            <a:r>
              <a:rPr lang="zh-CN" altLang="en-US" dirty="0"/>
              <a:t>conforms</a:t>
            </a:r>
            <a:r>
              <a:rPr lang="en-US" altLang="zh-CN" dirty="0"/>
              <a:t> </a:t>
            </a:r>
            <a:r>
              <a:rPr lang="zh-CN" altLang="en-US" dirty="0"/>
              <a:t>to</a:t>
            </a:r>
            <a:r>
              <a:rPr lang="en-US" altLang="zh-CN" dirty="0"/>
              <a:t> </a:t>
            </a:r>
            <a:r>
              <a:rPr lang="zh-CN" altLang="en-US" dirty="0"/>
              <a:t>the</a:t>
            </a:r>
            <a:r>
              <a:rPr lang="en-US" altLang="zh-CN" dirty="0"/>
              <a:t> </a:t>
            </a:r>
            <a:r>
              <a:rPr lang="zh-CN" altLang="en-US" dirty="0">
                <a:solidFill>
                  <a:srgbClr val="C00000"/>
                </a:solidFill>
              </a:rPr>
              <a:t>interfaces</a:t>
            </a:r>
            <a:r>
              <a:rPr lang="zh-CN" altLang="en-US" dirty="0"/>
              <a:t>.</a:t>
            </a:r>
            <a:endParaRPr lang="zh-CN" altLang="en-US" dirty="0"/>
          </a:p>
          <a:p>
            <a:pPr indent="0" fontAlgn="auto">
              <a:spcBef>
                <a:spcPts val="1800"/>
              </a:spcBef>
            </a:pPr>
            <a:r>
              <a:rPr lang="zh-CN" altLang="en-US" dirty="0"/>
              <a:t>• A</a:t>
            </a:r>
            <a:r>
              <a:rPr lang="en-US" altLang="zh-CN" dirty="0"/>
              <a:t> </a:t>
            </a:r>
            <a:r>
              <a:rPr lang="zh-CN" altLang="en-US" dirty="0"/>
              <a:t>component</a:t>
            </a:r>
            <a:r>
              <a:rPr lang="en-US" altLang="zh-CN" dirty="0"/>
              <a:t> </a:t>
            </a:r>
            <a:r>
              <a:rPr lang="zh-CN" altLang="en-US" dirty="0"/>
              <a:t>is</a:t>
            </a:r>
            <a:r>
              <a:rPr lang="en-US" altLang="zh-CN" dirty="0"/>
              <a:t> </a:t>
            </a:r>
            <a:r>
              <a:rPr lang="zh-CN" altLang="en-US" dirty="0">
                <a:solidFill>
                  <a:srgbClr val="C00000"/>
                </a:solidFill>
              </a:rPr>
              <a:t>part of a system</a:t>
            </a:r>
            <a:r>
              <a:rPr lang="zh-CN" altLang="en-US" dirty="0"/>
              <a:t>.</a:t>
            </a:r>
            <a:endParaRPr lang="zh-CN" altLang="en-US" dirty="0"/>
          </a:p>
          <a:p>
            <a:pPr indent="0" fontAlgn="auto">
              <a:spcBef>
                <a:spcPts val="1800"/>
              </a:spcBef>
            </a:pPr>
            <a:r>
              <a:rPr lang="zh-CN" altLang="en-US" dirty="0"/>
              <a:t>• A</a:t>
            </a:r>
            <a:r>
              <a:rPr lang="en-US" altLang="zh-CN" dirty="0"/>
              <a:t> </a:t>
            </a:r>
            <a:r>
              <a:rPr lang="zh-CN" altLang="en-US" dirty="0"/>
              <a:t>component</a:t>
            </a:r>
            <a:r>
              <a:rPr lang="en-US" altLang="zh-CN" dirty="0"/>
              <a:t> </a:t>
            </a:r>
            <a:r>
              <a:rPr lang="zh-CN" altLang="en-US" dirty="0"/>
              <a:t>provides</a:t>
            </a:r>
            <a:r>
              <a:rPr lang="en-US" altLang="zh-CN" dirty="0"/>
              <a:t> </a:t>
            </a:r>
            <a:r>
              <a:rPr lang="zh-CN" altLang="en-US" dirty="0"/>
              <a:t>the</a:t>
            </a:r>
            <a:r>
              <a:rPr lang="en-US" altLang="zh-CN" dirty="0"/>
              <a:t> </a:t>
            </a:r>
            <a:r>
              <a:rPr lang="zh-CN" altLang="en-US" dirty="0">
                <a:solidFill>
                  <a:srgbClr val="C00000"/>
                </a:solidFill>
              </a:rPr>
              <a:t>realization </a:t>
            </a:r>
            <a:r>
              <a:rPr lang="zh-CN" altLang="en-US" dirty="0"/>
              <a:t>of</a:t>
            </a:r>
            <a:r>
              <a:rPr lang="en-US" altLang="zh-CN" dirty="0"/>
              <a:t> </a:t>
            </a:r>
            <a:r>
              <a:rPr lang="zh-CN" altLang="en-US" dirty="0"/>
              <a:t>a</a:t>
            </a:r>
            <a:r>
              <a:rPr lang="en-US" altLang="zh-CN" dirty="0"/>
              <a:t> </a:t>
            </a:r>
            <a:r>
              <a:rPr lang="zh-CN" altLang="en-US" dirty="0"/>
              <a:t>set</a:t>
            </a:r>
            <a:r>
              <a:rPr lang="en-US" altLang="zh-CN" dirty="0"/>
              <a:t> </a:t>
            </a:r>
            <a:r>
              <a:rPr lang="zh-CN" altLang="en-US" dirty="0"/>
              <a:t>of</a:t>
            </a:r>
            <a:r>
              <a:rPr lang="en-US" altLang="zh-CN" dirty="0"/>
              <a:t> </a:t>
            </a:r>
            <a:r>
              <a:rPr lang="zh-CN" altLang="en-US" dirty="0">
                <a:solidFill>
                  <a:srgbClr val="C00000"/>
                </a:solidFill>
              </a:rPr>
              <a:t>interfaces</a:t>
            </a:r>
            <a:r>
              <a:rPr lang="zh-CN" altLang="en-US" dirty="0"/>
              <a:t>.</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238125"/>
            <a:ext cx="9270365" cy="790575"/>
          </a:xfrm>
        </p:spPr>
        <p:txBody>
          <a:bodyPr>
            <a:normAutofit/>
          </a:bodyPr>
          <a:lstStyle/>
          <a:p>
            <a:r>
              <a:rPr lang="zh-CN" altLang="en-US" dirty="0"/>
              <a:t>Component</a:t>
            </a:r>
            <a:r>
              <a:rPr lang="en-US" altLang="zh-CN" dirty="0"/>
              <a:t> Diagram vs. </a:t>
            </a:r>
            <a:r>
              <a:rPr lang="zh-CN" altLang="en-US" dirty="0"/>
              <a:t>Class</a:t>
            </a:r>
            <a:r>
              <a:rPr lang="en-US" altLang="zh-CN" dirty="0"/>
              <a:t> Diagram</a:t>
            </a:r>
            <a:endParaRPr lang="zh-CN" altLang="en-US" dirty="0"/>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文本框 3"/>
          <p:cNvSpPr txBox="1"/>
          <p:nvPr/>
        </p:nvSpPr>
        <p:spPr>
          <a:xfrm>
            <a:off x="1031053" y="1229061"/>
            <a:ext cx="11333517" cy="2400657"/>
          </a:xfrm>
          <a:prstGeom prst="rect">
            <a:avLst/>
          </a:prstGeom>
          <a:noFill/>
        </p:spPr>
        <p:txBody>
          <a:bodyPr wrap="square" rtlCol="0" anchor="t">
            <a:spAutoFit/>
          </a:bodyPr>
          <a:lstStyle/>
          <a:p>
            <a:pPr indent="0" fontAlgn="auto">
              <a:spcBef>
                <a:spcPts val="1800"/>
              </a:spcBef>
            </a:pPr>
            <a:r>
              <a:rPr lang="en-US" altLang="zh-CN" b="1" dirty="0">
                <a:solidFill>
                  <a:srgbClr val="515223"/>
                </a:solidFill>
              </a:rPr>
              <a:t>Classes</a:t>
            </a:r>
            <a:r>
              <a:rPr lang="en-US" altLang="zh-CN" dirty="0">
                <a:solidFill>
                  <a:srgbClr val="C00000"/>
                </a:solidFill>
              </a:rPr>
              <a:t> </a:t>
            </a:r>
            <a:r>
              <a:rPr lang="zh-CN" altLang="en-US" dirty="0"/>
              <a:t>represent</a:t>
            </a:r>
            <a:r>
              <a:rPr lang="en-US" altLang="zh-CN" dirty="0"/>
              <a:t> </a:t>
            </a:r>
            <a:r>
              <a:rPr lang="zh-CN" altLang="en-US" dirty="0"/>
              <a:t>logical</a:t>
            </a:r>
            <a:r>
              <a:rPr lang="en-US" altLang="zh-CN" dirty="0"/>
              <a:t> </a:t>
            </a:r>
            <a:r>
              <a:rPr lang="zh-CN" altLang="en-US" dirty="0"/>
              <a:t>abstrac</a:t>
            </a:r>
            <a:r>
              <a:rPr lang="en-US" altLang="zh-CN" dirty="0" err="1"/>
              <a:t>ti</a:t>
            </a:r>
            <a:r>
              <a:rPr lang="zh-CN" altLang="en-US" dirty="0"/>
              <a:t>ons（</a:t>
            </a:r>
            <a:r>
              <a:rPr lang="en-US" altLang="zh-CN" b="1" u="sng" dirty="0"/>
              <a:t>Not covered in this lecture, will be shown in </a:t>
            </a:r>
            <a:r>
              <a:rPr lang="en-US" altLang="zh-CN" b="1" u="sng" dirty="0">
                <a:solidFill>
                  <a:srgbClr val="C00000"/>
                </a:solidFill>
              </a:rPr>
              <a:t>Program Design</a:t>
            </a:r>
            <a:r>
              <a:rPr lang="zh-CN" altLang="en-US" dirty="0"/>
              <a:t>）</a:t>
            </a:r>
            <a:r>
              <a:rPr lang="en-US" altLang="zh-CN" dirty="0"/>
              <a:t> </a:t>
            </a:r>
            <a:endParaRPr lang="en-US" altLang="zh-CN" dirty="0"/>
          </a:p>
          <a:p>
            <a:pPr indent="0" fontAlgn="auto">
              <a:spcBef>
                <a:spcPts val="1800"/>
              </a:spcBef>
            </a:pPr>
            <a:r>
              <a:rPr lang="en-US" altLang="zh-CN" dirty="0"/>
              <a:t>	</a:t>
            </a:r>
            <a:r>
              <a:rPr lang="zh-CN" altLang="en-US" dirty="0"/>
              <a:t>They</a:t>
            </a:r>
            <a:r>
              <a:rPr lang="en-US" altLang="zh-CN" dirty="0"/>
              <a:t> </a:t>
            </a:r>
            <a:r>
              <a:rPr lang="zh-CN" altLang="en-US" dirty="0"/>
              <a:t>have</a:t>
            </a:r>
            <a:r>
              <a:rPr lang="en-US" altLang="zh-CN" dirty="0"/>
              <a:t> </a:t>
            </a:r>
            <a:r>
              <a:rPr lang="zh-CN" altLang="en-US" dirty="0"/>
              <a:t>a</a:t>
            </a:r>
            <a:r>
              <a:rPr lang="en-US" altLang="zh-CN" dirty="0"/>
              <a:t> </a:t>
            </a:r>
            <a:r>
              <a:rPr lang="zh-CN" altLang="en-US" dirty="0"/>
              <a:t>Tributes</a:t>
            </a:r>
            <a:r>
              <a:rPr lang="en-US" altLang="zh-CN" dirty="0"/>
              <a:t> </a:t>
            </a:r>
            <a:r>
              <a:rPr lang="zh-CN" altLang="en-US" dirty="0"/>
              <a:t>(data)</a:t>
            </a:r>
            <a:r>
              <a:rPr lang="en-US" altLang="zh-CN" dirty="0"/>
              <a:t> </a:t>
            </a:r>
            <a:r>
              <a:rPr lang="zh-CN" altLang="en-US" dirty="0"/>
              <a:t>and</a:t>
            </a:r>
            <a:r>
              <a:rPr lang="en-US" altLang="zh-CN" dirty="0"/>
              <a:t> </a:t>
            </a:r>
            <a:r>
              <a:rPr lang="zh-CN" altLang="en-US" dirty="0"/>
              <a:t>opera</a:t>
            </a:r>
            <a:r>
              <a:rPr lang="en-US" altLang="zh-CN" dirty="0" err="1"/>
              <a:t>ti</a:t>
            </a:r>
            <a:r>
              <a:rPr lang="zh-CN" altLang="en-US" dirty="0"/>
              <a:t>ons</a:t>
            </a:r>
            <a:r>
              <a:rPr lang="en-US" altLang="zh-CN" dirty="0"/>
              <a:t> </a:t>
            </a:r>
            <a:r>
              <a:rPr lang="zh-CN" altLang="en-US" dirty="0"/>
              <a:t>(methods)</a:t>
            </a:r>
            <a:r>
              <a:rPr lang="en-US" altLang="zh-CN" dirty="0"/>
              <a:t> </a:t>
            </a:r>
            <a:endParaRPr lang="en-US" altLang="zh-CN" dirty="0"/>
          </a:p>
          <a:p>
            <a:pPr indent="0" fontAlgn="auto">
              <a:spcBef>
                <a:spcPts val="1800"/>
              </a:spcBef>
            </a:pPr>
            <a:r>
              <a:rPr lang="en-US" altLang="zh-CN" dirty="0"/>
              <a:t>	</a:t>
            </a:r>
            <a:r>
              <a:rPr lang="zh-CN" altLang="en-US" dirty="0"/>
              <a:t>Classes</a:t>
            </a:r>
            <a:r>
              <a:rPr lang="en-US" altLang="zh-CN" dirty="0"/>
              <a:t> </a:t>
            </a:r>
            <a:r>
              <a:rPr lang="zh-CN" altLang="en-US" dirty="0"/>
              <a:t>can</a:t>
            </a:r>
            <a:r>
              <a:rPr lang="en-US" altLang="zh-CN" dirty="0"/>
              <a:t> </a:t>
            </a:r>
            <a:r>
              <a:rPr lang="zh-CN" altLang="en-US" dirty="0"/>
              <a:t>be</a:t>
            </a:r>
            <a:r>
              <a:rPr lang="en-US" altLang="zh-CN" dirty="0"/>
              <a:t> </a:t>
            </a:r>
            <a:r>
              <a:rPr lang="zh-CN" altLang="en-US" dirty="0"/>
              <a:t>combined</a:t>
            </a:r>
            <a:r>
              <a:rPr lang="en-US" altLang="zh-CN" dirty="0"/>
              <a:t> </a:t>
            </a:r>
            <a:r>
              <a:rPr lang="zh-CN" altLang="en-US" dirty="0"/>
              <a:t>to</a:t>
            </a:r>
            <a:r>
              <a:rPr lang="en-US" altLang="zh-CN" dirty="0"/>
              <a:t> </a:t>
            </a:r>
            <a:r>
              <a:rPr lang="zh-CN" altLang="en-US" dirty="0"/>
              <a:t>form</a:t>
            </a:r>
            <a:r>
              <a:rPr lang="en-US" altLang="zh-CN" dirty="0"/>
              <a:t> </a:t>
            </a:r>
            <a:r>
              <a:rPr lang="zh-CN" altLang="en-US" dirty="0"/>
              <a:t>programs </a:t>
            </a:r>
            <a:r>
              <a:rPr lang="en-US" altLang="zh-CN" dirty="0"/>
              <a:t>(i.e., </a:t>
            </a:r>
            <a:r>
              <a:rPr lang="en-US" altLang="zh-CN" dirty="0">
                <a:solidFill>
                  <a:srgbClr val="C00000"/>
                </a:solidFill>
              </a:rPr>
              <a:t>for program design</a:t>
            </a:r>
            <a:r>
              <a:rPr lang="en-US" altLang="zh-CN" dirty="0"/>
              <a:t>)</a:t>
            </a:r>
            <a:endParaRPr lang="zh-CN" altLang="en-US" dirty="0"/>
          </a:p>
          <a:p>
            <a:pPr indent="0" fontAlgn="auto">
              <a:spcBef>
                <a:spcPts val="1800"/>
              </a:spcBef>
            </a:pPr>
            <a:r>
              <a:rPr lang="en-US" altLang="zh-CN" b="1" dirty="0">
                <a:solidFill>
                  <a:srgbClr val="515223"/>
                </a:solidFill>
              </a:rPr>
              <a:t>Components</a:t>
            </a:r>
            <a:r>
              <a:rPr lang="en-US" altLang="zh-CN" dirty="0">
                <a:solidFill>
                  <a:srgbClr val="515223"/>
                </a:solidFill>
              </a:rPr>
              <a:t> </a:t>
            </a:r>
            <a:r>
              <a:rPr lang="zh-CN" altLang="en-US" dirty="0"/>
              <a:t>have</a:t>
            </a:r>
            <a:r>
              <a:rPr lang="en-US" altLang="zh-CN" dirty="0"/>
              <a:t> </a:t>
            </a:r>
            <a:r>
              <a:rPr lang="zh-CN" altLang="en-US" dirty="0"/>
              <a:t>opera</a:t>
            </a:r>
            <a:r>
              <a:rPr lang="en-US" altLang="zh-CN" dirty="0" err="1"/>
              <a:t>ti</a:t>
            </a:r>
            <a:r>
              <a:rPr lang="zh-CN" altLang="en-US" dirty="0"/>
              <a:t>ons</a:t>
            </a:r>
            <a:r>
              <a:rPr lang="en-US" altLang="zh-CN" dirty="0"/>
              <a:t> </a:t>
            </a:r>
            <a:r>
              <a:rPr lang="zh-CN" altLang="en-US" dirty="0"/>
              <a:t>that</a:t>
            </a:r>
            <a:r>
              <a:rPr lang="en-US" altLang="zh-CN" dirty="0"/>
              <a:t> </a:t>
            </a:r>
            <a:r>
              <a:rPr lang="zh-CN" altLang="en-US" dirty="0"/>
              <a:t>are</a:t>
            </a:r>
            <a:r>
              <a:rPr lang="en-US" altLang="zh-CN" dirty="0"/>
              <a:t> </a:t>
            </a:r>
            <a:r>
              <a:rPr lang="zh-CN" altLang="en-US" dirty="0"/>
              <a:t>reachable</a:t>
            </a:r>
            <a:r>
              <a:rPr lang="en-US" altLang="zh-CN" dirty="0"/>
              <a:t> </a:t>
            </a:r>
            <a:r>
              <a:rPr lang="zh-CN" altLang="en-US" dirty="0"/>
              <a:t>only</a:t>
            </a:r>
            <a:r>
              <a:rPr lang="en-US" altLang="zh-CN" dirty="0"/>
              <a:t> </a:t>
            </a:r>
            <a:r>
              <a:rPr lang="zh-CN" altLang="en-US" dirty="0"/>
              <a:t>through</a:t>
            </a:r>
            <a:r>
              <a:rPr lang="en-US" altLang="zh-CN" dirty="0">
                <a:solidFill>
                  <a:srgbClr val="C00000"/>
                </a:solidFill>
              </a:rPr>
              <a:t> </a:t>
            </a:r>
            <a:r>
              <a:rPr lang="zh-CN" altLang="en-US" dirty="0">
                <a:solidFill>
                  <a:srgbClr val="C00000"/>
                </a:solidFill>
              </a:rPr>
              <a:t>interfaces</a:t>
            </a:r>
            <a:r>
              <a:rPr lang="zh-CN" altLang="en-US" dirty="0"/>
              <a:t>.</a:t>
            </a:r>
            <a:endParaRPr lang="en-US" altLang="zh-CN" dirty="0"/>
          </a:p>
          <a:p>
            <a:pPr indent="0" fontAlgn="auto">
              <a:spcBef>
                <a:spcPts val="1800"/>
              </a:spcBef>
            </a:pPr>
            <a:r>
              <a:rPr lang="en-US" altLang="zh-CN" dirty="0"/>
              <a:t>	</a:t>
            </a:r>
            <a:r>
              <a:rPr lang="zh-CN" altLang="en-US" dirty="0"/>
              <a:t>Components</a:t>
            </a:r>
            <a:r>
              <a:rPr lang="en-US" altLang="zh-CN" dirty="0"/>
              <a:t> </a:t>
            </a:r>
            <a:r>
              <a:rPr lang="zh-CN" altLang="en-US" dirty="0"/>
              <a:t>can</a:t>
            </a:r>
            <a:r>
              <a:rPr lang="en-US" altLang="zh-CN" dirty="0"/>
              <a:t> </a:t>
            </a:r>
            <a:r>
              <a:rPr lang="zh-CN" altLang="en-US" dirty="0"/>
              <a:t>be</a:t>
            </a:r>
            <a:r>
              <a:rPr lang="en-US" altLang="zh-CN" dirty="0"/>
              <a:t> </a:t>
            </a:r>
            <a:r>
              <a:rPr lang="zh-CN" altLang="en-US" dirty="0"/>
              <a:t>combined</a:t>
            </a:r>
            <a:r>
              <a:rPr lang="en-US" altLang="zh-CN" dirty="0"/>
              <a:t> </a:t>
            </a:r>
            <a:r>
              <a:rPr lang="zh-CN" altLang="en-US" dirty="0"/>
              <a:t>to</a:t>
            </a:r>
            <a:r>
              <a:rPr lang="en-US" altLang="zh-CN" dirty="0"/>
              <a:t> </a:t>
            </a:r>
            <a:r>
              <a:rPr lang="zh-CN" altLang="en-US" dirty="0"/>
              <a:t>form</a:t>
            </a:r>
            <a:r>
              <a:rPr lang="en-US" altLang="zh-CN" dirty="0"/>
              <a:t> </a:t>
            </a:r>
            <a:r>
              <a:rPr lang="zh-CN" altLang="en-US" dirty="0"/>
              <a:t>systems</a:t>
            </a:r>
            <a:r>
              <a:rPr lang="en-US" altLang="zh-CN" dirty="0"/>
              <a:t> (i.e., </a:t>
            </a:r>
            <a:r>
              <a:rPr lang="en-US" altLang="zh-CN" dirty="0">
                <a:solidFill>
                  <a:srgbClr val="C00000"/>
                </a:solidFill>
              </a:rPr>
              <a:t>for system design</a:t>
            </a:r>
            <a:r>
              <a:rPr lang="en-US" altLang="zh-CN" dirty="0"/>
              <a:t>)</a:t>
            </a:r>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452232" y="3629718"/>
            <a:ext cx="6666367" cy="3228415"/>
          </a:xfrm>
          <a:prstGeom prst="rect">
            <a:avLst/>
          </a:prstGeom>
        </p:spPr>
      </p:pic>
      <p:sp>
        <p:nvSpPr>
          <p:cNvPr id="6" name="Rectangle 5"/>
          <p:cNvSpPr/>
          <p:nvPr/>
        </p:nvSpPr>
        <p:spPr>
          <a:xfrm>
            <a:off x="3052483" y="5009031"/>
            <a:ext cx="981636" cy="4303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092389" y="5009031"/>
            <a:ext cx="981636" cy="4303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159698" y="1028700"/>
            <a:ext cx="7757160" cy="4904105"/>
          </a:xfrm>
          <a:prstGeom prst="rect">
            <a:avLst/>
          </a:prstGeom>
        </p:spPr>
      </p:pic>
      <p:sp>
        <p:nvSpPr>
          <p:cNvPr id="2" name="标题 1"/>
          <p:cNvSpPr>
            <a:spLocks noGrp="1"/>
          </p:cNvSpPr>
          <p:nvPr>
            <p:ph type="title"/>
          </p:nvPr>
        </p:nvSpPr>
        <p:spPr>
          <a:xfrm>
            <a:off x="1091565" y="238125"/>
            <a:ext cx="9015095" cy="790575"/>
          </a:xfrm>
        </p:spPr>
        <p:txBody>
          <a:bodyPr>
            <a:normAutofit/>
          </a:bodyPr>
          <a:lstStyle/>
          <a:p>
            <a:r>
              <a:rPr lang="zh-CN" altLang="en-US"/>
              <a:t>An</a:t>
            </a:r>
            <a:r>
              <a:rPr lang="en-US" altLang="zh-CN"/>
              <a:t> </a:t>
            </a:r>
            <a:r>
              <a:rPr lang="zh-CN" altLang="en-US"/>
              <a:t>Old</a:t>
            </a:r>
            <a:r>
              <a:rPr lang="en-US" altLang="zh-CN"/>
              <a:t> </a:t>
            </a:r>
            <a:r>
              <a:rPr lang="zh-CN" altLang="en-US"/>
              <a:t>Exam</a:t>
            </a:r>
            <a:r>
              <a:rPr lang="en-US" altLang="zh-CN"/>
              <a:t> </a:t>
            </a:r>
            <a:r>
              <a:rPr lang="zh-CN" altLang="en-US"/>
              <a:t>Ques</a:t>
            </a:r>
            <a:r>
              <a:rPr lang="en-US" altLang="zh-CN"/>
              <a:t>ti</a:t>
            </a:r>
            <a:r>
              <a:rPr lang="zh-CN" altLang="en-US"/>
              <a:t>on</a:t>
            </a:r>
            <a:endParaRPr lang="zh-CN" altLang="en-US"/>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8" name="Block Arc 7"/>
          <p:cNvSpPr/>
          <p:nvPr/>
        </p:nvSpPr>
        <p:spPr>
          <a:xfrm>
            <a:off x="7303705" y="4140933"/>
            <a:ext cx="725213" cy="609600"/>
          </a:xfrm>
          <a:prstGeom prst="blockArc">
            <a:avLst>
              <a:gd name="adj1" fmla="val 10800000"/>
              <a:gd name="adj2" fmla="val 93518"/>
              <a:gd name="adj3" fmla="val 4344"/>
            </a:avLst>
          </a:prstGeom>
          <a:solidFill>
            <a:schemeClr val="tx1"/>
          </a:solidFill>
          <a:ln>
            <a:solidFill>
              <a:srgbClr val="017A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Block Arc 8"/>
          <p:cNvSpPr/>
          <p:nvPr/>
        </p:nvSpPr>
        <p:spPr>
          <a:xfrm rot="16200000">
            <a:off x="3368490" y="3267637"/>
            <a:ext cx="576206" cy="544605"/>
          </a:xfrm>
          <a:prstGeom prst="blockArc">
            <a:avLst>
              <a:gd name="adj1" fmla="val 10800000"/>
              <a:gd name="adj2" fmla="val 295421"/>
              <a:gd name="adj3" fmla="val 1997"/>
            </a:avLst>
          </a:prstGeom>
          <a:noFill/>
          <a:ln>
            <a:solidFill>
              <a:srgbClr val="017A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Block Arc 9"/>
          <p:cNvSpPr/>
          <p:nvPr/>
        </p:nvSpPr>
        <p:spPr>
          <a:xfrm rot="10800000">
            <a:off x="7375713" y="2454089"/>
            <a:ext cx="576206" cy="544605"/>
          </a:xfrm>
          <a:prstGeom prst="blockArc">
            <a:avLst>
              <a:gd name="adj1" fmla="val 10800000"/>
              <a:gd name="adj2" fmla="val 295421"/>
              <a:gd name="adj3" fmla="val 1997"/>
            </a:avLst>
          </a:prstGeom>
          <a:noFill/>
          <a:ln>
            <a:solidFill>
              <a:srgbClr val="017AB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Comparison of Virtualization </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006165" y="1939533"/>
            <a:ext cx="6179670" cy="240081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10211484" cy="790865"/>
          </a:xfrm>
        </p:spPr>
        <p:txBody>
          <a:bodyPr>
            <a:noAutofit/>
          </a:bodyPr>
          <a:lstStyle/>
          <a:p>
            <a:r>
              <a:rPr lang="en-US" altLang="zh-CN" dirty="0"/>
              <a:t>Security Techniques: </a:t>
            </a:r>
            <a:r>
              <a:rPr lang="en-US" altLang="zh-CN" dirty="0" err="1"/>
              <a:t>AuthN</a:t>
            </a:r>
            <a:r>
              <a:rPr lang="en-US" altLang="zh-CN" dirty="0"/>
              <a:t> and </a:t>
            </a:r>
            <a:r>
              <a:rPr lang="en-US" altLang="zh-CN" dirty="0" err="1"/>
              <a:t>AuthZ</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TextBox 3"/>
          <p:cNvSpPr txBox="1"/>
          <p:nvPr/>
        </p:nvSpPr>
        <p:spPr>
          <a:xfrm>
            <a:off x="572376" y="1591061"/>
            <a:ext cx="10946524"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Authentication (</a:t>
            </a:r>
            <a:r>
              <a:rPr lang="en-US" altLang="zh-CN" sz="2000" b="1" dirty="0" err="1">
                <a:solidFill>
                  <a:srgbClr val="515223"/>
                </a:solidFill>
                <a:latin typeface="Helvetica" pitchFamily="2" charset="0"/>
                <a:cs typeface="Arial" panose="020B0604020202090204" pitchFamily="34" charset="0"/>
              </a:rPr>
              <a:t>AuthN</a:t>
            </a:r>
            <a:r>
              <a:rPr lang="en-US" altLang="zh-CN" sz="2000" b="1" dirty="0">
                <a:solidFill>
                  <a:srgbClr val="515223"/>
                </a:solidFill>
                <a:latin typeface="Helvetica" pitchFamily="2" charset="0"/>
                <a:cs typeface="Arial" panose="020B0604020202090204" pitchFamily="34" charset="0"/>
              </a:rPr>
              <a:t>)</a:t>
            </a:r>
            <a:r>
              <a:rPr lang="en-US" altLang="zh-CN" sz="2000" dirty="0"/>
              <a:t> establishes the identity of an agent:</a:t>
            </a:r>
            <a:endParaRPr lang="en-US" altLang="zh-CN" sz="2000" dirty="0"/>
          </a:p>
          <a:p>
            <a:pPr lvl="1"/>
            <a:r>
              <a:rPr lang="en-US" altLang="zh-CN" sz="2000" dirty="0"/>
              <a:t>	What does the agent know (e.g., password)?</a:t>
            </a:r>
            <a:endParaRPr lang="en-US" altLang="zh-CN" sz="2000" dirty="0"/>
          </a:p>
          <a:p>
            <a:pPr lvl="1"/>
            <a:r>
              <a:rPr lang="en-US" altLang="zh-CN" sz="2000" dirty="0"/>
              <a:t>	What does the agent possess (e.g., smart card)?</a:t>
            </a:r>
            <a:endParaRPr lang="en-US" altLang="zh-CN" sz="2000" dirty="0"/>
          </a:p>
          <a:p>
            <a:pPr lvl="1"/>
            <a:r>
              <a:rPr lang="en-US" altLang="zh-CN" sz="2000" dirty="0"/>
              <a:t>	What does the agent have physical access to (e.g., </a:t>
            </a:r>
            <a:r>
              <a:rPr lang="en-US" altLang="zh-CN" sz="2000" dirty="0" err="1"/>
              <a:t>crt</a:t>
            </a:r>
            <a:r>
              <a:rPr lang="en-US" altLang="zh-CN" sz="2000" dirty="0"/>
              <a:t>-alt-del)?</a:t>
            </a:r>
            <a:endParaRPr lang="en-US" altLang="zh-CN" sz="2000" dirty="0"/>
          </a:p>
          <a:p>
            <a:pPr lvl="1"/>
            <a:r>
              <a:rPr lang="en-US" altLang="zh-CN" sz="2000" dirty="0"/>
              <a:t>	What are the physical properties of the agent (e.g., fingerprint)?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Authorization (</a:t>
            </a:r>
            <a:r>
              <a:rPr lang="en-US" altLang="zh-CN" sz="2000" b="1" dirty="0" err="1">
                <a:solidFill>
                  <a:srgbClr val="515223"/>
                </a:solidFill>
                <a:latin typeface="Helvetica" pitchFamily="2" charset="0"/>
                <a:cs typeface="Arial" panose="020B0604020202090204" pitchFamily="34" charset="0"/>
              </a:rPr>
              <a:t>AuthZ</a:t>
            </a:r>
            <a:r>
              <a:rPr lang="en-US" altLang="zh-CN" sz="2000" b="1" dirty="0">
                <a:solidFill>
                  <a:srgbClr val="515223"/>
                </a:solidFill>
                <a:latin typeface="Helvetica" pitchFamily="2" charset="0"/>
                <a:cs typeface="Arial" panose="020B0604020202090204" pitchFamily="34" charset="0"/>
              </a:rPr>
              <a:t>) </a:t>
            </a:r>
            <a:r>
              <a:rPr lang="en-US" altLang="zh-CN" sz="2000" dirty="0"/>
              <a:t>establishes what an authenticated agent may do:</a:t>
            </a:r>
            <a:endParaRPr lang="en-US" altLang="zh-CN" sz="2000" dirty="0"/>
          </a:p>
          <a:p>
            <a:pPr lvl="1"/>
            <a:r>
              <a:rPr lang="en-US" altLang="zh-CN" sz="2000" dirty="0"/>
              <a:t>	Access control lists</a:t>
            </a:r>
            <a:endParaRPr lang="en-US" altLang="zh-CN" sz="2000" dirty="0"/>
          </a:p>
          <a:p>
            <a:pPr lvl="1"/>
            <a:r>
              <a:rPr lang="en-US" altLang="zh-CN" sz="2000" dirty="0"/>
              <a:t>	Group membership </a:t>
            </a:r>
            <a:endParaRPr lang="en-US" altLang="zh-CN" sz="2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91565" y="0"/>
            <a:ext cx="8168208" cy="790865"/>
          </a:xfrm>
        </p:spPr>
        <p:txBody>
          <a:bodyPr>
            <a:normAutofit/>
          </a:bodyPr>
          <a:lstStyle/>
          <a:p>
            <a:pPr>
              <a:lnSpc>
                <a:spcPct val="150000"/>
              </a:lnSpc>
              <a:spcBef>
                <a:spcPts val="600"/>
              </a:spcBef>
            </a:pPr>
            <a:r>
              <a:rPr lang="en-US" altLang="zh-CN" sz="3600" b="1" dirty="0">
                <a:solidFill>
                  <a:srgbClr val="515223"/>
                </a:solidFill>
                <a:latin typeface="Helvetica" pitchFamily="2" charset="0"/>
                <a:cs typeface="Arial" panose="020B0604020202090204" pitchFamily="34" charset="0"/>
              </a:rPr>
              <a:t>Asymmetric vs. Symmetric</a:t>
            </a:r>
            <a:endParaRPr lang="en-US" altLang="zh-CN" sz="3600" b="1" dirty="0">
              <a:solidFill>
                <a:srgbClr val="515223"/>
              </a:solidFill>
              <a:latin typeface="Helvetica" pitchFamily="2" charset="0"/>
              <a:cs typeface="Arial" panose="020B0604020202090204" pitchFamily="34" charset="0"/>
            </a:endParaRPr>
          </a:p>
        </p:txBody>
      </p:sp>
      <p:sp>
        <p:nvSpPr>
          <p:cNvPr id="3" name="灯片编号占位符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2" name="Picture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1503" y="1162487"/>
            <a:ext cx="5492824" cy="3041651"/>
          </a:xfrm>
          <a:prstGeom prst="rect">
            <a:avLst/>
          </a:prstGeom>
        </p:spPr>
      </p:pic>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2746" y="3427879"/>
            <a:ext cx="5157752" cy="2807383"/>
          </a:xfrm>
          <a:prstGeom prst="rect">
            <a:avLst/>
          </a:prstGeom>
        </p:spPr>
      </p:pic>
      <p:sp>
        <p:nvSpPr>
          <p:cNvPr id="15" name="TextBox 14"/>
          <p:cNvSpPr txBox="1"/>
          <p:nvPr/>
        </p:nvSpPr>
        <p:spPr>
          <a:xfrm>
            <a:off x="608881" y="4285539"/>
            <a:ext cx="6580195" cy="923330"/>
          </a:xfrm>
          <a:prstGeom prst="rect">
            <a:avLst/>
          </a:prstGeom>
          <a:noFill/>
        </p:spPr>
        <p:txBody>
          <a:bodyPr wrap="square" rtlCol="0">
            <a:spAutoFit/>
          </a:bodyPr>
          <a:lstStyle/>
          <a:p>
            <a:r>
              <a:rPr lang="en-US" altLang="zh-CN" sz="1800" b="1" dirty="0">
                <a:solidFill>
                  <a:srgbClr val="515223"/>
                </a:solidFill>
                <a:latin typeface="Helvetica" pitchFamily="2" charset="0"/>
                <a:cs typeface="Arial" panose="020B0604020202090204" pitchFamily="34" charset="0"/>
              </a:rPr>
              <a:t>Symmetric Encryption</a:t>
            </a:r>
            <a:endParaRPr lang="en-US" dirty="0"/>
          </a:p>
          <a:p>
            <a:r>
              <a:rPr lang="en-US" dirty="0"/>
              <a:t>	Generated by one side, shared among multple sides</a:t>
            </a:r>
            <a:endParaRPr lang="en-US" dirty="0"/>
          </a:p>
          <a:p>
            <a:r>
              <a:rPr lang="en-US" dirty="0"/>
              <a:t>	Fast, but risky (key distribution)</a:t>
            </a:r>
            <a:endParaRPr lang="en-US" dirty="0"/>
          </a:p>
        </p:txBody>
      </p:sp>
      <p:sp>
        <p:nvSpPr>
          <p:cNvPr id="16" name="TextBox 15"/>
          <p:cNvSpPr txBox="1"/>
          <p:nvPr/>
        </p:nvSpPr>
        <p:spPr>
          <a:xfrm>
            <a:off x="5837778" y="1604537"/>
            <a:ext cx="6172719" cy="923330"/>
          </a:xfrm>
          <a:prstGeom prst="rect">
            <a:avLst/>
          </a:prstGeom>
          <a:noFill/>
        </p:spPr>
        <p:txBody>
          <a:bodyPr wrap="square" rtlCol="0">
            <a:spAutoFit/>
          </a:bodyPr>
          <a:lstStyle/>
          <a:p>
            <a:r>
              <a:rPr lang="en-US" altLang="zh-CN" sz="1800" b="1" dirty="0">
                <a:solidFill>
                  <a:srgbClr val="515223"/>
                </a:solidFill>
                <a:latin typeface="Helvetica" pitchFamily="2" charset="0"/>
                <a:cs typeface="Arial" panose="020B0604020202090204" pitchFamily="34" charset="0"/>
              </a:rPr>
              <a:t>Asymmetric Encryption</a:t>
            </a:r>
            <a:endParaRPr lang="en-US" dirty="0"/>
          </a:p>
          <a:p>
            <a:r>
              <a:rPr lang="en-US" dirty="0"/>
              <a:t>	Generated by one side, only public key is shared</a:t>
            </a:r>
            <a:endParaRPr lang="en-US" dirty="0"/>
          </a:p>
          <a:p>
            <a:r>
              <a:rPr lang="en-US" dirty="0"/>
              <a:t>	Secure, but high overhead for PC</a:t>
            </a:r>
            <a:endParaRPr lang="en-US" dirty="0"/>
          </a:p>
        </p:txBody>
      </p:sp>
      <p:sp>
        <p:nvSpPr>
          <p:cNvPr id="17" name="TextBox 16"/>
          <p:cNvSpPr txBox="1"/>
          <p:nvPr/>
        </p:nvSpPr>
        <p:spPr>
          <a:xfrm>
            <a:off x="740187" y="2179205"/>
            <a:ext cx="351378" cy="369332"/>
          </a:xfrm>
          <a:prstGeom prst="rect">
            <a:avLst/>
          </a:prstGeom>
          <a:noFill/>
        </p:spPr>
        <p:txBody>
          <a:bodyPr wrap="none" rtlCol="0">
            <a:spAutoFit/>
          </a:bodyPr>
          <a:lstStyle/>
          <a:p>
            <a:r>
              <a:rPr lang="en-US" dirty="0"/>
              <a:t>X</a:t>
            </a:r>
            <a:endParaRPr lang="en-US" dirty="0"/>
          </a:p>
        </p:txBody>
      </p:sp>
      <p:sp>
        <p:nvSpPr>
          <p:cNvPr id="18" name="TextBox 17"/>
          <p:cNvSpPr txBox="1"/>
          <p:nvPr/>
        </p:nvSpPr>
        <p:spPr>
          <a:xfrm>
            <a:off x="4999980" y="2179205"/>
            <a:ext cx="351378" cy="369332"/>
          </a:xfrm>
          <a:prstGeom prst="rect">
            <a:avLst/>
          </a:prstGeom>
          <a:noFill/>
        </p:spPr>
        <p:txBody>
          <a:bodyPr wrap="none" rtlCol="0">
            <a:spAutoFit/>
          </a:bodyPr>
          <a:lstStyle/>
          <a:p>
            <a:r>
              <a:rPr lang="en-US" dirty="0"/>
              <a:t>Y</a:t>
            </a:r>
            <a:endParaRPr lang="en-US" dirty="0"/>
          </a:p>
        </p:txBody>
      </p:sp>
      <p:sp>
        <p:nvSpPr>
          <p:cNvPr id="19" name="TextBox 18"/>
          <p:cNvSpPr txBox="1"/>
          <p:nvPr/>
        </p:nvSpPr>
        <p:spPr>
          <a:xfrm>
            <a:off x="7189076" y="4389272"/>
            <a:ext cx="351378" cy="369332"/>
          </a:xfrm>
          <a:prstGeom prst="rect">
            <a:avLst/>
          </a:prstGeom>
          <a:noFill/>
        </p:spPr>
        <p:txBody>
          <a:bodyPr wrap="none" rtlCol="0">
            <a:spAutoFit/>
          </a:bodyPr>
          <a:lstStyle/>
          <a:p>
            <a:r>
              <a:rPr lang="en-US" dirty="0"/>
              <a:t>X</a:t>
            </a:r>
            <a:endParaRPr lang="en-US" dirty="0"/>
          </a:p>
        </p:txBody>
      </p:sp>
      <p:sp>
        <p:nvSpPr>
          <p:cNvPr id="20" name="TextBox 19"/>
          <p:cNvSpPr txBox="1"/>
          <p:nvPr/>
        </p:nvSpPr>
        <p:spPr>
          <a:xfrm>
            <a:off x="11343211" y="4389272"/>
            <a:ext cx="351378" cy="369332"/>
          </a:xfrm>
          <a:prstGeom prst="rect">
            <a:avLst/>
          </a:prstGeom>
          <a:noFill/>
        </p:spPr>
        <p:txBody>
          <a:bodyPr wrap="none" rtlCol="0">
            <a:spAutoFit/>
          </a:bodyPr>
          <a:lstStyle/>
          <a:p>
            <a:r>
              <a:rPr lang="en-US" dirty="0"/>
              <a:t>Y</a:t>
            </a:r>
            <a:endParaRPr 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Look for Bottlenecks: CPU Performance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53515"/>
            <a:ext cx="11163995"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CPU performance is a limiting constraint in certain domains, e.g.: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	large data analysis (e.g., searching)</a:t>
            </a:r>
            <a:endParaRPr lang="en-US" altLang="zh-CN" sz="2000" dirty="0"/>
          </a:p>
          <a:p>
            <a:pPr marL="800100" lvl="1" indent="-342900">
              <a:buFont typeface="Arial" panose="020B0604020202090204" pitchFamily="34" charset="0"/>
              <a:buChar char="•"/>
            </a:pPr>
            <a:endParaRPr lang="en-US" altLang="zh-CN" sz="2000" dirty="0"/>
          </a:p>
          <a:p>
            <a:pPr lvl="1"/>
            <a:r>
              <a:rPr lang="en-US" altLang="zh-CN" sz="2000" dirty="0"/>
              <a:t>	mathematical computation (e.g., feature engineering)</a:t>
            </a:r>
            <a:endParaRPr lang="en-US" altLang="zh-CN" sz="2000" dirty="0"/>
          </a:p>
          <a:p>
            <a:pPr marL="800100" lvl="1" indent="-342900">
              <a:buFont typeface="Arial" panose="020B0604020202090204" pitchFamily="34" charset="0"/>
              <a:buChar char="•"/>
            </a:pPr>
            <a:endParaRPr lang="en-US" altLang="zh-CN" sz="2000" dirty="0"/>
          </a:p>
          <a:p>
            <a:pPr lvl="1"/>
            <a:r>
              <a:rPr lang="en-US" altLang="zh-CN" sz="2000" dirty="0"/>
              <a:t>	compression and encryption</a:t>
            </a:r>
            <a:endParaRPr lang="en-US" altLang="zh-CN" sz="2000" dirty="0"/>
          </a:p>
          <a:p>
            <a:pPr marL="800100" lvl="1" indent="-342900">
              <a:buFont typeface="Arial" panose="020B0604020202090204" pitchFamily="34" charset="0"/>
              <a:buChar char="•"/>
            </a:pPr>
            <a:endParaRPr lang="en-US" altLang="zh-CN" sz="2000" dirty="0"/>
          </a:p>
          <a:p>
            <a:pPr lvl="1"/>
            <a:r>
              <a:rPr lang="en-US" altLang="zh-CN" sz="2000" dirty="0"/>
              <a:t>	multimedia (e.g., video)</a:t>
            </a:r>
            <a:endParaRPr lang="en-US" altLang="zh-CN" sz="2000" dirty="0"/>
          </a:p>
          <a:p>
            <a:pPr marL="800100" lvl="1" indent="-342900">
              <a:buFont typeface="Arial" panose="020B0604020202090204" pitchFamily="34" charset="0"/>
              <a:buChar char="•"/>
            </a:pPr>
            <a:endParaRPr lang="en-US" altLang="zh-CN" sz="2000" dirty="0"/>
          </a:p>
          <a:p>
            <a:pPr lvl="1"/>
            <a:r>
              <a:rPr lang="en-US" altLang="zh-CN" sz="2000" dirty="0"/>
              <a:t>	perception (e.g., image processing) </a:t>
            </a:r>
            <a:endParaRPr lang="zh-CN" alt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Look for Bottlenecks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738113"/>
            <a:ext cx="11619625" cy="3477875"/>
          </a:xfrm>
          <a:prstGeom prst="rect">
            <a:avLst/>
          </a:prstGeom>
          <a:noFill/>
        </p:spPr>
        <p:txBody>
          <a:bodyPr wrap="square">
            <a:spAutoFit/>
          </a:bodyPr>
          <a:lstStyle/>
          <a:p>
            <a:r>
              <a:rPr lang="en-US" altLang="zh-CN" sz="2000" b="1" dirty="0">
                <a:solidFill>
                  <a:srgbClr val="C00000"/>
                </a:solidFill>
              </a:rPr>
              <a:t>BUT</a:t>
            </a:r>
            <a:r>
              <a:rPr lang="en-US" altLang="zh-CN" sz="2000" dirty="0"/>
              <a:t>, CPU performance is usually not the limiting factor, as multi-core machines are common today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Hardware bottlenecks</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	Reading data from disk</a:t>
            </a:r>
            <a:endParaRPr lang="en-US" altLang="zh-CN" sz="2000" dirty="0"/>
          </a:p>
          <a:p>
            <a:pPr lvl="1"/>
            <a:r>
              <a:rPr lang="en-US" altLang="zh-CN" sz="2000" dirty="0"/>
              <a:t>	Shortage of memory (including paging)</a:t>
            </a:r>
            <a:endParaRPr lang="en-US" altLang="zh-CN" sz="2000" dirty="0"/>
          </a:p>
          <a:p>
            <a:pPr lvl="1"/>
            <a:r>
              <a:rPr lang="en-US" altLang="zh-CN" sz="2000" dirty="0"/>
              <a:t>	Moving data from memory to CPU</a:t>
            </a:r>
            <a:endParaRPr lang="en-US" altLang="zh-CN" sz="2000" dirty="0"/>
          </a:p>
          <a:p>
            <a:pPr lvl="1"/>
            <a:r>
              <a:rPr lang="en-US" altLang="zh-CN" sz="2000" dirty="0"/>
              <a:t>	Network capacity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Inefficient software</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	Algorithms that do not scale well (e.g., in legacy systems)</a:t>
            </a:r>
            <a:endParaRPr lang="en-US" altLang="zh-CN" sz="2000" dirty="0"/>
          </a:p>
          <a:p>
            <a:pPr lvl="1"/>
            <a:r>
              <a:rPr lang="en-US" altLang="zh-CN" sz="2000" dirty="0"/>
              <a:t>	Parallel and sequential processing </a:t>
            </a:r>
            <a:endParaRPr lang="en-US" altLang="zh-CN"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Mathematical Models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1981611"/>
            <a:ext cx="11163995"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Queueing theory </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Good estimates of congestion can be made for single-server queues with: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	Arrivals that are independent, random events (Poisson process)</a:t>
            </a:r>
            <a:endParaRPr lang="en-US" altLang="zh-CN" sz="2000" dirty="0"/>
          </a:p>
          <a:p>
            <a:pPr lvl="1"/>
            <a:r>
              <a:rPr lang="en-US" altLang="zh-CN" sz="2000" dirty="0"/>
              <a:t>	Service times that follow families of distributions (e.g., negative exponential, gamma)</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Many of the results can be extended to multi-server queues. </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i="1" dirty="0"/>
              <a:t>Much of the early work in queueing theory by Erlang was to model congestion in telephone networks.</a:t>
            </a:r>
            <a:endParaRPr lang="en-US" altLang="zh-CN" sz="2000" i="1"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CN" dirty="0"/>
              <a:t>Program Design</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4" name="TextBox 3"/>
          <p:cNvSpPr txBox="1"/>
          <p:nvPr/>
        </p:nvSpPr>
        <p:spPr>
          <a:xfrm>
            <a:off x="572376" y="1918459"/>
            <a:ext cx="10946524" cy="2554545"/>
          </a:xfrm>
          <a:prstGeom prst="rect">
            <a:avLst/>
          </a:prstGeom>
          <a:noFill/>
        </p:spPr>
        <p:txBody>
          <a:bodyPr wrap="square">
            <a:spAutoFit/>
          </a:bodyPr>
          <a:lstStyle/>
          <a:p>
            <a:r>
              <a:rPr lang="en-US" altLang="zh-CN" sz="2000" dirty="0"/>
              <a:t>The task of </a:t>
            </a:r>
            <a:r>
              <a:rPr lang="en-US" altLang="zh-CN" sz="2000" dirty="0">
                <a:solidFill>
                  <a:srgbClr val="FF0000"/>
                </a:solidFill>
              </a:rPr>
              <a:t>program design </a:t>
            </a:r>
            <a:r>
              <a:rPr lang="en-US" altLang="zh-CN" sz="2000" dirty="0"/>
              <a:t>is to represent the software architecture in a form that can be implemented as one or more executable programs.</a:t>
            </a:r>
            <a:endParaRPr lang="en-US" altLang="zh-CN" sz="2000" dirty="0"/>
          </a:p>
          <a:p>
            <a:endParaRPr lang="en-US" altLang="zh-CN" sz="2000" dirty="0"/>
          </a:p>
          <a:p>
            <a:endParaRPr lang="en-US" altLang="zh-CN" sz="2000" dirty="0"/>
          </a:p>
          <a:p>
            <a:r>
              <a:rPr lang="en-US" altLang="zh-CN" sz="2000" dirty="0"/>
              <a:t>Given a system architecture, the </a:t>
            </a:r>
            <a:r>
              <a:rPr lang="en-US" altLang="zh-CN" sz="2000" dirty="0">
                <a:solidFill>
                  <a:srgbClr val="FF0000"/>
                </a:solidFill>
              </a:rPr>
              <a:t>program design </a:t>
            </a:r>
            <a:r>
              <a:rPr lang="en-US" altLang="zh-CN" sz="2000" dirty="0"/>
              <a:t>specifies:</a:t>
            </a:r>
            <a:endParaRPr lang="en-US" altLang="zh-CN" sz="2000" dirty="0"/>
          </a:p>
          <a:p>
            <a:pPr marL="800100" lvl="1" indent="-342900">
              <a:buFont typeface="Arial" panose="020B0604020202090204" pitchFamily="34" charset="0"/>
              <a:buChar char="•"/>
            </a:pPr>
            <a:r>
              <a:rPr lang="en-US" altLang="zh-CN" sz="2000" dirty="0"/>
              <a:t>programs, components, packages, classes, class hierarchies, etc.</a:t>
            </a:r>
            <a:endParaRPr lang="en-US" altLang="zh-CN" sz="2000" dirty="0"/>
          </a:p>
          <a:p>
            <a:pPr marL="800100" lvl="1" indent="-342900">
              <a:buFont typeface="Arial" panose="020B0604020202090204" pitchFamily="34" charset="0"/>
              <a:buChar char="•"/>
            </a:pPr>
            <a:r>
              <a:rPr lang="en-US" altLang="zh-CN" sz="2000" dirty="0"/>
              <a:t>interfaces, protocols (where not part of the system architecture)</a:t>
            </a:r>
            <a:endParaRPr lang="en-US" altLang="zh-CN" sz="2000" dirty="0"/>
          </a:p>
          <a:p>
            <a:pPr marL="800100" lvl="1" indent="-342900">
              <a:buFont typeface="Arial" panose="020B0604020202090204" pitchFamily="34" charset="0"/>
              <a:buChar char="•"/>
            </a:pPr>
            <a:r>
              <a:rPr lang="en-US" altLang="zh-CN" sz="2000" dirty="0"/>
              <a:t>algorithms, data structures, security mechanisms, operational procedures </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en-US" altLang="zh-CN" dirty="0"/>
              <a:t>Generalization/Inheritance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715020" y="1377898"/>
            <a:ext cx="10917798" cy="1015663"/>
          </a:xfrm>
          <a:prstGeom prst="rect">
            <a:avLst/>
          </a:prstGeom>
          <a:noFill/>
        </p:spPr>
        <p:txBody>
          <a:bodyPr wrap="square">
            <a:spAutoFit/>
          </a:bodyPr>
          <a:lstStyle/>
          <a:p>
            <a:r>
              <a:rPr lang="en-US" sz="2000" dirty="0"/>
              <a:t>A generalization is a taxonomic relationship between a more general class and a more specific class. Each instance of the specific classifier is also an indirect instance of the general class. Thus, the specific class inherits the features of the more general class.</a:t>
            </a:r>
            <a:endParaRPr lang="en-US" sz="2000"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375245" y="3163923"/>
            <a:ext cx="3111500" cy="2235200"/>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8712621" cy="790865"/>
          </a:xfrm>
        </p:spPr>
        <p:txBody>
          <a:bodyPr>
            <a:normAutofit/>
          </a:bodyPr>
          <a:lstStyle/>
          <a:p>
            <a:r>
              <a:rPr lang="en-US" altLang="zh-CN" dirty="0"/>
              <a:t>Realization</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472096" y="1028699"/>
            <a:ext cx="10917798" cy="1015663"/>
          </a:xfrm>
          <a:prstGeom prst="rect">
            <a:avLst/>
          </a:prstGeom>
          <a:noFill/>
        </p:spPr>
        <p:txBody>
          <a:bodyPr wrap="square">
            <a:spAutoFit/>
          </a:bodyPr>
          <a:lstStyle/>
          <a:p>
            <a:r>
              <a:rPr lang="en-US" sz="2000" b="1" dirty="0">
                <a:solidFill>
                  <a:schemeClr val="accent1"/>
                </a:solidFill>
              </a:rPr>
              <a:t>Realization is a relationship between the blueprint class and its derived class containing its respective implementation level details. This object is said to realize the blueprint class. </a:t>
            </a:r>
            <a:endParaRPr lang="en-US" sz="2000" b="1" dirty="0">
              <a:solidFill>
                <a:schemeClr val="accent1"/>
              </a:solidFill>
            </a:endParaRPr>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015027" y="2890299"/>
            <a:ext cx="3967782" cy="2809231"/>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Comparision</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155114" y="1603897"/>
            <a:ext cx="2912217" cy="1618876"/>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8974" y="1499347"/>
            <a:ext cx="4580489" cy="192965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9918" y="2053574"/>
            <a:ext cx="3724013" cy="719522"/>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4503" y="1499347"/>
            <a:ext cx="3442038" cy="680629"/>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9918" y="2684907"/>
            <a:ext cx="3471208" cy="593120"/>
          </a:xfrm>
          <a:prstGeom prst="rect">
            <a:avLst/>
          </a:prstGeom>
        </p:spPr>
      </p:pic>
      <p:sp>
        <p:nvSpPr>
          <p:cNvPr id="10" name="TextBox 9"/>
          <p:cNvSpPr txBox="1"/>
          <p:nvPr/>
        </p:nvSpPr>
        <p:spPr>
          <a:xfrm>
            <a:off x="208429" y="3797971"/>
            <a:ext cx="11858902" cy="2339102"/>
          </a:xfrm>
          <a:prstGeom prst="rect">
            <a:avLst/>
          </a:prstGeom>
          <a:noFill/>
        </p:spPr>
        <p:txBody>
          <a:bodyPr wrap="square">
            <a:spAutoFit/>
          </a:bodyPr>
          <a:lstStyle/>
          <a:p>
            <a:pPr algn="l"/>
            <a:r>
              <a:rPr lang="en-US" sz="2000" b="1" dirty="0">
                <a:solidFill>
                  <a:srgbClr val="C00000"/>
                </a:solidFill>
                <a:latin typeface="Helvetica" pitchFamily="2" charset="0"/>
                <a:cs typeface="Arial" panose="020B0604020202090204" pitchFamily="34" charset="0"/>
              </a:rPr>
              <a:t>Aggregation</a:t>
            </a:r>
            <a:r>
              <a:rPr lang="en-US" sz="2000" b="1" dirty="0">
                <a:solidFill>
                  <a:srgbClr val="515223"/>
                </a:solidFill>
                <a:latin typeface="Helvetica" pitchFamily="2" charset="0"/>
                <a:cs typeface="Arial" panose="020B0604020202090204" pitchFamily="34" charset="0"/>
              </a:rPr>
              <a:t> and </a:t>
            </a:r>
            <a:r>
              <a:rPr lang="en-US" sz="2000" b="1" dirty="0">
                <a:solidFill>
                  <a:srgbClr val="C00000"/>
                </a:solidFill>
                <a:latin typeface="Helvetica" pitchFamily="2" charset="0"/>
                <a:cs typeface="Arial" panose="020B0604020202090204" pitchFamily="34" charset="0"/>
              </a:rPr>
              <a:t>Composition</a:t>
            </a:r>
            <a:r>
              <a:rPr lang="en-US" sz="2000" b="1" dirty="0">
                <a:solidFill>
                  <a:srgbClr val="515223"/>
                </a:solidFill>
                <a:latin typeface="Helvetica" pitchFamily="2" charset="0"/>
                <a:cs typeface="Arial" panose="020B0604020202090204" pitchFamily="34" charset="0"/>
              </a:rPr>
              <a:t> are specific cases of </a:t>
            </a:r>
            <a:r>
              <a:rPr lang="en-US" sz="2000" b="1" dirty="0">
                <a:solidFill>
                  <a:srgbClr val="C00000"/>
                </a:solidFill>
                <a:latin typeface="Helvetica" pitchFamily="2" charset="0"/>
                <a:cs typeface="Arial" panose="020B0604020202090204" pitchFamily="34" charset="0"/>
              </a:rPr>
              <a:t>Association </a:t>
            </a:r>
            <a:endParaRPr lang="en-US" sz="2000" b="1" dirty="0">
              <a:solidFill>
                <a:srgbClr val="C00000"/>
              </a:solidFill>
              <a:latin typeface="Helvetica" pitchFamily="2" charset="0"/>
              <a:cs typeface="Arial" panose="020B0604020202090204" pitchFamily="34" charset="0"/>
            </a:endParaRPr>
          </a:p>
          <a:p>
            <a:pPr algn="l"/>
            <a:r>
              <a:rPr lang="en-US" dirty="0"/>
              <a:t>	In both aggregation and composition object of one class "owns" object of another class</a:t>
            </a:r>
            <a:endParaRPr lang="en-US" dirty="0"/>
          </a:p>
          <a:p>
            <a:pPr algn="l"/>
            <a:endParaRPr lang="en-US" dirty="0"/>
          </a:p>
          <a:p>
            <a:pPr algn="l"/>
            <a:r>
              <a:rPr lang="en-US" dirty="0"/>
              <a:t>	</a:t>
            </a:r>
            <a:r>
              <a:rPr lang="en-US" dirty="0">
                <a:solidFill>
                  <a:srgbClr val="C00000"/>
                </a:solidFill>
              </a:rPr>
              <a:t>Aggregation</a:t>
            </a:r>
            <a:r>
              <a:rPr lang="en-US" dirty="0"/>
              <a:t> implies a relationship where the child can exist independently of the parent. </a:t>
            </a:r>
            <a:endParaRPr lang="en-US" dirty="0"/>
          </a:p>
          <a:p>
            <a:pPr algn="l"/>
            <a:r>
              <a:rPr lang="en-US" dirty="0"/>
              <a:t>	Example: Class (parent) and Student (child). Delete the Class and the Students still exist.</a:t>
            </a:r>
            <a:endParaRPr lang="en-US" dirty="0"/>
          </a:p>
          <a:p>
            <a:pPr algn="l"/>
            <a:endParaRPr lang="en-US" dirty="0"/>
          </a:p>
          <a:p>
            <a:pPr algn="l"/>
            <a:r>
              <a:rPr lang="en-US" dirty="0"/>
              <a:t>	</a:t>
            </a:r>
            <a:r>
              <a:rPr lang="en-US" dirty="0">
                <a:solidFill>
                  <a:srgbClr val="C00000"/>
                </a:solidFill>
              </a:rPr>
              <a:t>Composition</a:t>
            </a:r>
            <a:r>
              <a:rPr lang="en-US" dirty="0"/>
              <a:t> implies a relationship where the child cannot exist independent of the parent. </a:t>
            </a:r>
            <a:endParaRPr lang="en-US" dirty="0"/>
          </a:p>
          <a:p>
            <a:pPr algn="l"/>
            <a:r>
              <a:rPr lang="en-US" dirty="0"/>
              <a:t>	Example: House (parent) and Room (child). Rooms don't exist separate to a House.</a:t>
            </a: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Design Patterns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2572201"/>
            <a:ext cx="9550399"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Design patterns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solidFill>
                  <a:srgbClr val="FF0000"/>
                </a:solidFill>
              </a:rPr>
              <a:t>Design patterns </a:t>
            </a:r>
            <a:r>
              <a:rPr lang="en-US" altLang="zh-CN" sz="2000" dirty="0"/>
              <a:t>are template designs that can be used in a variety of systems. They are particularly appropriate in situations where classes are likely to be reused in a </a:t>
            </a:r>
            <a:r>
              <a:rPr lang="en-US" altLang="zh-CN" sz="2000" dirty="0">
                <a:solidFill>
                  <a:srgbClr val="FF0000"/>
                </a:solidFill>
              </a:rPr>
              <a:t>system that evolves over time</a:t>
            </a:r>
            <a:r>
              <a:rPr lang="en-US" altLang="zh-CN" sz="2000" dirty="0"/>
              <a:t>.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Inheritance and Abstract Classes</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785652"/>
          </a:xfrm>
          <a:prstGeom prst="rect">
            <a:avLst/>
          </a:prstGeom>
          <a:noFill/>
        </p:spPr>
        <p:txBody>
          <a:bodyPr wrap="square">
            <a:spAutoFit/>
          </a:bodyPr>
          <a:lstStyle/>
          <a:p>
            <a:r>
              <a:rPr lang="en-US" altLang="zh-CN" sz="2000" dirty="0"/>
              <a:t>Design patterns make extensive use of </a:t>
            </a:r>
            <a:r>
              <a:rPr lang="en-US" altLang="zh-CN" sz="2000" dirty="0">
                <a:solidFill>
                  <a:srgbClr val="FF0000"/>
                </a:solidFill>
              </a:rPr>
              <a:t>inheritance</a:t>
            </a:r>
            <a:r>
              <a:rPr lang="en-US" altLang="zh-CN" sz="2000" dirty="0"/>
              <a:t> and </a:t>
            </a:r>
            <a:r>
              <a:rPr lang="en-US" altLang="zh-CN" sz="2000" dirty="0">
                <a:solidFill>
                  <a:srgbClr val="FF0000"/>
                </a:solidFill>
              </a:rPr>
              <a:t>realization</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Inheritance (Generalization)</a:t>
            </a:r>
            <a:endParaRPr lang="en-US" altLang="zh-CN" sz="2000" b="1" dirty="0">
              <a:solidFill>
                <a:srgbClr val="515223"/>
              </a:solidFill>
              <a:latin typeface="Helvetica" pitchFamily="2" charset="0"/>
              <a:cs typeface="Arial" panose="020B0604020202090204" pitchFamily="34" charset="0"/>
            </a:endParaRPr>
          </a:p>
          <a:p>
            <a:r>
              <a:rPr lang="en-US" altLang="zh-CN" sz="2000" dirty="0"/>
              <a:t>Classes can be defined in terms of other classes using </a:t>
            </a:r>
            <a:r>
              <a:rPr lang="en-US" altLang="zh-CN" sz="2000" dirty="0">
                <a:solidFill>
                  <a:srgbClr val="FF0000"/>
                </a:solidFill>
              </a:rPr>
              <a:t>inheritance</a:t>
            </a:r>
            <a:r>
              <a:rPr lang="en-US" altLang="zh-CN" sz="2000" dirty="0"/>
              <a:t>. The generalization class is called the </a:t>
            </a:r>
            <a:r>
              <a:rPr lang="en-US" altLang="zh-CN" sz="2000" dirty="0">
                <a:solidFill>
                  <a:srgbClr val="FF0000"/>
                </a:solidFill>
              </a:rPr>
              <a:t>superclass</a:t>
            </a:r>
            <a:r>
              <a:rPr lang="en-US" altLang="zh-CN" sz="2000" dirty="0"/>
              <a:t> and the specialization is called the </a:t>
            </a:r>
            <a:r>
              <a:rPr lang="en-US" altLang="zh-CN" sz="2000" dirty="0">
                <a:solidFill>
                  <a:srgbClr val="FF0000"/>
                </a:solidFill>
              </a:rPr>
              <a:t>subclass</a:t>
            </a:r>
            <a:r>
              <a:rPr lang="en-US" altLang="zh-CN" sz="2000" dirty="0"/>
              <a:t>.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Realization</a:t>
            </a:r>
            <a:endParaRPr lang="en-US" altLang="zh-CN" sz="2000" b="1" dirty="0">
              <a:solidFill>
                <a:srgbClr val="515223"/>
              </a:solidFill>
              <a:latin typeface="Helvetica" pitchFamily="2" charset="0"/>
              <a:cs typeface="Arial" panose="020B0604020202090204" pitchFamily="34" charset="0"/>
            </a:endParaRPr>
          </a:p>
          <a:p>
            <a:r>
              <a:rPr lang="en-US" altLang="zh-CN" sz="2000" dirty="0"/>
              <a:t>In </a:t>
            </a:r>
            <a:r>
              <a:rPr lang="en-US" altLang="zh-CN" sz="2000" dirty="0">
                <a:solidFill>
                  <a:srgbClr val="FF0000"/>
                </a:solidFill>
              </a:rPr>
              <a:t>realization</a:t>
            </a:r>
            <a:r>
              <a:rPr lang="en-US" altLang="zh-CN" sz="2000" dirty="0"/>
              <a:t>, </a:t>
            </a:r>
            <a:r>
              <a:rPr lang="en-US" altLang="zh-CN" sz="2000" dirty="0" err="1">
                <a:solidFill>
                  <a:srgbClr val="FF0000"/>
                </a:solidFill>
              </a:rPr>
              <a:t>superclasses</a:t>
            </a:r>
            <a:r>
              <a:rPr lang="en-US" altLang="zh-CN" sz="2000" dirty="0"/>
              <a:t> which contain </a:t>
            </a:r>
            <a:r>
              <a:rPr lang="en-US" altLang="zh-CN" sz="2000" dirty="0">
                <a:solidFill>
                  <a:srgbClr val="FF0000"/>
                </a:solidFill>
              </a:rPr>
              <a:t>abstract methods </a:t>
            </a:r>
            <a:r>
              <a:rPr lang="en-US" altLang="zh-CN" sz="2000" dirty="0"/>
              <a:t>are defined such that concrete </a:t>
            </a:r>
            <a:r>
              <a:rPr lang="en-US" altLang="zh-CN" sz="2000" dirty="0">
                <a:solidFill>
                  <a:srgbClr val="FF0000"/>
                </a:solidFill>
              </a:rPr>
              <a:t>subclasses</a:t>
            </a:r>
            <a:r>
              <a:rPr lang="en-US" altLang="zh-CN" sz="2000" dirty="0"/>
              <a:t> extend them by implementing the abstract methods </a:t>
            </a:r>
            <a:r>
              <a:rPr lang="en-US" altLang="zh-CN" sz="2000" dirty="0">
                <a:solidFill>
                  <a:srgbClr val="FF0000"/>
                </a:solidFill>
              </a:rPr>
              <a:t>(interface)</a:t>
            </a:r>
            <a:r>
              <a:rPr lang="en-US" altLang="zh-CN" sz="2000" dirty="0"/>
              <a:t>. Before a class derived from an abstract class can be instantiated it must implement </a:t>
            </a:r>
            <a:r>
              <a:rPr lang="en-US" altLang="zh-CN" sz="2000" dirty="0">
                <a:solidFill>
                  <a:srgbClr val="FF0000"/>
                </a:solidFill>
              </a:rPr>
              <a:t>concrete methods </a:t>
            </a:r>
            <a:r>
              <a:rPr lang="en-US" altLang="zh-CN" sz="2000" dirty="0"/>
              <a:t>for all the abstract methods of its parent classes.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Adapter (Wrapper): Wrapping Around Legacy Code</a:t>
            </a:r>
            <a:endParaRPr lang="en-US" sz="8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Convert the </a:t>
            </a:r>
            <a:r>
              <a:rPr lang="en-US" altLang="zh-CN" sz="2000" dirty="0">
                <a:solidFill>
                  <a:srgbClr val="FF0000"/>
                </a:solidFill>
              </a:rPr>
              <a:t>interface</a:t>
            </a:r>
            <a:r>
              <a:rPr lang="en-US" altLang="zh-CN" sz="2000" dirty="0"/>
              <a:t> of a </a:t>
            </a:r>
            <a:r>
              <a:rPr lang="en-US" altLang="zh-CN" sz="2000" dirty="0">
                <a:solidFill>
                  <a:srgbClr val="FF0000"/>
                </a:solidFill>
              </a:rPr>
              <a:t>legacy class </a:t>
            </a:r>
            <a:r>
              <a:rPr lang="en-US" altLang="zh-CN" sz="2000" dirty="0"/>
              <a:t>into a different interface expected by the client, so that the client and the legacy class can work together without changes. </a:t>
            </a:r>
            <a:endParaRPr lang="en-US" altLang="zh-CN" sz="2000" dirty="0"/>
          </a:p>
          <a:p>
            <a:pPr lvl="1"/>
            <a:r>
              <a:rPr lang="en-US" altLang="zh-CN" sz="2000" dirty="0"/>
              <a:t>This problem often occurs during a transitional period, when the long</a:t>
            </a:r>
            <a:r>
              <a:rPr lang="zh-CN" altLang="en-US" sz="2000" dirty="0"/>
              <a:t> </a:t>
            </a:r>
            <a:r>
              <a:rPr lang="en-US" altLang="zh-CN" sz="2000" dirty="0"/>
              <a:t>term plan is to phase out the legacy system.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How do you use a web browser to access an information retrieval system that was designed for a different client?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Adapter Design Pattern: The Problem</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0275" y="1401690"/>
            <a:ext cx="5305373" cy="2498979"/>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5648" y="3315478"/>
            <a:ext cx="4291486" cy="2912633"/>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Adapter Design Pattern: Object Diagram</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04781" y="1729967"/>
            <a:ext cx="5575402" cy="3226421"/>
          </a:xfrm>
          <a:prstGeom prst="rect">
            <a:avLst/>
          </a:prstGeom>
        </p:spPr>
      </p:pic>
      <p:sp>
        <p:nvSpPr>
          <p:cNvPr id="8" name="TextBox 7"/>
          <p:cNvSpPr txBox="1"/>
          <p:nvPr/>
        </p:nvSpPr>
        <p:spPr>
          <a:xfrm>
            <a:off x="478680" y="1526827"/>
            <a:ext cx="6094854" cy="4401205"/>
          </a:xfrm>
          <a:prstGeom prst="rect">
            <a:avLst/>
          </a:prstGeom>
          <a:noFill/>
        </p:spPr>
        <p:txBody>
          <a:bodyPr wrap="square">
            <a:spAutoFit/>
          </a:bodyPr>
          <a:lstStyle/>
          <a:p>
            <a:pPr algn="l">
              <a:buFont typeface="+mj-lt"/>
              <a:buAutoNum type="arabicPeriod"/>
            </a:pPr>
            <a:r>
              <a:rPr lang="en-US" sz="2000" dirty="0"/>
              <a:t>The </a:t>
            </a:r>
            <a:r>
              <a:rPr lang="en-US" sz="2000" dirty="0">
                <a:solidFill>
                  <a:srgbClr val="C00000"/>
                </a:solidFill>
              </a:rPr>
              <a:t>Client</a:t>
            </a:r>
            <a:r>
              <a:rPr lang="en-US" sz="2000" dirty="0"/>
              <a:t> is a class that contains the existing business logic of the program.</a:t>
            </a:r>
            <a:endParaRPr lang="en-US" sz="2000" dirty="0"/>
          </a:p>
          <a:p>
            <a:pPr algn="l">
              <a:buFont typeface="+mj-lt"/>
              <a:buAutoNum type="arabicPeriod"/>
            </a:pPr>
            <a:endParaRPr lang="en-US" sz="2000" dirty="0"/>
          </a:p>
          <a:p>
            <a:pPr algn="l">
              <a:buFont typeface="+mj-lt"/>
              <a:buAutoNum type="arabicPeriod"/>
            </a:pPr>
            <a:r>
              <a:rPr lang="en-US" sz="2000" dirty="0"/>
              <a:t>The </a:t>
            </a:r>
            <a:r>
              <a:rPr lang="en-US" sz="2000" dirty="0">
                <a:solidFill>
                  <a:srgbClr val="C00000"/>
                </a:solidFill>
              </a:rPr>
              <a:t>Client Interface </a:t>
            </a:r>
            <a:r>
              <a:rPr lang="en-US" sz="2000" dirty="0"/>
              <a:t>describes a protocol that other classes must follow to be able to collaborate with the client code.</a:t>
            </a:r>
            <a:endParaRPr lang="en-US" sz="2000" dirty="0"/>
          </a:p>
          <a:p>
            <a:pPr algn="l">
              <a:buFont typeface="+mj-lt"/>
              <a:buAutoNum type="arabicPeriod"/>
            </a:pPr>
            <a:endParaRPr lang="en-US" sz="2000" dirty="0"/>
          </a:p>
          <a:p>
            <a:pPr algn="l">
              <a:buFont typeface="+mj-lt"/>
              <a:buAutoNum type="arabicPeriod"/>
            </a:pPr>
            <a:r>
              <a:rPr lang="en-US" sz="2000" dirty="0"/>
              <a:t>The </a:t>
            </a:r>
            <a:r>
              <a:rPr lang="en-US" sz="2000" dirty="0">
                <a:solidFill>
                  <a:srgbClr val="C00000"/>
                </a:solidFill>
              </a:rPr>
              <a:t>Service (</a:t>
            </a:r>
            <a:r>
              <a:rPr lang="en-US" sz="2000" dirty="0" err="1">
                <a:solidFill>
                  <a:srgbClr val="C00000"/>
                </a:solidFill>
              </a:rPr>
              <a:t>Adaptee</a:t>
            </a:r>
            <a:r>
              <a:rPr lang="en-US" sz="2000" dirty="0">
                <a:solidFill>
                  <a:srgbClr val="C00000"/>
                </a:solidFill>
              </a:rPr>
              <a:t>)</a:t>
            </a:r>
            <a:r>
              <a:rPr lang="en-US" sz="2000" dirty="0"/>
              <a:t> is some useful class (usually 3rd-party or legacy). The client can’t use this class directly because it has an incompatible interface.</a:t>
            </a:r>
            <a:endParaRPr lang="en-US" sz="2000" dirty="0"/>
          </a:p>
          <a:p>
            <a:pPr algn="l">
              <a:buFont typeface="+mj-lt"/>
              <a:buAutoNum type="arabicPeriod"/>
            </a:pPr>
            <a:endParaRPr lang="en-US" sz="2000" dirty="0"/>
          </a:p>
          <a:p>
            <a:pPr algn="l">
              <a:buFont typeface="+mj-lt"/>
              <a:buAutoNum type="arabicPeriod"/>
            </a:pPr>
            <a:r>
              <a:rPr lang="en-US" sz="2000" dirty="0"/>
              <a:t>The </a:t>
            </a:r>
            <a:r>
              <a:rPr lang="en-US" sz="2000" dirty="0">
                <a:solidFill>
                  <a:srgbClr val="C00000"/>
                </a:solidFill>
              </a:rPr>
              <a:t>Adapter</a:t>
            </a:r>
            <a:r>
              <a:rPr lang="en-US" sz="2000" dirty="0"/>
              <a:t> is a class that’s able to work with both the client and the service.</a:t>
            </a:r>
            <a:endParaRPr lang="en-US" sz="2000" dirty="0"/>
          </a:p>
        </p:txBody>
      </p:sp>
      <p:sp>
        <p:nvSpPr>
          <p:cNvPr id="5" name="TextBox 4"/>
          <p:cNvSpPr txBox="1"/>
          <p:nvPr/>
        </p:nvSpPr>
        <p:spPr>
          <a:xfrm>
            <a:off x="10330406" y="2973845"/>
            <a:ext cx="1035934" cy="369332"/>
          </a:xfrm>
          <a:prstGeom prst="rect">
            <a:avLst/>
          </a:prstGeom>
          <a:noFill/>
        </p:spPr>
        <p:txBody>
          <a:bodyPr wrap="square">
            <a:spAutoFit/>
          </a:bodyPr>
          <a:lstStyle/>
          <a:p>
            <a:r>
              <a:rPr lang="en-US" sz="1800" dirty="0" err="1">
                <a:solidFill>
                  <a:srgbClr val="C00000"/>
                </a:solidFill>
              </a:rPr>
              <a:t>Adaptee</a:t>
            </a: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613" y="104916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488" y="1328863"/>
            <a:ext cx="5345899" cy="3057942"/>
          </a:xfrm>
          <a:prstGeom prst="rect">
            <a:avLst/>
          </a:prstGeom>
        </p:spPr>
      </p:pic>
      <p:sp>
        <p:nvSpPr>
          <p:cNvPr id="2" name="Rectangle 1"/>
          <p:cNvSpPr/>
          <p:nvPr/>
        </p:nvSpPr>
        <p:spPr>
          <a:xfrm>
            <a:off x="6699488" y="1415744"/>
            <a:ext cx="5345899" cy="182094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331" y="119963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08800" y="1671040"/>
            <a:ext cx="5283200" cy="2730500"/>
          </a:xfrm>
          <a:prstGeom prst="rect">
            <a:avLst/>
          </a:prstGeom>
        </p:spPr>
      </p:pic>
      <p:sp>
        <p:nvSpPr>
          <p:cNvPr id="5" name="Rectangle 4"/>
          <p:cNvSpPr/>
          <p:nvPr/>
        </p:nvSpPr>
        <p:spPr>
          <a:xfrm>
            <a:off x="1072157" y="1444772"/>
            <a:ext cx="5023843" cy="159151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8800" y="4532910"/>
            <a:ext cx="4076700" cy="13081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91" y="1211213"/>
            <a:ext cx="6716469" cy="4228888"/>
          </a:xfrm>
          <a:prstGeom prst="rect">
            <a:avLst/>
          </a:prstGeom>
        </p:spPr>
      </p:pic>
      <p:sp>
        <p:nvSpPr>
          <p:cNvPr id="5" name="Rectangle 4"/>
          <p:cNvSpPr/>
          <p:nvPr/>
        </p:nvSpPr>
        <p:spPr>
          <a:xfrm>
            <a:off x="865603" y="3325657"/>
            <a:ext cx="5567948" cy="196397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4761" y="653970"/>
            <a:ext cx="4622800" cy="15875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4761" y="2476821"/>
            <a:ext cx="5567948" cy="3727209"/>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6613" y="1049168"/>
            <a:ext cx="6716469" cy="4228888"/>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488" y="1328863"/>
            <a:ext cx="5345899" cy="3057942"/>
          </a:xfrm>
          <a:prstGeom prst="rect">
            <a:avLst/>
          </a:prstGeom>
        </p:spPr>
      </p:pic>
      <p:sp>
        <p:nvSpPr>
          <p:cNvPr id="2" name="Rectangle 1"/>
          <p:cNvSpPr/>
          <p:nvPr/>
        </p:nvSpPr>
        <p:spPr>
          <a:xfrm>
            <a:off x="6699487" y="3346144"/>
            <a:ext cx="5345899" cy="97185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Adapter Design Pattern: Consequences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6769"/>
          </a:xfrm>
          <a:prstGeom prst="rect">
            <a:avLst/>
          </a:prstGeom>
          <a:noFill/>
        </p:spPr>
        <p:txBody>
          <a:bodyPr wrap="square">
            <a:spAutoFit/>
          </a:bodyPr>
          <a:lstStyle/>
          <a:p>
            <a:r>
              <a:rPr lang="en-US" altLang="zh-CN" sz="2000" dirty="0"/>
              <a:t>The following </a:t>
            </a:r>
            <a:r>
              <a:rPr lang="en-US" altLang="zh-CN" sz="2000" dirty="0">
                <a:solidFill>
                  <a:srgbClr val="FF0000"/>
                </a:solidFill>
              </a:rPr>
              <a:t>consequences</a:t>
            </a:r>
            <a:r>
              <a:rPr lang="en-US" altLang="zh-CN" sz="2000" dirty="0"/>
              <a:t> apply whenever the Adapter design pattern is used.</a:t>
            </a:r>
            <a:endParaRPr lang="en-US" altLang="zh-CN" sz="2000" dirty="0"/>
          </a:p>
          <a:p>
            <a:r>
              <a:rPr lang="en-US" altLang="zh-CN" sz="2000" dirty="0"/>
              <a:t> </a:t>
            </a:r>
            <a:endParaRPr lang="en-US" altLang="zh-CN" sz="2000" dirty="0"/>
          </a:p>
          <a:p>
            <a:pPr marL="800100" lvl="1" indent="-342900">
              <a:buFont typeface="Arial" panose="020B0604020202090204" pitchFamily="34" charset="0"/>
              <a:buChar char="•"/>
            </a:pPr>
            <a:r>
              <a:rPr lang="en-US" altLang="zh-CN" sz="2000" dirty="0">
                <a:solidFill>
                  <a:srgbClr val="FF0000"/>
                </a:solidFill>
              </a:rPr>
              <a:t>Client</a:t>
            </a:r>
            <a:r>
              <a:rPr lang="en-US" altLang="zh-CN" sz="2000" dirty="0"/>
              <a:t> and </a:t>
            </a:r>
            <a:r>
              <a:rPr lang="en-US" altLang="zh-CN" sz="2000" dirty="0" err="1">
                <a:solidFill>
                  <a:srgbClr val="FF0000"/>
                </a:solidFill>
              </a:rPr>
              <a:t>Adaptee</a:t>
            </a:r>
            <a:r>
              <a:rPr lang="en-US" altLang="zh-CN" sz="2000" dirty="0"/>
              <a:t> work together without modification of either.</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solidFill>
                  <a:srgbClr val="FF0000"/>
                </a:solidFill>
              </a:rPr>
              <a:t>Adapter</a:t>
            </a:r>
            <a:r>
              <a:rPr lang="en-US" altLang="zh-CN" sz="2000" dirty="0"/>
              <a:t> works with </a:t>
            </a:r>
            <a:r>
              <a:rPr lang="en-US" altLang="zh-CN" sz="2000" dirty="0" err="1">
                <a:solidFill>
                  <a:srgbClr val="FF0000"/>
                </a:solidFill>
              </a:rPr>
              <a:t>Adaptee</a:t>
            </a:r>
            <a:r>
              <a:rPr lang="en-US" altLang="zh-CN" sz="2000" dirty="0"/>
              <a:t> and all of its subclasses.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A new </a:t>
            </a:r>
            <a:r>
              <a:rPr lang="en-US" altLang="zh-CN" sz="2000" dirty="0">
                <a:solidFill>
                  <a:srgbClr val="FF0000"/>
                </a:solidFill>
              </a:rPr>
              <a:t>Adapter</a:t>
            </a:r>
            <a:r>
              <a:rPr lang="en-US" altLang="zh-CN" sz="2000" dirty="0"/>
              <a:t> needs to be written if </a:t>
            </a:r>
            <a:r>
              <a:rPr lang="en-US" altLang="zh-CN" sz="2000" dirty="0">
                <a:solidFill>
                  <a:srgbClr val="FF0000"/>
                </a:solidFill>
              </a:rPr>
              <a:t>Client</a:t>
            </a:r>
            <a:r>
              <a:rPr lang="en-US" altLang="zh-CN" sz="2000" dirty="0"/>
              <a:t> is replaced by a subclass.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Bridge: Allowing for Alternate Implementations</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Name: </a:t>
            </a:r>
            <a:r>
              <a:rPr lang="en-US" altLang="zh-CN" sz="2000" dirty="0"/>
              <a:t>Bridge design pattern </a:t>
            </a:r>
            <a:endParaRPr lang="en-US" altLang="zh-CN" sz="2000" dirty="0"/>
          </a:p>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Decouple an interface from an implementation so that a different implementation can be substituted, possibly at runtime (e.g., testing different implementations of the same interface). </a:t>
            </a:r>
            <a:endParaRPr lang="en-US" altLang="zh-CN" sz="2000" dirty="0"/>
          </a:p>
          <a:p>
            <a:endParaRPr lang="en-US" altLang="zh-CN" sz="2000" dirty="0"/>
          </a:p>
          <a:p>
            <a:r>
              <a:rPr lang="en-US" altLang="zh-CN" sz="2000" dirty="0">
                <a:solidFill>
                  <a:srgbClr val="FF0000"/>
                </a:solidFill>
              </a:rPr>
              <a:t>Comparison of bridge and adapter design patterns</a:t>
            </a:r>
            <a:endParaRPr lang="en-US" altLang="zh-CN" sz="2000" dirty="0">
              <a:solidFill>
                <a:srgbClr val="FF0000"/>
              </a:solidFill>
            </a:endParaRPr>
          </a:p>
          <a:p>
            <a:pPr marL="800100" lvl="1" indent="-342900">
              <a:buFont typeface="Arial" panose="020B0604020202090204" pitchFamily="34" charset="0"/>
              <a:buChar char="•"/>
            </a:pPr>
            <a:r>
              <a:rPr lang="en-US" altLang="zh-CN" sz="2000" dirty="0"/>
              <a:t>Bridge: defined interfaces that do not change</a:t>
            </a:r>
            <a:endParaRPr lang="en-US" altLang="zh-CN" sz="2000" dirty="0"/>
          </a:p>
          <a:p>
            <a:pPr marL="800100" lvl="1" indent="-342900">
              <a:buFont typeface="Arial" panose="020B0604020202090204" pitchFamily="34" charset="0"/>
              <a:buChar char="•"/>
            </a:pPr>
            <a:r>
              <a:rPr lang="en-US" altLang="zh-CN" sz="2000" dirty="0"/>
              <a:t>Adapter: legacy and new interfaces that have to work together </a:t>
            </a:r>
            <a:r>
              <a:rPr lang="en-US" altLang="zh-CN" sz="2000" b="1" dirty="0">
                <a:solidFill>
                  <a:srgbClr val="515223"/>
                </a:solidFill>
                <a:latin typeface="Helvetica" pitchFamily="2" charset="0"/>
                <a:cs typeface="Arial" panose="020B0604020202090204" pitchFamily="34" charset="0"/>
              </a:rPr>
              <a: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Bridge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4575" y="1536557"/>
            <a:ext cx="4021409" cy="2877314"/>
          </a:xfrm>
          <a:prstGeom prst="rect">
            <a:avLst/>
          </a:prstGeom>
        </p:spPr>
      </p:pic>
      <p:sp>
        <p:nvSpPr>
          <p:cNvPr id="8" name="Rectangle 7"/>
          <p:cNvSpPr/>
          <p:nvPr/>
        </p:nvSpPr>
        <p:spPr>
          <a:xfrm>
            <a:off x="983150" y="1317457"/>
            <a:ext cx="2145059" cy="94877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C00000"/>
              </a:solidFill>
            </a:endParaRPr>
          </a:p>
        </p:txBody>
      </p:sp>
      <p:sp>
        <p:nvSpPr>
          <p:cNvPr id="10" name="TextBox 9"/>
          <p:cNvSpPr txBox="1"/>
          <p:nvPr/>
        </p:nvSpPr>
        <p:spPr>
          <a:xfrm>
            <a:off x="983150" y="1317457"/>
            <a:ext cx="920989" cy="369332"/>
          </a:xfrm>
          <a:prstGeom prst="rect">
            <a:avLst/>
          </a:prstGeom>
          <a:noFill/>
        </p:spPr>
        <p:txBody>
          <a:bodyPr wrap="square">
            <a:spAutoFit/>
          </a:bodyPr>
          <a:lstStyle/>
          <a:p>
            <a:r>
              <a:rPr lang="en-US" altLang="zh-CN" sz="1800" dirty="0">
                <a:solidFill>
                  <a:srgbClr val="C00000"/>
                </a:solidFill>
              </a:rPr>
              <a:t>Legacy</a:t>
            </a:r>
            <a:endParaRPr lang="en-US" dirty="0">
              <a:solidFill>
                <a:srgbClr val="C00000"/>
              </a:solidFill>
            </a:endParaRPr>
          </a:p>
        </p:txBody>
      </p:sp>
      <p:sp>
        <p:nvSpPr>
          <p:cNvPr id="12" name="TextBox 11"/>
          <p:cNvSpPr txBox="1"/>
          <p:nvPr/>
        </p:nvSpPr>
        <p:spPr>
          <a:xfrm>
            <a:off x="3427842" y="1289956"/>
            <a:ext cx="920989" cy="369332"/>
          </a:xfrm>
          <a:prstGeom prst="rect">
            <a:avLst/>
          </a:prstGeom>
          <a:noFill/>
        </p:spPr>
        <p:txBody>
          <a:bodyPr wrap="square">
            <a:spAutoFit/>
          </a:bodyPr>
          <a:lstStyle/>
          <a:p>
            <a:r>
              <a:rPr lang="en-US" altLang="zh-CN" sz="1800" dirty="0">
                <a:solidFill>
                  <a:schemeClr val="accent1"/>
                </a:solidFill>
              </a:rPr>
              <a:t>New</a:t>
            </a:r>
            <a:endParaRPr lang="en-US" dirty="0">
              <a:solidFill>
                <a:schemeClr val="accent1"/>
              </a:solidFill>
            </a:endParaRPr>
          </a:p>
        </p:txBody>
      </p:sp>
      <p:sp>
        <p:nvSpPr>
          <p:cNvPr id="13" name="Rectangle 12"/>
          <p:cNvSpPr/>
          <p:nvPr/>
        </p:nvSpPr>
        <p:spPr>
          <a:xfrm>
            <a:off x="3455362" y="1317456"/>
            <a:ext cx="893469" cy="94877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2508" y="1985378"/>
            <a:ext cx="4418268" cy="1979672"/>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Bridge</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04551" y="1419917"/>
            <a:ext cx="5106403" cy="3558231"/>
          </a:xfrm>
          <a:prstGeom prst="rect">
            <a:avLst/>
          </a:prstGeom>
        </p:spPr>
      </p:pic>
      <p:sp>
        <p:nvSpPr>
          <p:cNvPr id="9" name="TextBox 8"/>
          <p:cNvSpPr txBox="1"/>
          <p:nvPr/>
        </p:nvSpPr>
        <p:spPr>
          <a:xfrm>
            <a:off x="572359" y="1028699"/>
            <a:ext cx="6094854" cy="5324535"/>
          </a:xfrm>
          <a:prstGeom prst="rect">
            <a:avLst/>
          </a:prstGeom>
          <a:noFill/>
        </p:spPr>
        <p:txBody>
          <a:bodyPr wrap="square">
            <a:spAutoFit/>
          </a:bodyPr>
          <a:lstStyle/>
          <a:p>
            <a:pPr algn="l">
              <a:buFont typeface="+mj-lt"/>
              <a:buAutoNum type="arabicPeriod"/>
            </a:pPr>
            <a:r>
              <a:rPr lang="en-US" sz="2000" dirty="0"/>
              <a:t>The </a:t>
            </a:r>
            <a:r>
              <a:rPr lang="en-US" sz="2000" dirty="0">
                <a:solidFill>
                  <a:srgbClr val="C00000"/>
                </a:solidFill>
              </a:rPr>
              <a:t>Abstraction</a:t>
            </a:r>
            <a:r>
              <a:rPr lang="en-US" sz="2000" dirty="0"/>
              <a:t> provides high-level control logic. It relies on the implementation object to do the actual low-level work</a:t>
            </a:r>
            <a:endParaRPr lang="en-US" sz="2000" dirty="0"/>
          </a:p>
          <a:p>
            <a:pPr algn="l">
              <a:buFont typeface="+mj-lt"/>
              <a:buAutoNum type="arabicPeriod"/>
            </a:pPr>
            <a:endParaRPr lang="en-US" sz="2000" dirty="0"/>
          </a:p>
          <a:p>
            <a:pPr algn="l">
              <a:buFont typeface="+mj-lt"/>
              <a:buAutoNum type="arabicPeriod"/>
            </a:pPr>
            <a:r>
              <a:rPr lang="en-US" sz="2000" dirty="0"/>
              <a:t>The </a:t>
            </a:r>
            <a:r>
              <a:rPr lang="en-US" sz="2000" dirty="0">
                <a:solidFill>
                  <a:srgbClr val="C00000"/>
                </a:solidFill>
              </a:rPr>
              <a:t>Implementation</a:t>
            </a:r>
            <a:r>
              <a:rPr lang="en-US" sz="2000" dirty="0"/>
              <a:t> declares the interface that’s common for all concrete implementations. An abstraction can only communicate with an implementation object via methods that are declared here.</a:t>
            </a:r>
            <a:endParaRPr lang="en-US" sz="2000" dirty="0"/>
          </a:p>
          <a:p>
            <a:pPr algn="l">
              <a:buFont typeface="+mj-lt"/>
              <a:buAutoNum type="arabicPeriod"/>
            </a:pPr>
            <a:endParaRPr lang="en-US" sz="2000" dirty="0"/>
          </a:p>
          <a:p>
            <a:pPr algn="l">
              <a:buFont typeface="+mj-lt"/>
              <a:buAutoNum type="arabicPeriod"/>
            </a:pPr>
            <a:r>
              <a:rPr lang="en-US" sz="2000" dirty="0">
                <a:solidFill>
                  <a:srgbClr val="C00000"/>
                </a:solidFill>
              </a:rPr>
              <a:t>Concrete Implementations</a:t>
            </a:r>
            <a:r>
              <a:rPr lang="en-US" sz="2000" dirty="0"/>
              <a:t> contain platform-specific code</a:t>
            </a:r>
            <a:endParaRPr lang="en-US" sz="2000" dirty="0"/>
          </a:p>
          <a:p>
            <a:pPr algn="l">
              <a:buFont typeface="+mj-lt"/>
              <a:buAutoNum type="arabicPeriod"/>
            </a:pPr>
            <a:endParaRPr lang="en-US" sz="2000" dirty="0"/>
          </a:p>
          <a:p>
            <a:pPr algn="l">
              <a:buFont typeface="+mj-lt"/>
              <a:buAutoNum type="arabicPeriod"/>
            </a:pPr>
            <a:r>
              <a:rPr lang="en-US" sz="2000" dirty="0">
                <a:solidFill>
                  <a:srgbClr val="C00000"/>
                </a:solidFill>
              </a:rPr>
              <a:t>Refined Abstractions</a:t>
            </a:r>
            <a:r>
              <a:rPr lang="en-US" sz="2000" dirty="0"/>
              <a:t> provide variants of implementations via the general implementation interface.</a:t>
            </a:r>
            <a:endParaRPr lang="en-US" sz="2000" dirty="0"/>
          </a:p>
          <a:p>
            <a:pPr algn="l">
              <a:buFont typeface="+mj-lt"/>
              <a:buAutoNum type="arabicPeriod"/>
            </a:pPr>
            <a:endParaRPr lang="en-US" sz="2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936" y="1146412"/>
            <a:ext cx="5504521" cy="4243423"/>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5885" y="1363528"/>
            <a:ext cx="4165600" cy="17907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16" name="Rectangle 15"/>
          <p:cNvSpPr/>
          <p:nvPr/>
        </p:nvSpPr>
        <p:spPr>
          <a:xfrm>
            <a:off x="3447143" y="2040339"/>
            <a:ext cx="2408084" cy="3540403"/>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36774" y="1451428"/>
            <a:ext cx="4737511" cy="433251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4" name="Rectangle 3"/>
          <p:cNvSpPr/>
          <p:nvPr/>
        </p:nvSpPr>
        <p:spPr>
          <a:xfrm>
            <a:off x="1740089" y="2204113"/>
            <a:ext cx="1644556" cy="2060812"/>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8979" y="1764020"/>
            <a:ext cx="4264934" cy="3576061"/>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5061" y="1398895"/>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4" name="Rectangle 3"/>
          <p:cNvSpPr/>
          <p:nvPr/>
        </p:nvSpPr>
        <p:spPr>
          <a:xfrm>
            <a:off x="3275462" y="4353636"/>
            <a:ext cx="2141196"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2591" y="2555406"/>
            <a:ext cx="4203700" cy="19304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1254" y="1378424"/>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4" name="Rectangle 3"/>
          <p:cNvSpPr/>
          <p:nvPr/>
        </p:nvSpPr>
        <p:spPr>
          <a:xfrm>
            <a:off x="5206181" y="4346812"/>
            <a:ext cx="1057702" cy="4572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09912" y="1574800"/>
            <a:ext cx="2890834" cy="3000612"/>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6345" y="1307288"/>
            <a:ext cx="5504521" cy="4243423"/>
          </a:xfrm>
          <a:prstGeom prst="rect">
            <a:avLst/>
          </a:prstGeom>
        </p:spPr>
      </p:pic>
      <p:sp>
        <p:nvSpPr>
          <p:cNvPr id="15" name="Title 1"/>
          <p:cNvSpPr>
            <a:spLocks noGrp="1"/>
          </p:cNvSpPr>
          <p:nvPr>
            <p:ph type="title"/>
          </p:nvPr>
        </p:nvSpPr>
        <p:spPr>
          <a:xfrm>
            <a:off x="1091254" y="237834"/>
            <a:ext cx="9099225" cy="790865"/>
          </a:xfrm>
        </p:spPr>
        <p:txBody>
          <a:bodyPr>
            <a:noAutofit/>
          </a:bodyPr>
          <a:lstStyle/>
          <a:p>
            <a:r>
              <a:rPr lang="en-US" altLang="zh-CN" dirty="0"/>
              <a:t>Bridge</a:t>
            </a:r>
            <a:r>
              <a:rPr lang="zh-CN" altLang="en-US" dirty="0"/>
              <a:t> </a:t>
            </a:r>
            <a:r>
              <a:rPr lang="en-US" altLang="zh-CN" dirty="0"/>
              <a:t>Example</a:t>
            </a:r>
            <a:endParaRPr lang="en-US" sz="23900" dirty="0"/>
          </a:p>
        </p:txBody>
      </p:sp>
      <p:sp>
        <p:nvSpPr>
          <p:cNvPr id="4" name="Rectangle 3"/>
          <p:cNvSpPr/>
          <p:nvPr/>
        </p:nvSpPr>
        <p:spPr>
          <a:xfrm>
            <a:off x="1799057" y="2358166"/>
            <a:ext cx="1388129" cy="292675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6966" y="1215163"/>
            <a:ext cx="4457219" cy="4954722"/>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Bridge: Allowing for Alternate Implementations</a:t>
            </a:r>
            <a:endParaRPr lang="en-US" sz="1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Solution:</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The </a:t>
            </a:r>
            <a:r>
              <a:rPr lang="en-US" altLang="zh-CN" sz="2000" dirty="0">
                <a:solidFill>
                  <a:srgbClr val="FF0000"/>
                </a:solidFill>
              </a:rPr>
              <a:t>Abstraction</a:t>
            </a:r>
            <a:r>
              <a:rPr lang="en-US" altLang="zh-CN" sz="2000" dirty="0"/>
              <a:t> class defines the interface visible to the client.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Implementor</a:t>
            </a:r>
            <a:r>
              <a:rPr lang="en-US" altLang="zh-CN" sz="2000" dirty="0"/>
              <a:t> is an abstract class that defines the lower-level methods available to </a:t>
            </a:r>
            <a:r>
              <a:rPr lang="en-US" altLang="zh-CN" sz="2000" dirty="0">
                <a:solidFill>
                  <a:srgbClr val="FF0000"/>
                </a:solidFill>
              </a:rPr>
              <a:t>Abstraction</a:t>
            </a:r>
            <a:r>
              <a:rPr lang="en-US" altLang="zh-CN" sz="2000" dirty="0"/>
              <a: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An </a:t>
            </a:r>
            <a:r>
              <a:rPr lang="en-US" altLang="zh-CN" sz="2000" dirty="0">
                <a:solidFill>
                  <a:srgbClr val="FF0000"/>
                </a:solidFill>
              </a:rPr>
              <a:t>Abstraction</a:t>
            </a:r>
            <a:r>
              <a:rPr lang="en-US" altLang="zh-CN" sz="2000" dirty="0"/>
              <a:t> instance maintains a reference to its corresponding </a:t>
            </a:r>
            <a:r>
              <a:rPr lang="en-US" altLang="zh-CN" sz="2000" dirty="0">
                <a:solidFill>
                  <a:srgbClr val="FF0000"/>
                </a:solidFill>
              </a:rPr>
              <a:t>Implementor</a:t>
            </a:r>
            <a:r>
              <a:rPr lang="en-US" altLang="zh-CN" sz="2000" dirty="0"/>
              <a:t> instance.</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Abstraction</a:t>
            </a:r>
            <a:r>
              <a:rPr lang="en-US" altLang="zh-CN" sz="2000" dirty="0"/>
              <a:t> and </a:t>
            </a:r>
            <a:r>
              <a:rPr lang="en-US" altLang="zh-CN" sz="2000" dirty="0">
                <a:solidFill>
                  <a:srgbClr val="FF0000"/>
                </a:solidFill>
              </a:rPr>
              <a:t>Implementor</a:t>
            </a:r>
            <a:r>
              <a:rPr lang="en-US" altLang="zh-CN" sz="2000" dirty="0"/>
              <a:t> can be refined independently.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Bridge: Consequences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Consequences: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Client</a:t>
            </a:r>
            <a:r>
              <a:rPr lang="en-US" altLang="zh-CN" sz="2000" dirty="0"/>
              <a:t> is shielded from abstract and concrete implementations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 Interfaces and implementations can be tested separately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Strategy: Encapsulating Algorithms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Name</a:t>
            </a:r>
            <a:r>
              <a:rPr lang="en-US" altLang="zh-CN" sz="2000" dirty="0"/>
              <a:t>: Strategy design pattern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In a calculator, you need to build various operations (add, multiply, </a:t>
            </a:r>
            <a:r>
              <a:rPr lang="en-US" altLang="zh-CN" sz="2000" dirty="0" err="1"/>
              <a:t>substract</a:t>
            </a:r>
            <a:r>
              <a:rPr lang="en-US" altLang="zh-CN" sz="2000" dirty="0"/>
              <a:t>, divide, </a:t>
            </a:r>
            <a:r>
              <a:rPr lang="en-US" altLang="zh-CN" sz="2000" dirty="0" err="1"/>
              <a:t>etc</a:t>
            </a:r>
            <a:r>
              <a:rPr lang="en-US" altLang="zh-CN" sz="2000" dirty="0"/>
              <a:t>). </a:t>
            </a:r>
            <a:endParaRPr lang="en-US" altLang="zh-CN" sz="2000" dirty="0"/>
          </a:p>
          <a:p>
            <a:pPr lvl="1"/>
            <a:endParaRPr lang="en-US" altLang="zh-CN" sz="2000" dirty="0"/>
          </a:p>
          <a:p>
            <a:r>
              <a:rPr lang="en-US" altLang="zh-CN" sz="2000" b="1" dirty="0">
                <a:solidFill>
                  <a:srgbClr val="515223"/>
                </a:solidFill>
                <a:latin typeface="Helvetica" pitchFamily="2" charset="0"/>
                <a:cs typeface="Arial" panose="020B0604020202090204" pitchFamily="34" charset="0"/>
              </a:rPr>
              <a:t>Problem description: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Decouple a </a:t>
            </a:r>
            <a:r>
              <a:rPr lang="en-US" altLang="zh-CN" sz="2000" dirty="0">
                <a:solidFill>
                  <a:srgbClr val="FF0000"/>
                </a:solidFill>
              </a:rPr>
              <a:t>policy-deciding</a:t>
            </a:r>
            <a:r>
              <a:rPr lang="en-US" altLang="zh-CN" sz="2000" dirty="0"/>
              <a:t> </a:t>
            </a:r>
            <a:r>
              <a:rPr lang="en-US" altLang="zh-CN" sz="2000" dirty="0">
                <a:solidFill>
                  <a:srgbClr val="FF0000"/>
                </a:solidFill>
              </a:rPr>
              <a:t>class</a:t>
            </a:r>
            <a:r>
              <a:rPr lang="en-US" altLang="zh-CN" sz="2000" dirty="0"/>
              <a:t> from </a:t>
            </a:r>
            <a:r>
              <a:rPr lang="en-US" altLang="zh-CN" sz="2000" dirty="0">
                <a:solidFill>
                  <a:srgbClr val="FF0000"/>
                </a:solidFill>
              </a:rPr>
              <a:t>a set of mechanisms</a:t>
            </a:r>
            <a:r>
              <a:rPr lang="en-US" altLang="zh-CN" sz="2000" dirty="0"/>
              <a:t>, so that different mechanisms can be changed transparently.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Strategy Example</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11" name="Picture 1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19367" y="2387600"/>
            <a:ext cx="6565900" cy="33020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54666" y="1500353"/>
            <a:ext cx="7772400" cy="4291830"/>
          </a:xfrm>
          <a:prstGeom prst="rect">
            <a:avLst/>
          </a:prstGeom>
        </p:spPr>
      </p:pic>
      <p:sp>
        <p:nvSpPr>
          <p:cNvPr id="6" name="Title 1"/>
          <p:cNvSpPr txBox="1"/>
          <p:nvPr/>
        </p:nvSpPr>
        <p:spPr>
          <a:xfrm>
            <a:off x="1207370" y="136526"/>
            <a:ext cx="9099225" cy="790865"/>
          </a:xfrm>
          <a:prstGeom prst="rect">
            <a:avLst/>
          </a:prstGeom>
        </p:spPr>
        <p:txBody>
          <a:bodyPr vert="horz" wrap="square" lIns="0" tIns="0" rIns="0" bIns="0" rtlCol="0" anchor="ctr">
            <a:no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微软雅黑" panose="020B0503020204020204" pitchFamily="34" charset="-122"/>
                <a:cs typeface="Arial" panose="020B0604020202090204" pitchFamily="34" charset="0"/>
              </a:defRPr>
            </a:lvl1pPr>
          </a:lstStyle>
          <a:p>
            <a:r>
              <a:rPr lang="en-US" altLang="zh-CN" dirty="0"/>
              <a:t>Strategy Example</a:t>
            </a:r>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Design Pattern: Strategy</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2917818" y="1903615"/>
            <a:ext cx="1615436" cy="108755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69990" y="1712561"/>
            <a:ext cx="4308025" cy="3235379"/>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Design Pattern: Strategy</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6051" y="3287869"/>
            <a:ext cx="5445023" cy="1528229"/>
          </a:xfrm>
          <a:prstGeom prst="rect">
            <a:avLst/>
          </a:prstGeom>
        </p:spPr>
      </p:pic>
      <p:sp>
        <p:nvSpPr>
          <p:cNvPr id="6" name="Rectangle 5"/>
          <p:cNvSpPr/>
          <p:nvPr/>
        </p:nvSpPr>
        <p:spPr>
          <a:xfrm>
            <a:off x="4827922" y="1965622"/>
            <a:ext cx="1388129" cy="88159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Design Pattern: Strategy</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4669126" y="3174476"/>
            <a:ext cx="1491451" cy="88159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7889" y="78568"/>
            <a:ext cx="4862857" cy="29591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400" dirty="0"/>
              <a:t>Design Pattern: Strategy</a:t>
            </a:r>
            <a:endParaRPr lang="en-US" sz="2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24028" y="1469356"/>
            <a:ext cx="7772400" cy="4291830"/>
          </a:xfrm>
          <a:prstGeom prst="rect">
            <a:avLst/>
          </a:prstGeom>
        </p:spPr>
      </p:pic>
      <p:sp>
        <p:nvSpPr>
          <p:cNvPr id="6" name="Rectangle 5"/>
          <p:cNvSpPr/>
          <p:nvPr/>
        </p:nvSpPr>
        <p:spPr>
          <a:xfrm>
            <a:off x="2817079" y="3337208"/>
            <a:ext cx="1708426" cy="1761734"/>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38100">
                <a:solidFill>
                  <a:schemeClr val="tx1"/>
                </a:solidFill>
              </a:ln>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4256" y="1504227"/>
            <a:ext cx="4982887" cy="429183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Strategy: Encapsulating Algorithms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Solution: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A </a:t>
            </a:r>
            <a:r>
              <a:rPr lang="en-US" altLang="zh-CN" sz="2000" dirty="0">
                <a:solidFill>
                  <a:srgbClr val="FF0000"/>
                </a:solidFill>
              </a:rPr>
              <a:t>Client</a:t>
            </a:r>
            <a:r>
              <a:rPr lang="en-US" altLang="zh-CN" sz="2000" dirty="0"/>
              <a:t> accesses services provided by a Context. </a:t>
            </a:r>
            <a:endParaRPr lang="en-US" altLang="zh-CN" sz="2000" dirty="0"/>
          </a:p>
          <a:p>
            <a:pPr lvl="1"/>
            <a:endParaRPr lang="en-US" altLang="zh-CN" sz="2000" dirty="0"/>
          </a:p>
          <a:p>
            <a:pPr lvl="1"/>
            <a:r>
              <a:rPr lang="en-US" altLang="zh-CN" sz="2000" dirty="0"/>
              <a:t>The </a:t>
            </a:r>
            <a:r>
              <a:rPr lang="en-US" altLang="zh-CN" sz="2000" dirty="0">
                <a:solidFill>
                  <a:srgbClr val="FF0000"/>
                </a:solidFill>
              </a:rPr>
              <a:t>Context</a:t>
            </a:r>
            <a:r>
              <a:rPr lang="en-US" altLang="zh-CN" sz="2000" dirty="0"/>
              <a:t> services are realized using one of several mechanisms</a:t>
            </a:r>
            <a:endParaRPr lang="en-US" altLang="zh-CN" sz="2000" dirty="0"/>
          </a:p>
          <a:p>
            <a:pPr lvl="1"/>
            <a:endParaRPr lang="en-US" altLang="zh-CN" sz="2000" dirty="0"/>
          </a:p>
          <a:p>
            <a:pPr lvl="1"/>
            <a:r>
              <a:rPr lang="en-US" altLang="zh-CN" sz="2000" dirty="0"/>
              <a:t>The abstract class </a:t>
            </a:r>
            <a:r>
              <a:rPr lang="en-US" altLang="zh-CN" sz="2000" dirty="0">
                <a:solidFill>
                  <a:srgbClr val="FF0000"/>
                </a:solidFill>
              </a:rPr>
              <a:t>Strategy</a:t>
            </a:r>
            <a:r>
              <a:rPr lang="en-US" altLang="zh-CN" sz="2000" dirty="0"/>
              <a:t> describes the interface that is common to all mechanisms that </a:t>
            </a:r>
            <a:r>
              <a:rPr lang="en-US" altLang="zh-CN" sz="2000" dirty="0">
                <a:solidFill>
                  <a:srgbClr val="FF0000"/>
                </a:solidFill>
              </a:rPr>
              <a:t>Context</a:t>
            </a:r>
            <a:r>
              <a:rPr lang="en-US" altLang="zh-CN" sz="2000" dirty="0"/>
              <a:t> can use.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Strategy: Consequences</a:t>
            </a:r>
            <a:endParaRPr lang="en-US" sz="239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193899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Consequences:</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err="1">
                <a:solidFill>
                  <a:srgbClr val="FF0000"/>
                </a:solidFill>
              </a:rPr>
              <a:t>ConcreteStrategies</a:t>
            </a:r>
            <a:r>
              <a:rPr lang="en-US" altLang="zh-CN" sz="2000" dirty="0"/>
              <a:t> can be substituted transparently from </a:t>
            </a:r>
            <a:r>
              <a:rPr lang="en-US" altLang="zh-CN" sz="2000" dirty="0">
                <a:solidFill>
                  <a:srgbClr val="FF0000"/>
                </a:solidFill>
              </a:rPr>
              <a:t>Context</a:t>
            </a:r>
            <a:r>
              <a:rPr lang="en-US" altLang="zh-CN" sz="2000" dirty="0"/>
              <a:t>.</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solidFill>
                  <a:srgbClr val="FF0000"/>
                </a:solidFill>
              </a:rPr>
              <a:t>Policy</a:t>
            </a:r>
            <a:r>
              <a:rPr lang="en-US" altLang="zh-CN" sz="2000" dirty="0"/>
              <a:t> decides which </a:t>
            </a:r>
            <a:r>
              <a:rPr lang="en-US" altLang="zh-CN" sz="2000" dirty="0">
                <a:solidFill>
                  <a:srgbClr val="FF0000"/>
                </a:solidFill>
              </a:rPr>
              <a:t>Strategy</a:t>
            </a:r>
            <a:r>
              <a:rPr lang="en-US" altLang="zh-CN" sz="2000" dirty="0"/>
              <a:t> is best, given the current circumstances.</a:t>
            </a:r>
            <a:endParaRPr lang="en-US" altLang="zh-CN" sz="2000" dirty="0"/>
          </a:p>
          <a:p>
            <a:pPr marL="800100" lvl="1" indent="-342900">
              <a:buFont typeface="Arial" panose="020B0604020202090204" pitchFamily="34" charset="0"/>
              <a:buChar char="•"/>
            </a:pPr>
            <a:endParaRPr lang="en-US" altLang="zh-CN" sz="2000" dirty="0"/>
          </a:p>
          <a:p>
            <a:pPr marL="800100" lvl="1" indent="-342900">
              <a:buFont typeface="Arial" panose="020B0604020202090204" pitchFamily="34" charset="0"/>
              <a:buChar char="•"/>
            </a:pPr>
            <a:r>
              <a:rPr lang="en-US" altLang="zh-CN" sz="2000" dirty="0"/>
              <a:t>New policy algorithms can be added without modifying </a:t>
            </a:r>
            <a:r>
              <a:rPr lang="en-US" altLang="zh-CN" sz="2000" dirty="0">
                <a:solidFill>
                  <a:srgbClr val="FF0000"/>
                </a:solidFill>
              </a:rPr>
              <a:t>Context</a:t>
            </a:r>
            <a:r>
              <a:rPr lang="en-US" altLang="zh-CN" sz="2000" dirty="0"/>
              <a:t> or </a:t>
            </a:r>
            <a:r>
              <a:rPr lang="en-US" altLang="zh-CN" sz="2000" dirty="0">
                <a:solidFill>
                  <a:srgbClr val="FF0000"/>
                </a:solidFill>
              </a:rPr>
              <a:t>Client</a:t>
            </a:r>
            <a:r>
              <a:rPr lang="en-US" altLang="zh-CN" sz="2000" dirty="0"/>
              <a: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197" y="237834"/>
            <a:ext cx="9966387" cy="790865"/>
          </a:xfrm>
        </p:spPr>
        <p:txBody>
          <a:bodyPr>
            <a:normAutofit/>
          </a:bodyPr>
          <a:lstStyle/>
          <a:p>
            <a:r>
              <a:rPr lang="en-US" altLang="zh-CN" dirty="0"/>
              <a:t>Bugs, Faults, and Failures</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6" y="2321041"/>
            <a:ext cx="1094652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Bug (fault): </a:t>
            </a:r>
            <a:endParaRPr lang="en-US" altLang="zh-CN" sz="2000" b="1" dirty="0">
              <a:solidFill>
                <a:srgbClr val="515223"/>
              </a:solidFill>
              <a:latin typeface="Helvetica" pitchFamily="2" charset="0"/>
              <a:cs typeface="Arial" panose="020B0604020202090204" pitchFamily="34" charset="0"/>
            </a:endParaRPr>
          </a:p>
          <a:p>
            <a:r>
              <a:rPr lang="en-US" altLang="zh-CN" sz="2000" dirty="0"/>
              <a:t>Programming or design error whereby the delivered system does not </a:t>
            </a:r>
            <a:r>
              <a:rPr lang="en-US" altLang="zh-CN" sz="2000" dirty="0">
                <a:solidFill>
                  <a:srgbClr val="FF0000"/>
                </a:solidFill>
              </a:rPr>
              <a:t>conform to specification </a:t>
            </a:r>
            <a:r>
              <a:rPr lang="en-US" altLang="zh-CN" sz="2000" dirty="0"/>
              <a:t>(e.g., coding error, protocol error)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Failure: </a:t>
            </a:r>
            <a:endParaRPr lang="en-US" altLang="zh-CN" sz="2000" b="1" dirty="0">
              <a:solidFill>
                <a:srgbClr val="515223"/>
              </a:solidFill>
              <a:latin typeface="Helvetica" pitchFamily="2" charset="0"/>
              <a:cs typeface="Arial" panose="020B0604020202090204" pitchFamily="34" charset="0"/>
            </a:endParaRPr>
          </a:p>
          <a:p>
            <a:r>
              <a:rPr lang="en-US" altLang="zh-CN" sz="2000" dirty="0"/>
              <a:t>Software does not deliver the </a:t>
            </a:r>
            <a:r>
              <a:rPr lang="en-US" altLang="zh-CN" sz="2000" dirty="0">
                <a:solidFill>
                  <a:srgbClr val="FF0000"/>
                </a:solidFill>
              </a:rPr>
              <a:t>service expected by the user </a:t>
            </a:r>
            <a:r>
              <a:rPr lang="en-US" altLang="zh-CN" sz="2000" dirty="0"/>
              <a:t>(e.g., mistake in requirements, confusing user interface) </a:t>
            </a:r>
            <a:endParaRPr lang="en-US"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5" y="237834"/>
            <a:ext cx="8701256" cy="790865"/>
          </a:xfrm>
        </p:spPr>
        <p:txBody>
          <a:bodyPr>
            <a:noAutofit/>
          </a:bodyPr>
          <a:lstStyle/>
          <a:p>
            <a:r>
              <a:rPr lang="en-US" altLang="zh-CN" sz="3200" dirty="0"/>
              <a:t>Building Reliable Software: Fault Tolerance</a:t>
            </a:r>
            <a:endParaRPr lang="en-US" sz="8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622737" y="1414444"/>
            <a:ext cx="10946524" cy="4093428"/>
          </a:xfrm>
          <a:prstGeom prst="rect">
            <a:avLst/>
          </a:prstGeom>
          <a:noFill/>
        </p:spPr>
        <p:txBody>
          <a:bodyPr wrap="square">
            <a:spAutoFit/>
          </a:bodyPr>
          <a:lstStyle/>
          <a:p>
            <a:pPr marL="0" lvl="1"/>
            <a:r>
              <a:rPr lang="en-US" altLang="zh-CN" sz="2000" b="1" dirty="0">
                <a:solidFill>
                  <a:srgbClr val="515223"/>
                </a:solidFill>
                <a:latin typeface="Helvetica" pitchFamily="2" charset="0"/>
                <a:cs typeface="Arial" panose="020B0604020202090204" pitchFamily="34" charset="0"/>
              </a:rPr>
              <a:t>Aim: </a:t>
            </a:r>
            <a:endParaRPr lang="en-US" altLang="zh-CN" sz="2000" b="1" dirty="0">
              <a:solidFill>
                <a:srgbClr val="515223"/>
              </a:solidFill>
              <a:latin typeface="Helvetica" pitchFamily="2" charset="0"/>
              <a:cs typeface="Arial" panose="020B0604020202090204" pitchFamily="34" charset="0"/>
            </a:endParaRPr>
          </a:p>
          <a:p>
            <a:pPr marL="457200" lvl="2"/>
            <a:r>
              <a:rPr lang="en-US" altLang="zh-CN" sz="2000" dirty="0"/>
              <a:t>A system that continues to operate when problems occur. </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Examples:</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Invalid input data (e.g., in a data processing application)</a:t>
            </a:r>
            <a:endParaRPr lang="en-US" altLang="zh-CN" sz="2000" dirty="0"/>
          </a:p>
          <a:p>
            <a:pPr marL="800100" lvl="2" indent="-342900">
              <a:buFont typeface="Arial" panose="020B0604020202090204" pitchFamily="34" charset="0"/>
              <a:buChar char="•"/>
            </a:pPr>
            <a:r>
              <a:rPr lang="en-US" altLang="zh-CN" sz="2000" dirty="0"/>
              <a:t>Overload (e.g., in a networked system)</a:t>
            </a:r>
            <a:endParaRPr lang="en-US" altLang="zh-CN" sz="2000" dirty="0"/>
          </a:p>
          <a:p>
            <a:pPr marL="800100" lvl="2" indent="-342900">
              <a:buFont typeface="Arial" panose="020B0604020202090204" pitchFamily="34" charset="0"/>
              <a:buChar char="•"/>
            </a:pPr>
            <a:r>
              <a:rPr lang="en-US" altLang="zh-CN" sz="2000" dirty="0"/>
              <a:t>Hardware failure (e.g., in a control system)</a:t>
            </a:r>
            <a:endParaRPr lang="en-US" altLang="zh-CN" sz="2000" dirty="0"/>
          </a:p>
          <a:p>
            <a:pPr marL="0" lvl="1"/>
            <a:endParaRPr lang="en-US" altLang="zh-CN" sz="2000" dirty="0"/>
          </a:p>
          <a:p>
            <a:pPr marL="0" lvl="1"/>
            <a:r>
              <a:rPr lang="en-US" altLang="zh-CN" sz="2000" b="1" dirty="0">
                <a:solidFill>
                  <a:srgbClr val="515223"/>
                </a:solidFill>
                <a:latin typeface="Helvetica" pitchFamily="2" charset="0"/>
                <a:cs typeface="Arial" panose="020B0604020202090204" pitchFamily="34" charset="0"/>
              </a:rPr>
              <a:t>General Approach:</a:t>
            </a:r>
            <a:endParaRPr lang="en-US" altLang="zh-CN" sz="2000" b="1" dirty="0">
              <a:solidFill>
                <a:srgbClr val="515223"/>
              </a:solidFill>
              <a:latin typeface="Helvetica" pitchFamily="2" charset="0"/>
              <a:cs typeface="Arial" panose="020B0604020202090204" pitchFamily="34" charset="0"/>
            </a:endParaRPr>
          </a:p>
          <a:p>
            <a:pPr marL="800100" lvl="2" indent="-342900">
              <a:buFont typeface="Arial" panose="020B0604020202090204" pitchFamily="34" charset="0"/>
              <a:buChar char="•"/>
            </a:pPr>
            <a:r>
              <a:rPr lang="en-US" altLang="zh-CN" sz="2000" dirty="0"/>
              <a:t>Failure detection</a:t>
            </a:r>
            <a:endParaRPr lang="en-US" altLang="zh-CN" sz="2000" dirty="0"/>
          </a:p>
          <a:p>
            <a:pPr marL="800100" lvl="2" indent="-342900">
              <a:buFont typeface="Arial" panose="020B0604020202090204" pitchFamily="34" charset="0"/>
              <a:buChar char="•"/>
            </a:pPr>
            <a:r>
              <a:rPr lang="en-US" altLang="zh-CN" sz="2000" dirty="0"/>
              <a:t>Damage assessment</a:t>
            </a:r>
            <a:endParaRPr lang="en-US" altLang="zh-CN" sz="2000" dirty="0"/>
          </a:p>
          <a:p>
            <a:pPr marL="800100" lvl="2" indent="-342900">
              <a:buFont typeface="Arial" panose="020B0604020202090204" pitchFamily="34" charset="0"/>
              <a:buChar char="•"/>
            </a:pPr>
            <a:r>
              <a:rPr lang="en-US" altLang="zh-CN" sz="2000" dirty="0"/>
              <a:t>Fault recovery</a:t>
            </a:r>
            <a:endParaRPr lang="en-US" altLang="zh-CN" sz="2000" dirty="0"/>
          </a:p>
          <a:p>
            <a:pPr marL="800100" lvl="2" indent="-342900">
              <a:buFont typeface="Arial" panose="020B0604020202090204" pitchFamily="34" charset="0"/>
              <a:buChar char="•"/>
            </a:pPr>
            <a:r>
              <a:rPr lang="en-US" altLang="zh-CN" sz="2000" dirty="0"/>
              <a:t>Fault repair</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315937" cy="790865"/>
          </a:xfrm>
        </p:spPr>
        <p:txBody>
          <a:bodyPr>
            <a:normAutofit/>
          </a:bodyPr>
          <a:lstStyle/>
          <a:p>
            <a:r>
              <a:rPr lang="en-US" altLang="zh-CN" dirty="0"/>
              <a:t>Static and Dynamic Verification</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9" name="TextBox 3"/>
          <p:cNvSpPr txBox="1"/>
          <p:nvPr/>
        </p:nvSpPr>
        <p:spPr>
          <a:xfrm>
            <a:off x="572375" y="2205107"/>
            <a:ext cx="11163995"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Static verification: </a:t>
            </a:r>
            <a:endParaRPr lang="en-US" altLang="zh-CN" sz="2000" b="1" dirty="0">
              <a:solidFill>
                <a:srgbClr val="515223"/>
              </a:solidFill>
              <a:latin typeface="Helvetica" pitchFamily="2" charset="0"/>
              <a:cs typeface="Arial" panose="020B0604020202090204" pitchFamily="34" charset="0"/>
            </a:endParaRPr>
          </a:p>
          <a:p>
            <a:r>
              <a:rPr lang="en-US" altLang="zh-CN" sz="2000" dirty="0"/>
              <a:t>Techniques of verification that do not include execution of the software. </a:t>
            </a:r>
            <a:endParaRPr lang="en-US" altLang="zh-CN" sz="2000" dirty="0"/>
          </a:p>
          <a:p>
            <a:pPr lvl="1"/>
            <a:r>
              <a:rPr lang="en-US" altLang="zh-CN" sz="2000" dirty="0"/>
              <a:t>• May be manual or use computer tools. </a:t>
            </a:r>
            <a:endParaRPr lang="en-US" altLang="zh-CN" sz="2000" dirty="0"/>
          </a:p>
          <a:p>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Dynamic verification: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 </a:t>
            </a:r>
            <a:r>
              <a:rPr lang="en-US" altLang="zh-CN" sz="2000" dirty="0">
                <a:solidFill>
                  <a:srgbClr val="FF0000"/>
                </a:solidFill>
              </a:rPr>
              <a:t>Testing</a:t>
            </a:r>
            <a:r>
              <a:rPr lang="en-US" altLang="zh-CN" sz="2000" dirty="0"/>
              <a:t> the software with trial data.</a:t>
            </a:r>
            <a:endParaRPr lang="en-US" altLang="zh-CN" sz="2000" dirty="0"/>
          </a:p>
          <a:p>
            <a:pPr marL="800100" lvl="1" indent="-342900">
              <a:buFont typeface="Arial" panose="020B0604020202090204" pitchFamily="34" charset="0"/>
              <a:buChar char="•"/>
            </a:pPr>
            <a:r>
              <a:rPr lang="en-US" altLang="zh-CN" sz="2000" dirty="0"/>
              <a:t> </a:t>
            </a:r>
            <a:r>
              <a:rPr lang="en-US" altLang="zh-CN" sz="2000" dirty="0">
                <a:solidFill>
                  <a:srgbClr val="FF0000"/>
                </a:solidFill>
              </a:rPr>
              <a:t>Debugging</a:t>
            </a:r>
            <a:r>
              <a:rPr lang="en-US" altLang="zh-CN" sz="2000" dirty="0"/>
              <a:t> to remove errors.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Dynamic Verification</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4093428"/>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Testing is most effective if divided into stages </a:t>
            </a:r>
            <a:endParaRPr lang="en-US" altLang="zh-CN" sz="2000" b="1" dirty="0">
              <a:solidFill>
                <a:srgbClr val="515223"/>
              </a:solidFill>
              <a:latin typeface="Helvetica" pitchFamily="2" charset="0"/>
              <a:cs typeface="Arial" panose="020B0604020202090204" pitchFamily="34" charset="0"/>
            </a:endParaRPr>
          </a:p>
          <a:p>
            <a:r>
              <a:rPr lang="en-US" altLang="zh-CN" sz="2000" dirty="0">
                <a:solidFill>
                  <a:srgbClr val="FF0000"/>
                </a:solidFill>
              </a:rPr>
              <a:t>User interface testing (carried out separately) </a:t>
            </a:r>
            <a:endParaRPr lang="en-US" altLang="zh-CN" sz="2000" dirty="0">
              <a:solidFill>
                <a:srgbClr val="FF0000"/>
              </a:solidFill>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Unit testing</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unit test </a:t>
            </a:r>
            <a:br>
              <a:rPr lang="en-US" altLang="zh-CN" sz="2000" dirty="0"/>
            </a:br>
            <a:endParaRPr lang="en-US" altLang="zh-CN" sz="2000" dirty="0"/>
          </a:p>
          <a:p>
            <a:r>
              <a:rPr lang="en-US" altLang="zh-CN" sz="2000" b="1" dirty="0">
                <a:solidFill>
                  <a:srgbClr val="515223"/>
                </a:solidFill>
                <a:latin typeface="Helvetica" pitchFamily="2" charset="0"/>
                <a:cs typeface="Arial" panose="020B0604020202090204" pitchFamily="34" charset="0"/>
              </a:rPr>
              <a:t>System testing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integration test</a:t>
            </a:r>
            <a:endParaRPr lang="en-US" altLang="zh-CN" sz="2000" dirty="0"/>
          </a:p>
          <a:p>
            <a:pPr marL="800100" lvl="1" indent="-342900">
              <a:buFont typeface="Arial" panose="020B0604020202090204" pitchFamily="34" charset="0"/>
              <a:buChar char="•"/>
            </a:pPr>
            <a:r>
              <a:rPr lang="en-US" altLang="zh-CN" sz="2000" dirty="0"/>
              <a:t>function test </a:t>
            </a:r>
            <a:endParaRPr lang="en-US" altLang="zh-CN" sz="2000" dirty="0"/>
          </a:p>
          <a:p>
            <a:pPr marL="800100" lvl="1" indent="-342900">
              <a:buFont typeface="Arial" panose="020B0604020202090204" pitchFamily="34" charset="0"/>
              <a:buChar char="•"/>
            </a:pPr>
            <a:r>
              <a:rPr lang="en-US" altLang="zh-CN" sz="2000" dirty="0"/>
              <a:t>performance test </a:t>
            </a:r>
            <a:endParaRPr lang="en-US" altLang="zh-CN" sz="2000" dirty="0"/>
          </a:p>
          <a:p>
            <a:pPr marL="800100" lvl="1" indent="-342900">
              <a:buFont typeface="Arial" panose="020B0604020202090204" pitchFamily="34" charset="0"/>
              <a:buChar char="•"/>
            </a:pPr>
            <a:r>
              <a:rPr lang="en-US" altLang="zh-CN" sz="2000" dirty="0"/>
              <a:t>installation test </a:t>
            </a:r>
            <a:endParaRPr lang="en-US" altLang="zh-CN" sz="2000" dirty="0"/>
          </a:p>
          <a:p>
            <a:endParaRPr lang="en-US" altLang="zh-CN" sz="2000" dirty="0"/>
          </a:p>
          <a:p>
            <a:r>
              <a:rPr lang="en-US" altLang="zh-CN" sz="2000" dirty="0">
                <a:solidFill>
                  <a:srgbClr val="FF0000"/>
                </a:solidFill>
              </a:rPr>
              <a:t>Acceptance testing (carried out separately)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Terminologies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34275" y="1221998"/>
            <a:ext cx="12710487"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White/Glass/Open Box Testing </a:t>
            </a:r>
            <a:endParaRPr lang="en-US" altLang="zh-CN" sz="2000" b="1" dirty="0">
              <a:solidFill>
                <a:srgbClr val="515223"/>
              </a:solidFill>
              <a:latin typeface="Helvetica" pitchFamily="2" charset="0"/>
              <a:cs typeface="Arial" panose="020B0604020202090204" pitchFamily="34" charset="0"/>
            </a:endParaRPr>
          </a:p>
          <a:p>
            <a:r>
              <a:rPr lang="en-US" sz="2000" dirty="0"/>
              <a:t>	Involves testing the internal structure and workings of a software application. </a:t>
            </a:r>
            <a:endParaRPr lang="en-US" sz="2000" dirty="0"/>
          </a:p>
          <a:p>
            <a:r>
              <a:rPr lang="en-US" sz="2000" dirty="0"/>
              <a:t>	Tester has access to the source code and uses this knowledge to design test cases</a:t>
            </a:r>
            <a:endParaRPr lang="en-US" sz="2000" dirty="0"/>
          </a:p>
          <a:p>
            <a:r>
              <a:rPr lang="en-US" altLang="zh-CN" sz="2000" dirty="0"/>
              <a:t>	Task owner</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Black/Box Testing </a:t>
            </a:r>
            <a:endParaRPr lang="en-US" altLang="zh-CN" sz="2000" dirty="0"/>
          </a:p>
          <a:p>
            <a:r>
              <a:rPr lang="en-US" altLang="zh-CN" sz="2000" dirty="0"/>
              <a:t>	T</a:t>
            </a:r>
            <a:r>
              <a:rPr lang="en-US" sz="2000" dirty="0"/>
              <a:t>ester is not concerned with the internal knowledge or implementation details of the software</a:t>
            </a:r>
            <a:endParaRPr lang="en-US" sz="2000" dirty="0"/>
          </a:p>
          <a:p>
            <a:r>
              <a:rPr lang="en-US" altLang="zh-CN" sz="2000" dirty="0"/>
              <a:t>	F</a:t>
            </a:r>
            <a:r>
              <a:rPr lang="en-US" sz="2000" dirty="0"/>
              <a:t>ocuses on validating the functionality based on the provided specifications or requirements</a:t>
            </a:r>
            <a:endParaRPr lang="en-US" sz="2000" dirty="0"/>
          </a:p>
          <a:p>
            <a:r>
              <a:rPr lang="en-US" altLang="zh-CN" sz="2000" dirty="0"/>
              <a:t>	Third party tester</a:t>
            </a:r>
            <a:endParaRPr lang="en-US" altLang="zh-CN"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2698" y="4000500"/>
            <a:ext cx="4292600" cy="2133600"/>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Terminologies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11415" y="1258963"/>
            <a:ext cx="12710487"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Functional Testing</a:t>
            </a:r>
            <a:endParaRPr lang="en-US" altLang="zh-CN" sz="2000" b="1" dirty="0">
              <a:solidFill>
                <a:srgbClr val="515223"/>
              </a:solidFill>
              <a:latin typeface="Helvetica" pitchFamily="2" charset="0"/>
              <a:cs typeface="Arial" panose="020B0604020202090204" pitchFamily="34" charset="0"/>
            </a:endParaRPr>
          </a:p>
          <a:p>
            <a:r>
              <a:rPr lang="en-US" altLang="zh-CN" sz="2000" dirty="0"/>
              <a:t>	T</a:t>
            </a:r>
            <a:r>
              <a:rPr lang="en-US" sz="2000" dirty="0"/>
              <a:t>est against the functional requirements and specifications</a:t>
            </a:r>
            <a:endParaRPr lang="en-US" sz="2000" dirty="0"/>
          </a:p>
          <a:p>
            <a:r>
              <a:rPr lang="en-US" altLang="zh-CN" sz="2000" dirty="0"/>
              <a:t>	Unit Test/Integration Test/System Test/Smoke Test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Non-Functional Testing</a:t>
            </a:r>
            <a:endParaRPr lang="en-US" altLang="zh-CN" sz="2000" b="1" dirty="0">
              <a:solidFill>
                <a:srgbClr val="515223"/>
              </a:solidFill>
              <a:latin typeface="Helvetica" pitchFamily="2" charset="0"/>
              <a:cs typeface="Arial" panose="020B0604020202090204" pitchFamily="34" charset="0"/>
            </a:endParaRPr>
          </a:p>
          <a:p>
            <a:r>
              <a:rPr lang="en-US" altLang="zh-CN" sz="2000" dirty="0"/>
              <a:t>	T</a:t>
            </a:r>
            <a:r>
              <a:rPr lang="en-US" sz="2000" dirty="0"/>
              <a:t>est against the non-functional requirements and specifications</a:t>
            </a:r>
            <a:endParaRPr lang="en-US" sz="2000" dirty="0"/>
          </a:p>
          <a:p>
            <a:r>
              <a:rPr lang="en-US" altLang="zh-CN" sz="2000" dirty="0"/>
              <a:t>	Performance, Usability, Security, etc.</a:t>
            </a:r>
            <a:endParaRPr lang="en-US" altLang="zh-CN" sz="2000"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10020" y="3915040"/>
            <a:ext cx="5130800" cy="20320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Terminologies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324865" y="2830085"/>
            <a:ext cx="11720461"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Integration Test</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	</a:t>
            </a:r>
            <a:r>
              <a:rPr lang="en-US" altLang="zh-CN" sz="2000" dirty="0"/>
              <a:t>T</a:t>
            </a:r>
            <a:r>
              <a:rPr lang="en-US" sz="2000" dirty="0"/>
              <a:t>esting units or components of a software application interact with each other</a:t>
            </a:r>
            <a:endParaRPr lang="en-US" sz="2000" dirty="0"/>
          </a:p>
          <a:p>
            <a:r>
              <a:rPr lang="en-US" sz="2000" dirty="0"/>
              <a:t>	Incremental Test/Non-incremental Test (Big Bang Test)</a:t>
            </a:r>
            <a:endParaRPr lang="en-US" sz="2000" dirty="0"/>
          </a:p>
        </p:txBody>
      </p:sp>
      <p:sp>
        <p:nvSpPr>
          <p:cNvPr id="4" name="TextBox 3"/>
          <p:cNvSpPr txBox="1"/>
          <p:nvPr/>
        </p:nvSpPr>
        <p:spPr>
          <a:xfrm>
            <a:off x="385825" y="5170516"/>
            <a:ext cx="11720461" cy="1015663"/>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System Test</a:t>
            </a:r>
            <a:endParaRPr lang="en-US" sz="2000" dirty="0"/>
          </a:p>
          <a:p>
            <a:r>
              <a:rPr lang="en-US" sz="2000" dirty="0"/>
              <a:t>	Testing that evaluates the overall functionality and performance of a complete and fully 	integrated software solution</a:t>
            </a:r>
            <a:endParaRPr lang="en-US" sz="2000" dirty="0"/>
          </a:p>
        </p:txBody>
      </p:sp>
      <p:sp>
        <p:nvSpPr>
          <p:cNvPr id="5" name="TextBox 3"/>
          <p:cNvSpPr txBox="1"/>
          <p:nvPr/>
        </p:nvSpPr>
        <p:spPr>
          <a:xfrm>
            <a:off x="324866" y="1028699"/>
            <a:ext cx="11720461"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Unit Test</a:t>
            </a:r>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	</a:t>
            </a:r>
            <a:r>
              <a:rPr lang="en-US" altLang="zh-CN" sz="2000" dirty="0"/>
              <a:t>T</a:t>
            </a:r>
            <a:r>
              <a:rPr lang="en-US" sz="2000" dirty="0"/>
              <a:t>esting individual units or components of a software application</a:t>
            </a:r>
            <a:endParaRPr lang="en-US" sz="2000" dirty="0"/>
          </a:p>
          <a:p>
            <a:r>
              <a:rPr lang="en-US" altLang="zh-CN" sz="2000" dirty="0"/>
              <a:t>	Test data is usually chosen by developer(s) based on their understanding of specification and 	knowledge of the unit. </a:t>
            </a:r>
            <a:endParaRPr lang="en-US" altLang="zh-CN" sz="2000" dirty="0"/>
          </a:p>
          <a:p>
            <a:r>
              <a:rPr lang="en-US" altLang="zh-CN" sz="2000" dirty="0"/>
              <a:t>	Created by the developer(s) of the unit or by special testers. </a:t>
            </a:r>
            <a:endParaRPr lang="en-US" altLang="zh-CN" sz="2000" dirty="0"/>
          </a:p>
        </p:txBody>
      </p:sp>
      <p:pic>
        <p:nvPicPr>
          <p:cNvPr id="8" name="Picture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28600" y="16195"/>
            <a:ext cx="3863400" cy="1234142"/>
          </a:xfrm>
          <a:prstGeom prst="rect">
            <a:avLst/>
          </a:prstGeom>
        </p:spPr>
      </p:pic>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2313" y="3845748"/>
            <a:ext cx="5557106" cy="143637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Test Cases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831814" y="1143852"/>
            <a:ext cx="9618104"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Test cases </a:t>
            </a:r>
            <a:r>
              <a:rPr lang="en-US" altLang="zh-CN" sz="2000" dirty="0"/>
              <a:t>are specific tests that are chosen because they </a:t>
            </a:r>
            <a:r>
              <a:rPr lang="en-US" altLang="zh-CN" sz="2000" b="1" dirty="0">
                <a:solidFill>
                  <a:srgbClr val="515223"/>
                </a:solidFill>
                <a:latin typeface="Helvetica" pitchFamily="2" charset="0"/>
                <a:cs typeface="Arial" panose="020B0604020202090204" pitchFamily="34" charset="0"/>
              </a:rPr>
              <a:t>are likely to find specific problems. </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dirty="0"/>
              <a:t>Test cases are chosen to balance expense against chance of finding serious errors.</a:t>
            </a:r>
            <a:endParaRPr lang="en-US" altLang="zh-CN" sz="2000" dirty="0"/>
          </a:p>
          <a:p>
            <a:pPr marL="800100" lvl="1" indent="-342900">
              <a:buFont typeface="Arial" panose="020B0604020202090204" pitchFamily="34" charset="0"/>
              <a:buChar char="•"/>
            </a:pPr>
            <a:r>
              <a:rPr lang="en-US" altLang="zh-CN" sz="2000" dirty="0"/>
              <a:t>Cases chosen by the </a:t>
            </a:r>
            <a:r>
              <a:rPr lang="en-US" altLang="zh-CN" sz="2000" dirty="0">
                <a:solidFill>
                  <a:srgbClr val="FF0000"/>
                </a:solidFill>
              </a:rPr>
              <a:t>development team </a:t>
            </a:r>
            <a:r>
              <a:rPr lang="en-US" altLang="zh-CN" sz="2000" dirty="0"/>
              <a:t>are effective in testing known vulnerable areas.</a:t>
            </a:r>
            <a:endParaRPr lang="en-US" altLang="zh-CN" sz="2000" dirty="0"/>
          </a:p>
          <a:p>
            <a:pPr marL="800100" lvl="1" indent="-342900">
              <a:buFont typeface="Arial" panose="020B0604020202090204" pitchFamily="34" charset="0"/>
              <a:buChar char="•"/>
            </a:pPr>
            <a:r>
              <a:rPr lang="en-US" altLang="zh-CN" sz="2000" dirty="0"/>
              <a:t>Cases chosen by </a:t>
            </a:r>
            <a:r>
              <a:rPr lang="en-US" altLang="zh-CN" sz="2000" dirty="0">
                <a:solidFill>
                  <a:srgbClr val="FF0000"/>
                </a:solidFill>
              </a:rPr>
              <a:t>experienced outsiders and clients </a:t>
            </a:r>
            <a:r>
              <a:rPr lang="en-US" altLang="zh-CN" sz="2000" dirty="0"/>
              <a:t>will be effective in finding gaps left by the developers.</a:t>
            </a:r>
            <a:endParaRPr lang="en-US" altLang="zh-CN" sz="2000" dirty="0"/>
          </a:p>
          <a:p>
            <a:pPr marL="800100" lvl="1" indent="-342900">
              <a:buFont typeface="Arial" panose="020B0604020202090204" pitchFamily="34" charset="0"/>
              <a:buChar char="•"/>
            </a:pPr>
            <a:r>
              <a:rPr lang="en-US" altLang="zh-CN" sz="2000" dirty="0"/>
              <a:t>Cases chosen by </a:t>
            </a:r>
            <a:r>
              <a:rPr lang="en-US" altLang="zh-CN" sz="2000" dirty="0">
                <a:solidFill>
                  <a:srgbClr val="FF0000"/>
                </a:solidFill>
              </a:rPr>
              <a:t>inexperienced users </a:t>
            </a:r>
            <a:r>
              <a:rPr lang="en-US" altLang="zh-CN" sz="2000" dirty="0"/>
              <a:t>will find other errors. </a:t>
            </a:r>
            <a:endParaRPr lang="en-US" altLang="zh-CN" sz="2000" b="1" dirty="0">
              <a:solidFill>
                <a:srgbClr val="FF0000"/>
              </a:solidFill>
              <a:latin typeface="Helvetica" pitchFamily="2" charset="0"/>
              <a:cs typeface="Arial" panose="020B0604020202090204" pitchFamily="34" charset="0"/>
            </a:endParaRPr>
          </a:p>
        </p:txBody>
      </p:sp>
      <p:sp>
        <p:nvSpPr>
          <p:cNvPr id="4" name="TextBox 3"/>
          <p:cNvSpPr txBox="1"/>
          <p:nvPr/>
        </p:nvSpPr>
        <p:spPr>
          <a:xfrm>
            <a:off x="831814" y="4089754"/>
            <a:ext cx="9618104" cy="132343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Test coverage </a:t>
            </a:r>
            <a:r>
              <a:rPr lang="en-US" altLang="zh-CN" sz="2000" dirty="0"/>
              <a:t>are w</a:t>
            </a:r>
            <a:r>
              <a:rPr lang="en-US" sz="2000" dirty="0"/>
              <a:t>ays to measure "how much code" was tested</a:t>
            </a:r>
            <a:endParaRPr lang="en-US" sz="2000" dirty="0"/>
          </a:p>
          <a:p>
            <a:r>
              <a:rPr lang="en-US" sz="2000" dirty="0"/>
              <a:t>	Statement (line) coverage</a:t>
            </a:r>
            <a:endParaRPr lang="en-US" sz="2000" dirty="0"/>
          </a:p>
          <a:p>
            <a:r>
              <a:rPr lang="en-US" sz="2000" dirty="0"/>
              <a:t>	Branch coverage</a:t>
            </a:r>
            <a:endParaRPr lang="en-US" sz="2000" dirty="0"/>
          </a:p>
          <a:p>
            <a:r>
              <a:rPr lang="en-US" sz="2000" dirty="0"/>
              <a:t>	Path coverage</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System and Integration Test</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647790" y="1244222"/>
            <a:ext cx="9618104" cy="3477875"/>
          </a:xfrm>
          <a:prstGeom prst="rect">
            <a:avLst/>
          </a:prstGeom>
          <a:noFill/>
        </p:spPr>
        <p:txBody>
          <a:bodyPr wrap="square">
            <a:spAutoFit/>
          </a:bodyPr>
          <a:lstStyle/>
          <a:p>
            <a:pPr marL="342900" indent="-342900">
              <a:buFont typeface="Arial" panose="020B0604020202090204" pitchFamily="34" charset="0"/>
              <a:buChar char="•"/>
            </a:pPr>
            <a:r>
              <a:rPr lang="en-US" altLang="zh-CN" sz="2000" dirty="0"/>
              <a:t> Tests on components or complete system, combining units that have already been thoroughly tested. </a:t>
            </a:r>
            <a:endParaRPr lang="en-US" altLang="zh-CN" sz="2000" dirty="0"/>
          </a:p>
          <a:p>
            <a:pPr marL="342900" indent="-342900">
              <a:buFont typeface="Arial" panose="020B0604020202090204" pitchFamily="34" charset="0"/>
              <a:buChar char="•"/>
            </a:pPr>
            <a:r>
              <a:rPr lang="en-US" altLang="zh-CN" sz="2000" dirty="0"/>
              <a:t> Emphasis on integration and interfaces. </a:t>
            </a:r>
            <a:endParaRPr lang="en-US" altLang="zh-CN" sz="2000" dirty="0"/>
          </a:p>
          <a:p>
            <a:pPr marL="342900" indent="-342900">
              <a:buFont typeface="Arial" panose="020B0604020202090204" pitchFamily="34" charset="0"/>
              <a:buChar char="•"/>
            </a:pPr>
            <a:r>
              <a:rPr lang="en-US" altLang="zh-CN" sz="2000" dirty="0"/>
              <a:t> Trial data that is typical of the actual data, and/or stresses the boundaries of the system, e.g., failures, restart. </a:t>
            </a:r>
            <a:endParaRPr lang="en-US" altLang="zh-CN" sz="2000" dirty="0"/>
          </a:p>
          <a:p>
            <a:pPr marL="342900" indent="-342900">
              <a:buFont typeface="Arial" panose="020B0604020202090204" pitchFamily="34" charset="0"/>
              <a:buChar char="•"/>
            </a:pPr>
            <a:r>
              <a:rPr lang="en-US" altLang="zh-CN" sz="2000" dirty="0"/>
              <a:t> Carried out systematically, adding components until the entire system is assembled. </a:t>
            </a:r>
            <a:endParaRPr lang="en-US" altLang="zh-CN" sz="2000" dirty="0"/>
          </a:p>
          <a:p>
            <a:pPr marL="342900" indent="-342900">
              <a:buFont typeface="Arial" panose="020B0604020202090204" pitchFamily="34" charset="0"/>
              <a:buChar char="•"/>
            </a:pPr>
            <a:r>
              <a:rPr lang="en-US" altLang="zh-CN" sz="2000" dirty="0"/>
              <a:t> </a:t>
            </a:r>
            <a:r>
              <a:rPr lang="en-US" altLang="zh-CN" sz="2000" dirty="0">
                <a:solidFill>
                  <a:srgbClr val="FF0000"/>
                </a:solidFill>
              </a:rPr>
              <a:t>Can be black or white box</a:t>
            </a:r>
            <a:r>
              <a:rPr lang="en-US" altLang="zh-CN" sz="2000" dirty="0"/>
              <a:t>: by development team or by special testers. </a:t>
            </a:r>
            <a:endParaRPr lang="en-US" altLang="zh-CN" sz="2000" dirty="0"/>
          </a:p>
          <a:p>
            <a:endParaRPr lang="en-US" altLang="zh-CN" sz="2000" dirty="0"/>
          </a:p>
          <a:p>
            <a:r>
              <a:rPr lang="en-US" altLang="zh-CN" sz="2000" dirty="0">
                <a:solidFill>
                  <a:srgbClr val="FF0000"/>
                </a:solidFill>
              </a:rPr>
              <a:t>System testing is finished fastest if each component is completely debugged before assembling the next. </a:t>
            </a:r>
            <a:endParaRPr lang="en-US" altLang="zh-CN" sz="2000" b="1" dirty="0">
              <a:solidFill>
                <a:srgbClr val="FF0000"/>
              </a:solidFill>
              <a:latin typeface="Helvetica" pitchFamily="2" charset="0"/>
              <a:cs typeface="Arial" panose="020B060402020209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62313" y="4937620"/>
            <a:ext cx="5557106" cy="1436370"/>
          </a:xfrm>
          <a:prstGeom prst="rect">
            <a:avLst/>
          </a:prstGeom>
        </p:spPr>
      </p:pic>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6514" y="4525857"/>
            <a:ext cx="2324045" cy="2332143"/>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29196" y="1084231"/>
            <a:ext cx="9618104" cy="2862322"/>
          </a:xfrm>
          <a:prstGeom prst="rect">
            <a:avLst/>
          </a:prstGeom>
          <a:noFill/>
        </p:spPr>
        <p:txBody>
          <a:bodyPr wrap="square">
            <a:spAutoFit/>
          </a:bodyPr>
          <a:lstStyle/>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Bottom-up testing </a:t>
            </a:r>
            <a:endParaRPr lang="en-US" altLang="zh-CN" sz="2000" b="1" dirty="0">
              <a:solidFill>
                <a:srgbClr val="515223"/>
              </a:solidFill>
              <a:latin typeface="Helvetica" pitchFamily="2" charset="0"/>
              <a:cs typeface="Arial" panose="020B0604020202090204" pitchFamily="34" charset="0"/>
            </a:endParaRPr>
          </a:p>
          <a:p>
            <a:pPr marL="800100" lvl="1" indent="-342900">
              <a:buFont typeface="Arial" panose="020B0604020202090204" pitchFamily="34" charset="0"/>
              <a:buChar char="•"/>
            </a:pPr>
            <a:r>
              <a:rPr lang="en-US" altLang="zh-CN" sz="2000" dirty="0"/>
              <a:t>Each unit is tested with its own test environment. Used for all systems.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Top-down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Large components are tested with dummy stubs. Particularly useful for:</a:t>
            </a:r>
            <a:endParaRPr lang="en-US" altLang="zh-CN" sz="2000" dirty="0"/>
          </a:p>
          <a:p>
            <a:pPr marL="800100" lvl="1" indent="-342900">
              <a:buFont typeface="Arial" panose="020B0604020202090204" pitchFamily="34" charset="0"/>
              <a:buChar char="•"/>
            </a:pPr>
            <a:r>
              <a:rPr lang="en-US" altLang="zh-CN" sz="2000" dirty="0"/>
              <a:t>user interfaces</a:t>
            </a:r>
            <a:endParaRPr lang="en-US" altLang="zh-CN" sz="2000" dirty="0"/>
          </a:p>
          <a:p>
            <a:pPr marL="800100" lvl="1" indent="-342900">
              <a:buFont typeface="Arial" panose="020B0604020202090204" pitchFamily="34" charset="0"/>
              <a:buChar char="•"/>
            </a:pPr>
            <a:r>
              <a:rPr lang="en-US" altLang="zh-CN" sz="2000" dirty="0"/>
              <a:t>work-flow</a:t>
            </a:r>
            <a:endParaRPr lang="en-US" altLang="zh-CN" sz="2000" dirty="0"/>
          </a:p>
          <a:p>
            <a:pPr marL="800100" lvl="1" indent="-342900">
              <a:buFont typeface="Arial" panose="020B0604020202090204" pitchFamily="34" charset="0"/>
              <a:buChar char="•"/>
            </a:pPr>
            <a:r>
              <a:rPr lang="en-US" altLang="zh-CN" sz="2000" dirty="0"/>
              <a:t>client and management demonstrations </a:t>
            </a:r>
            <a:endParaRPr lang="en-US" altLang="zh-CN" sz="2000"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555479" y="0"/>
            <a:ext cx="2588595" cy="2037644"/>
          </a:xfrm>
          <a:prstGeom prst="rect">
            <a:avLst/>
          </a:prstGeom>
        </p:spPr>
      </p:pic>
      <p:sp>
        <p:nvSpPr>
          <p:cNvPr id="8" name="Title 1"/>
          <p:cNvSpPr txBox="1"/>
          <p:nvPr/>
        </p:nvSpPr>
        <p:spPr>
          <a:xfrm>
            <a:off x="1213175" y="148356"/>
            <a:ext cx="9099225"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pitchFamily="2" charset="0"/>
                <a:ea typeface="微软雅黑" panose="020B0503020204020204" pitchFamily="34" charset="-122"/>
                <a:cs typeface="Arial" panose="020B0604020202090204" pitchFamily="34" charset="0"/>
              </a:defRPr>
            </a:lvl1pPr>
          </a:lstStyle>
          <a:p>
            <a:r>
              <a:rPr lang="en-US" altLang="zh-CN" dirty="0"/>
              <a:t>Terminologies</a:t>
            </a:r>
            <a:endParaRPr lang="en-US" sz="6000"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496" y="4239429"/>
            <a:ext cx="4175523" cy="2116920"/>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1139" y="4621359"/>
            <a:ext cx="1211648" cy="173499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Acceptance Testing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746411"/>
            <a:ext cx="11163995"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Acceptance testing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The complete system, including documentation, training materials, installation scripts, etc. is tested against the requirements by the client, assisted by the developers. </a:t>
            </a:r>
            <a:endParaRPr lang="en-US" altLang="zh-CN" sz="2000" dirty="0"/>
          </a:p>
          <a:p>
            <a:pPr lvl="1"/>
            <a:r>
              <a:rPr lang="en-US" altLang="zh-CN" sz="2000" dirty="0"/>
              <a:t>Each requirement is tested separately. </a:t>
            </a:r>
            <a:endParaRPr lang="en-US" altLang="zh-CN" sz="2000" dirty="0"/>
          </a:p>
          <a:p>
            <a:pPr lvl="1"/>
            <a:r>
              <a:rPr lang="en-US" altLang="zh-CN" sz="2000" dirty="0"/>
              <a:t>Scenarios are used to compare the expected outcomes with what the system does. </a:t>
            </a:r>
            <a:endParaRPr lang="en-US" altLang="zh-CN" sz="2000" dirty="0"/>
          </a:p>
          <a:p>
            <a:pPr lvl="1"/>
            <a:r>
              <a:rPr lang="en-US" altLang="zh-CN" sz="2000" dirty="0"/>
              <a:t>Emphasis is placed on how the system handles problems, errors, restarts, and other difficulties. </a:t>
            </a:r>
            <a:endParaRPr lang="en-US" altLang="zh-CN" sz="2000" dirty="0"/>
          </a:p>
          <a:p>
            <a:endParaRPr lang="en-US" altLang="zh-CN" sz="2000" dirty="0"/>
          </a:p>
          <a:p>
            <a:r>
              <a:rPr lang="en-US" altLang="zh-CN" sz="2000" dirty="0">
                <a:solidFill>
                  <a:srgbClr val="FF0000"/>
                </a:solidFill>
              </a:rPr>
              <a:t>Is the system we have built, the system that you wanted? Does it meet your requirements?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3200" dirty="0"/>
              <a:t>Acceptance Testing with Agile Development</a:t>
            </a:r>
            <a:endParaRPr lang="en-US" sz="54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62948" y="2339278"/>
            <a:ext cx="11163995"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Incremental development </a:t>
            </a:r>
            <a:endParaRPr lang="en-US" altLang="zh-CN" sz="2000" b="1" dirty="0">
              <a:solidFill>
                <a:srgbClr val="515223"/>
              </a:solidFill>
              <a:latin typeface="Helvetica" pitchFamily="2" charset="0"/>
              <a:cs typeface="Arial" panose="020B0604020202090204" pitchFamily="34" charset="0"/>
            </a:endParaRPr>
          </a:p>
          <a:p>
            <a:r>
              <a:rPr lang="en-US" altLang="zh-CN" sz="2000" dirty="0"/>
              <a:t>Acceptance testing is particularly important with agile development, since each sprint should end with completed code that is ready for release. </a:t>
            </a:r>
            <a:endParaRPr lang="en-US" altLang="zh-CN" sz="2000" dirty="0"/>
          </a:p>
          <a:p>
            <a:pPr lvl="1"/>
            <a:r>
              <a:rPr lang="en-US" altLang="zh-CN" sz="2000" dirty="0"/>
              <a:t>	Each sprint should be a complete development process, ending with acceptance testing 	by the client and release. </a:t>
            </a:r>
            <a:endParaRPr lang="en-US" altLang="zh-CN" sz="2000" dirty="0"/>
          </a:p>
          <a:p>
            <a:pPr lvl="1"/>
            <a:r>
              <a:rPr lang="en-US" altLang="zh-CN" sz="2000" dirty="0"/>
              <a:t>	If several sprints build on each other, each sprint may need to repeat the acceptance 	tests for earlier sprints to check that they are still met. </a:t>
            </a:r>
            <a:endParaRPr lang="en-US" altLang="zh-CN" sz="20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Resources for Acceptance Testing</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3"/>
          <p:cNvSpPr txBox="1"/>
          <p:nvPr/>
        </p:nvSpPr>
        <p:spPr>
          <a:xfrm>
            <a:off x="572375" y="2302596"/>
            <a:ext cx="11163995"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Acceptance Testing is a important part of a software project. </a:t>
            </a:r>
            <a:endParaRPr lang="en-US" altLang="zh-CN" sz="2000" b="1" dirty="0">
              <a:solidFill>
                <a:srgbClr val="515223"/>
              </a:solidFill>
              <a:latin typeface="Helvetica" pitchFamily="2" charset="0"/>
              <a:cs typeface="Arial" panose="020B0604020202090204" pitchFamily="34" charset="0"/>
            </a:endParaRPr>
          </a:p>
          <a:p>
            <a:pPr lvl="1"/>
            <a:r>
              <a:rPr lang="en-US" altLang="zh-CN" sz="2000" dirty="0"/>
              <a:t>	It requires </a:t>
            </a:r>
            <a:r>
              <a:rPr lang="en-US" altLang="zh-CN" sz="2000" dirty="0">
                <a:solidFill>
                  <a:srgbClr val="FF0000"/>
                </a:solidFill>
              </a:rPr>
              <a:t>time</a:t>
            </a:r>
            <a:r>
              <a:rPr lang="en-US" altLang="zh-CN" sz="2000" dirty="0"/>
              <a:t> on the schedule.</a:t>
            </a:r>
            <a:endParaRPr lang="en-US" altLang="zh-CN" sz="2000" dirty="0"/>
          </a:p>
          <a:p>
            <a:pPr lvl="1"/>
            <a:r>
              <a:rPr lang="en-US" altLang="zh-CN" sz="2000" dirty="0"/>
              <a:t>	It may require substantial </a:t>
            </a:r>
            <a:r>
              <a:rPr lang="en-US" altLang="zh-CN" sz="2000" dirty="0">
                <a:solidFill>
                  <a:srgbClr val="FF0000"/>
                </a:solidFill>
              </a:rPr>
              <a:t>investment</a:t>
            </a:r>
            <a:r>
              <a:rPr lang="en-US" altLang="zh-CN" sz="2000" dirty="0"/>
              <a:t> in test data, equipment, and test software.</a:t>
            </a:r>
            <a:endParaRPr lang="en-US" altLang="zh-CN" sz="2000" dirty="0"/>
          </a:p>
          <a:p>
            <a:pPr lvl="1"/>
            <a:r>
              <a:rPr lang="en-US" altLang="zh-CN" sz="2000" dirty="0"/>
              <a:t>	Good testing requires good </a:t>
            </a:r>
            <a:r>
              <a:rPr lang="en-US" altLang="zh-CN" sz="2000" dirty="0">
                <a:solidFill>
                  <a:srgbClr val="FF0000"/>
                </a:solidFill>
              </a:rPr>
              <a:t>people</a:t>
            </a:r>
            <a:r>
              <a:rPr lang="en-US" altLang="zh-CN" sz="2000" dirty="0"/>
              <a:t>.</a:t>
            </a:r>
            <a:endParaRPr lang="en-US" altLang="zh-CN" sz="2000" dirty="0"/>
          </a:p>
          <a:p>
            <a:pPr lvl="1"/>
            <a:r>
              <a:rPr lang="en-US" altLang="zh-CN" sz="2000" dirty="0">
                <a:solidFill>
                  <a:srgbClr val="FF0000"/>
                </a:solidFill>
              </a:rPr>
              <a:t>	Help</a:t>
            </a:r>
            <a:r>
              <a:rPr lang="en-US" altLang="zh-CN" sz="2000" dirty="0"/>
              <a:t> </a:t>
            </a:r>
            <a:r>
              <a:rPr lang="en-US" altLang="zh-CN" sz="2000" dirty="0">
                <a:solidFill>
                  <a:srgbClr val="FF0000"/>
                </a:solidFill>
              </a:rPr>
              <a:t>systems</a:t>
            </a:r>
            <a:r>
              <a:rPr lang="en-US" altLang="zh-CN" sz="2000" dirty="0"/>
              <a:t> and </a:t>
            </a:r>
            <a:r>
              <a:rPr lang="en-US" altLang="zh-CN" sz="2000" dirty="0">
                <a:solidFill>
                  <a:srgbClr val="FF0000"/>
                </a:solidFill>
              </a:rPr>
              <a:t>training</a:t>
            </a:r>
            <a:r>
              <a:rPr lang="en-US" altLang="zh-CN" sz="2000" dirty="0"/>
              <a:t> </a:t>
            </a:r>
            <a:r>
              <a:rPr lang="en-US" altLang="zh-CN" sz="2000" dirty="0">
                <a:solidFill>
                  <a:srgbClr val="FF0000"/>
                </a:solidFill>
              </a:rPr>
              <a:t>materials</a:t>
            </a:r>
            <a:r>
              <a:rPr lang="en-US" altLang="zh-CN" sz="2000" dirty="0"/>
              <a:t> are important parts of acceptance testing.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Acceptance Tests</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582387"/>
            <a:ext cx="9550399" cy="4401205"/>
          </a:xfrm>
          <a:prstGeom prst="rect">
            <a:avLst/>
          </a:prstGeom>
          <a:noFill/>
        </p:spPr>
        <p:txBody>
          <a:bodyPr wrap="square">
            <a:spAutoFit/>
          </a:bodyPr>
          <a:lstStyle/>
          <a:p>
            <a:r>
              <a:rPr lang="en-US" altLang="zh-CN" sz="2000" dirty="0">
                <a:solidFill>
                  <a:srgbClr val="FF0000"/>
                </a:solidFill>
              </a:rPr>
              <a:t>Closed box by the client </a:t>
            </a:r>
            <a:r>
              <a:rPr lang="en-US" altLang="zh-CN" sz="2000" dirty="0"/>
              <a:t>without knowledge of the internals.</a:t>
            </a:r>
            <a:endParaRPr lang="en-US" altLang="zh-CN" sz="2000" dirty="0"/>
          </a:p>
          <a:p>
            <a:pPr marL="342900" indent="-342900">
              <a:buFont typeface="Arial" panose="020B0604020202090204" pitchFamily="34" charset="0"/>
              <a:buChar char="•"/>
            </a:pPr>
            <a:endParaRPr lang="en-US" altLang="zh-CN" sz="2000" dirty="0"/>
          </a:p>
          <a:p>
            <a:r>
              <a:rPr lang="en-US" altLang="zh-CN" sz="2000" dirty="0"/>
              <a:t>The entire system is tested as a whole.</a:t>
            </a:r>
            <a:endParaRPr lang="en-US" altLang="zh-CN" sz="2000" dirty="0"/>
          </a:p>
          <a:p>
            <a:pPr marL="342900" indent="-342900">
              <a:buFont typeface="Arial" panose="020B0604020202090204" pitchFamily="34" charset="0"/>
              <a:buChar char="•"/>
            </a:pPr>
            <a:endParaRPr lang="en-US" altLang="zh-CN" sz="2000" dirty="0"/>
          </a:p>
          <a:p>
            <a:r>
              <a:rPr lang="en-US" altLang="zh-CN" sz="2000" dirty="0"/>
              <a:t>The emphasis is on whether the system meets the requirements.</a:t>
            </a:r>
            <a:endParaRPr lang="en-US" altLang="zh-CN" sz="2000" dirty="0"/>
          </a:p>
          <a:p>
            <a:pPr marL="342900" indent="-342900">
              <a:buFont typeface="Arial" panose="020B0604020202090204" pitchFamily="34" charset="0"/>
              <a:buChar char="•"/>
            </a:pPr>
            <a:endParaRPr lang="en-US" altLang="zh-CN" sz="2000" dirty="0"/>
          </a:p>
          <a:p>
            <a:r>
              <a:rPr lang="en-US" altLang="zh-CN" sz="2000" dirty="0"/>
              <a:t>The tests should use real data in realistic situations, with actual users, administrators, and operators. </a:t>
            </a:r>
            <a:endParaRPr lang="en-US" altLang="zh-CN" sz="2000" dirty="0"/>
          </a:p>
          <a:p>
            <a:endParaRPr lang="en-US" altLang="zh-CN" sz="2000" dirty="0"/>
          </a:p>
          <a:p>
            <a:r>
              <a:rPr lang="en-US" altLang="zh-CN" sz="2000" dirty="0">
                <a:solidFill>
                  <a:srgbClr val="FF0000"/>
                </a:solidFill>
              </a:rPr>
              <a:t>The acceptance tests must be successfully completed before the new system can go live or replace a legacy system. </a:t>
            </a:r>
            <a:endParaRPr lang="en-US" altLang="zh-CN" sz="2000" dirty="0">
              <a:solidFill>
                <a:srgbClr val="FF0000"/>
              </a:solidFill>
            </a:endParaRPr>
          </a:p>
          <a:p>
            <a:endParaRPr lang="en-US" altLang="zh-CN" sz="2000" dirty="0"/>
          </a:p>
          <a:p>
            <a:r>
              <a:rPr lang="en-US" altLang="zh-CN" sz="2000" dirty="0">
                <a:solidFill>
                  <a:srgbClr val="FF0000"/>
                </a:solidFill>
              </a:rPr>
              <a:t>Completion of the acceptance tests may be a contractual requirement before the system is paid for.</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Techniques for Release</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990783" y="1141118"/>
            <a:ext cx="9550399" cy="5016758"/>
          </a:xfrm>
          <a:prstGeom prst="rect">
            <a:avLst/>
          </a:prstGeom>
          <a:noFill/>
        </p:spPr>
        <p:txBody>
          <a:bodyPr wrap="square">
            <a:spAutoFit/>
          </a:bodyPr>
          <a:lstStyle/>
          <a:p>
            <a:r>
              <a:rPr lang="en-US" altLang="zh-CN" sz="2000" dirty="0"/>
              <a:t>The transition from the previous version of a production system to a new release is challenging.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Parallel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new system alongside the old production system with same data and compare results.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Alpha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system in a realistic but non-production environment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Beta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Clients operate the system in a carefully monitored production environment</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A/B Testing: </a:t>
            </a:r>
            <a:endParaRPr lang="en-US" altLang="zh-CN" sz="2000" b="1" dirty="0">
              <a:solidFill>
                <a:srgbClr val="515223"/>
              </a:solidFill>
              <a:latin typeface="Helvetica" pitchFamily="2" charset="0"/>
              <a:cs typeface="Arial" panose="020B0604020202090204" pitchFamily="34" charset="0"/>
            </a:endParaRPr>
          </a:p>
          <a:p>
            <a:r>
              <a:rPr lang="en-US" sz="2000" dirty="0"/>
              <a:t>Comparing two versions of a system against each other to determine which one performs better</a:t>
            </a:r>
            <a:endParaRPr lang="en-US" altLang="zh-CN" sz="20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Release: Parallel Testing</a:t>
            </a:r>
            <a:endParaRPr lang="en-US" sz="9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01169" y="1921752"/>
            <a:ext cx="9550399" cy="347787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Parallel Testing </a:t>
            </a:r>
            <a:endParaRPr lang="en-US" altLang="zh-CN" sz="2000" b="1" dirty="0">
              <a:solidFill>
                <a:srgbClr val="515223"/>
              </a:solidFill>
              <a:latin typeface="Helvetica" pitchFamily="2" charset="0"/>
              <a:cs typeface="Arial" panose="020B0604020202090204" pitchFamily="34" charset="0"/>
            </a:endParaRPr>
          </a:p>
          <a:p>
            <a:r>
              <a:rPr lang="en-US" altLang="zh-CN" sz="2000" dirty="0"/>
              <a:t>For data processing systems, such as financial systems, payroll, etc., the </a:t>
            </a:r>
            <a:r>
              <a:rPr lang="en-US" altLang="zh-CN" sz="2000" dirty="0">
                <a:solidFill>
                  <a:srgbClr val="FF0000"/>
                </a:solidFill>
              </a:rPr>
              <a:t>old</a:t>
            </a:r>
            <a:r>
              <a:rPr lang="en-US" altLang="zh-CN" sz="2000" dirty="0"/>
              <a:t> and the </a:t>
            </a:r>
            <a:r>
              <a:rPr lang="en-US" altLang="zh-CN" sz="2000" dirty="0">
                <a:solidFill>
                  <a:srgbClr val="FF0000"/>
                </a:solidFill>
              </a:rPr>
              <a:t>new</a:t>
            </a:r>
            <a:r>
              <a:rPr lang="en-US" altLang="zh-CN" sz="2000" dirty="0"/>
              <a:t> systems are run together for several productions cycles to check that the new system replicates the functionality of the old.</a:t>
            </a:r>
            <a:endParaRPr lang="en-US" altLang="zh-CN" sz="2000" dirty="0"/>
          </a:p>
          <a:p>
            <a:pPr marL="800100" lvl="1" indent="-342900">
              <a:buFont typeface="Arial" panose="020B0604020202090204" pitchFamily="34" charset="0"/>
              <a:buChar char="•"/>
            </a:pPr>
            <a:r>
              <a:rPr lang="en-US" altLang="zh-CN" sz="2000" dirty="0"/>
              <a:t>Requires two sets of everything (staff, equipment, etc.). </a:t>
            </a:r>
            <a:endParaRPr lang="en-US" altLang="zh-CN" sz="2000" dirty="0"/>
          </a:p>
          <a:p>
            <a:pPr marL="800100" lvl="1" indent="-342900">
              <a:buFont typeface="Arial" panose="020B0604020202090204" pitchFamily="34" charset="0"/>
              <a:buChar char="•"/>
            </a:pPr>
            <a:r>
              <a:rPr lang="en-US" altLang="zh-CN" sz="2000" dirty="0"/>
              <a:t>Requires software to control changeover (e.g., do not mail two sets of payments). </a:t>
            </a:r>
            <a:endParaRPr lang="en-US" altLang="zh-CN" sz="2000" dirty="0"/>
          </a:p>
          <a:p>
            <a:pPr marL="800100" lvl="1" indent="-342900">
              <a:buFont typeface="Arial" panose="020B0604020202090204" pitchFamily="34" charset="0"/>
              <a:buChar char="•"/>
            </a:pPr>
            <a:r>
              <a:rPr lang="en-US" altLang="zh-CN" sz="2000" dirty="0"/>
              <a:t>Requires automated scripts to compare results. </a:t>
            </a:r>
            <a:endParaRPr lang="en-US" altLang="zh-CN" sz="2000" dirty="0"/>
          </a:p>
          <a:p>
            <a:endParaRPr lang="en-US" altLang="zh-CN" sz="2000" dirty="0"/>
          </a:p>
          <a:p>
            <a:r>
              <a:rPr lang="en-US" altLang="zh-CN" sz="2000" dirty="0"/>
              <a:t>May take several months. Often, the new system will be brought into production in phases.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dirty="0"/>
              <a:t>Release: Alpha and Beta Testing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6" name="文本框 5"/>
          <p:cNvSpPr txBox="1"/>
          <p:nvPr/>
        </p:nvSpPr>
        <p:spPr>
          <a:xfrm>
            <a:off x="648304" y="1612081"/>
            <a:ext cx="9550399" cy="4093428"/>
          </a:xfrm>
          <a:prstGeom prst="rect">
            <a:avLst/>
          </a:prstGeom>
          <a:noFill/>
        </p:spPr>
        <p:txBody>
          <a:bodyPr wrap="square">
            <a:spAutoFit/>
          </a:bodyPr>
          <a:lstStyle/>
          <a:p>
            <a:r>
              <a:rPr lang="en-US" altLang="zh-CN" sz="2000" dirty="0"/>
              <a:t>Alpha testing can be done with software that lacks some functionality. Beta testing requires fully functional system.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Alpha and Beta testing must be managed. </a:t>
            </a:r>
            <a:endParaRPr lang="en-US" altLang="zh-CN" sz="2000" b="1" dirty="0">
              <a:solidFill>
                <a:srgbClr val="515223"/>
              </a:solidFill>
              <a:latin typeface="Helvetica" pitchFamily="2" charset="0"/>
              <a:cs typeface="Arial" panose="020B0604020202090204" pitchFamily="34" charset="0"/>
            </a:endParaRPr>
          </a:p>
          <a:p>
            <a:r>
              <a:rPr lang="en-US" altLang="zh-CN" sz="2000" dirty="0"/>
              <a:t>If you simply make versions of the software available to clients:</a:t>
            </a:r>
            <a:endParaRPr lang="en-US" altLang="zh-CN" sz="2000" dirty="0"/>
          </a:p>
          <a:p>
            <a:pPr lvl="1"/>
            <a:r>
              <a:rPr lang="en-US" altLang="zh-CN" sz="2000" dirty="0"/>
              <a:t>	Many clients will never use it.</a:t>
            </a:r>
            <a:endParaRPr lang="en-US" altLang="zh-CN" sz="2000" dirty="0"/>
          </a:p>
          <a:p>
            <a:pPr lvl="1"/>
            <a:r>
              <a:rPr lang="en-US" altLang="zh-CN" sz="2000" dirty="0"/>
              <a:t>	Other clients will use a few features. </a:t>
            </a:r>
            <a:endParaRPr lang="en-US" altLang="zh-CN" sz="2000" dirty="0"/>
          </a:p>
          <a:p>
            <a:pPr lvl="1"/>
            <a:r>
              <a:rPr lang="en-US" altLang="zh-CN" sz="2000" dirty="0"/>
              <a:t>	Only a few clients will test it systematically. </a:t>
            </a:r>
            <a:endParaRPr lang="en-US" altLang="zh-CN" sz="2000" dirty="0"/>
          </a:p>
          <a:p>
            <a:pPr lvl="1"/>
            <a:r>
              <a:rPr lang="en-US" altLang="zh-CN" sz="2000" dirty="0"/>
              <a:t>	Only a few clients will report problems systematically.</a:t>
            </a:r>
            <a:endParaRPr lang="en-US" altLang="zh-CN" sz="2000" dirty="0"/>
          </a:p>
          <a:p>
            <a:pPr lvl="1"/>
            <a:endParaRPr lang="en-US" altLang="zh-CN" sz="2000" dirty="0"/>
          </a:p>
          <a:p>
            <a:r>
              <a:rPr lang="en-US" altLang="zh-CN" sz="2000" dirty="0"/>
              <a:t>What </a:t>
            </a:r>
            <a:r>
              <a:rPr lang="en-US" altLang="zh-CN" sz="2000" dirty="0">
                <a:solidFill>
                  <a:srgbClr val="FF0000"/>
                </a:solidFill>
              </a:rPr>
              <a:t>incentives</a:t>
            </a:r>
            <a:r>
              <a:rPr lang="en-US" altLang="zh-CN" sz="2000" dirty="0"/>
              <a:t> can you give clients to test your software for you? </a:t>
            </a:r>
            <a:endParaRPr lang="en-US" altLang="zh-CN" sz="2000" dirty="0"/>
          </a:p>
          <a:p>
            <a:pPr marL="800100" lvl="1" indent="-342900">
              <a:buFont typeface="Arial" panose="020B0604020202090204" pitchFamily="34" charset="0"/>
              <a:buChar char="•"/>
            </a:pPr>
            <a:r>
              <a:rPr lang="en-US" altLang="zh-CN" sz="2000" dirty="0"/>
              <a:t>Financial (e.g., discounts on products) </a:t>
            </a:r>
            <a:endParaRPr lang="en-US" altLang="zh-CN" sz="2000" dirty="0"/>
          </a:p>
          <a:p>
            <a:pPr marL="800100" lvl="1" indent="-342900">
              <a:buFont typeface="Arial" panose="020B0604020202090204" pitchFamily="34" charset="0"/>
              <a:buChar char="•"/>
            </a:pPr>
            <a:r>
              <a:rPr lang="en-US" altLang="zh-CN" sz="2000" dirty="0"/>
              <a:t>Prestige (e.g., recognition, publicity)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Release: A/B Testing</a:t>
            </a:r>
            <a:endParaRPr lang="en-US"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1146976" y="1377032"/>
            <a:ext cx="10371924" cy="3447098"/>
          </a:xfrm>
          <a:prstGeom prst="rect">
            <a:avLst/>
          </a:prstGeom>
          <a:noFill/>
        </p:spPr>
        <p:txBody>
          <a:bodyPr wrap="square">
            <a:spAutoFit/>
          </a:bodyPr>
          <a:lstStyle/>
          <a:p>
            <a:r>
              <a:rPr lang="en-US" sz="2000" dirty="0"/>
              <a:t>In an A/B test, you take a webpage or app screen and modify it to create a second version of the same page. </a:t>
            </a:r>
            <a:endParaRPr lang="en-US" sz="2000" dirty="0"/>
          </a:p>
          <a:p>
            <a:endParaRPr lang="en-US" sz="2000" dirty="0"/>
          </a:p>
          <a:p>
            <a:r>
              <a:rPr lang="en-US" sz="2000" dirty="0"/>
              <a:t>Half of your traffic is shown the original version of the page (known as control or A) and half are shown the modified version of the page (the variation or B).</a:t>
            </a:r>
            <a:endParaRPr lang="en-US" sz="2000" dirty="0"/>
          </a:p>
          <a:p>
            <a:endParaRPr lang="en-US" dirty="0">
              <a:solidFill>
                <a:srgbClr val="E9EBF1"/>
              </a:solidFill>
              <a:highlight>
                <a:srgbClr val="10141D"/>
              </a:highlight>
              <a:latin typeface="Figtree"/>
            </a:endParaRPr>
          </a:p>
          <a:p>
            <a:r>
              <a:rPr lang="en-US" sz="2000" dirty="0"/>
              <a:t>As visitors are served either the control or variation, their engagement with each experience is collected and analyzed through statistical analysis. </a:t>
            </a:r>
            <a:endParaRPr lang="en-US" sz="2000" dirty="0"/>
          </a:p>
          <a:p>
            <a:endParaRPr lang="en-US" sz="2000" dirty="0"/>
          </a:p>
          <a:p>
            <a:r>
              <a:rPr lang="en-US" sz="2000" dirty="0"/>
              <a:t>Developers can then determine whether changing the experience (variation or B) had a positive, negative or neutral effect against the baseline (control or A).</a:t>
            </a:r>
            <a:endParaRPr lang="en-US" sz="2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335087" y="3977885"/>
            <a:ext cx="9521825" cy="644144"/>
          </a:xfrm>
          <a:prstGeom prst="rect">
            <a:avLst/>
          </a:prstGeom>
        </p:spPr>
        <p:txBody>
          <a:bodyPr wrap="square">
            <a:normAutofit lnSpcReduction="10000"/>
          </a:bodyPr>
          <a:lstStyle/>
          <a:p>
            <a:pPr algn="ctr"/>
            <a:r>
              <a:rPr lang="en-US" altLang="zh-CN" sz="3700" b="1" dirty="0">
                <a:solidFill>
                  <a:schemeClr val="accent1"/>
                </a:solidFill>
                <a:latin typeface="Helvetica" pitchFamily="2" charset="0"/>
                <a:cs typeface="+mn-ea"/>
              </a:rPr>
              <a:t>People</a:t>
            </a:r>
            <a:endParaRPr lang="zh-CN" altLang="en-US" sz="3700" b="1" dirty="0">
              <a:solidFill>
                <a:schemeClr val="accent1"/>
              </a:solidFill>
              <a:latin typeface="Helvetica" pitchFamily="2" charset="0"/>
              <a:cs typeface="+mn-ea"/>
              <a:sym typeface="+mn-lt"/>
            </a:endParaRPr>
          </a:p>
        </p:txBody>
      </p:sp>
      <p:grpSp>
        <p:nvGrpSpPr>
          <p:cNvPr id="4" name="组合 3"/>
          <p:cNvGrpSpPr/>
          <p:nvPr/>
        </p:nvGrpSpPr>
        <p:grpSpPr>
          <a:xfrm>
            <a:off x="4819048" y="1319889"/>
            <a:ext cx="2553904" cy="2646878"/>
            <a:chOff x="5865211" y="1319889"/>
            <a:chExt cx="2553904" cy="2646878"/>
          </a:xfrm>
        </p:grpSpPr>
        <p:sp>
          <p:nvSpPr>
            <p:cNvPr id="2" name="文本框 1"/>
            <p:cNvSpPr txBox="1"/>
            <p:nvPr/>
          </p:nvSpPr>
          <p:spPr>
            <a:xfrm>
              <a:off x="5865211" y="1319889"/>
              <a:ext cx="2553904" cy="2646878"/>
            </a:xfrm>
            <a:prstGeom prst="rect">
              <a:avLst/>
            </a:prstGeom>
            <a:noFill/>
          </p:spPr>
          <p:txBody>
            <a:bodyPr wrap="none" rtlCol="0">
              <a:spAutoFit/>
            </a:bodyPr>
            <a:lstStyle/>
            <a:p>
              <a:r>
                <a:rPr lang="en-US" altLang="zh-CN" sz="16600" dirty="0">
                  <a:solidFill>
                    <a:schemeClr val="accent1"/>
                  </a:solidFill>
                  <a:latin typeface="Helvetica" pitchFamily="2" charset="0"/>
                  <a:cs typeface="+mn-ea"/>
                  <a:sym typeface="+mn-lt"/>
                </a:rPr>
                <a:t>02</a:t>
              </a:r>
              <a:endParaRPr lang="zh-CN" altLang="en-US" sz="16600" dirty="0">
                <a:solidFill>
                  <a:schemeClr val="accent1"/>
                </a:solidFill>
                <a:latin typeface="Helvetica" pitchFamily="2" charset="0"/>
                <a:cs typeface="+mn-ea"/>
                <a:sym typeface="+mn-lt"/>
              </a:endParaRPr>
            </a:p>
          </p:txBody>
        </p:sp>
        <p:sp>
          <p:nvSpPr>
            <p:cNvPr id="3" name="文本框 2"/>
            <p:cNvSpPr txBox="1"/>
            <p:nvPr/>
          </p:nvSpPr>
          <p:spPr>
            <a:xfrm>
              <a:off x="5865211" y="2574748"/>
              <a:ext cx="2553904" cy="461665"/>
            </a:xfrm>
            <a:prstGeom prst="rect">
              <a:avLst/>
            </a:prstGeom>
            <a:solidFill>
              <a:schemeClr val="bg1"/>
            </a:solidFill>
          </p:spPr>
          <p:txBody>
            <a:bodyPr wrap="square" rtlCol="0">
              <a:spAutoFit/>
            </a:bodyPr>
            <a:lstStyle/>
            <a:p>
              <a:pPr algn="dist"/>
              <a:r>
                <a:rPr lang="en-US" altLang="zh-CN" sz="2400" dirty="0">
                  <a:solidFill>
                    <a:schemeClr val="accent1"/>
                  </a:solidFill>
                  <a:latin typeface="Helvetica" pitchFamily="2" charset="0"/>
                  <a:cs typeface="Arial" panose="020B0604020202090204" pitchFamily="34" charset="0"/>
                  <a:sym typeface="+mn-lt"/>
                </a:rPr>
                <a:t>PART</a:t>
              </a:r>
              <a:r>
                <a:rPr lang="zh-CN" altLang="en-US" sz="2400" dirty="0">
                  <a:solidFill>
                    <a:schemeClr val="accent1"/>
                  </a:solidFill>
                  <a:latin typeface="Helvetica" pitchFamily="2" charset="0"/>
                  <a:cs typeface="Arial" panose="020B0604020202090204" pitchFamily="34" charset="0"/>
                  <a:sym typeface="+mn-lt"/>
                </a:rPr>
                <a:t> </a:t>
              </a:r>
              <a:r>
                <a:rPr lang="en-US" altLang="zh-CN" sz="2400" dirty="0">
                  <a:solidFill>
                    <a:schemeClr val="accent1"/>
                  </a:solidFill>
                  <a:latin typeface="Helvetica" pitchFamily="2" charset="0"/>
                  <a:cs typeface="Arial" panose="020B0604020202090204" pitchFamily="34" charset="0"/>
                  <a:sym typeface="+mn-lt"/>
                </a:rPr>
                <a:t>TWO </a:t>
              </a:r>
              <a:endParaRPr lang="zh-CN" altLang="en-US" sz="2400" dirty="0">
                <a:solidFill>
                  <a:schemeClr val="accent1"/>
                </a:solidFill>
                <a:latin typeface="Helvetica" pitchFamily="2" charset="0"/>
                <a:cs typeface="Arial" panose="020B0604020202090204" pitchFamily="34" charset="0"/>
                <a:sym typeface="+mn-lt"/>
              </a:endParaRPr>
            </a:p>
          </p:txBody>
        </p:sp>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How to lead (Manage Down)</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5" name="TextBox 4"/>
          <p:cNvSpPr txBox="1"/>
          <p:nvPr/>
        </p:nvSpPr>
        <p:spPr>
          <a:xfrm>
            <a:off x="976406" y="1028699"/>
            <a:ext cx="10542494" cy="5324535"/>
          </a:xfrm>
          <a:prstGeom prst="rect">
            <a:avLst/>
          </a:prstGeom>
          <a:noFill/>
        </p:spPr>
        <p:txBody>
          <a:bodyPr wrap="square">
            <a:spAutoFit/>
          </a:bodyPr>
          <a:lstStyle/>
          <a:p>
            <a:r>
              <a:rPr lang="en-US" sz="2000" dirty="0"/>
              <a:t>Clear and capable goals/roadmaps</a:t>
            </a:r>
            <a:endParaRPr lang="en-US" sz="2000" dirty="0"/>
          </a:p>
          <a:p>
            <a:endParaRPr lang="en-US" sz="2000" dirty="0"/>
          </a:p>
          <a:p>
            <a:r>
              <a:rPr lang="en-US" sz="2000" dirty="0"/>
              <a:t>Transparent </a:t>
            </a:r>
            <a:endParaRPr lang="en-US" sz="2000" dirty="0"/>
          </a:p>
          <a:p>
            <a:endParaRPr lang="en-US" sz="2000" dirty="0"/>
          </a:p>
          <a:p>
            <a:r>
              <a:rPr lang="en-US" altLang="zh-CN" sz="2000" dirty="0"/>
              <a:t>Learn to listen</a:t>
            </a:r>
            <a:endParaRPr lang="en-US" altLang="zh-CN" sz="2000" dirty="0"/>
          </a:p>
          <a:p>
            <a:endParaRPr lang="en-US" altLang="zh-CN" sz="2000" dirty="0"/>
          </a:p>
          <a:p>
            <a:r>
              <a:rPr lang="en-US" altLang="zh-CN" sz="2000" dirty="0"/>
              <a:t>No Micromanage</a:t>
            </a:r>
            <a:endParaRPr lang="en-US" altLang="zh-CN" sz="2000" dirty="0"/>
          </a:p>
          <a:p>
            <a:endParaRPr lang="en-US" altLang="zh-CN" sz="2000" dirty="0"/>
          </a:p>
          <a:p>
            <a:r>
              <a:rPr lang="en-US" altLang="zh-CN" sz="2000" dirty="0"/>
              <a:t>Be responsible, strongly motivated, flexible</a:t>
            </a:r>
            <a:endParaRPr lang="en-US" altLang="zh-CN" sz="2000" dirty="0"/>
          </a:p>
          <a:p>
            <a:endParaRPr lang="en-US" sz="2000" dirty="0"/>
          </a:p>
          <a:p>
            <a:r>
              <a:rPr lang="en-US" sz="2000" dirty="0"/>
              <a:t>Stimulate employees</a:t>
            </a:r>
            <a:endParaRPr lang="en-US" sz="2000" dirty="0"/>
          </a:p>
          <a:p>
            <a:endParaRPr lang="en-US" sz="2000" dirty="0"/>
          </a:p>
          <a:p>
            <a:r>
              <a:rPr lang="en-US" sz="2000" dirty="0"/>
              <a:t>Support employees’ decisions</a:t>
            </a:r>
            <a:endParaRPr lang="en-US" sz="2000" dirty="0"/>
          </a:p>
          <a:p>
            <a:endParaRPr lang="en-US" sz="2000" dirty="0"/>
          </a:p>
          <a:p>
            <a:r>
              <a:rPr lang="en-US" sz="2000" dirty="0"/>
              <a:t>Coach and develop employees’ skills</a:t>
            </a:r>
            <a:endParaRPr lang="en-US" sz="2000" dirty="0"/>
          </a:p>
          <a:p>
            <a:endParaRPr lang="en-US" sz="2000" dirty="0"/>
          </a:p>
          <a:p>
            <a:r>
              <a:rPr lang="en-US" sz="2000" dirty="0"/>
              <a:t>Aware of conflict and deal with its causes</a:t>
            </a:r>
            <a:endParaRPr lang="en-US" sz="20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Firmness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2099048"/>
            <a:ext cx="11460821" cy="1631216"/>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Managers must be firm when needed</a:t>
            </a:r>
            <a:r>
              <a:rPr lang="en-US" altLang="zh-CN" sz="2000" dirty="0"/>
              <a:t>:</a:t>
            </a:r>
            <a:endParaRPr lang="en-US" altLang="zh-CN" sz="2000" dirty="0"/>
          </a:p>
          <a:p>
            <a:r>
              <a:rPr lang="en-US" altLang="zh-CN" sz="2000" dirty="0"/>
              <a:t>	Assignment of tasks must be equitable and open; everybody will have to tackle some of the 	dreary tasks.</a:t>
            </a:r>
            <a:endParaRPr lang="en-US" altLang="zh-CN" sz="2000" dirty="0"/>
          </a:p>
          <a:p>
            <a:r>
              <a:rPr lang="en-US" altLang="zh-CN" sz="2000" dirty="0"/>
              <a:t>	Carrots are better than sticks, but poor performance must be addressed.</a:t>
            </a:r>
            <a:endParaRPr lang="en-US" altLang="zh-CN" sz="2000" dirty="0"/>
          </a:p>
          <a:p>
            <a:r>
              <a:rPr lang="en-US" altLang="zh-CN" sz="2000" dirty="0"/>
              <a:t>	Nobody is indispensable; nobody should be allowed to think that they are indispensable.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How to be productive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900017"/>
            <a:ext cx="961810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As a junior member of a team, what can you do to make it productive?</a:t>
            </a:r>
            <a:endParaRPr lang="en-US" altLang="zh-CN" sz="2000" b="1" dirty="0">
              <a:solidFill>
                <a:srgbClr val="515223"/>
              </a:solidFill>
              <a:latin typeface="Helvetica" pitchFamily="2" charset="0"/>
              <a:cs typeface="Arial" panose="020B0604020202090204" pitchFamily="34" charset="0"/>
            </a:endParaRPr>
          </a:p>
          <a:p>
            <a:r>
              <a:rPr lang="en-US" altLang="zh-CN" sz="2000" dirty="0"/>
              <a:t>	Follow the team's style of working</a:t>
            </a:r>
            <a:endParaRPr lang="en-US" altLang="zh-CN" sz="2000" dirty="0"/>
          </a:p>
          <a:p>
            <a:r>
              <a:rPr lang="en-US" altLang="zh-CN" sz="2000" dirty="0"/>
              <a:t>	Understand the context of your work</a:t>
            </a:r>
            <a:endParaRPr lang="en-US" altLang="zh-CN" sz="2000" dirty="0"/>
          </a:p>
          <a:p>
            <a:r>
              <a:rPr lang="en-US" altLang="zh-CN" sz="2000" dirty="0"/>
              <a:t>	Make practical suggestions</a:t>
            </a:r>
            <a:endParaRPr lang="en-US" altLang="zh-CN" sz="2000" dirty="0"/>
          </a:p>
          <a:p>
            <a:r>
              <a:rPr lang="en-US" altLang="zh-CN" sz="2000" dirty="0"/>
              <a:t>	Ask for help if you need it</a:t>
            </a:r>
            <a:endParaRPr lang="en-US" altLang="zh-CN" sz="2000" dirty="0"/>
          </a:p>
          <a:p>
            <a:r>
              <a:rPr lang="en-US" altLang="zh-CN" sz="2000" dirty="0"/>
              <a:t>	Accept less interesting tasks</a:t>
            </a:r>
            <a:endParaRPr lang="en-US" altLang="zh-CN" sz="2000" dirty="0"/>
          </a:p>
          <a:p>
            <a:r>
              <a:rPr lang="en-US" altLang="zh-CN" sz="2000" dirty="0"/>
              <a:t>	Attend social events</a:t>
            </a:r>
            <a:endParaRPr lang="en-US" altLang="zh-CN" sz="2000" dirty="0"/>
          </a:p>
          <a:p>
            <a:r>
              <a:rPr lang="en-US" altLang="zh-CN" sz="2000" dirty="0">
                <a:solidFill>
                  <a:srgbClr val="FF0000"/>
                </a:solidFill>
              </a:rPr>
              <a:t>	Do good work</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How to be led (Manage Up)</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1091254" y="1156060"/>
            <a:ext cx="7290209" cy="4093428"/>
          </a:xfrm>
          <a:prstGeom prst="rect">
            <a:avLst/>
          </a:prstGeom>
          <a:noFill/>
        </p:spPr>
        <p:txBody>
          <a:bodyPr wrap="square">
            <a:spAutoFit/>
          </a:bodyPr>
          <a:lstStyle/>
          <a:p>
            <a:r>
              <a:rPr lang="en-US" altLang="zh-CN" sz="2000" dirty="0"/>
              <a:t>Be loyal and committed</a:t>
            </a:r>
            <a:endParaRPr lang="en-US" altLang="zh-CN" sz="2000" dirty="0"/>
          </a:p>
          <a:p>
            <a:endParaRPr lang="en-US" altLang="zh-CN" sz="2000" dirty="0"/>
          </a:p>
          <a:p>
            <a:r>
              <a:rPr lang="en-US" altLang="zh-CN" sz="2000" dirty="0"/>
              <a:t>Be proactive</a:t>
            </a:r>
            <a:endParaRPr lang="en-US" altLang="zh-CN" sz="2000" dirty="0"/>
          </a:p>
          <a:p>
            <a:endParaRPr lang="en-US" altLang="zh-CN" sz="2000" dirty="0"/>
          </a:p>
          <a:p>
            <a:r>
              <a:rPr lang="en-US" altLang="zh-CN" sz="2000" dirty="0"/>
              <a:t>See the big picture and understanding boss’s perspective</a:t>
            </a:r>
            <a:endParaRPr lang="en-US" altLang="zh-CN" sz="2000" dirty="0"/>
          </a:p>
          <a:p>
            <a:endParaRPr lang="en-US" altLang="zh-CN" sz="2000" dirty="0"/>
          </a:p>
          <a:p>
            <a:r>
              <a:rPr lang="en-US" altLang="zh-CN" sz="2000" dirty="0"/>
              <a:t>Providing solution, not problem</a:t>
            </a:r>
            <a:endParaRPr lang="en-US" altLang="zh-CN" sz="2000" dirty="0"/>
          </a:p>
          <a:p>
            <a:endParaRPr lang="en-US" altLang="zh-CN" sz="2000" dirty="0"/>
          </a:p>
          <a:p>
            <a:r>
              <a:rPr lang="en-US" altLang="zh-CN" sz="2000" dirty="0"/>
              <a:t>Exceed expectations</a:t>
            </a:r>
            <a:endParaRPr lang="en-US" altLang="zh-CN" sz="2000" dirty="0"/>
          </a:p>
          <a:p>
            <a:endParaRPr lang="en-US" altLang="zh-CN" sz="2000" dirty="0"/>
          </a:p>
          <a:p>
            <a:r>
              <a:rPr lang="en-US" altLang="zh-CN" sz="2000" dirty="0"/>
              <a:t>Go beyond your task</a:t>
            </a:r>
            <a:endParaRPr lang="en-US" altLang="zh-CN" sz="2000" dirty="0"/>
          </a:p>
          <a:p>
            <a:endParaRPr lang="en-US" altLang="zh-CN" sz="2000" dirty="0"/>
          </a:p>
          <a:p>
            <a:r>
              <a:rPr lang="en-US" altLang="zh-CN" sz="2000" dirty="0"/>
              <a:t>Keep you boss informed</a:t>
            </a:r>
            <a:endParaRPr lang="en-US" altLang="zh-CN" sz="20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Turning a Group Around</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828684"/>
            <a:ext cx="9618104"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To turn a weak group into a strong one is the one of the greatest challenges of leadership.</a:t>
            </a:r>
            <a:endParaRPr lang="en-US" altLang="zh-CN" sz="2000" b="1" dirty="0">
              <a:solidFill>
                <a:srgbClr val="515223"/>
              </a:solidFill>
              <a:latin typeface="Helvetica" pitchFamily="2" charset="0"/>
              <a:cs typeface="Arial" panose="020B0604020202090204" pitchFamily="34" charset="0"/>
            </a:endParaRPr>
          </a:p>
          <a:p>
            <a:r>
              <a:rPr lang="en-US" altLang="zh-CN" sz="2000" dirty="0"/>
              <a:t>	The art of the possible</a:t>
            </a:r>
            <a:endParaRPr lang="en-US" altLang="zh-CN" sz="2000" dirty="0"/>
          </a:p>
          <a:p>
            <a:r>
              <a:rPr lang="en-US" altLang="zh-CN" sz="2000" dirty="0"/>
              <a:t>	Promotion of the best over the old leaders</a:t>
            </a:r>
            <a:endParaRPr lang="en-US" altLang="zh-CN" sz="2000" dirty="0"/>
          </a:p>
          <a:p>
            <a:r>
              <a:rPr lang="en-US" altLang="zh-CN" sz="2000" dirty="0"/>
              <a:t>	Using opportunities to reorganize</a:t>
            </a:r>
            <a:endParaRPr lang="en-US" altLang="zh-CN" sz="2000" dirty="0"/>
          </a:p>
          <a:p>
            <a:r>
              <a:rPr lang="en-US" altLang="zh-CN" sz="2000" dirty="0"/>
              <a:t>	Resignations and terminations</a:t>
            </a:r>
            <a:endParaRPr lang="en-US" altLang="zh-CN" sz="2000" dirty="0"/>
          </a:p>
          <a:p>
            <a:r>
              <a:rPr lang="en-US" altLang="zh-CN" sz="2000" dirty="0"/>
              <a:t>	Respect people who try, but refuse to accept problem areas </a:t>
            </a:r>
            <a:endParaRPr lang="en-US" altLang="zh-CN" sz="2000" dirty="0"/>
          </a:p>
          <a:p>
            <a:endParaRPr lang="en-US" altLang="zh-CN" sz="2000" dirty="0"/>
          </a:p>
          <a:p>
            <a:r>
              <a:rPr lang="en-US" altLang="zh-CN" sz="2000" dirty="0">
                <a:solidFill>
                  <a:srgbClr val="FF0000"/>
                </a:solidFill>
              </a:rPr>
              <a:t>Persistent and firm is better than brutal and abrupt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Employment Law</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2110018"/>
            <a:ext cx="11399348"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As an employer: </a:t>
            </a:r>
            <a:endParaRPr lang="en-US" altLang="zh-CN" sz="2000" b="1" dirty="0">
              <a:solidFill>
                <a:srgbClr val="515223"/>
              </a:solidFill>
              <a:latin typeface="Helvetica" pitchFamily="2" charset="0"/>
              <a:cs typeface="Arial" panose="020B0604020202090204" pitchFamily="34" charset="0"/>
            </a:endParaRPr>
          </a:p>
          <a:p>
            <a:r>
              <a:rPr lang="en-US" altLang="zh-CN" sz="2000" dirty="0"/>
              <a:t>If you employ people or supervise other people, you need to know the basics of employment law</a:t>
            </a:r>
            <a:endParaRPr lang="en-US" altLang="zh-CN" sz="2000" dirty="0"/>
          </a:p>
          <a:p>
            <a:r>
              <a:rPr lang="en-US" altLang="zh-CN" sz="2000" dirty="0"/>
              <a:t>	N+1 for severance package</a:t>
            </a:r>
            <a:endParaRPr lang="en-US" altLang="zh-CN" sz="2000" dirty="0"/>
          </a:p>
          <a:p>
            <a:endParaRPr lang="en-US" altLang="zh-CN" sz="2000" dirty="0"/>
          </a:p>
          <a:p>
            <a:r>
              <a:rPr lang="en-US" altLang="zh-CN" sz="2000" dirty="0"/>
              <a:t>Many organizations run short courses for their supervisors or provide information about the key issues.</a:t>
            </a:r>
            <a:endParaRPr lang="en-US" altLang="zh-CN" sz="2000" dirty="0"/>
          </a:p>
          <a:p>
            <a:r>
              <a:rPr lang="en-US" altLang="zh-CN" sz="2000" dirty="0"/>
              <a:t>	Be particularly careful about terminating people (firing).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If in doubt, consult a Human Relations (HR) expert.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Employment Law</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881028"/>
            <a:ext cx="961810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When you start a job:</a:t>
            </a:r>
            <a:endParaRPr lang="en-US" altLang="zh-CN" sz="2000" b="1" dirty="0">
              <a:solidFill>
                <a:srgbClr val="515223"/>
              </a:solidFill>
              <a:latin typeface="Helvetica" pitchFamily="2" charset="0"/>
              <a:cs typeface="Arial" panose="020B0604020202090204" pitchFamily="34" charset="0"/>
            </a:endParaRPr>
          </a:p>
          <a:p>
            <a:r>
              <a:rPr lang="en-US" altLang="zh-CN" sz="2000" dirty="0"/>
              <a:t>	You will usually be asked to sign an employment contract.</a:t>
            </a:r>
            <a:endParaRPr lang="en-US" altLang="zh-CN" sz="2000" dirty="0"/>
          </a:p>
          <a:p>
            <a:r>
              <a:rPr lang="en-US" altLang="zh-CN" sz="2000" dirty="0"/>
              <a:t>	Ask to read it before you accept the job.</a:t>
            </a:r>
            <a:endParaRPr lang="en-US" altLang="zh-CN" sz="2000" dirty="0"/>
          </a:p>
          <a:p>
            <a:r>
              <a:rPr lang="en-US" altLang="zh-CN" sz="2000" dirty="0"/>
              <a:t>	If the contract contains unreasonable terms, do not sign. </a:t>
            </a:r>
            <a:endParaRPr lang="en-US" altLang="zh-CN" sz="2000" dirty="0"/>
          </a:p>
          <a:p>
            <a:r>
              <a:rPr lang="en-US" altLang="zh-CN" sz="2000" dirty="0">
                <a:solidFill>
                  <a:srgbClr val="FF0000"/>
                </a:solidFill>
              </a:rPr>
              <a:t>Remember, you have bargaining power. Companies need people like you. </a:t>
            </a:r>
            <a:endParaRPr lang="en-US" altLang="zh-CN" sz="2000" dirty="0">
              <a:solidFill>
                <a:srgbClr val="FF0000"/>
              </a:solidFill>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Internships: </a:t>
            </a:r>
            <a:endParaRPr lang="en-US" altLang="zh-CN" sz="2000" b="1" dirty="0">
              <a:solidFill>
                <a:srgbClr val="515223"/>
              </a:solidFill>
              <a:latin typeface="Helvetica" pitchFamily="2" charset="0"/>
              <a:cs typeface="Arial" panose="020B0604020202090204" pitchFamily="34" charset="0"/>
            </a:endParaRPr>
          </a:p>
          <a:p>
            <a:r>
              <a:rPr lang="en-US" altLang="zh-CN" sz="2000" dirty="0"/>
              <a:t>Some companies exploit interns, but interns have legal rights. </a:t>
            </a:r>
            <a:endParaRPr lang="en-US" altLang="zh-CN" sz="20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Outsourcing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893398"/>
            <a:ext cx="961810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When might you contract with another organization to carry out some or all parts of the software development process?</a:t>
            </a:r>
            <a:endParaRPr lang="en-US" altLang="zh-CN" sz="2000" b="1" dirty="0">
              <a:solidFill>
                <a:srgbClr val="515223"/>
              </a:solidFill>
              <a:latin typeface="Helvetica" pitchFamily="2" charset="0"/>
              <a:cs typeface="Arial" panose="020B0604020202090204" pitchFamily="34" charset="0"/>
            </a:endParaRPr>
          </a:p>
          <a:p>
            <a:r>
              <a:rPr lang="en-US" altLang="zh-CN" sz="2000" dirty="0"/>
              <a:t>	The other organization might have expertise that your organization lacks.</a:t>
            </a:r>
            <a:endParaRPr lang="en-US" altLang="zh-CN" sz="2000" dirty="0"/>
          </a:p>
          <a:p>
            <a:r>
              <a:rPr lang="en-US" altLang="zh-CN" sz="2000" dirty="0"/>
              <a:t>	Your organization might not have a large enough staff.</a:t>
            </a:r>
            <a:endParaRPr lang="en-US" altLang="zh-CN" sz="2000" dirty="0"/>
          </a:p>
          <a:p>
            <a:pPr lvl="2"/>
            <a:r>
              <a:rPr lang="en-US" altLang="zh-CN" sz="2000" dirty="0"/>
              <a:t>The other organization might have lower costs (e.g., it might operate in a country, such as India, where costs are lower). </a:t>
            </a:r>
            <a:endParaRPr lang="en-US" altLang="zh-CN" sz="2000" dirty="0"/>
          </a:p>
          <a:p>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Outsourcing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464713"/>
            <a:ext cx="9618104" cy="4708981"/>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Risks</a:t>
            </a:r>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t>The other organization may not be as </a:t>
            </a:r>
            <a:r>
              <a:rPr lang="en-US" altLang="zh-CN" sz="2000" b="1" dirty="0">
                <a:solidFill>
                  <a:srgbClr val="515223"/>
                </a:solidFill>
                <a:latin typeface="Helvetica" pitchFamily="2" charset="0"/>
                <a:cs typeface="Arial" panose="020B0604020202090204" pitchFamily="34" charset="0"/>
              </a:rPr>
              <a:t>skilled </a:t>
            </a:r>
            <a:r>
              <a:rPr lang="en-US" altLang="zh-CN" sz="2000" dirty="0"/>
              <a:t>as you expect.</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Staff have their first </a:t>
            </a:r>
            <a:r>
              <a:rPr lang="en-US" altLang="zh-CN" sz="2000" b="1" dirty="0">
                <a:solidFill>
                  <a:srgbClr val="515223"/>
                </a:solidFill>
                <a:latin typeface="Helvetica" pitchFamily="2" charset="0"/>
                <a:cs typeface="Arial" panose="020B0604020202090204" pitchFamily="34" charset="0"/>
              </a:rPr>
              <a:t>loyalty</a:t>
            </a:r>
            <a:r>
              <a:rPr lang="en-US" altLang="zh-CN" sz="2000" dirty="0"/>
              <a:t> to their own organization.</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The other organization may have use different </a:t>
            </a:r>
            <a:r>
              <a:rPr lang="en-US" altLang="zh-CN" sz="2000" b="1" dirty="0">
                <a:solidFill>
                  <a:srgbClr val="515223"/>
                </a:solidFill>
                <a:latin typeface="Helvetica" pitchFamily="2" charset="0"/>
                <a:cs typeface="Arial" panose="020B0604020202090204" pitchFamily="34" charset="0"/>
              </a:rPr>
              <a:t>terminology</a:t>
            </a:r>
            <a:r>
              <a:rPr lang="en-US" altLang="zh-CN" sz="2000" dirty="0"/>
              <a:t> or have a different </a:t>
            </a:r>
            <a:r>
              <a:rPr lang="en-US" altLang="zh-CN" sz="2000" b="1" dirty="0">
                <a:solidFill>
                  <a:srgbClr val="515223"/>
                </a:solidFill>
                <a:latin typeface="Helvetica" pitchFamily="2" charset="0"/>
                <a:cs typeface="Arial" panose="020B0604020202090204" pitchFamily="34" charset="0"/>
              </a:rPr>
              <a:t>culture</a:t>
            </a:r>
            <a:r>
              <a:rPr lang="en-US" altLang="zh-CN" sz="2000" dirty="0"/>
              <a:t> (e.g., the organization may not report problems to the client). </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b="1" dirty="0">
                <a:solidFill>
                  <a:srgbClr val="515223"/>
                </a:solidFill>
                <a:latin typeface="Helvetica" pitchFamily="2" charset="0"/>
                <a:cs typeface="Arial" panose="020B0604020202090204" pitchFamily="34" charset="0"/>
              </a:rPr>
              <a:t>Communication</a:t>
            </a:r>
            <a:r>
              <a:rPr lang="en-US" altLang="zh-CN" sz="2000" dirty="0"/>
              <a:t> faces geographic and cultural differences.</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Unless the task is well understood, it may be difficult to write a </a:t>
            </a:r>
            <a:r>
              <a:rPr lang="en-US" altLang="zh-CN" sz="2000" b="1" dirty="0">
                <a:solidFill>
                  <a:srgbClr val="515223"/>
                </a:solidFill>
                <a:latin typeface="Helvetica" pitchFamily="2" charset="0"/>
                <a:cs typeface="Arial" panose="020B0604020202090204" pitchFamily="34" charset="0"/>
              </a:rPr>
              <a:t>contract</a:t>
            </a:r>
            <a:r>
              <a:rPr lang="en-US" altLang="zh-CN" sz="2000" dirty="0"/>
              <a:t> that manages </a:t>
            </a:r>
            <a:r>
              <a:rPr lang="en-US" altLang="zh-CN" sz="2000" b="1" dirty="0">
                <a:solidFill>
                  <a:srgbClr val="515223"/>
                </a:solidFill>
                <a:latin typeface="Helvetica" pitchFamily="2" charset="0"/>
                <a:cs typeface="Arial" panose="020B0604020202090204" pitchFamily="34" charset="0"/>
              </a:rPr>
              <a:t>costs</a:t>
            </a:r>
            <a:r>
              <a:rPr lang="en-US" altLang="zh-CN" sz="2000" dirty="0"/>
              <a:t> and </a:t>
            </a:r>
            <a:r>
              <a:rPr lang="en-US" altLang="zh-CN" sz="2000" b="1" dirty="0">
                <a:solidFill>
                  <a:srgbClr val="515223"/>
                </a:solidFill>
                <a:latin typeface="Helvetica" pitchFamily="2" charset="0"/>
                <a:cs typeface="Arial" panose="020B0604020202090204" pitchFamily="34" charset="0"/>
              </a:rPr>
              <a:t>results</a:t>
            </a:r>
            <a:r>
              <a:rPr lang="en-US" altLang="zh-CN" sz="2000" dirty="0"/>
              <a:t> (e.g., government contracts are notorious for cost over-runs).</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If your organization contracts out all interesting work, your good </a:t>
            </a:r>
            <a:r>
              <a:rPr lang="en-US" altLang="zh-CN" sz="2000" b="1" dirty="0">
                <a:solidFill>
                  <a:srgbClr val="515223"/>
                </a:solidFill>
                <a:latin typeface="Helvetica" pitchFamily="2" charset="0"/>
                <a:cs typeface="Arial" panose="020B0604020202090204" pitchFamily="34" charset="0"/>
              </a:rPr>
              <a:t>staff</a:t>
            </a:r>
            <a:r>
              <a:rPr lang="en-US" altLang="zh-CN" sz="2000" dirty="0"/>
              <a:t> will leave.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Outsourcing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394179"/>
            <a:ext cx="961810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Example </a:t>
            </a:r>
            <a:endParaRPr lang="en-US" altLang="zh-CN" sz="2000" b="1" dirty="0">
              <a:solidFill>
                <a:srgbClr val="515223"/>
              </a:solidFill>
              <a:latin typeface="Helvetica" pitchFamily="2" charset="0"/>
              <a:cs typeface="Arial" panose="020B0604020202090204" pitchFamily="34" charset="0"/>
            </a:endParaRPr>
          </a:p>
          <a:p>
            <a:r>
              <a:rPr lang="en-US" altLang="zh-CN" sz="2000" dirty="0"/>
              <a:t>Company G was the world's leader in a specialized category of mathematical software. G had successfully implemented several packages for various manufacturers.</a:t>
            </a:r>
            <a:endParaRPr lang="en-US" altLang="zh-CN" sz="2000" dirty="0"/>
          </a:p>
          <a:p>
            <a:pPr marL="342900" indent="-342900">
              <a:buFont typeface="Arial" panose="020B0604020202090204" pitchFamily="34" charset="0"/>
              <a:buChar char="•"/>
            </a:pPr>
            <a:r>
              <a:rPr lang="en-US" altLang="zh-CN" sz="2000" dirty="0"/>
              <a:t>A computer company H contracted with G to develop a package for its new computer system.</a:t>
            </a:r>
            <a:endParaRPr lang="en-US" altLang="zh-CN" sz="2000" dirty="0"/>
          </a:p>
          <a:p>
            <a:pPr marL="342900" indent="-342900">
              <a:buFont typeface="Arial" panose="020B0604020202090204" pitchFamily="34" charset="0"/>
              <a:buChar char="•"/>
            </a:pPr>
            <a:r>
              <a:rPr lang="en-US" altLang="zh-CN" sz="2000" dirty="0"/>
              <a:t>The package for company H was late, performed badly and disliked by customers. </a:t>
            </a:r>
            <a:endParaRPr lang="en-US" altLang="zh-CN" sz="2000" dirty="0"/>
          </a:p>
          <a:p>
            <a:pPr marL="342900" indent="-342900">
              <a:buFont typeface="Arial" panose="020B0604020202090204" pitchFamily="34" charset="0"/>
              <a:buChar char="•"/>
            </a:pPr>
            <a:r>
              <a:rPr lang="en-US" altLang="zh-CN" sz="2000" dirty="0"/>
              <a:t>At the same time G was developing a package for company I. This package was very successful.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What went wrong? What can we learn?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Outsourcing</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5" y="1667902"/>
            <a:ext cx="961810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When work is out-sourced, the client must be vigilant.</a:t>
            </a:r>
            <a:endParaRPr lang="en-US" altLang="zh-CN" sz="2000" b="1" dirty="0">
              <a:solidFill>
                <a:srgbClr val="515223"/>
              </a:solidFill>
              <a:latin typeface="Helvetica" pitchFamily="2" charset="0"/>
              <a:cs typeface="Arial" panose="020B0604020202090204" pitchFamily="34" charset="0"/>
            </a:endParaRPr>
          </a:p>
          <a:p>
            <a:pPr marL="342900" indent="-342900">
              <a:buFont typeface="Arial" panose="020B0604020202090204" pitchFamily="34" charset="0"/>
              <a:buChar char="•"/>
            </a:pPr>
            <a:r>
              <a:rPr lang="en-US" altLang="zh-CN" sz="2000" dirty="0"/>
              <a:t>The client must take responsibility for managing the relationships between the project and the client's organization. </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The client must have a management and technical team that can track the work being done, monitor quality, review changes to scope, etc.</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The contract should be explicit about expectations, deliverables, ownership of software, and mechanisms for payment.</a:t>
            </a:r>
            <a:endParaRPr lang="en-US" altLang="zh-CN" sz="2000" dirty="0"/>
          </a:p>
          <a:p>
            <a:pPr marL="342900" indent="-342900">
              <a:buFont typeface="Arial" panose="020B0604020202090204" pitchFamily="34" charset="0"/>
              <a:buChar char="•"/>
            </a:pPr>
            <a:endParaRPr lang="en-US" altLang="zh-CN" sz="2000" dirty="0"/>
          </a:p>
          <a:p>
            <a:pPr marL="342900" indent="-342900">
              <a:buFont typeface="Arial" panose="020B0604020202090204" pitchFamily="34" charset="0"/>
              <a:buChar char="•"/>
            </a:pPr>
            <a:r>
              <a:rPr lang="en-US" altLang="zh-CN" sz="2000" dirty="0"/>
              <a:t>The client must be closely involved with user testing and must control the acceptance testing.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Careers in Computer Science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81803" y="2176603"/>
            <a:ext cx="9618104" cy="2554545"/>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What will you be doing one year from now? Ten years from now?</a:t>
            </a:r>
            <a:endParaRPr lang="en-US" altLang="zh-CN" sz="2000" b="1" dirty="0">
              <a:solidFill>
                <a:srgbClr val="515223"/>
              </a:solidFill>
              <a:latin typeface="Helvetica" pitchFamily="2" charset="0"/>
              <a:cs typeface="Arial" panose="020B0604020202090204" pitchFamily="34" charset="0"/>
            </a:endParaRPr>
          </a:p>
          <a:p>
            <a:r>
              <a:rPr lang="en-US" altLang="zh-CN" sz="2000" dirty="0"/>
              <a:t>	Careers outside computing</a:t>
            </a:r>
            <a:endParaRPr lang="en-US" altLang="zh-CN" sz="2000" dirty="0"/>
          </a:p>
          <a:p>
            <a:pPr marL="342900" indent="-342900">
              <a:buFont typeface="Arial" panose="020B0604020202090204" pitchFamily="34" charset="0"/>
              <a:buChar char="•"/>
            </a:pPr>
            <a:endParaRPr lang="en-US" altLang="zh-CN" sz="2000" dirty="0"/>
          </a:p>
          <a:p>
            <a:r>
              <a:rPr lang="en-US" altLang="zh-CN" sz="2000" dirty="0"/>
              <a:t>	Careers in which you personally continue to do technical work</a:t>
            </a:r>
            <a:endParaRPr lang="en-US" altLang="zh-CN" sz="2000" dirty="0"/>
          </a:p>
          <a:p>
            <a:pPr marL="342900" indent="-342900">
              <a:buFont typeface="Arial" panose="020B0604020202090204" pitchFamily="34" charset="0"/>
              <a:buChar char="•"/>
            </a:pPr>
            <a:endParaRPr lang="en-US" altLang="zh-CN" sz="2000" dirty="0"/>
          </a:p>
          <a:p>
            <a:r>
              <a:rPr lang="en-US" altLang="zh-CN" sz="2000" dirty="0"/>
              <a:t>	Careers in which you are responsible for the technical work of others</a:t>
            </a:r>
            <a:endParaRPr lang="en-US" altLang="zh-CN" sz="2000" dirty="0"/>
          </a:p>
          <a:p>
            <a:pPr marL="342900" indent="-342900">
              <a:buFont typeface="Arial" panose="020B0604020202090204" pitchFamily="34" charset="0"/>
              <a:buChar char="•"/>
            </a:pPr>
            <a:endParaRPr lang="en-US" altLang="zh-CN" sz="2000" dirty="0"/>
          </a:p>
          <a:p>
            <a:r>
              <a:rPr lang="en-US" altLang="zh-CN" sz="2000" dirty="0"/>
              <a:t>	Entrepreneur – your own company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Careers outside Computer Science</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903230"/>
            <a:ext cx="9618104"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 computing background can be valuable in any career: management, government, law, medicine, philanthropy, etc. </a:t>
            </a:r>
            <a:endParaRPr lang="en-US" altLang="zh-CN" sz="2000" b="1" dirty="0">
              <a:solidFill>
                <a:srgbClr val="515223"/>
              </a:solidFill>
              <a:latin typeface="Helvetica" pitchFamily="2" charset="0"/>
              <a:cs typeface="Arial" panose="020B0604020202090204" pitchFamily="34" charset="0"/>
            </a:endParaRPr>
          </a:p>
          <a:p>
            <a:r>
              <a:rPr lang="en-US" altLang="zh-CN" sz="2000" dirty="0">
                <a:solidFill>
                  <a:srgbClr val="FF0000"/>
                </a:solidFill>
              </a:rPr>
              <a:t>Education in computing is an asset:</a:t>
            </a:r>
            <a:endParaRPr lang="en-US" altLang="zh-CN" sz="2000" dirty="0">
              <a:solidFill>
                <a:srgbClr val="FF0000"/>
              </a:solidFill>
            </a:endParaRPr>
          </a:p>
          <a:p>
            <a:r>
              <a:rPr lang="en-US" altLang="zh-CN" sz="2000" dirty="0"/>
              <a:t>	Computing is a vital part of almost every organization</a:t>
            </a:r>
            <a:endParaRPr lang="en-US" altLang="zh-CN" sz="2000" dirty="0"/>
          </a:p>
          <a:p>
            <a:r>
              <a:rPr lang="en-US" altLang="zh-CN" sz="2000" dirty="0"/>
              <a:t>	Education in logical thinking and tackling large tasks systematically </a:t>
            </a:r>
            <a:endParaRPr lang="en-US" altLang="zh-CN" sz="2000" dirty="0"/>
          </a:p>
          <a:p>
            <a:endParaRPr lang="en-US" altLang="zh-CN" sz="2000" dirty="0"/>
          </a:p>
          <a:p>
            <a:r>
              <a:rPr lang="en-US" altLang="zh-CN" sz="2000" dirty="0">
                <a:solidFill>
                  <a:srgbClr val="FF0000"/>
                </a:solidFill>
              </a:rPr>
              <a:t>Education in computing is a potential weakness:</a:t>
            </a:r>
            <a:endParaRPr lang="en-US" altLang="zh-CN" sz="2000" dirty="0">
              <a:solidFill>
                <a:srgbClr val="FF0000"/>
              </a:solidFill>
            </a:endParaRPr>
          </a:p>
          <a:p>
            <a:r>
              <a:rPr lang="en-US" altLang="zh-CN" sz="2000" dirty="0"/>
              <a:t>	Not every problem can be solved by rational thinking alone</a:t>
            </a:r>
            <a:endParaRPr lang="en-US" altLang="zh-CN" sz="2000" dirty="0"/>
          </a:p>
          <a:p>
            <a:r>
              <a:rPr lang="en-US" altLang="zh-CN" sz="2000" dirty="0"/>
              <a:t>	Importance of skills with people, judgment, etc.</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800" dirty="0"/>
              <a:t>The Connection to the Client: Typical Organization</a:t>
            </a:r>
            <a:endParaRPr lang="en-US" sz="48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pic>
        <p:nvPicPr>
          <p:cNvPr id="4" name="图片 3"/>
          <p:cNvPicPr>
            <a:picLocks noChangeAspect="1"/>
          </p:cNvPicPr>
          <p:nvPr/>
        </p:nvPicPr>
        <p:blipFill>
          <a:blip r:embed="rId1"/>
          <a:stretch>
            <a:fillRect/>
          </a:stretch>
        </p:blipFill>
        <p:spPr>
          <a:xfrm>
            <a:off x="1546387" y="1059925"/>
            <a:ext cx="9099225" cy="5265197"/>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Technical Careers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2068234"/>
            <a:ext cx="9618104" cy="317009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Super-technical positions</a:t>
            </a:r>
            <a:endParaRPr lang="en-US" altLang="zh-CN" sz="2000" b="1" dirty="0">
              <a:solidFill>
                <a:srgbClr val="515223"/>
              </a:solidFill>
              <a:latin typeface="Helvetica" pitchFamily="2" charset="0"/>
              <a:cs typeface="Arial" panose="020B0604020202090204" pitchFamily="34" charset="0"/>
            </a:endParaRPr>
          </a:p>
          <a:p>
            <a:r>
              <a:rPr lang="en-US" altLang="zh-CN" sz="2000" dirty="0"/>
              <a:t>	A very few senior positions which are almost entirely technical: e.g., 	industrial research, universities</a:t>
            </a:r>
            <a:endParaRPr lang="en-US" altLang="zh-CN" sz="2000" dirty="0"/>
          </a:p>
          <a:p>
            <a:r>
              <a:rPr lang="en-US" altLang="zh-CN" sz="2000" dirty="0"/>
              <a:t>	Even these have substantial organizational aspects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Mid-level technical positions</a:t>
            </a:r>
            <a:endParaRPr lang="en-US" altLang="zh-CN" sz="2000" b="1" dirty="0">
              <a:solidFill>
                <a:srgbClr val="515223"/>
              </a:solidFill>
              <a:latin typeface="Helvetica" pitchFamily="2" charset="0"/>
              <a:cs typeface="Arial" panose="020B0604020202090204" pitchFamily="34" charset="0"/>
            </a:endParaRPr>
          </a:p>
          <a:p>
            <a:r>
              <a:rPr lang="en-US" altLang="zh-CN" sz="2000" dirty="0"/>
              <a:t>	Numerous </a:t>
            </a:r>
            <a:r>
              <a:rPr lang="en-US" altLang="zh-CN" sz="2000" dirty="0">
                <a:solidFill>
                  <a:srgbClr val="FF0000"/>
                </a:solidFill>
              </a:rPr>
              <a:t>mid-level</a:t>
            </a:r>
            <a:r>
              <a:rPr lang="en-US" altLang="zh-CN" sz="2000" dirty="0"/>
              <a:t> professional positions</a:t>
            </a:r>
            <a:endParaRPr lang="en-US" altLang="zh-CN" sz="2000" dirty="0"/>
          </a:p>
          <a:p>
            <a:r>
              <a:rPr lang="en-US" altLang="zh-CN" sz="2000" dirty="0"/>
              <a:t>	Can be </a:t>
            </a:r>
            <a:r>
              <a:rPr lang="en-US" altLang="zh-CN" sz="2000" dirty="0">
                <a:solidFill>
                  <a:srgbClr val="FF0000"/>
                </a:solidFill>
              </a:rPr>
              <a:t>state-of-the-art</a:t>
            </a:r>
            <a:r>
              <a:rPr lang="en-US" altLang="zh-CN" sz="2000" dirty="0"/>
              <a:t> or </a:t>
            </a:r>
            <a:r>
              <a:rPr lang="en-US" altLang="zh-CN" sz="2000" dirty="0">
                <a:solidFill>
                  <a:srgbClr val="FF0000"/>
                </a:solidFill>
              </a:rPr>
              <a:t>dead-end </a:t>
            </a:r>
            <a:endParaRPr lang="en-US" altLang="zh-CN" sz="2000" dirty="0">
              <a:solidFill>
                <a:srgbClr val="FF0000"/>
              </a:solidFill>
            </a:endParaRPr>
          </a:p>
          <a:p>
            <a:pPr marL="342900" indent="-342900">
              <a:buFont typeface="Arial" panose="020B0604020202090204" pitchFamily="34" charset="0"/>
              <a:buChar char="•"/>
            </a:pPr>
            <a:endParaRPr lang="en-US" altLang="zh-CN" sz="2000" dirty="0">
              <a:solidFill>
                <a:srgbClr val="FF0000"/>
              </a:solidFill>
            </a:endParaRPr>
          </a:p>
          <a:p>
            <a:r>
              <a:rPr lang="en-US" altLang="zh-CN" sz="2000" dirty="0">
                <a:solidFill>
                  <a:srgbClr val="FF0000"/>
                </a:solidFill>
              </a:rPr>
              <a:t>Computer professionals report satisfaction with their choice of careers.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Product Manager</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993909"/>
            <a:ext cx="9618104" cy="3170099"/>
          </a:xfrm>
          <a:prstGeom prst="rect">
            <a:avLst/>
          </a:prstGeom>
          <a:noFill/>
        </p:spPr>
        <p:txBody>
          <a:bodyPr wrap="square">
            <a:spAutoFit/>
          </a:bodyPr>
          <a:lstStyle/>
          <a:p>
            <a:r>
              <a:rPr lang="en-US" altLang="zh-CN" sz="2000" dirty="0"/>
              <a:t>The task of the </a:t>
            </a:r>
            <a:r>
              <a:rPr lang="en-US" altLang="zh-CN" sz="2000" b="1" dirty="0">
                <a:solidFill>
                  <a:srgbClr val="515223"/>
                </a:solidFill>
                <a:latin typeface="Helvetica" pitchFamily="2" charset="0"/>
                <a:cs typeface="Arial" panose="020B0604020202090204" pitchFamily="34" charset="0"/>
              </a:rPr>
              <a:t>Product Manager </a:t>
            </a:r>
            <a:r>
              <a:rPr lang="en-US" altLang="zh-CN" sz="2000" dirty="0"/>
              <a:t>is to ensure that the right product is built and that the right trade-offs are made between timeliness, functionality, and costs. </a:t>
            </a:r>
            <a:endParaRPr lang="en-US" altLang="zh-CN" sz="2000" dirty="0"/>
          </a:p>
          <a:p>
            <a:endParaRPr lang="en-US" altLang="zh-CN" sz="2000" dirty="0"/>
          </a:p>
          <a:p>
            <a:r>
              <a:rPr lang="en-US" altLang="zh-CN" sz="2000" dirty="0"/>
              <a:t>This requires an understanding of:</a:t>
            </a:r>
            <a:endParaRPr lang="en-US" altLang="zh-CN" sz="2000" dirty="0"/>
          </a:p>
          <a:p>
            <a:r>
              <a:rPr lang="en-US" altLang="zh-CN" sz="2000" dirty="0"/>
              <a:t>	Marketing and business considerations</a:t>
            </a:r>
            <a:endParaRPr lang="en-US" altLang="zh-CN" sz="2000" dirty="0"/>
          </a:p>
          <a:p>
            <a:r>
              <a:rPr lang="en-US" altLang="zh-CN" sz="2000" dirty="0"/>
              <a:t>	Technical options and design criteria</a:t>
            </a:r>
            <a:endParaRPr lang="en-US" altLang="zh-CN" sz="2000" dirty="0"/>
          </a:p>
          <a:p>
            <a:r>
              <a:rPr lang="en-US" altLang="zh-CN" sz="2000" dirty="0"/>
              <a:t>	Communication among groups with different expertise and priorities </a:t>
            </a:r>
            <a:endParaRPr lang="en-US" altLang="zh-CN" sz="2000" dirty="0"/>
          </a:p>
          <a:p>
            <a:endParaRPr lang="en-US" altLang="zh-CN" sz="2000" dirty="0"/>
          </a:p>
          <a:p>
            <a:r>
              <a:rPr lang="en-US" altLang="zh-CN" sz="2000" dirty="0"/>
              <a:t>A good Product Manager has strong technical and management skills (e.g., a computer scientist with an MBA). </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Autofit/>
          </a:bodyPr>
          <a:lstStyle/>
          <a:p>
            <a:r>
              <a:rPr lang="en-US" altLang="zh-CN" sz="2000" dirty="0"/>
              <a:t>Careers that take Responsibility for the Technical Work of Others</a:t>
            </a:r>
            <a:endParaRPr lang="en-US" sz="66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724117"/>
            <a:ext cx="9618104" cy="378565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A common career progression is from being a technical expert to leading others who do technical work </a:t>
            </a:r>
            <a:endParaRPr lang="en-US" altLang="zh-CN" sz="2000" b="1" dirty="0">
              <a:solidFill>
                <a:srgbClr val="515223"/>
              </a:solidFill>
              <a:latin typeface="Helvetica" pitchFamily="2" charset="0"/>
              <a:cs typeface="Arial" panose="020B0604020202090204" pitchFamily="34" charset="0"/>
            </a:endParaRPr>
          </a:p>
          <a:p>
            <a:endParaRPr lang="en-US" altLang="zh-CN" sz="2000" dirty="0"/>
          </a:p>
          <a:p>
            <a:r>
              <a:rPr lang="en-US" altLang="zh-CN" sz="2000" b="1" dirty="0">
                <a:solidFill>
                  <a:srgbClr val="515223"/>
                </a:solidFill>
                <a:latin typeface="Helvetica" pitchFamily="2" charset="0"/>
                <a:cs typeface="Arial" panose="020B0604020202090204" pitchFamily="34" charset="0"/>
              </a:rPr>
              <a:t>Senior personnel </a:t>
            </a:r>
            <a:r>
              <a:rPr lang="en-US" altLang="zh-CN" sz="2000" dirty="0"/>
              <a:t>must be familiar with both the strategic organizational aspects and the computing aspects of the work, e.g., </a:t>
            </a:r>
            <a:endParaRPr lang="en-US" altLang="zh-CN" sz="2000" dirty="0"/>
          </a:p>
          <a:p>
            <a:pPr lvl="1"/>
            <a:r>
              <a:rPr lang="en-US" altLang="zh-CN" sz="2000" dirty="0"/>
              <a:t>Entrepreneur </a:t>
            </a:r>
            <a:endParaRPr lang="en-US" altLang="zh-CN" sz="2000" dirty="0"/>
          </a:p>
          <a:p>
            <a:pPr lvl="1"/>
            <a:r>
              <a:rPr lang="en-US" altLang="zh-CN" sz="2000" dirty="0"/>
              <a:t>Chief Information Officer </a:t>
            </a:r>
            <a:endParaRPr lang="en-US" altLang="zh-CN" sz="2000" dirty="0"/>
          </a:p>
          <a:p>
            <a:pPr lvl="1"/>
            <a:r>
              <a:rPr lang="en-US" altLang="zh-CN" sz="2000" dirty="0"/>
              <a:t>Senior consultant</a:t>
            </a:r>
            <a:endParaRPr lang="en-US" altLang="zh-CN" sz="2000" dirty="0"/>
          </a:p>
          <a:p>
            <a:pPr marL="342900" indent="-342900">
              <a:buFont typeface="Arial" panose="020B0604020202090204" pitchFamily="34" charset="0"/>
              <a:buChar char="•"/>
            </a:pPr>
            <a:r>
              <a:rPr lang="en-US" altLang="zh-CN" sz="2000" dirty="0"/>
              <a:t>Requires good technical insight, not detailed technical expertise</a:t>
            </a:r>
            <a:endParaRPr lang="en-US" altLang="zh-CN" sz="2000" dirty="0"/>
          </a:p>
          <a:p>
            <a:pPr marL="342900" indent="-342900">
              <a:buFont typeface="Arial" panose="020B0604020202090204" pitchFamily="34" charset="0"/>
              <a:buChar char="•"/>
            </a:pPr>
            <a:r>
              <a:rPr lang="en-US" altLang="zh-CN" sz="2000" dirty="0"/>
              <a:t>Requires organizational, marketing, personnel, financial expertise </a:t>
            </a:r>
            <a:endParaRPr lang="en-US" altLang="zh-CN" sz="2000" dirty="0"/>
          </a:p>
          <a:p>
            <a:endParaRPr lang="en-US" altLang="zh-CN" sz="2000" dirty="0"/>
          </a:p>
          <a:p>
            <a:r>
              <a:rPr lang="en-US" altLang="zh-CN" sz="2000" dirty="0">
                <a:solidFill>
                  <a:srgbClr val="FF0000"/>
                </a:solidFill>
              </a:rPr>
              <a:t>Product management is a good background for such positions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Chief Information Officer</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2421699"/>
            <a:ext cx="9618104" cy="2246769"/>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The senior person in an organization responsible for technology.</a:t>
            </a:r>
            <a:endParaRPr lang="en-US" altLang="zh-CN" sz="2000" b="1" dirty="0">
              <a:solidFill>
                <a:srgbClr val="515223"/>
              </a:solidFill>
              <a:latin typeface="Helvetica" pitchFamily="2" charset="0"/>
              <a:cs typeface="Arial" panose="020B0604020202090204" pitchFamily="34" charset="0"/>
            </a:endParaRPr>
          </a:p>
          <a:p>
            <a:r>
              <a:rPr lang="en-US" altLang="zh-CN" sz="2000" dirty="0"/>
              <a:t>	Usually a vice president.</a:t>
            </a:r>
            <a:endParaRPr lang="en-US" altLang="zh-CN" sz="2000" dirty="0"/>
          </a:p>
          <a:p>
            <a:r>
              <a:rPr lang="en-US" altLang="zh-CN" sz="2000" dirty="0"/>
              <a:t>	Other job titles include Chief Technology Officer.</a:t>
            </a:r>
            <a:endParaRPr lang="en-US" altLang="zh-CN" sz="2000" dirty="0"/>
          </a:p>
          <a:p>
            <a:r>
              <a:rPr lang="en-US" altLang="zh-CN" sz="2000" dirty="0"/>
              <a:t>	Background is probably a combination of technology and management.</a:t>
            </a:r>
            <a:endParaRPr lang="en-US" altLang="zh-CN" sz="2000" dirty="0"/>
          </a:p>
          <a:p>
            <a:r>
              <a:rPr lang="en-US" altLang="zh-CN" sz="2000" dirty="0"/>
              <a:t>	May have worked as a consultant (possibly internal consultant).</a:t>
            </a:r>
            <a:endParaRPr lang="en-US" altLang="zh-CN" sz="2000" dirty="0"/>
          </a:p>
          <a:p>
            <a:endParaRPr lang="en-US" altLang="zh-CN" sz="2000" dirty="0">
              <a:solidFill>
                <a:srgbClr val="FF0000"/>
              </a:solidFill>
            </a:endParaRPr>
          </a:p>
          <a:p>
            <a:r>
              <a:rPr lang="en-US" altLang="zh-CN" sz="2000" dirty="0">
                <a:solidFill>
                  <a:srgbClr val="FF0000"/>
                </a:solidFill>
              </a:rPr>
              <a:t>Requires strategical technical expertise.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Entrepreneur</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1884371"/>
            <a:ext cx="9618104" cy="2862322"/>
          </a:xfrm>
          <a:prstGeom prst="rect">
            <a:avLst/>
          </a:prstGeom>
          <a:noFill/>
        </p:spPr>
        <p:txBody>
          <a:bodyPr wrap="square">
            <a:spAutoFit/>
          </a:bodyPr>
          <a:lstStyle/>
          <a:p>
            <a:r>
              <a:rPr lang="en-US" altLang="zh-CN" sz="2000" dirty="0"/>
              <a:t>Computer specialist have founded many of the world’s great companies</a:t>
            </a:r>
            <a:endParaRPr lang="en-US" altLang="zh-CN" sz="2000" dirty="0"/>
          </a:p>
          <a:p>
            <a:endParaRPr lang="en-US" altLang="zh-CN" sz="2000" dirty="0"/>
          </a:p>
          <a:p>
            <a:r>
              <a:rPr lang="en-US" altLang="zh-CN" sz="2000" dirty="0"/>
              <a:t>It is easier for a computer specialist to obtain management expertise than for a management generalist to become a technical expert. </a:t>
            </a:r>
            <a:endParaRPr lang="en-US" altLang="zh-CN" sz="2000" dirty="0"/>
          </a:p>
          <a:p>
            <a:endParaRPr lang="en-US" altLang="zh-CN" sz="2000" dirty="0"/>
          </a:p>
          <a:p>
            <a:r>
              <a:rPr lang="en-US" altLang="zh-CN" sz="2000" dirty="0"/>
              <a:t>It is easier to start young before you have mortgages, children, etc. </a:t>
            </a:r>
            <a:endParaRPr lang="en-US" altLang="zh-CN" sz="2000" dirty="0"/>
          </a:p>
          <a:p>
            <a:endParaRPr lang="en-US" altLang="zh-CN" sz="2000" dirty="0"/>
          </a:p>
          <a:p>
            <a:r>
              <a:rPr lang="en-US" altLang="zh-CN" sz="2000" dirty="0"/>
              <a:t>Do not be afraid of failure. It is quite usual to fail at the first attempt, but succeed later.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Career Flexibility</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2101188"/>
            <a:ext cx="9618104" cy="2862322"/>
          </a:xfrm>
          <a:prstGeom prst="rect">
            <a:avLst/>
          </a:prstGeom>
          <a:noFill/>
        </p:spPr>
        <p:txBody>
          <a:bodyPr wrap="square">
            <a:spAutoFit/>
          </a:bodyPr>
          <a:lstStyle/>
          <a:p>
            <a:r>
              <a:rPr lang="en-US" altLang="zh-CN" sz="2000" b="1" dirty="0">
                <a:solidFill>
                  <a:srgbClr val="515223"/>
                </a:solidFill>
                <a:latin typeface="Helvetica" pitchFamily="2" charset="0"/>
                <a:cs typeface="Arial" panose="020B0604020202090204" pitchFamily="34" charset="0"/>
              </a:rPr>
              <a:t>Nobody knows the future of computer science, but … </a:t>
            </a:r>
            <a:endParaRPr lang="en-US" altLang="zh-CN" sz="2000" b="1" dirty="0">
              <a:solidFill>
                <a:srgbClr val="515223"/>
              </a:solidFill>
              <a:latin typeface="Helvetica" pitchFamily="2" charset="0"/>
              <a:cs typeface="Arial" panose="020B0604020202090204" pitchFamily="34" charset="0"/>
            </a:endParaRPr>
          </a:p>
          <a:p>
            <a:endParaRPr lang="en-US" altLang="zh-CN" sz="2000" b="1" dirty="0">
              <a:solidFill>
                <a:srgbClr val="515223"/>
              </a:solidFill>
              <a:latin typeface="Helvetica" pitchFamily="2" charset="0"/>
              <a:cs typeface="Arial" panose="020B0604020202090204" pitchFamily="34" charset="0"/>
            </a:endParaRPr>
          </a:p>
          <a:p>
            <a:r>
              <a:rPr lang="en-US" altLang="zh-CN" sz="2000" b="1" dirty="0">
                <a:solidFill>
                  <a:srgbClr val="515223"/>
                </a:solidFill>
                <a:latin typeface="Helvetica" pitchFamily="2" charset="0"/>
                <a:cs typeface="Arial" panose="020B0604020202090204" pitchFamily="34" charset="0"/>
              </a:rPr>
              <a:t>If you do not learn continuously, you are going out of date fast</a:t>
            </a:r>
            <a:endParaRPr lang="en-US" altLang="zh-CN" sz="2000" b="1" dirty="0">
              <a:solidFill>
                <a:srgbClr val="515223"/>
              </a:solidFill>
              <a:latin typeface="Helvetica" pitchFamily="2" charset="0"/>
              <a:cs typeface="Arial" panose="020B0604020202090204" pitchFamily="34" charset="0"/>
            </a:endParaRPr>
          </a:p>
          <a:p>
            <a:r>
              <a:rPr lang="en-US" altLang="zh-CN" sz="2000" dirty="0"/>
              <a:t>	Go to seminars, conferences, training courses</a:t>
            </a:r>
            <a:endParaRPr lang="en-US" altLang="zh-CN" sz="2000" dirty="0"/>
          </a:p>
          <a:p>
            <a:r>
              <a:rPr lang="en-US" altLang="zh-CN" sz="2000" dirty="0"/>
              <a:t>	Be inquisitive – discover things for yourself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Technical expertise is most valuable when combined with other skills</a:t>
            </a:r>
            <a:endParaRPr lang="en-US" altLang="zh-CN" sz="2000" b="1" dirty="0">
              <a:solidFill>
                <a:srgbClr val="515223"/>
              </a:solidFill>
              <a:latin typeface="Helvetica" pitchFamily="2" charset="0"/>
              <a:cs typeface="Arial" panose="020B0604020202090204" pitchFamily="34" charset="0"/>
            </a:endParaRPr>
          </a:p>
          <a:p>
            <a:r>
              <a:rPr lang="en-US" altLang="zh-CN" sz="2000" dirty="0"/>
              <a:t>	Understand the organization that you are part of, e.g., budgets, marketing </a:t>
            </a:r>
            <a:endParaRPr lang="en-US" altLang="zh-CN" sz="2000" dirty="0"/>
          </a:p>
          <a:p>
            <a:r>
              <a:rPr lang="en-US" altLang="zh-CN" sz="2000" dirty="0"/>
              <a:t>	Develop organizational skills, e.g., presentations, writing, leadership</a:t>
            </a:r>
            <a:endParaRPr lang="en-US" altLang="zh-CN" sz="2000" b="1" dirty="0">
              <a:solidFill>
                <a:srgbClr val="515223"/>
              </a:solidFill>
              <a:latin typeface="Helvetica" pitchFamily="2" charset="0"/>
              <a:cs typeface="Arial" panose="020B0604020202090204" pitchFamily="34"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1254" y="237834"/>
            <a:ext cx="9099225" cy="790865"/>
          </a:xfrm>
        </p:spPr>
        <p:txBody>
          <a:bodyPr>
            <a:normAutofit/>
          </a:bodyPr>
          <a:lstStyle/>
          <a:p>
            <a:r>
              <a:rPr lang="en-US" altLang="zh-CN" dirty="0"/>
              <a:t>Changing Organizations</a:t>
            </a:r>
            <a:endParaRPr lang="en-US" sz="6000" dirty="0"/>
          </a:p>
        </p:txBody>
      </p:sp>
      <p:sp>
        <p:nvSpPr>
          <p:cNvPr id="3" name="Slide Number Placeholder 2"/>
          <p:cNvSpPr>
            <a:spLocks noGrp="1"/>
          </p:cNvSpPr>
          <p:nvPr>
            <p:ph type="sldNum" sz="quarter" idx="12"/>
          </p:nvPr>
        </p:nvSpPr>
        <p:spPr/>
        <p:txBody>
          <a:bodyPr/>
          <a:lstStyle/>
          <a:p>
            <a:fld id="{2515AB8F-1C56-49E9-90C8-78D22B0C1B97}" type="slidenum">
              <a:rPr lang="zh-CN" altLang="en-US" smtClean="0"/>
            </a:fld>
            <a:endParaRPr lang="zh-CN" altLang="en-US" dirty="0"/>
          </a:p>
        </p:txBody>
      </p:sp>
      <p:sp>
        <p:nvSpPr>
          <p:cNvPr id="7" name="TextBox 3"/>
          <p:cNvSpPr txBox="1"/>
          <p:nvPr/>
        </p:nvSpPr>
        <p:spPr>
          <a:xfrm>
            <a:off x="572376" y="2082334"/>
            <a:ext cx="9618104" cy="3170099"/>
          </a:xfrm>
          <a:prstGeom prst="rect">
            <a:avLst/>
          </a:prstGeom>
          <a:noFill/>
        </p:spPr>
        <p:txBody>
          <a:bodyPr wrap="square">
            <a:spAutoFit/>
          </a:bodyPr>
          <a:lstStyle/>
          <a:p>
            <a:r>
              <a:rPr lang="en-US" altLang="zh-CN" sz="2000" dirty="0"/>
              <a:t>If you change organizations, behave in a professional manner: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Show respect for the organization that you leave</a:t>
            </a:r>
            <a:endParaRPr lang="en-US" altLang="zh-CN" sz="2000" b="1" dirty="0">
              <a:solidFill>
                <a:srgbClr val="515223"/>
              </a:solidFill>
              <a:latin typeface="Helvetica" pitchFamily="2" charset="0"/>
              <a:cs typeface="Arial" panose="020B0604020202090204" pitchFamily="34" charset="0"/>
            </a:endParaRPr>
          </a:p>
          <a:p>
            <a:r>
              <a:rPr lang="en-US" altLang="zh-CN" sz="2000" dirty="0"/>
              <a:t>	Respect trade secrets (public information is not confidential)</a:t>
            </a:r>
            <a:endParaRPr lang="en-US" altLang="zh-CN" sz="2000" dirty="0"/>
          </a:p>
          <a:p>
            <a:r>
              <a:rPr lang="en-US" altLang="zh-CN" sz="2000" dirty="0"/>
              <a:t>	Take nothing with you except personal items</a:t>
            </a:r>
            <a:endParaRPr lang="en-US" altLang="zh-CN" sz="2000" dirty="0"/>
          </a:p>
          <a:p>
            <a:r>
              <a:rPr lang="en-US" altLang="zh-CN" sz="2000" dirty="0"/>
              <a:t>	Do not poach customers and staff </a:t>
            </a:r>
            <a:endParaRPr lang="en-US" altLang="zh-CN" sz="2000" dirty="0"/>
          </a:p>
          <a:p>
            <a:endParaRPr lang="en-US" altLang="zh-CN" sz="2000" dirty="0"/>
          </a:p>
          <a:p>
            <a:r>
              <a:rPr lang="en-US" altLang="zh-CN" sz="2000" b="1" dirty="0">
                <a:solidFill>
                  <a:srgbClr val="515223"/>
                </a:solidFill>
                <a:latin typeface="Helvetica" pitchFamily="2" charset="0"/>
                <a:cs typeface="Arial" panose="020B0604020202090204" pitchFamily="34" charset="0"/>
              </a:rPr>
              <a:t>Show enthusiasm for your new organization</a:t>
            </a:r>
            <a:endParaRPr lang="en-US" altLang="zh-CN" sz="2000" b="1" dirty="0">
              <a:solidFill>
                <a:srgbClr val="515223"/>
              </a:solidFill>
              <a:latin typeface="Helvetica" pitchFamily="2" charset="0"/>
              <a:cs typeface="Arial" panose="020B0604020202090204" pitchFamily="34" charset="0"/>
            </a:endParaRPr>
          </a:p>
          <a:p>
            <a:r>
              <a:rPr lang="en-US" altLang="zh-CN" sz="2000" dirty="0"/>
              <a:t>	Embrace their culture</a:t>
            </a:r>
            <a:endParaRPr lang="en-US" altLang="zh-CN" sz="2000" dirty="0"/>
          </a:p>
          <a:p>
            <a:r>
              <a:rPr lang="en-US" altLang="zh-CN" sz="2000" dirty="0"/>
              <a:t>	Do not criticize relative to old organization </a:t>
            </a:r>
            <a:endParaRPr lang="en-US" altLang="zh-CN" sz="2000" b="1" dirty="0">
              <a:solidFill>
                <a:srgbClr val="FF0000"/>
              </a:solidFill>
              <a:latin typeface="Helvetica" pitchFamily="2" charset="0"/>
              <a:cs typeface="Arial" panose="020B0604020202090204" pitchFamily="34"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p:cNvSpPr>
            <a:spLocks noGrp="1"/>
          </p:cNvSpPr>
          <p:nvPr>
            <p:ph type="body" sz="quarter" idx="10"/>
          </p:nvPr>
        </p:nvSpPr>
        <p:spPr>
          <a:xfrm>
            <a:off x="3540868" y="2606037"/>
            <a:ext cx="7978032" cy="914400"/>
          </a:xfrm>
        </p:spPr>
        <p:txBody>
          <a:bodyPr>
            <a:normAutofit fontScale="92500"/>
          </a:bodyPr>
          <a:lstStyle/>
          <a:p>
            <a:pPr algn="r"/>
            <a:r>
              <a:rPr lang="en-US" altLang="zh-CN" dirty="0"/>
              <a:t>Thanks for your listening!</a:t>
            </a:r>
            <a:endParaRPr lang="zh-CN" altLang="en-US" dirty="0"/>
          </a:p>
        </p:txBody>
      </p:sp>
      <p:cxnSp>
        <p:nvCxnSpPr>
          <p:cNvPr id="27" name="直接连接符 2"/>
          <p:cNvCxnSpPr/>
          <p:nvPr/>
        </p:nvCxnSpPr>
        <p:spPr>
          <a:xfrm>
            <a:off x="11226555" y="4069080"/>
            <a:ext cx="0" cy="786699"/>
          </a:xfrm>
          <a:prstGeom prst="line">
            <a:avLst/>
          </a:prstGeom>
          <a:ln w="50800" cmpd="thickThin"/>
        </p:spPr>
        <p:style>
          <a:lnRef idx="1">
            <a:schemeClr val="accent1"/>
          </a:lnRef>
          <a:fillRef idx="0">
            <a:schemeClr val="accent1"/>
          </a:fillRef>
          <a:effectRef idx="0">
            <a:schemeClr val="accent1"/>
          </a:effectRef>
          <a:fontRef idx="minor">
            <a:schemeClr val="tx1"/>
          </a:fontRef>
        </p:style>
      </p:cxnSp>
      <p:sp>
        <p:nvSpPr>
          <p:cNvPr id="3" name="矩形 66"/>
          <p:cNvSpPr/>
          <p:nvPr/>
        </p:nvSpPr>
        <p:spPr>
          <a:xfrm>
            <a:off x="4295518" y="3921753"/>
            <a:ext cx="6751272" cy="611514"/>
          </a:xfrm>
          <a:prstGeom prst="rect">
            <a:avLst/>
          </a:prstGeom>
        </p:spPr>
        <p:txBody>
          <a:bodyPr wrap="square">
            <a:spAutoFit/>
          </a:bodyPr>
          <a:lstStyle/>
          <a:p>
            <a:pPr algn="r">
              <a:lnSpc>
                <a:spcPct val="130000"/>
              </a:lnSpc>
            </a:pPr>
            <a:r>
              <a:rPr lang="en-US" altLang="zh-CN" sz="2800" dirty="0">
                <a:solidFill>
                  <a:schemeClr val="accent1"/>
                </a:solidFill>
                <a:latin typeface="Helvetica" pitchFamily="2" charset="0"/>
                <a:cs typeface="Arial" panose="020B0604020202090204" pitchFamily="34" charset="0"/>
                <a:sym typeface="+mn-lt"/>
              </a:rPr>
              <a:t>Instructor: Liu, </a:t>
            </a:r>
            <a:r>
              <a:rPr lang="en-US" altLang="zh-CN" sz="2800" dirty="0" err="1">
                <a:solidFill>
                  <a:schemeClr val="accent1"/>
                </a:solidFill>
                <a:latin typeface="Helvetica" pitchFamily="2" charset="0"/>
                <a:cs typeface="Arial" panose="020B0604020202090204" pitchFamily="34" charset="0"/>
                <a:sym typeface="+mn-lt"/>
              </a:rPr>
              <a:t>Guangchi</a:t>
            </a:r>
            <a:r>
              <a:rPr lang="en-US" altLang="zh-CN" sz="2800" dirty="0">
                <a:solidFill>
                  <a:schemeClr val="accent1"/>
                </a:solidFill>
                <a:latin typeface="Helvetica" pitchFamily="2" charset="0"/>
                <a:cs typeface="Arial" panose="020B0604020202090204" pitchFamily="34" charset="0"/>
                <a:sym typeface="+mn-lt"/>
              </a:rPr>
              <a:t> Ph.D.</a:t>
            </a:r>
            <a:endParaRPr lang="en-US" altLang="zh-CN" sz="2800" dirty="0">
              <a:solidFill>
                <a:schemeClr val="accent1"/>
              </a:solidFill>
              <a:latin typeface="Helvetica" pitchFamily="2" charset="0"/>
              <a:cs typeface="Arial" panose="020B0604020202090204" pitchFamily="34" charset="0"/>
              <a:sym typeface="+mn-lt"/>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heme/theme1.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40382</Words>
  <Application>WPS Presentation</Application>
  <PresentationFormat>Widescreen</PresentationFormat>
  <Paragraphs>1514</Paragraphs>
  <Slides>142</Slides>
  <Notes>19</Notes>
  <HiddenSlides>0</HiddenSlides>
  <MMClips>0</MMClips>
  <ScaleCrop>false</ScaleCrop>
  <HeadingPairs>
    <vt:vector size="8" baseType="variant">
      <vt:variant>
        <vt:lpstr>已用的字体</vt:lpstr>
      </vt:variant>
      <vt:variant>
        <vt:i4>28</vt:i4>
      </vt:variant>
      <vt:variant>
        <vt:lpstr>主题</vt:lpstr>
      </vt:variant>
      <vt:variant>
        <vt:i4>1</vt:i4>
      </vt:variant>
      <vt:variant>
        <vt:lpstr>嵌入 OLE 服务器</vt:lpstr>
      </vt:variant>
      <vt:variant>
        <vt:i4>1</vt:i4>
      </vt:variant>
      <vt:variant>
        <vt:lpstr>幻灯片标题</vt:lpstr>
      </vt:variant>
      <vt:variant>
        <vt:i4>142</vt:i4>
      </vt:variant>
    </vt:vector>
  </HeadingPairs>
  <TitlesOfParts>
    <vt:vector size="172" baseType="lpstr">
      <vt:lpstr>Arial</vt:lpstr>
      <vt:lpstr>宋体</vt:lpstr>
      <vt:lpstr>Wingdings</vt:lpstr>
      <vt:lpstr>Helvetica Regular</vt:lpstr>
      <vt:lpstr>微软雅黑</vt:lpstr>
      <vt:lpstr>汉仪旗黑</vt:lpstr>
      <vt:lpstr>Helvetica</vt:lpstr>
      <vt:lpstr>MS PGothic</vt:lpstr>
      <vt:lpstr>MS PGothic</vt:lpstr>
      <vt:lpstr>冬青黑体简体中文</vt:lpstr>
      <vt:lpstr>Calibri</vt:lpstr>
      <vt:lpstr>Helvetica Neue</vt:lpstr>
      <vt:lpstr>宋体</vt:lpstr>
      <vt:lpstr>Arial Unicode MS</vt:lpstr>
      <vt:lpstr>黑体</vt:lpstr>
      <vt:lpstr>汉仪中黑KW</vt:lpstr>
      <vt:lpstr>等线</vt:lpstr>
      <vt:lpstr>汉仪中等线KW</vt:lpstr>
      <vt:lpstr>-apple-system</vt:lpstr>
      <vt:lpstr>Thonburi</vt:lpstr>
      <vt:lpstr>黑体</vt:lpstr>
      <vt:lpstr>Figtree</vt:lpstr>
      <vt:lpstr>苹方-简</vt:lpstr>
      <vt:lpstr>-apple-system</vt:lpstr>
      <vt:lpstr>Figtree</vt:lpstr>
      <vt:lpstr>Wingdings</vt:lpstr>
      <vt:lpstr>微软雅黑</vt:lpstr>
      <vt:lpstr>汉仪书宋二KW</vt:lpstr>
      <vt:lpstr>1_Office 主题​​</vt:lpstr>
      <vt:lpstr>Paint.Picture</vt:lpstr>
      <vt:lpstr>PowerPoint 演示文稿</vt:lpstr>
      <vt:lpstr>Heads Up</vt:lpstr>
      <vt:lpstr>Heads Up</vt:lpstr>
      <vt:lpstr>Heads Up</vt:lpstr>
      <vt:lpstr>PowerPoint 演示文稿</vt:lpstr>
      <vt:lpstr>Grading Scale</vt:lpstr>
      <vt:lpstr>Grading Scale</vt:lpstr>
      <vt:lpstr>Contents Covered in this Course[1,2,3]</vt:lpstr>
      <vt:lpstr>Software Development Process</vt:lpstr>
      <vt:lpstr>Software Development Processes</vt:lpstr>
      <vt:lpstr>Iterative Refinement</vt:lpstr>
      <vt:lpstr>Discussion of Iterative Refinement</vt:lpstr>
      <vt:lpstr>Spiral Development</vt:lpstr>
      <vt:lpstr>Discussion of Spiral Development</vt:lpstr>
      <vt:lpstr>Agile Methods</vt:lpstr>
      <vt:lpstr>Agile Development</vt:lpstr>
      <vt:lpstr>Heavyweight and Lightweight Software Development</vt:lpstr>
      <vt:lpstr>Heavyweight and Lightweight Methodologies</vt:lpstr>
      <vt:lpstr>Feasibility Study</vt:lpstr>
      <vt:lpstr>Feasibility Report</vt:lpstr>
      <vt:lpstr>The	Aim	of Project Management</vt:lpstr>
      <vt:lpstr>A Simple Gantt Chart</vt:lpstr>
      <vt:lpstr>Gantt Charts</vt:lpstr>
      <vt:lpstr>Example:Activity Graph w/ Time Estimate</vt:lpstr>
      <vt:lpstr>Earliest Event Dates and Earliest Start Dates</vt:lpstr>
      <vt:lpstr>Earliest Event Dates and Earliest Start Dates</vt:lpstr>
      <vt:lpstr>Latest Event Dates and Latest Start Dates</vt:lpstr>
      <vt:lpstr>Latest Event Dates and Latest Start Dates</vt:lpstr>
      <vt:lpstr>Critical Path</vt:lpstr>
      <vt:lpstr>User Experience</vt:lpstr>
      <vt:lpstr>Mental Model and Computer Model</vt:lpstr>
      <vt:lpstr>The Model View Controller</vt:lpstr>
      <vt:lpstr>Requirements Steps</vt:lpstr>
      <vt:lpstr>Requirement Goals</vt:lpstr>
      <vt:lpstr>Non-Functional Requirements</vt:lpstr>
      <vt:lpstr>Requirements vs. System Design</vt:lpstr>
      <vt:lpstr>Scenario</vt:lpstr>
      <vt:lpstr>Describing a Scenario</vt:lpstr>
      <vt:lpstr>Requirement Modeling</vt:lpstr>
      <vt:lpstr>Use Case Diagrams</vt:lpstr>
      <vt:lpstr>UML Models</vt:lpstr>
      <vt:lpstr>Models: Diagrams and Specification in UML</vt:lpstr>
      <vt:lpstr>Actor and Use Case Diagram</vt:lpstr>
      <vt:lpstr>Relationships Between Use Cases: &lt;&lt;extend&gt;&gt;</vt:lpstr>
      <vt:lpstr>The &lt;&lt;extends&gt;&gt; Relationship</vt:lpstr>
      <vt:lpstr>The &lt;&lt;includes&gt;&gt; Relationship</vt:lpstr>
      <vt:lpstr>Relationships Between Use Cases: &lt;&lt;includes&gt;&gt;</vt:lpstr>
      <vt:lpstr>Use Cases with Several Actors</vt:lpstr>
      <vt:lpstr>Data-Flow Models</vt:lpstr>
      <vt:lpstr>Data-Flow Model  Example: University Admissions (first attempt)</vt:lpstr>
      <vt:lpstr>Data-Flow Model  Example: University Admissions (first attempt)</vt:lpstr>
      <vt:lpstr>Data-Flow Model  Example: Assemble Application</vt:lpstr>
      <vt:lpstr>Data-Flow Model  Example: Process Completed Application</vt:lpstr>
      <vt:lpstr>Flowchart Models</vt:lpstr>
      <vt:lpstr>Example: University Admissions Assemble Application</vt:lpstr>
      <vt:lpstr>Diagrams for System Architecture</vt:lpstr>
      <vt:lpstr>Purpose of Various Diagrams</vt:lpstr>
      <vt:lpstr>Component Diagram</vt:lpstr>
      <vt:lpstr>Components as Replaceable Elements</vt:lpstr>
      <vt:lpstr>Component Diagram vs. Class Diagram</vt:lpstr>
      <vt:lpstr>An Old Exam Question</vt:lpstr>
      <vt:lpstr>Comparison of Virtualization </vt:lpstr>
      <vt:lpstr>Security Techniques: AuthN and AuthZ</vt:lpstr>
      <vt:lpstr>Asymmetric vs. Symmetric</vt:lpstr>
      <vt:lpstr>Look for Bottlenecks: CPU Performance</vt:lpstr>
      <vt:lpstr>Look for Bottlenecks</vt:lpstr>
      <vt:lpstr>Mathematical Models</vt:lpstr>
      <vt:lpstr>Program Design</vt:lpstr>
      <vt:lpstr>Generalization/Inheritance</vt:lpstr>
      <vt:lpstr>Realization</vt:lpstr>
      <vt:lpstr>Comparision</vt:lpstr>
      <vt:lpstr>Design Patterns</vt:lpstr>
      <vt:lpstr>Inheritance and Abstract Classes</vt:lpstr>
      <vt:lpstr>Adapter (Wrapper): Wrapping Around Legacy Code</vt:lpstr>
      <vt:lpstr>Adapter Design Pattern: The Problem</vt:lpstr>
      <vt:lpstr>Adapter Design Pattern: Object Diagram</vt:lpstr>
      <vt:lpstr>PowerPoint 演示文稿</vt:lpstr>
      <vt:lpstr>PowerPoint 演示文稿</vt:lpstr>
      <vt:lpstr>PowerPoint 演示文稿</vt:lpstr>
      <vt:lpstr>PowerPoint 演示文稿</vt:lpstr>
      <vt:lpstr>Adapter Design Pattern: Consequences</vt:lpstr>
      <vt:lpstr>Bridge: Allowing for Alternate Implementations</vt:lpstr>
      <vt:lpstr>Bridge</vt:lpstr>
      <vt:lpstr>Bridge</vt:lpstr>
      <vt:lpstr>PowerPoint 演示文稿</vt:lpstr>
      <vt:lpstr>Bridge Example</vt:lpstr>
      <vt:lpstr>Bridge Example</vt:lpstr>
      <vt:lpstr>Bridge Example</vt:lpstr>
      <vt:lpstr>Bridge Example</vt:lpstr>
      <vt:lpstr>Bridge Example</vt:lpstr>
      <vt:lpstr>Bridge: Allowing for Alternate Implementations</vt:lpstr>
      <vt:lpstr>Bridge: Consequences</vt:lpstr>
      <vt:lpstr>Strategy: Encapsulating Algorithms</vt:lpstr>
      <vt:lpstr>Strategy Example</vt:lpstr>
      <vt:lpstr>PowerPoint 演示文稿</vt:lpstr>
      <vt:lpstr>Design Pattern: Strategy</vt:lpstr>
      <vt:lpstr>Design Pattern: Strategy</vt:lpstr>
      <vt:lpstr>Design Pattern: Strategy</vt:lpstr>
      <vt:lpstr>Design Pattern: Strategy</vt:lpstr>
      <vt:lpstr>Strategy: Encapsulating Algorithms</vt:lpstr>
      <vt:lpstr>Strategy: Consequences</vt:lpstr>
      <vt:lpstr>Bugs, Faults, and Failures</vt:lpstr>
      <vt:lpstr>Building Reliable Software: Fault Tolerance</vt:lpstr>
      <vt:lpstr>Static and Dynamic Verification</vt:lpstr>
      <vt:lpstr>Dynamic Verification</vt:lpstr>
      <vt:lpstr>Terminologies</vt:lpstr>
      <vt:lpstr>Terminologies</vt:lpstr>
      <vt:lpstr>Terminologies</vt:lpstr>
      <vt:lpstr>Test Cases</vt:lpstr>
      <vt:lpstr>System and Integration Test</vt:lpstr>
      <vt:lpstr>PowerPoint 演示文稿</vt:lpstr>
      <vt:lpstr>Acceptance Testing</vt:lpstr>
      <vt:lpstr>Acceptance Testing with Agile Development</vt:lpstr>
      <vt:lpstr>Resources for Acceptance Testing</vt:lpstr>
      <vt:lpstr>Acceptance Tests</vt:lpstr>
      <vt:lpstr>Techniques for Release</vt:lpstr>
      <vt:lpstr>Release: Parallel Testing</vt:lpstr>
      <vt:lpstr>Release: Alpha and Beta Testing</vt:lpstr>
      <vt:lpstr>Release: A/B Testing</vt:lpstr>
      <vt:lpstr>PowerPoint 演示文稿</vt:lpstr>
      <vt:lpstr>How to lead (Manage Down)</vt:lpstr>
      <vt:lpstr>Firmness</vt:lpstr>
      <vt:lpstr>How to be productive</vt:lpstr>
      <vt:lpstr>How to be led (Manage Up)</vt:lpstr>
      <vt:lpstr>Turning a Group Around</vt:lpstr>
      <vt:lpstr>Employment Law</vt:lpstr>
      <vt:lpstr>Employment Law</vt:lpstr>
      <vt:lpstr>Outsourcing</vt:lpstr>
      <vt:lpstr>Outsourcing</vt:lpstr>
      <vt:lpstr>Outsourcing</vt:lpstr>
      <vt:lpstr>Outsourcing</vt:lpstr>
      <vt:lpstr>Careers in Computer Science</vt:lpstr>
      <vt:lpstr>Careers outside Computer Science</vt:lpstr>
      <vt:lpstr>The Connection to the Client: Typical Organization</vt:lpstr>
      <vt:lpstr>Technical Careers</vt:lpstr>
      <vt:lpstr>Product Manager</vt:lpstr>
      <vt:lpstr>Careers that take Responsibility for the Technical Work of Others</vt:lpstr>
      <vt:lpstr>Chief Information Officer</vt:lpstr>
      <vt:lpstr>Entrepreneur</vt:lpstr>
      <vt:lpstr>Career Flexibility</vt:lpstr>
      <vt:lpstr>Changing Organizations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子豪 任</dc:creator>
  <cp:lastModifiedBy>刘光迟</cp:lastModifiedBy>
  <cp:revision>1563</cp:revision>
  <dcterms:created xsi:type="dcterms:W3CDTF">2025-05-23T04:27:00Z</dcterms:created>
  <dcterms:modified xsi:type="dcterms:W3CDTF">2025-05-23T04:27:00Z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47A4CD2F66C07E7052492F686BF6E338_42</vt:lpwstr>
  </property>
  <property fmtid="{D5CDD505-2E9C-101B-9397-08002B2CF9AE}" pid="3" name="KSOProductBuildVer">
    <vt:lpwstr>1033-7.2.2.8955</vt:lpwstr>
  </property>
</Properties>
</file>