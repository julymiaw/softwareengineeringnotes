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82" r:id="rId3"/>
    <p:sldId id="800" r:id="rId5"/>
    <p:sldId id="819" r:id="rId6"/>
    <p:sldId id="803" r:id="rId7"/>
    <p:sldId id="811" r:id="rId8"/>
    <p:sldId id="804" r:id="rId9"/>
    <p:sldId id="805" r:id="rId10"/>
    <p:sldId id="806" r:id="rId11"/>
    <p:sldId id="812" r:id="rId12"/>
    <p:sldId id="814" r:id="rId13"/>
    <p:sldId id="815" r:id="rId14"/>
    <p:sldId id="816" r:id="rId15"/>
    <p:sldId id="817" r:id="rId16"/>
    <p:sldId id="813" r:id="rId17"/>
    <p:sldId id="746" r:id="rId18"/>
    <p:sldId id="795" r:id="rId19"/>
    <p:sldId id="747" r:id="rId20"/>
    <p:sldId id="748" r:id="rId21"/>
    <p:sldId id="749" r:id="rId22"/>
    <p:sldId id="756" r:id="rId23"/>
    <p:sldId id="750" r:id="rId24"/>
    <p:sldId id="752" r:id="rId25"/>
    <p:sldId id="820" r:id="rId26"/>
    <p:sldId id="821" r:id="rId27"/>
    <p:sldId id="822" r:id="rId28"/>
    <p:sldId id="823" r:id="rId29"/>
    <p:sldId id="824" r:id="rId30"/>
    <p:sldId id="825" r:id="rId31"/>
    <p:sldId id="826" r:id="rId32"/>
    <p:sldId id="827" r:id="rId33"/>
    <p:sldId id="828" r:id="rId34"/>
    <p:sldId id="829" r:id="rId35"/>
    <p:sldId id="830" r:id="rId36"/>
    <p:sldId id="831" r:id="rId37"/>
    <p:sldId id="832" r:id="rId38"/>
    <p:sldId id="833" r:id="rId39"/>
    <p:sldId id="834" r:id="rId40"/>
    <p:sldId id="835" r:id="rId41"/>
    <p:sldId id="836" r:id="rId42"/>
    <p:sldId id="837" r:id="rId43"/>
    <p:sldId id="838" r:id="rId44"/>
    <p:sldId id="839" r:id="rId45"/>
    <p:sldId id="840" r:id="rId46"/>
    <p:sldId id="841" r:id="rId47"/>
    <p:sldId id="842" r:id="rId48"/>
    <p:sldId id="843" r:id="rId49"/>
    <p:sldId id="844" r:id="rId50"/>
    <p:sldId id="845" r:id="rId51"/>
    <p:sldId id="846" r:id="rId52"/>
    <p:sldId id="847" r:id="rId53"/>
    <p:sldId id="848" r:id="rId54"/>
    <p:sldId id="849" r:id="rId55"/>
    <p:sldId id="850" r:id="rId56"/>
    <p:sldId id="851" r:id="rId57"/>
    <p:sldId id="852" r:id="rId58"/>
    <p:sldId id="853" r:id="rId59"/>
    <p:sldId id="854" r:id="rId60"/>
    <p:sldId id="855" r:id="rId61"/>
    <p:sldId id="856" r:id="rId62"/>
    <p:sldId id="857" r:id="rId63"/>
    <p:sldId id="858" r:id="rId64"/>
    <p:sldId id="859" r:id="rId65"/>
    <p:sldId id="860" r:id="rId66"/>
    <p:sldId id="861" r:id="rId67"/>
    <p:sldId id="862" r:id="rId68"/>
    <p:sldId id="863" r:id="rId69"/>
    <p:sldId id="864" r:id="rId70"/>
    <p:sldId id="865" r:id="rId71"/>
    <p:sldId id="866" r:id="rId72"/>
    <p:sldId id="867" r:id="rId73"/>
    <p:sldId id="868" r:id="rId74"/>
    <p:sldId id="869" r:id="rId75"/>
    <p:sldId id="870" r:id="rId76"/>
    <p:sldId id="871" r:id="rId77"/>
    <p:sldId id="872" r:id="rId78"/>
    <p:sldId id="873" r:id="rId79"/>
    <p:sldId id="874" r:id="rId80"/>
    <p:sldId id="875" r:id="rId81"/>
    <p:sldId id="876" r:id="rId82"/>
    <p:sldId id="877" r:id="rId83"/>
    <p:sldId id="878" r:id="rId8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叶 丁" initials="叶"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377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autoAdjust="0"/>
    <p:restoredTop sz="86553"/>
  </p:normalViewPr>
  <p:slideViewPr>
    <p:cSldViewPr snapToGrid="0">
      <p:cViewPr varScale="1">
        <p:scale>
          <a:sx n="161" d="100"/>
          <a:sy n="161" d="100"/>
        </p:scale>
        <p:origin x="4808" y="2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commentAuthors" Target="commentAuthors.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B7413-AF54-469D-ABFD-75D5619B000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A31E6-CBE9-40EA-A2F4-8D17CCD5DD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9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9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9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90204" pitchFamily="34" charset="0"/>
              <a:buChar char="•"/>
            </a:pPr>
            <a:r>
              <a:rPr lang="zh-CN" altLang="en-US" dirty="0"/>
              <a:t>最后，祝汇报顺利，马到成功！</a:t>
            </a:r>
            <a:endParaRPr lang="en-US" altLang="zh-CN" dirty="0"/>
          </a:p>
          <a:p>
            <a:pPr marL="285750" indent="-285750">
              <a:lnSpc>
                <a:spcPct val="150000"/>
              </a:lnSpc>
              <a:buFont typeface="Arial" panose="020B060402020209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1" lang="en-US" altLang="zh-CN" dirty="0">
                <a:latin typeface="+mn-ea"/>
                <a:cs typeface="Arial" panose="020B0604020202090204" pitchFamily="34" charset="0"/>
              </a:rPr>
              <a:t>Version:</a:t>
            </a:r>
            <a:r>
              <a:rPr kumimoji="1" lang="zh-CN" altLang="en-US" dirty="0">
                <a:latin typeface="+mn-ea"/>
                <a:cs typeface="Arial" panose="020B0604020202090204" pitchFamily="34" charset="0"/>
              </a:rPr>
              <a:t> </a:t>
            </a:r>
            <a:r>
              <a:rPr kumimoji="1" lang="en-US" altLang="zh-CN" dirty="0">
                <a:latin typeface="+mn-ea"/>
                <a:cs typeface="Arial" panose="020B0604020202090204" pitchFamily="34" charset="0"/>
              </a:rPr>
              <a:t>(2021) v1.5-en.</a:t>
            </a:r>
            <a:endParaRPr kumimoji="1" lang="zh-CN" altLang="en-US" dirty="0">
              <a:latin typeface="+mn-ea"/>
              <a:cs typeface="Arial" panose="020B060402020209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90204" pitchFamily="34" charset="0"/>
                <a:sym typeface="+mn-lt"/>
              </a:rPr>
              <a:t>Contents</a:t>
            </a:r>
            <a:endParaRPr lang="zh-CN" altLang="en-US" sz="4400" b="1" i="0" dirty="0">
              <a:solidFill>
                <a:schemeClr val="bg1"/>
              </a:solidFill>
              <a:latin typeface="Helvetica" pitchFamily="2" charset="0"/>
              <a:cs typeface="Arial" panose="020B0604020202090204" pitchFamily="34" charset="0"/>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90204" pitchFamily="34" charset="0"/>
              </a:rPr>
              <a:t>Part 01</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02</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03</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04</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05</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06</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90204" pitchFamily="34" charset="0"/>
              </a:rPr>
              <a:t>Contents</a:t>
            </a:r>
            <a:endParaRPr lang="zh-CN" altLang="en-US" sz="4000" b="1" i="0" dirty="0">
              <a:solidFill>
                <a:schemeClr val="bg1"/>
              </a:solidFill>
              <a:latin typeface="Helvetica" pitchFamily="2" charset="0"/>
              <a:ea typeface="+mj-ea"/>
              <a:cs typeface="Arial" panose="020B0604020202090204" pitchFamily="34" charset="0"/>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9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p:cNvSpPr>
            <a:spLocks noGrp="1"/>
          </p:cNvSpPr>
          <p:nvPr>
            <p:ph type="dt" sz="half" idx="10"/>
          </p:nvPr>
        </p:nvSpPr>
        <p:spPr/>
        <p:txBody>
          <a:bodyPr/>
          <a:lstStyle/>
          <a:p>
            <a:endParaRPr lang="zh-CN" altLang="en-US"/>
          </a:p>
        </p:txBody>
      </p:sp>
      <p:sp>
        <p:nvSpPr>
          <p:cNvPr id="14" name="页脚占位符 13"/>
          <p:cNvSpPr>
            <a:spLocks noGrp="1"/>
          </p:cNvSpPr>
          <p:nvPr>
            <p:ph type="ftr" sz="quarter" idx="11"/>
          </p:nvPr>
        </p:nvSpPr>
        <p:spPr/>
        <p:txBody>
          <a:bodyPr/>
          <a:lstStyle/>
          <a:p>
            <a:endParaRPr lang="zh-CN" altLang="en-US" dirty="0"/>
          </a:p>
        </p:txBody>
      </p:sp>
      <p:sp>
        <p:nvSpPr>
          <p:cNvPr id="15" name="灯片编号占位符 14"/>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fld>
            <a:endParaRPr lang="zh-CN" altLang="en-US" dirty="0"/>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8.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1.png"/><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3.png"/><Relationship Id="rId1" Type="http://schemas.openxmlformats.org/officeDocument/2006/relationships/image" Target="../media/image12.png"/></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1.png"/><Relationship Id="rId1" Type="http://schemas.openxmlformats.org/officeDocument/2006/relationships/image" Target="../media/image1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2.png"/><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3.png"/><Relationship Id="rId1"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5.png"/><Relationship Id="rId1"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6.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6.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9.png"/><Relationship Id="rId1" Type="http://schemas.openxmlformats.org/officeDocument/2006/relationships/image" Target="../media/image28.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0.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6.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7.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8.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9.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0.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3791712" y="1239205"/>
            <a:ext cx="8191129"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r">
              <a:lnSpc>
                <a:spcPct val="100000"/>
              </a:lnSpc>
              <a:buNone/>
            </a:pPr>
            <a:r>
              <a:rPr lang="en-US" sz="4000" b="1" dirty="0">
                <a:solidFill>
                  <a:schemeClr val="accent1"/>
                </a:solidFill>
                <a:latin typeface="Helvetica" pitchFamily="2" charset="0"/>
                <a:cs typeface="Arial" panose="020B0604020202090204" pitchFamily="34" charset="0"/>
              </a:rPr>
              <a:t>B09S0061</a:t>
            </a:r>
            <a:r>
              <a:rPr lang="en-US" sz="4000" b="1" dirty="0">
                <a:solidFill>
                  <a:schemeClr val="accent1"/>
                </a:solidFill>
                <a:latin typeface="Helvetica" pitchFamily="2" charset="0"/>
                <a:cs typeface="Arial" panose="020B0604020202090204" pitchFamily="34" charset="0"/>
              </a:rPr>
              <a:t> </a:t>
            </a:r>
            <a:r>
              <a:rPr lang="en-US" altLang="zh-CN" sz="4000" b="1" dirty="0">
                <a:solidFill>
                  <a:schemeClr val="accent1"/>
                </a:solidFill>
                <a:latin typeface="Helvetica" pitchFamily="2" charset="0"/>
                <a:cs typeface="Arial" panose="020B0604020202090204" pitchFamily="34" charset="0"/>
                <a:sym typeface="+mn-lt"/>
              </a:rPr>
              <a:t>Software Engineering</a:t>
            </a:r>
            <a:endParaRPr lang="en-US" altLang="zh-CN" sz="4000" b="1" dirty="0">
              <a:solidFill>
                <a:schemeClr val="accent1"/>
              </a:solidFill>
              <a:latin typeface="Helvetica" pitchFamily="2" charset="0"/>
              <a:cs typeface="Arial" panose="020B0604020202090204" pitchFamily="34" charset="0"/>
              <a:sym typeface="+mn-lt"/>
            </a:endParaRPr>
          </a:p>
          <a:p>
            <a:pPr marL="0" indent="0" algn="r">
              <a:lnSpc>
                <a:spcPct val="100000"/>
              </a:lnSpc>
              <a:buNone/>
            </a:pPr>
            <a:r>
              <a:rPr lang="en-US" altLang="zh-CN" sz="4000" b="1" dirty="0">
                <a:solidFill>
                  <a:schemeClr val="accent1"/>
                </a:solidFill>
                <a:latin typeface="Helvetica" pitchFamily="2" charset="0"/>
                <a:cs typeface="Arial" panose="020B0604020202090204" pitchFamily="34" charset="0"/>
                <a:sym typeface="+mn-lt"/>
              </a:rPr>
              <a:t>Lecture 11</a:t>
            </a:r>
            <a:endParaRPr lang="zh-CN" altLang="en-US" sz="4000" b="1" dirty="0">
              <a:solidFill>
                <a:schemeClr val="accent1"/>
              </a:solidFill>
              <a:latin typeface="Helvetica" pitchFamily="2" charset="0"/>
              <a:cs typeface="Arial" panose="020B0604020202090204" pitchFamily="34" charset="0"/>
              <a:sym typeface="+mn-lt"/>
            </a:endParaRPr>
          </a:p>
        </p:txBody>
      </p:sp>
      <p:sp>
        <p:nvSpPr>
          <p:cNvPr id="64" name="矩形 63"/>
          <p:cNvSpPr/>
          <p:nvPr/>
        </p:nvSpPr>
        <p:spPr>
          <a:xfrm>
            <a:off x="8750859" y="4819809"/>
            <a:ext cx="3003067" cy="650875"/>
          </a:xfrm>
          <a:prstGeom prst="rect">
            <a:avLst/>
          </a:prstGeom>
        </p:spPr>
        <p:txBody>
          <a:bodyPr wrap="square" lIns="0" rIns="0">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2025/05/17</a:t>
            </a:r>
            <a:endParaRPr lang="zh-CN" altLang="en-US" sz="2800" dirty="0">
              <a:solidFill>
                <a:schemeClr val="accent1"/>
              </a:solidFill>
              <a:latin typeface="Helvetica" pitchFamily="2" charset="0"/>
              <a:cs typeface="Arial" panose="020B0604020202090204" pitchFamily="34" charset="0"/>
              <a:sym typeface="+mn-lt"/>
            </a:endParaRPr>
          </a:p>
        </p:txBody>
      </p:sp>
      <p:sp>
        <p:nvSpPr>
          <p:cNvPr id="67" name="矩形 66"/>
          <p:cNvSpPr/>
          <p:nvPr/>
        </p:nvSpPr>
        <p:spPr>
          <a:xfrm>
            <a:off x="5002654" y="4381010"/>
            <a:ext cx="6751272" cy="611514"/>
          </a:xfrm>
          <a:prstGeom prst="rect">
            <a:avLst/>
          </a:prstGeom>
        </p:spPr>
        <p:txBody>
          <a:bodyPr wrap="square">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Instructor: Liu, </a:t>
            </a:r>
            <a:r>
              <a:rPr lang="en-US" altLang="zh-CN" sz="2800" dirty="0" err="1">
                <a:solidFill>
                  <a:schemeClr val="accent1"/>
                </a:solidFill>
                <a:latin typeface="Helvetica" pitchFamily="2" charset="0"/>
                <a:cs typeface="Arial" panose="020B0604020202090204" pitchFamily="34" charset="0"/>
                <a:sym typeface="+mn-lt"/>
              </a:rPr>
              <a:t>Guangchi</a:t>
            </a:r>
            <a:r>
              <a:rPr lang="en-US" altLang="zh-CN" sz="2800" dirty="0">
                <a:solidFill>
                  <a:schemeClr val="accent1"/>
                </a:solidFill>
                <a:latin typeface="Helvetica" pitchFamily="2" charset="0"/>
                <a:cs typeface="Arial" panose="020B0604020202090204" pitchFamily="34" charset="0"/>
                <a:sym typeface="+mn-lt"/>
              </a:rPr>
              <a:t> Ph.D.</a:t>
            </a:r>
            <a:endParaRPr lang="en-US" altLang="zh-CN" sz="2800" dirty="0">
              <a:solidFill>
                <a:schemeClr val="accent1"/>
              </a:solidFill>
              <a:latin typeface="Helvetica" pitchFamily="2" charset="0"/>
              <a:cs typeface="Arial" panose="020B0604020202090204" pitchFamily="34" charset="0"/>
              <a:sym typeface="+mn-lt"/>
            </a:endParaRPr>
          </a:p>
        </p:txBody>
      </p:sp>
      <p:cxnSp>
        <p:nvCxnSpPr>
          <p:cNvPr id="3" name="直接连接符 2"/>
          <p:cNvCxnSpPr/>
          <p:nvPr/>
        </p:nvCxnSpPr>
        <p:spPr>
          <a:xfrm>
            <a:off x="11842946" y="4575127"/>
            <a:ext cx="0" cy="752777"/>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8" y="1128862"/>
            <a:ext cx="10946524" cy="39878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3</a:t>
            </a:r>
            <a:r>
              <a:rPr lang="en-US" altLang="zh-CN" sz="2000" b="1" baseline="30000" dirty="0">
                <a:solidFill>
                  <a:srgbClr val="515223"/>
                </a:solidFill>
                <a:latin typeface="Helvetica" pitchFamily="2" charset="0"/>
                <a:cs typeface="Arial" panose="020B0604020202090204" pitchFamily="34" charset="0"/>
              </a:rPr>
              <a:t>rd</a:t>
            </a:r>
            <a:r>
              <a:rPr lang="en-US" altLang="zh-CN" sz="2000" b="1" dirty="0">
                <a:solidFill>
                  <a:srgbClr val="515223"/>
                </a:solidFill>
                <a:latin typeface="Helvetica" pitchFamily="2" charset="0"/>
                <a:cs typeface="Arial" panose="020B0604020202090204" pitchFamily="34" charset="0"/>
              </a:rPr>
              <a:t> Lab: </a:t>
            </a:r>
            <a:r>
              <a:rPr lang="en-US" altLang="zh-CN" sz="2000" b="1" dirty="0">
                <a:solidFill>
                  <a:srgbClr val="C00000"/>
                </a:solidFill>
                <a:latin typeface="Helvetica" pitchFamily="2" charset="0"/>
                <a:cs typeface="Arial" panose="020B0604020202090204" pitchFamily="34" charset="0"/>
              </a:rPr>
              <a:t>May 17</a:t>
            </a:r>
            <a:r>
              <a:rPr lang="en-US" altLang="zh-CN" sz="2000" b="1" baseline="30000" dirty="0">
                <a:solidFill>
                  <a:srgbClr val="C00000"/>
                </a:solidFill>
                <a:latin typeface="Helvetica" pitchFamily="2" charset="0"/>
                <a:cs typeface="Arial" panose="020B0604020202090204" pitchFamily="34" charset="0"/>
              </a:rPr>
              <a:t>th </a:t>
            </a:r>
            <a:r>
              <a:rPr lang="en-US" altLang="zh-CN" sz="2000" b="1" dirty="0">
                <a:solidFill>
                  <a:srgbClr val="C00000"/>
                </a:solidFill>
                <a:latin typeface="Helvetica" pitchFamily="2" charset="0"/>
                <a:cs typeface="Arial" panose="020B0604020202090204" pitchFamily="34" charset="0"/>
              </a:rPr>
              <a:t>(S</a:t>
            </a:r>
            <a:r>
              <a:rPr lang="en-US" altLang="zh-CN" sz="2000" b="1" dirty="0">
                <a:solidFill>
                  <a:srgbClr val="C00000"/>
                </a:solidFill>
                <a:latin typeface="Helvetica" pitchFamily="2" charset="0"/>
                <a:cs typeface="Arial" panose="020B0604020202090204" pitchFamily="34" charset="0"/>
              </a:rPr>
              <a:t>aturday), 14:00 – 17:25,  J6-102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ym typeface="+mn-ea"/>
              </a:rPr>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801890" y="1384301"/>
            <a:ext cx="10946524" cy="39878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Final Exam Date: </a:t>
            </a:r>
            <a:r>
              <a:rPr lang="zh-CN" altLang="en-US" sz="2000" b="1" dirty="0">
                <a:solidFill>
                  <a:srgbClr val="515223"/>
                </a:solidFill>
                <a:latin typeface="Helvetica" pitchFamily="2" charset="0"/>
                <a:cs typeface="Arial" panose="020B0604020202090204" pitchFamily="34" charset="0"/>
              </a:rPr>
              <a:t> </a:t>
            </a:r>
            <a:r>
              <a:rPr lang="en-US" altLang="zh-CN" sz="2000" b="1" u="sng" dirty="0">
                <a:solidFill>
                  <a:srgbClr val="C00000"/>
                </a:solidFill>
                <a:latin typeface="Helvetica" pitchFamily="2" charset="0"/>
                <a:cs typeface="Arial" panose="020B0604020202090204" pitchFamily="34" charset="0"/>
              </a:rPr>
              <a:t>TBD</a:t>
            </a:r>
            <a:endParaRPr lang="en-US" altLang="zh-CN" sz="2000" b="1" u="sng" dirty="0">
              <a:solidFill>
                <a:srgbClr val="C00000"/>
              </a:solidFill>
              <a:latin typeface="Helvetica" pitchFamily="2" charset="0"/>
              <a:cs typeface="Arial" panose="020B0604020202090204" pitchFamily="34" charset="0"/>
            </a:endParaRPr>
          </a:p>
        </p:txBody>
      </p:sp>
      <p:sp>
        <p:nvSpPr>
          <p:cNvPr id="6" name="TextBox 3"/>
          <p:cNvSpPr txBox="1"/>
          <p:nvPr/>
        </p:nvSpPr>
        <p:spPr>
          <a:xfrm>
            <a:off x="775576" y="1784411"/>
            <a:ext cx="10946524" cy="39878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Coverage: </a:t>
            </a:r>
            <a:r>
              <a:rPr lang="zh-CN" altLang="en-US" sz="2000" b="1" dirty="0">
                <a:solidFill>
                  <a:srgbClr val="515223"/>
                </a:solidFill>
                <a:latin typeface="Helvetica" pitchFamily="2" charset="0"/>
                <a:cs typeface="Arial" panose="020B0604020202090204" pitchFamily="34" charset="0"/>
              </a:rPr>
              <a:t> </a:t>
            </a:r>
            <a:r>
              <a:rPr lang="en-US" altLang="zh-CN" sz="2000" b="1" u="sng" dirty="0">
                <a:solidFill>
                  <a:srgbClr val="C00000"/>
                </a:solidFill>
                <a:latin typeface="Helvetica" pitchFamily="2" charset="0"/>
                <a:cs typeface="Arial" panose="020B0604020202090204" pitchFamily="34" charset="0"/>
              </a:rPr>
              <a:t>Lecture 1-11</a:t>
            </a:r>
            <a:endParaRPr lang="en-US" altLang="zh-CN" sz="2000" b="1" dirty="0">
              <a:solidFill>
                <a:srgbClr val="515223"/>
              </a:solidFill>
              <a:latin typeface="Helvetica" pitchFamily="2" charset="0"/>
              <a:cs typeface="Arial" panose="020B0604020202090204" pitchFamily="34" charset="0"/>
            </a:endParaRPr>
          </a:p>
        </p:txBody>
      </p:sp>
      <p:sp>
        <p:nvSpPr>
          <p:cNvPr id="7" name="TextBox 5"/>
          <p:cNvSpPr txBox="1"/>
          <p:nvPr/>
        </p:nvSpPr>
        <p:spPr>
          <a:xfrm>
            <a:off x="775576" y="2184521"/>
            <a:ext cx="10946524" cy="39878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Will have a course review in</a:t>
            </a:r>
            <a:r>
              <a:rPr lang="zh-CN" altLang="en-US" sz="2000" b="1" dirty="0">
                <a:solidFill>
                  <a:srgbClr val="515223"/>
                </a:solidFill>
                <a:latin typeface="Helvetica" pitchFamily="2" charset="0"/>
                <a:cs typeface="Arial" panose="020B0604020202090204" pitchFamily="34" charset="0"/>
              </a:rPr>
              <a:t> </a:t>
            </a:r>
            <a:r>
              <a:rPr lang="en-US" altLang="zh-CN" sz="2000" b="1" u="sng" dirty="0">
                <a:solidFill>
                  <a:srgbClr val="C00000"/>
                </a:solidFill>
                <a:latin typeface="Helvetica" pitchFamily="2" charset="0"/>
                <a:cs typeface="Arial" panose="020B0604020202090204" pitchFamily="34" charset="0"/>
              </a:rPr>
              <a:t>Lecture 12</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Non-Functional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23820" y="4114800"/>
            <a:ext cx="4376057" cy="2743200"/>
          </a:xfrm>
          <a:prstGeom prst="rect">
            <a:avLst/>
          </a:prstGeom>
        </p:spPr>
      </p:pic>
      <p:sp>
        <p:nvSpPr>
          <p:cNvPr id="9" name="TextBox 3"/>
          <p:cNvSpPr txBox="1"/>
          <p:nvPr/>
        </p:nvSpPr>
        <p:spPr>
          <a:xfrm>
            <a:off x="653398" y="1294477"/>
            <a:ext cx="11060182"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Performance Test</a:t>
            </a:r>
            <a:endParaRPr lang="en-US" altLang="zh-CN" sz="2000" b="1" dirty="0">
              <a:solidFill>
                <a:srgbClr val="515223"/>
              </a:solidFill>
              <a:latin typeface="Helvetica" pitchFamily="2" charset="0"/>
              <a:cs typeface="Arial" panose="020B0604020202090204" pitchFamily="34" charset="0"/>
            </a:endParaRPr>
          </a:p>
          <a:p>
            <a:r>
              <a:rPr lang="en-US" sz="2000" dirty="0"/>
              <a:t>	Ensures software applications perform properly under their expected workload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Usability Test</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	</a:t>
            </a:r>
            <a:r>
              <a:rPr lang="en-US" sz="2000" dirty="0"/>
              <a:t>To understand whether the machine is ready to come on the market</a:t>
            </a:r>
            <a:endParaRPr lang="en-US" altLang="zh-CN" sz="2000" dirty="0"/>
          </a:p>
          <a:p>
            <a:r>
              <a:rPr lang="en-US" altLang="zh-CN" sz="2000" b="1" dirty="0">
                <a:solidFill>
                  <a:srgbClr val="515223"/>
                </a:solidFill>
                <a:latin typeface="Helvetica" pitchFamily="2" charset="0"/>
                <a:cs typeface="Arial" panose="020B0604020202090204" pitchFamily="34" charset="0"/>
              </a:rPr>
              <a:t>	</a:t>
            </a:r>
            <a:endParaRPr lang="en-US" altLang="zh-CN" sz="2000" dirty="0"/>
          </a:p>
          <a:p>
            <a:r>
              <a:rPr lang="en-US" altLang="zh-CN" sz="2000" b="1" dirty="0">
                <a:solidFill>
                  <a:srgbClr val="515223"/>
                </a:solidFill>
                <a:latin typeface="Helvetica" pitchFamily="2" charset="0"/>
                <a:cs typeface="Arial" panose="020B0604020202090204" pitchFamily="34" charset="0"/>
              </a:rPr>
              <a:t>Compatibility</a:t>
            </a:r>
            <a:endParaRPr lang="en-US" altLang="zh-CN" sz="2000" b="1" dirty="0">
              <a:solidFill>
                <a:srgbClr val="515223"/>
              </a:solidFill>
              <a:latin typeface="Helvetica" pitchFamily="2" charset="0"/>
              <a:cs typeface="Arial" panose="020B0604020202090204" pitchFamily="34" charset="0"/>
            </a:endParaRPr>
          </a:p>
          <a:p>
            <a:r>
              <a:rPr lang="en-US" sz="2000" dirty="0"/>
              <a:t>	To check its compatibility (running capability) on different platforms/environments.</a:t>
            </a:r>
            <a:endParaRPr lang="en-US" altLang="zh-C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Bug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1009497" y="1192378"/>
            <a:ext cx="7417415" cy="4278094"/>
          </a:xfrm>
          <a:prstGeom prst="rect">
            <a:avLst/>
          </a:prstGeom>
          <a:noFill/>
        </p:spPr>
        <p:txBody>
          <a:bodyPr wrap="none" rtlCol="0">
            <a:spAutoFit/>
          </a:bodyPr>
          <a:lstStyle/>
          <a:p>
            <a:r>
              <a:rPr lang="en-US" sz="2000" b="1" dirty="0">
                <a:solidFill>
                  <a:srgbClr val="515223"/>
                </a:solidFill>
                <a:latin typeface="Helvetica" pitchFamily="2" charset="0"/>
                <a:cs typeface="Arial" panose="020B0604020202090204" pitchFamily="34" charset="0"/>
              </a:rPr>
              <a:t>Does not meet deadlines / satisfy SLA</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 </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Responsiveness, smoothness do not meet requirements </a:t>
            </a:r>
            <a:endParaRPr lang="en-US" sz="2000" b="1" dirty="0">
              <a:solidFill>
                <a:srgbClr val="515223"/>
              </a:solidFill>
              <a:latin typeface="Helvetica" pitchFamily="2" charset="0"/>
              <a:cs typeface="Arial" panose="020B0604020202090204" pitchFamily="34" charset="0"/>
            </a:endParaRPr>
          </a:p>
          <a:p>
            <a:r>
              <a:rPr lang="en-US" dirty="0"/>
              <a:t>	100 </a:t>
            </a:r>
            <a:r>
              <a:rPr lang="en-US" dirty="0" err="1"/>
              <a:t>ms</a:t>
            </a:r>
            <a:r>
              <a:rPr lang="en-US" dirty="0"/>
              <a:t>: GUI </a:t>
            </a:r>
            <a:endParaRPr lang="en-US" dirty="0"/>
          </a:p>
          <a:p>
            <a:r>
              <a:rPr lang="en-US" dirty="0"/>
              <a:t>	15-30 </a:t>
            </a:r>
            <a:r>
              <a:rPr lang="en-US" dirty="0" err="1"/>
              <a:t>ms</a:t>
            </a:r>
            <a:r>
              <a:rPr lang="en-US" dirty="0"/>
              <a:t>: Animation (30-60 fps) </a:t>
            </a:r>
            <a:endParaRPr lang="en-US" dirty="0"/>
          </a:p>
          <a:p>
            <a:r>
              <a:rPr lang="en-US" dirty="0"/>
              <a:t>	10 </a:t>
            </a:r>
            <a:r>
              <a:rPr lang="en-US" dirty="0" err="1"/>
              <a:t>ms</a:t>
            </a:r>
            <a:r>
              <a:rPr lang="en-US" dirty="0"/>
              <a:t>: MIDI, VR</a:t>
            </a:r>
            <a:endParaRPr lang="en-US" dirty="0"/>
          </a:p>
          <a:p>
            <a:endParaRPr lang="en-US" dirty="0"/>
          </a:p>
          <a:p>
            <a:r>
              <a:rPr lang="en-US" sz="2000" b="1" dirty="0">
                <a:solidFill>
                  <a:srgbClr val="515223"/>
                </a:solidFill>
                <a:latin typeface="Helvetica" pitchFamily="2" charset="0"/>
                <a:cs typeface="Arial" panose="020B0604020202090204" pitchFamily="34" charset="0"/>
              </a:rPr>
              <a:t>Unexpected slowdown for certain inputs / DoS vulnerability</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Performance regression (gradual and acute degradation)</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Performance variability across platforms</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 </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Sub-optimal throughput for HPC</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Performance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53398" y="1294477"/>
            <a:ext cx="11060182"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Load Test</a:t>
            </a:r>
            <a:endParaRPr lang="en-US" sz="2000" dirty="0"/>
          </a:p>
          <a:p>
            <a:r>
              <a:rPr lang="en-US" sz="2000" dirty="0"/>
              <a:t>	Response of the system measured under varying load conditions</a:t>
            </a:r>
            <a:endParaRPr lang="en-US" altLang="zh-CN" sz="2000" dirty="0"/>
          </a:p>
          <a:p>
            <a:endParaRPr lang="en-US" altLang="zh-CN" sz="2000" dirty="0"/>
          </a:p>
          <a:p>
            <a:pPr algn="l" fontAlgn="base"/>
            <a:r>
              <a:rPr lang="en-US" sz="2000" dirty="0"/>
              <a:t>	For normal and extreme load conditions. </a:t>
            </a:r>
            <a:endParaRPr lang="en-US" sz="2000" dirty="0"/>
          </a:p>
          <a:p>
            <a:pPr algn="l" fontAlgn="base"/>
            <a:endParaRPr lang="en-US" sz="2000" dirty="0"/>
          </a:p>
          <a:p>
            <a:pPr algn="l" fontAlgn="base"/>
            <a:r>
              <a:rPr lang="en-US" sz="2000" dirty="0"/>
              <a:t>	Simulates a real-world load on a system to see how it performs under stress.</a:t>
            </a:r>
            <a:endParaRPr lang="en-US" sz="2000" dirty="0"/>
          </a:p>
          <a:p>
            <a:pPr algn="l" fontAlgn="base"/>
            <a:endParaRPr lang="en-US" sz="2000" dirty="0"/>
          </a:p>
          <a:p>
            <a:pPr algn="l" fontAlgn="base"/>
            <a:r>
              <a:rPr lang="en-US" sz="2000" dirty="0"/>
              <a:t>	Identify bottlenecks and determine the limits the system can handle.</a:t>
            </a:r>
            <a:endParaRPr lang="en-US" sz="2000" dirty="0"/>
          </a:p>
          <a:p>
            <a:pPr algn="l" fontAlgn="base">
              <a:buFont typeface="+mj-lt"/>
              <a:buAutoNum type="arabicPeriod" startAt="3"/>
            </a:pPr>
            <a:endParaRPr lang="en-US" sz="2000" dirty="0"/>
          </a:p>
          <a:p>
            <a:pPr algn="l" fontAlgn="base"/>
            <a:r>
              <a:rPr lang="en-US" sz="2000" dirty="0"/>
              <a:t>	Ensure that the system can handle the expected usage levels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Performance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53398" y="1294477"/>
            <a:ext cx="11060182"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Stress Test</a:t>
            </a:r>
            <a:endParaRPr lang="en-US" sz="2000" dirty="0"/>
          </a:p>
          <a:p>
            <a:r>
              <a:rPr lang="en-US" sz="2000" dirty="0"/>
              <a:t>	Given unfavorable conditions to the system and check how it perform in those 	conditions. </a:t>
            </a:r>
            <a:endParaRPr lang="en-US" sz="2000" dirty="0"/>
          </a:p>
          <a:p>
            <a:endParaRPr lang="en-US" altLang="zh-CN" sz="2000" dirty="0"/>
          </a:p>
          <a:p>
            <a:pPr algn="l" fontAlgn="base"/>
            <a:r>
              <a:rPr lang="en-US" sz="2000" dirty="0"/>
              <a:t>	designed to test the run-time performance of software within the context of an integrated 	system</a:t>
            </a:r>
            <a:endParaRPr lang="en-US" sz="2000" dirty="0"/>
          </a:p>
          <a:p>
            <a:pPr algn="l" fontAlgn="base">
              <a:buFont typeface="+mj-lt"/>
              <a:buAutoNum type="arabicPeriod"/>
            </a:pPr>
            <a:endParaRPr lang="en-US" sz="2000" dirty="0"/>
          </a:p>
          <a:p>
            <a:pPr algn="l" fontAlgn="base"/>
            <a:r>
              <a:rPr lang="en-US" sz="2000" dirty="0"/>
              <a:t>	It is used to test the speed and effectiveness of the program</a:t>
            </a:r>
            <a:endParaRPr lang="en-US" sz="2000" dirty="0"/>
          </a:p>
          <a:p>
            <a:pPr algn="l" fontAlgn="base">
              <a:buFont typeface="+mj-lt"/>
              <a:buAutoNum type="arabicPeriod"/>
            </a:pPr>
            <a:endParaRPr lang="en-US" sz="2000" dirty="0"/>
          </a:p>
          <a:p>
            <a:pPr algn="l" fontAlgn="base">
              <a:buFont typeface="+mj-lt"/>
              <a:buAutoNum type="arabicPeriod"/>
            </a:pP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Performance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53397" y="1294477"/>
            <a:ext cx="11418997"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Scalability Test</a:t>
            </a:r>
            <a:endParaRPr lang="en-US" sz="2000" dirty="0"/>
          </a:p>
          <a:p>
            <a:r>
              <a:rPr lang="en-US" sz="2000" dirty="0"/>
              <a:t>	Test the capability to scale up or scale down the number of user request load or other such 	performance attributes. </a:t>
            </a:r>
            <a:endParaRPr lang="en-US" sz="2000" dirty="0"/>
          </a:p>
          <a:p>
            <a:endParaRPr lang="en-US" altLang="zh-CN" sz="2000" dirty="0"/>
          </a:p>
          <a:p>
            <a:pPr fontAlgn="base"/>
            <a:r>
              <a:rPr lang="en-US" sz="2000" dirty="0"/>
              <a:t>	It can be carried out at a hardware, software or database level. </a:t>
            </a:r>
            <a:endParaRPr lang="en-US" sz="2000" dirty="0"/>
          </a:p>
          <a:p>
            <a:pPr fontAlgn="base"/>
            <a:r>
              <a:rPr lang="en-US" sz="2000" dirty="0"/>
              <a:t>	</a:t>
            </a:r>
            <a:endParaRPr lang="en-US" sz="2000" dirty="0"/>
          </a:p>
          <a:p>
            <a:pPr fontAlgn="base"/>
            <a:r>
              <a:rPr lang="en-US" sz="2000" dirty="0"/>
              <a:t>	Ensures that a software product can manage the scheduled increase in user traffic, data 	volume, transaction counts frequency, and many other things</a:t>
            </a:r>
            <a:endParaRPr lang="en-US" sz="2000" dirty="0"/>
          </a:p>
          <a:p>
            <a:pPr algn="l" fontAlgn="base">
              <a:buFont typeface="+mj-lt"/>
              <a:buAutoNum type="arabicPeriod"/>
            </a:pPr>
            <a:endParaRPr lang="en-US" sz="2000" dirty="0"/>
          </a:p>
        </p:txBody>
      </p:sp>
      <p:sp>
        <p:nvSpPr>
          <p:cNvPr id="4" name="TextBox 3"/>
          <p:cNvSpPr txBox="1"/>
          <p:nvPr/>
        </p:nvSpPr>
        <p:spPr>
          <a:xfrm>
            <a:off x="653397" y="3867860"/>
            <a:ext cx="11418997"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Stability Test</a:t>
            </a:r>
            <a:endParaRPr lang="en-US" sz="2000" dirty="0"/>
          </a:p>
          <a:p>
            <a:r>
              <a:rPr lang="en-US" sz="2000" dirty="0"/>
              <a:t>	Checks the quality and behavior of the software under different environmental parameters 	and over time without failure. </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Test Challenges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1009497" y="1192378"/>
            <a:ext cx="9896235" cy="3170099"/>
          </a:xfrm>
          <a:prstGeom prst="rect">
            <a:avLst/>
          </a:prstGeom>
          <a:noFill/>
        </p:spPr>
        <p:txBody>
          <a:bodyPr wrap="none" rtlCol="0">
            <a:spAutoFit/>
          </a:bodyPr>
          <a:lstStyle/>
          <a:p>
            <a:r>
              <a:rPr lang="en-US" sz="2000" b="1" dirty="0">
                <a:solidFill>
                  <a:srgbClr val="515223"/>
                </a:solidFill>
                <a:latin typeface="Helvetica" pitchFamily="2" charset="0"/>
                <a:cs typeface="Arial" panose="020B0604020202090204" pitchFamily="34" charset="0"/>
              </a:rPr>
              <a:t>How much room for improvement is there?</a:t>
            </a:r>
            <a:endParaRPr lang="en-US" sz="2000" b="1" dirty="0">
              <a:solidFill>
                <a:srgbClr val="515223"/>
              </a:solidFill>
              <a:latin typeface="Helvetica" pitchFamily="2" charset="0"/>
              <a:cs typeface="Arial" panose="020B0604020202090204" pitchFamily="34" charset="0"/>
            </a:endParaRPr>
          </a:p>
          <a:p>
            <a:r>
              <a:rPr lang="en-US" sz="2000" dirty="0"/>
              <a:t>	Amdahl's law: Limits to speedup from parallelization, local optimization </a:t>
            </a:r>
            <a:endParaRPr lang="en-US" sz="2000" dirty="0"/>
          </a:p>
          <a:p>
            <a:r>
              <a:rPr lang="en-US" sz="2000" dirty="0"/>
              <a:t>	Roofline analysis: Do you expect to be limited by bandwidth or compute? </a:t>
            </a:r>
            <a:endParaRPr lang="en-US" sz="2000" dirty="0"/>
          </a:p>
          <a:p>
            <a:endParaRPr lang="en-US" sz="2000" dirty="0"/>
          </a:p>
          <a:p>
            <a:r>
              <a:rPr lang="en-US" sz="2000" b="1" dirty="0">
                <a:solidFill>
                  <a:srgbClr val="515223"/>
                </a:solidFill>
                <a:latin typeface="Helvetica" pitchFamily="2" charset="0"/>
                <a:cs typeface="Arial" panose="020B0604020202090204" pitchFamily="34" charset="0"/>
              </a:rPr>
              <a:t>Is slowdown localized, dispersed, or emergent? </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Getting reliable measurements is difficult</a:t>
            </a:r>
            <a:endParaRPr lang="en-US" sz="2000" b="1" dirty="0">
              <a:solidFill>
                <a:srgbClr val="515223"/>
              </a:solidFill>
              <a:latin typeface="Helvetica" pitchFamily="2" charset="0"/>
              <a:cs typeface="Arial" panose="020B0604020202090204" pitchFamily="34" charset="0"/>
            </a:endParaRPr>
          </a:p>
          <a:p>
            <a:r>
              <a:rPr lang="en-US" sz="2000" dirty="0"/>
              <a:t>	Inconsistency, load dependency, JIT compilation, non-representative datasets</a:t>
            </a:r>
            <a:endParaRPr lang="en-US" sz="2000" dirty="0"/>
          </a:p>
          <a:p>
            <a:r>
              <a:rPr lang="en-US" sz="2000" dirty="0"/>
              <a:t>	Average case vs. worst case</a:t>
            </a:r>
            <a:endParaRPr lang="en-US" sz="2000" dirty="0"/>
          </a:p>
          <a:p>
            <a:r>
              <a:rPr lang="en-US" sz="2000" dirty="0"/>
              <a:t>	Tension between latency and bandwidth</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Amdahl's Law</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439265" y="1299109"/>
            <a:ext cx="9123883" cy="3416320"/>
          </a:xfrm>
          <a:prstGeom prst="rect">
            <a:avLst/>
          </a:prstGeom>
          <a:noFill/>
        </p:spPr>
        <p:txBody>
          <a:bodyPr wrap="square">
            <a:spAutoFit/>
          </a:bodyPr>
          <a:lstStyle/>
          <a:p>
            <a:r>
              <a:rPr lang="en-US" dirty="0"/>
              <a:t>Speedup: S = </a:t>
            </a:r>
            <a:r>
              <a:rPr lang="en-US" dirty="0" err="1"/>
              <a:t>T_before</a:t>
            </a:r>
            <a:r>
              <a:rPr lang="en-US" dirty="0"/>
              <a:t> / </a:t>
            </a:r>
            <a:r>
              <a:rPr lang="en-US" dirty="0" err="1"/>
              <a:t>T_after</a:t>
            </a:r>
            <a:r>
              <a:rPr lang="en-US" dirty="0"/>
              <a:t> </a:t>
            </a:r>
            <a:endParaRPr lang="en-US" dirty="0"/>
          </a:p>
          <a:p>
            <a:r>
              <a:rPr lang="en-US" dirty="0"/>
              <a:t>Identify portion p of runtime cost amenable to optimization </a:t>
            </a:r>
            <a:endParaRPr lang="en-US" dirty="0"/>
          </a:p>
          <a:p>
            <a:r>
              <a:rPr lang="en-US" dirty="0"/>
              <a:t>	</a:t>
            </a:r>
            <a:r>
              <a:rPr lang="en-US" dirty="0" err="1"/>
              <a:t>T_before</a:t>
            </a:r>
            <a:r>
              <a:rPr lang="en-US" dirty="0"/>
              <a:t> = p*T + (1 - p)*T </a:t>
            </a:r>
            <a:endParaRPr lang="en-US" dirty="0"/>
          </a:p>
          <a:p>
            <a:r>
              <a:rPr lang="en-US" dirty="0"/>
              <a:t>Let s be speedup of optimization on this portion</a:t>
            </a:r>
            <a:endParaRPr lang="en-US" dirty="0"/>
          </a:p>
          <a:p>
            <a:r>
              <a:rPr lang="en-US" dirty="0"/>
              <a:t>	Example: s = 10 for parallelizing on a 10-core machine </a:t>
            </a:r>
            <a:endParaRPr lang="en-US" dirty="0"/>
          </a:p>
          <a:p>
            <a:r>
              <a:rPr lang="en-US" dirty="0"/>
              <a:t>	Often interested in limit as s → ∞ </a:t>
            </a:r>
            <a:endParaRPr lang="en-US" dirty="0"/>
          </a:p>
          <a:p>
            <a:endParaRPr lang="en-US" dirty="0"/>
          </a:p>
          <a:p>
            <a:r>
              <a:rPr lang="en-US" dirty="0" err="1"/>
              <a:t>T_after</a:t>
            </a:r>
            <a:r>
              <a:rPr lang="en-US" dirty="0"/>
              <a:t> = p*T/s + (1 - p)*T </a:t>
            </a:r>
            <a:endParaRPr lang="en-US" dirty="0"/>
          </a:p>
          <a:p>
            <a:endParaRPr lang="en-US" dirty="0"/>
          </a:p>
          <a:p>
            <a:r>
              <a:rPr lang="en-US" dirty="0"/>
              <a:t>S(s) = 1/(1 - p + p/s) </a:t>
            </a:r>
            <a:endParaRPr lang="en-US" dirty="0"/>
          </a:p>
          <a:p>
            <a:endParaRPr lang="en-US" dirty="0"/>
          </a:p>
          <a:p>
            <a:r>
              <a:rPr lang="en-US" dirty="0"/>
              <a:t>S → 1/(1 - p)</a:t>
            </a:r>
            <a:endParaRPr 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93466" y="2750515"/>
            <a:ext cx="4598534" cy="35258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Profiling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077773" y="1124522"/>
            <a:ext cx="10036454" cy="4062651"/>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How can we estimate </a:t>
            </a:r>
            <a:r>
              <a:rPr lang="en-US" sz="2000" b="1" dirty="0">
                <a:solidFill>
                  <a:srgbClr val="C00000"/>
                </a:solidFill>
                <a:latin typeface="Helvetica" pitchFamily="2" charset="0"/>
                <a:cs typeface="Arial" panose="020B0604020202090204" pitchFamily="34" charset="0"/>
              </a:rPr>
              <a:t>p</a:t>
            </a:r>
            <a:r>
              <a:rPr lang="en-US" sz="2000" b="1" dirty="0">
                <a:solidFill>
                  <a:srgbClr val="515223"/>
                </a:solidFill>
                <a:latin typeface="Helvetica" pitchFamily="2" charset="0"/>
                <a:cs typeface="Arial" panose="020B0604020202090204" pitchFamily="34" charset="0"/>
              </a:rPr>
              <a:t>? Where should our optimization efforts be focused?</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 </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Profiling Techniques</a:t>
            </a:r>
            <a:endParaRPr lang="en-US" sz="2000" b="1" dirty="0">
              <a:solidFill>
                <a:srgbClr val="515223"/>
              </a:solidFill>
              <a:latin typeface="Helvetica" pitchFamily="2" charset="0"/>
              <a:cs typeface="Arial" panose="020B0604020202090204" pitchFamily="34" charset="0"/>
            </a:endParaRPr>
          </a:p>
          <a:p>
            <a:r>
              <a:rPr lang="en-US" dirty="0"/>
              <a:t>	Sampling: Periodically interrupt process and examine stack trace </a:t>
            </a:r>
            <a:endParaRPr lang="en-US" dirty="0"/>
          </a:p>
          <a:p>
            <a:r>
              <a:rPr lang="en-US" dirty="0"/>
              <a:t>		Low overhead</a:t>
            </a:r>
            <a:endParaRPr lang="en-US" dirty="0"/>
          </a:p>
          <a:p>
            <a:r>
              <a:rPr lang="en-US" dirty="0"/>
              <a:t>		Incomplete data</a:t>
            </a:r>
            <a:endParaRPr lang="en-US" dirty="0"/>
          </a:p>
          <a:p>
            <a:endParaRPr lang="en-US" dirty="0"/>
          </a:p>
          <a:p>
            <a:r>
              <a:rPr lang="en-US" dirty="0"/>
              <a:t>	Tracing: Record whenever a function is called or returns </a:t>
            </a:r>
            <a:endParaRPr lang="en-US" dirty="0"/>
          </a:p>
          <a:p>
            <a:r>
              <a:rPr lang="en-US" dirty="0"/>
              <a:t>		High overhead</a:t>
            </a:r>
            <a:endParaRPr lang="en-US" dirty="0"/>
          </a:p>
          <a:p>
            <a:r>
              <a:rPr lang="en-US" dirty="0"/>
              <a:t>		Complete function counts </a:t>
            </a:r>
            <a:endParaRPr lang="en-US" dirty="0"/>
          </a:p>
          <a:p>
            <a:r>
              <a:rPr lang="en-US" dirty="0"/>
              <a:t>		Timing may be distorted</a:t>
            </a:r>
            <a:endParaRPr lang="en-US" dirty="0"/>
          </a:p>
          <a:p>
            <a:endParaRPr lang="en-US" dirty="0"/>
          </a:p>
          <a:p>
            <a:r>
              <a:rPr lang="en-US" dirty="0"/>
              <a:t>	Instruction-level: Estimate cost of each statement </a:t>
            </a:r>
            <a:endParaRPr lang="en-US" dirty="0"/>
          </a:p>
          <a:p>
            <a:r>
              <a:rPr lang="en-US" dirty="0"/>
              <a:t>		Requires CPU model</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Profiling Tools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077773" y="1124522"/>
            <a:ext cx="10036454" cy="3170099"/>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 Profiling Techniques</a:t>
            </a:r>
            <a:endParaRPr lang="en-US" sz="2000" b="1" dirty="0">
              <a:solidFill>
                <a:srgbClr val="515223"/>
              </a:solidFill>
              <a:latin typeface="Helvetica" pitchFamily="2" charset="0"/>
              <a:cs typeface="Arial" panose="020B0604020202090204" pitchFamily="34" charset="0"/>
            </a:endParaRPr>
          </a:p>
          <a:p>
            <a:r>
              <a:rPr lang="en-US" dirty="0"/>
              <a:t>	Native code</a:t>
            </a:r>
            <a:endParaRPr lang="en-US" dirty="0"/>
          </a:p>
          <a:p>
            <a:r>
              <a:rPr lang="en-US" dirty="0"/>
              <a:t>		perf (Linux)</a:t>
            </a:r>
            <a:endParaRPr lang="en-US" dirty="0"/>
          </a:p>
          <a:p>
            <a:r>
              <a:rPr lang="en-US" dirty="0"/>
              <a:t>		</a:t>
            </a:r>
            <a:r>
              <a:rPr lang="en-US" dirty="0" err="1"/>
              <a:t>gprof</a:t>
            </a:r>
            <a:r>
              <a:rPr lang="en-US" dirty="0"/>
              <a:t> </a:t>
            </a:r>
            <a:endParaRPr lang="en-US" dirty="0"/>
          </a:p>
          <a:p>
            <a:r>
              <a:rPr lang="en-US" dirty="0"/>
              <a:t>		</a:t>
            </a:r>
            <a:r>
              <a:rPr lang="en-US" dirty="0" err="1"/>
              <a:t>callgrind</a:t>
            </a:r>
            <a:endParaRPr lang="en-US" dirty="0"/>
          </a:p>
          <a:p>
            <a:r>
              <a:rPr lang="en-US" dirty="0"/>
              <a:t>	Python</a:t>
            </a:r>
            <a:endParaRPr lang="en-US" dirty="0"/>
          </a:p>
          <a:p>
            <a:r>
              <a:rPr lang="en-US" dirty="0"/>
              <a:t>		</a:t>
            </a:r>
            <a:r>
              <a:rPr lang="en-US" dirty="0" err="1"/>
              <a:t>cProfile</a:t>
            </a:r>
            <a:endParaRPr lang="en-US" dirty="0"/>
          </a:p>
          <a:p>
            <a:r>
              <a:rPr lang="en-US" dirty="0"/>
              <a:t>	Java</a:t>
            </a:r>
            <a:endParaRPr lang="en-US" dirty="0"/>
          </a:p>
          <a:p>
            <a:r>
              <a:rPr lang="en-US" dirty="0"/>
              <a:t>		</a:t>
            </a:r>
            <a:r>
              <a:rPr lang="en-US" dirty="0" err="1"/>
              <a:t>JProfiler</a:t>
            </a:r>
            <a:r>
              <a:rPr lang="en-US" dirty="0"/>
              <a:t> </a:t>
            </a:r>
            <a:endParaRPr lang="en-US" dirty="0"/>
          </a:p>
          <a:p>
            <a:r>
              <a:rPr lang="en-US" dirty="0"/>
              <a:t>		</a:t>
            </a:r>
            <a:r>
              <a:rPr lang="en-US" dirty="0" err="1"/>
              <a:t>VisualVM</a:t>
            </a:r>
            <a:endParaRPr lang="en-US" dirty="0"/>
          </a:p>
          <a:p>
            <a:r>
              <a:rPr lang="en-US" dirty="0"/>
              <a:t>		NetBeans</a:t>
            </a:r>
            <a:endParaRPr 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76954" y="355508"/>
            <a:ext cx="3907017" cy="696516"/>
          </a:xfrm>
          <a:prstGeom prst="rect">
            <a:avLst/>
          </a:prstGeom>
        </p:spPr>
      </p:pic>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6954" y="1169698"/>
            <a:ext cx="6119353" cy="2196023"/>
          </a:xfrm>
          <a:prstGeom prst="rect">
            <a:avLst/>
          </a:prstGeom>
        </p:spPr>
      </p:pic>
      <p:sp>
        <p:nvSpPr>
          <p:cNvPr id="12" name="TextBox 11"/>
          <p:cNvSpPr txBox="1"/>
          <p:nvPr/>
        </p:nvSpPr>
        <p:spPr>
          <a:xfrm>
            <a:off x="5592048" y="3570797"/>
            <a:ext cx="6094674" cy="2462213"/>
          </a:xfrm>
          <a:prstGeom prst="rect">
            <a:avLst/>
          </a:prstGeom>
          <a:noFill/>
        </p:spPr>
        <p:txBody>
          <a:bodyPr wrap="square">
            <a:spAutoFit/>
          </a:bodyPr>
          <a:lstStyle/>
          <a:p>
            <a:pPr algn="l"/>
            <a:r>
              <a:rPr lang="en-US" sz="1400" dirty="0" err="1"/>
              <a:t>Ncalls</a:t>
            </a:r>
            <a:r>
              <a:rPr lang="en-US" sz="1400" dirty="0"/>
              <a:t>: </a:t>
            </a:r>
            <a:r>
              <a:rPr lang="en-US" sz="1400" dirty="0">
                <a:effectLst/>
              </a:rPr>
              <a:t>for the number of calls</a:t>
            </a:r>
            <a:endParaRPr lang="en-US" sz="1400" dirty="0">
              <a:effectLst/>
            </a:endParaRPr>
          </a:p>
          <a:p>
            <a:pPr algn="l"/>
            <a:endParaRPr lang="en-US" sz="1400" dirty="0">
              <a:effectLst/>
            </a:endParaRPr>
          </a:p>
          <a:p>
            <a:pPr algn="l"/>
            <a:r>
              <a:rPr lang="en-US" sz="1400" dirty="0" err="1"/>
              <a:t>Tottime</a:t>
            </a:r>
            <a:r>
              <a:rPr lang="en-US" sz="1400" dirty="0"/>
              <a:t>: </a:t>
            </a:r>
            <a:r>
              <a:rPr lang="en-US" sz="1400" dirty="0">
                <a:effectLst/>
              </a:rPr>
              <a:t>total time spent in the given function</a:t>
            </a:r>
            <a:endParaRPr lang="en-US" sz="1400" dirty="0">
              <a:effectLst/>
            </a:endParaRPr>
          </a:p>
          <a:p>
            <a:pPr algn="l"/>
            <a:endParaRPr lang="en-US" sz="1400" dirty="0">
              <a:effectLst/>
            </a:endParaRPr>
          </a:p>
          <a:p>
            <a:pPr algn="l"/>
            <a:r>
              <a:rPr lang="en-US" sz="1400" dirty="0" err="1"/>
              <a:t>Percall</a:t>
            </a:r>
            <a:r>
              <a:rPr lang="en-US" sz="1400" dirty="0"/>
              <a:t>: </a:t>
            </a:r>
            <a:r>
              <a:rPr lang="en-US" sz="1400" dirty="0">
                <a:effectLst/>
              </a:rPr>
              <a:t>quotient of </a:t>
            </a:r>
            <a:r>
              <a:rPr lang="en-US" sz="1400" dirty="0" err="1">
                <a:effectLst/>
              </a:rPr>
              <a:t>tottime</a:t>
            </a:r>
            <a:r>
              <a:rPr lang="en-US" sz="1400" dirty="0">
                <a:effectLst/>
              </a:rPr>
              <a:t> divided by </a:t>
            </a:r>
            <a:r>
              <a:rPr lang="en-US" sz="1400" dirty="0" err="1">
                <a:effectLst/>
              </a:rPr>
              <a:t>ncalls</a:t>
            </a:r>
            <a:endParaRPr lang="en-US" sz="1400" dirty="0">
              <a:effectLst/>
            </a:endParaRPr>
          </a:p>
          <a:p>
            <a:pPr algn="l"/>
            <a:endParaRPr lang="en-US" sz="1400" dirty="0">
              <a:effectLst/>
            </a:endParaRPr>
          </a:p>
          <a:p>
            <a:pPr algn="l"/>
            <a:r>
              <a:rPr lang="en-US" sz="1400" dirty="0" err="1"/>
              <a:t>Cumtime</a:t>
            </a:r>
            <a:r>
              <a:rPr lang="en-US" sz="1400" dirty="0"/>
              <a:t>: </a:t>
            </a:r>
            <a:r>
              <a:rPr lang="en-US" sz="1400" dirty="0">
                <a:effectLst/>
              </a:rPr>
              <a:t>cumulative time spent in this and all subfunctions</a:t>
            </a:r>
            <a:endParaRPr lang="en-US" sz="1400" dirty="0">
              <a:effectLst/>
            </a:endParaRPr>
          </a:p>
          <a:p>
            <a:pPr algn="l"/>
            <a:endParaRPr lang="en-US" sz="1400" dirty="0">
              <a:effectLst/>
            </a:endParaRPr>
          </a:p>
          <a:p>
            <a:pPr algn="l"/>
            <a:r>
              <a:rPr lang="en-US" sz="1400" dirty="0" err="1"/>
              <a:t>Percall</a:t>
            </a:r>
            <a:r>
              <a:rPr lang="en-US" sz="1400" dirty="0"/>
              <a:t>:</a:t>
            </a:r>
            <a:r>
              <a:rPr lang="en-US" sz="1400" dirty="0">
                <a:effectLst/>
              </a:rPr>
              <a:t> the quotient of </a:t>
            </a:r>
            <a:r>
              <a:rPr lang="en-US" sz="1400" dirty="0" err="1">
                <a:effectLst/>
              </a:rPr>
              <a:t>cumtime</a:t>
            </a:r>
            <a:r>
              <a:rPr lang="en-US" sz="1400" dirty="0">
                <a:effectLst/>
              </a:rPr>
              <a:t> divided by primitive calls</a:t>
            </a:r>
            <a:endParaRPr lang="en-US" sz="1400" dirty="0">
              <a:effectLst/>
            </a:endParaRPr>
          </a:p>
          <a:p>
            <a:pPr algn="l"/>
            <a:endParaRPr lang="en-US" sz="1400" dirty="0">
              <a:effectLst/>
            </a:endParaRPr>
          </a:p>
          <a:p>
            <a:pPr algn="l"/>
            <a:r>
              <a:rPr lang="en-US" sz="1400" dirty="0"/>
              <a:t>Filename: </a:t>
            </a:r>
            <a:r>
              <a:rPr lang="en-US" sz="1400" dirty="0" err="1"/>
              <a:t>lineno</a:t>
            </a:r>
            <a:r>
              <a:rPr lang="en-US" sz="1400" dirty="0"/>
              <a:t>(function)</a:t>
            </a:r>
            <a:r>
              <a:rPr lang="en-US" sz="1400" dirty="0">
                <a:effectLst/>
              </a:rPr>
              <a:t>provides the respective data of each function</a:t>
            </a:r>
            <a:endParaRPr lang="en-US" sz="1400" dirty="0">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Monitoring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660805" y="1395184"/>
            <a:ext cx="11531195" cy="2554545"/>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To detect degradation and catch regressions, need to log and monitor performance metrics</a:t>
            </a:r>
            <a:endParaRPr lang="en-US" sz="2000" b="1" dirty="0">
              <a:solidFill>
                <a:srgbClr val="515223"/>
              </a:solidFill>
              <a:latin typeface="Helvetica" pitchFamily="2" charset="0"/>
              <a:cs typeface="Arial" panose="020B0604020202090204" pitchFamily="34" charset="0"/>
            </a:endParaRPr>
          </a:p>
          <a:p>
            <a:r>
              <a:rPr lang="en-US" sz="2000" dirty="0"/>
              <a:t>	Can measure duration of tests in CI, but benefits from unloaded servers</a:t>
            </a:r>
            <a:endParaRPr lang="en-US" sz="2000" dirty="0"/>
          </a:p>
          <a:p>
            <a:endParaRPr lang="en-US" sz="2000" dirty="0"/>
          </a:p>
          <a:p>
            <a:r>
              <a:rPr lang="en-US" sz="2000" b="1" dirty="0">
                <a:solidFill>
                  <a:srgbClr val="515223"/>
                </a:solidFill>
                <a:latin typeface="Helvetica" pitchFamily="2" charset="0"/>
                <a:cs typeface="Arial" panose="020B0604020202090204" pitchFamily="34" charset="0"/>
              </a:rPr>
              <a:t>For services, also need to monitor performance in production</a:t>
            </a:r>
            <a:endParaRPr lang="en-US" sz="2000" b="1" dirty="0">
              <a:solidFill>
                <a:srgbClr val="515223"/>
              </a:solidFill>
              <a:latin typeface="Helvetica" pitchFamily="2" charset="0"/>
              <a:cs typeface="Arial" panose="020B0604020202090204" pitchFamily="34" charset="0"/>
            </a:endParaRPr>
          </a:p>
          <a:p>
            <a:r>
              <a:rPr lang="en-US" sz="2000" dirty="0"/>
              <a:t>	Network conditions, load are dynamic</a:t>
            </a:r>
            <a:endParaRPr lang="en-US" sz="2000" dirty="0"/>
          </a:p>
          <a:p>
            <a:endParaRPr lang="en-US" sz="2000" dirty="0"/>
          </a:p>
          <a:p>
            <a:r>
              <a:rPr lang="en-US" sz="2000" dirty="0"/>
              <a:t>	With scalable microservice architectures, counterintuitive bottlenecks may appear 		Scaling the wrong components can remove beneficial backpressure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Latency vs. Throughput</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1009497" y="1192378"/>
            <a:ext cx="11244232" cy="2554545"/>
          </a:xfrm>
          <a:prstGeom prst="rect">
            <a:avLst/>
          </a:prstGeom>
          <a:noFill/>
        </p:spPr>
        <p:txBody>
          <a:bodyPr wrap="none" rtlCol="0">
            <a:spAutoFit/>
          </a:bodyPr>
          <a:lstStyle/>
          <a:p>
            <a:r>
              <a:rPr lang="en-US" sz="2000" b="1" dirty="0">
                <a:solidFill>
                  <a:srgbClr val="515223"/>
                </a:solidFill>
                <a:latin typeface="Helvetica" pitchFamily="2" charset="0"/>
                <a:cs typeface="Arial" panose="020B0604020202090204" pitchFamily="34" charset="0"/>
              </a:rPr>
              <a:t>Latency: Duration between a single trigger and the system's response </a:t>
            </a:r>
            <a:endParaRPr lang="en-US" sz="2000" b="1" dirty="0">
              <a:solidFill>
                <a:srgbClr val="515223"/>
              </a:solidFill>
              <a:latin typeface="Helvetica" pitchFamily="2" charset="0"/>
              <a:cs typeface="Arial" panose="020B0604020202090204" pitchFamily="34" charset="0"/>
            </a:endParaRPr>
          </a:p>
          <a:p>
            <a:r>
              <a:rPr lang="en-US" sz="2000" dirty="0"/>
              <a:t>	 "Tail latency" (e.g. 95th percentile under a specified load) is more important than average</a:t>
            </a:r>
            <a:endParaRPr lang="en-US" sz="2000" dirty="0"/>
          </a:p>
          <a:p>
            <a:r>
              <a:rPr lang="en-US" sz="2000" dirty="0"/>
              <a:t> </a:t>
            </a:r>
            <a:endParaRPr lang="en-US" sz="2000" dirty="0"/>
          </a:p>
          <a:p>
            <a:r>
              <a:rPr lang="en-US" sz="2000" b="1" dirty="0">
                <a:solidFill>
                  <a:srgbClr val="515223"/>
                </a:solidFill>
                <a:latin typeface="Helvetica" pitchFamily="2" charset="0"/>
                <a:cs typeface="Arial" panose="020B0604020202090204" pitchFamily="34" charset="0"/>
              </a:rPr>
              <a:t>Throughput: Time it takes to processes a fixed amount of work</a:t>
            </a:r>
            <a:endParaRPr lang="en-US" sz="2000" b="1" dirty="0">
              <a:solidFill>
                <a:srgbClr val="515223"/>
              </a:solidFill>
              <a:latin typeface="Helvetica" pitchFamily="2" charset="0"/>
              <a:cs typeface="Arial" panose="020B0604020202090204" pitchFamily="34" charset="0"/>
            </a:endParaRPr>
          </a:p>
          <a:p>
            <a:r>
              <a:rPr lang="en-US" sz="2000" dirty="0"/>
              <a:t>	Often a function of workload </a:t>
            </a:r>
            <a:endParaRPr lang="en-US" sz="2000" dirty="0"/>
          </a:p>
          <a:p>
            <a:r>
              <a:rPr lang="en-US" sz="2000" dirty="0"/>
              <a:t>		Typically throughput increases with workload size up to a saturation point</a:t>
            </a:r>
            <a:endParaRPr lang="en-US" sz="2000" dirty="0"/>
          </a:p>
          <a:p>
            <a:r>
              <a:rPr lang="en-US" sz="2000" dirty="0"/>
              <a:t>	Reduce overhead with batching</a:t>
            </a:r>
            <a:endParaRPr lang="en-US" sz="2000" dirty="0"/>
          </a:p>
          <a:p>
            <a:r>
              <a:rPr lang="en-US" sz="2000" dirty="0"/>
              <a:t>		Typically at expense of latency</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Documentation of Testing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71436" y="1237240"/>
            <a:ext cx="9618104" cy="2554545"/>
          </a:xfrm>
          <a:prstGeom prst="rect">
            <a:avLst/>
          </a:prstGeom>
          <a:noFill/>
        </p:spPr>
        <p:txBody>
          <a:bodyPr wrap="square">
            <a:spAutoFit/>
          </a:bodyPr>
          <a:lstStyle/>
          <a:p>
            <a:r>
              <a:rPr lang="en-US" altLang="zh-CN" sz="2000" dirty="0"/>
              <a:t>Every project needs a </a:t>
            </a:r>
            <a:r>
              <a:rPr lang="en-US" altLang="zh-CN" sz="2000" dirty="0">
                <a:solidFill>
                  <a:srgbClr val="FF0000"/>
                </a:solidFill>
              </a:rPr>
              <a:t>test plan </a:t>
            </a:r>
            <a:r>
              <a:rPr lang="en-US" altLang="zh-CN" sz="2000" dirty="0"/>
              <a:t>that documents the testing procedures for thoroughness, visibility, and for </a:t>
            </a:r>
            <a:r>
              <a:rPr lang="en-US" altLang="zh-CN" sz="2000" dirty="0">
                <a:solidFill>
                  <a:srgbClr val="FF0000"/>
                </a:solidFill>
              </a:rPr>
              <a:t>future maintenance</a:t>
            </a:r>
            <a:r>
              <a:rPr lang="en-US" altLang="zh-CN" sz="2000" dirty="0"/>
              <a:t>. </a:t>
            </a:r>
            <a:endParaRPr lang="en-US" altLang="zh-CN" sz="2000" dirty="0"/>
          </a:p>
          <a:p>
            <a:endParaRPr lang="en-US" altLang="zh-CN" sz="2000" dirty="0"/>
          </a:p>
          <a:p>
            <a:r>
              <a:rPr lang="en-US" altLang="zh-CN" sz="2000" dirty="0"/>
              <a:t>The test plan should include:</a:t>
            </a:r>
            <a:endParaRPr lang="en-US" altLang="zh-CN" sz="2000" dirty="0"/>
          </a:p>
          <a:p>
            <a:pPr marL="800100" lvl="1" indent="-342900">
              <a:buFont typeface="Arial" panose="020B0604020202090204" pitchFamily="34" charset="0"/>
              <a:buChar char="•"/>
            </a:pPr>
            <a:r>
              <a:rPr lang="en-US" altLang="zh-CN" sz="2000" dirty="0"/>
              <a:t>Description of testing approach.</a:t>
            </a:r>
            <a:endParaRPr lang="en-US" altLang="zh-CN" sz="2000" dirty="0"/>
          </a:p>
          <a:p>
            <a:pPr marL="800100" lvl="1" indent="-342900">
              <a:buFont typeface="Arial" panose="020B0604020202090204" pitchFamily="34" charset="0"/>
              <a:buChar char="•"/>
            </a:pPr>
            <a:r>
              <a:rPr lang="en-US" altLang="zh-CN" sz="2000" dirty="0"/>
              <a:t>List of test cases and related bugs.</a:t>
            </a:r>
            <a:endParaRPr lang="en-US" altLang="zh-CN" sz="2000" dirty="0"/>
          </a:p>
          <a:p>
            <a:pPr marL="800100" lvl="1" indent="-342900">
              <a:buFont typeface="Arial" panose="020B0604020202090204" pitchFamily="34" charset="0"/>
              <a:buChar char="•"/>
            </a:pPr>
            <a:r>
              <a:rPr lang="en-US" altLang="zh-CN" sz="2000" dirty="0"/>
              <a:t>Procedures for running the tests. </a:t>
            </a:r>
            <a:endParaRPr lang="en-US" altLang="zh-CN" sz="2000" dirty="0"/>
          </a:p>
          <a:p>
            <a:pPr marL="800100" lvl="1" indent="-342900">
              <a:buFont typeface="Arial" panose="020B0604020202090204" pitchFamily="34" charset="0"/>
              <a:buChar char="•"/>
            </a:pPr>
            <a:r>
              <a:rPr lang="en-US" altLang="zh-CN" sz="2000" dirty="0"/>
              <a:t>Test analysis report.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SQLite: An Example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564666" y="433211"/>
            <a:ext cx="4082254" cy="400110"/>
          </a:xfrm>
          <a:prstGeom prst="rect">
            <a:avLst/>
          </a:prstGeom>
          <a:noFill/>
        </p:spPr>
        <p:txBody>
          <a:bodyPr wrap="square">
            <a:spAutoFit/>
          </a:bodyPr>
          <a:lstStyle/>
          <a:p>
            <a:r>
              <a:rPr lang="en-US" altLang="zh-CN" sz="2000" dirty="0"/>
              <a:t>https://</a:t>
            </a:r>
            <a:r>
              <a:rPr lang="en-US" altLang="zh-CN" sz="2000" dirty="0" err="1"/>
              <a:t>www.sqlite.org</a:t>
            </a:r>
            <a:r>
              <a:rPr lang="en-US" altLang="zh-CN" sz="2000" dirty="0"/>
              <a:t>/</a:t>
            </a:r>
            <a:r>
              <a:rPr lang="en-US" altLang="zh-CN" sz="2000" dirty="0" err="1"/>
              <a:t>testing.html</a:t>
            </a:r>
            <a:endParaRPr lang="en-US" altLang="zh-CN" sz="2000" dirty="0"/>
          </a:p>
        </p:txBody>
      </p:sp>
      <p:sp>
        <p:nvSpPr>
          <p:cNvPr id="5" name="TextBox 4"/>
          <p:cNvSpPr txBox="1"/>
          <p:nvPr/>
        </p:nvSpPr>
        <p:spPr>
          <a:xfrm>
            <a:off x="0" y="1184145"/>
            <a:ext cx="10202304" cy="5016758"/>
          </a:xfrm>
          <a:prstGeom prst="rect">
            <a:avLst/>
          </a:prstGeom>
          <a:noFill/>
        </p:spPr>
        <p:txBody>
          <a:bodyPr wrap="square">
            <a:spAutoFit/>
          </a:bodyPr>
          <a:lstStyle/>
          <a:p>
            <a:pPr lvl="1"/>
            <a:r>
              <a:rPr lang="en-US" sz="2000" dirty="0"/>
              <a:t>640x more test code than application code </a:t>
            </a:r>
            <a:endParaRPr lang="en-US" sz="2000" dirty="0"/>
          </a:p>
          <a:p>
            <a:pPr marL="1257300" lvl="2" indent="-342900">
              <a:buFont typeface="Arial" panose="020B0604020202090204" pitchFamily="34" charset="0"/>
              <a:buChar char="•"/>
            </a:pPr>
            <a:r>
              <a:rPr lang="en-US" sz="2000" dirty="0"/>
              <a:t>Four independently developed test harnesses</a:t>
            </a:r>
            <a:endParaRPr lang="en-US" sz="2000" dirty="0"/>
          </a:p>
          <a:p>
            <a:pPr marL="1257300" lvl="2" indent="-342900">
              <a:buFont typeface="Arial" panose="020B0604020202090204" pitchFamily="34" charset="0"/>
              <a:buChar char="•"/>
            </a:pPr>
            <a:r>
              <a:rPr lang="en-US" sz="2000" dirty="0"/>
              <a:t>100% branch test coverage in an as-deployed configuration</a:t>
            </a:r>
            <a:endParaRPr lang="en-US" sz="2000" dirty="0"/>
          </a:p>
          <a:p>
            <a:pPr marL="1257300" lvl="2" indent="-342900">
              <a:buFont typeface="Arial" panose="020B0604020202090204" pitchFamily="34" charset="0"/>
              <a:buChar char="•"/>
            </a:pPr>
            <a:r>
              <a:rPr lang="en-US" sz="2000" dirty="0"/>
              <a:t>Millions and millions of test cases</a:t>
            </a:r>
            <a:endParaRPr lang="en-US" sz="2000" dirty="0"/>
          </a:p>
          <a:p>
            <a:pPr marL="1257300" lvl="2" indent="-342900">
              <a:buFont typeface="Arial" panose="020B0604020202090204" pitchFamily="34" charset="0"/>
              <a:buChar char="•"/>
            </a:pPr>
            <a:r>
              <a:rPr lang="en-US" sz="2000" dirty="0"/>
              <a:t>Out-of-memory tests</a:t>
            </a:r>
            <a:endParaRPr lang="en-US" sz="2000" dirty="0"/>
          </a:p>
          <a:p>
            <a:pPr marL="1257300" lvl="2" indent="-342900">
              <a:buFont typeface="Arial" panose="020B0604020202090204" pitchFamily="34" charset="0"/>
              <a:buChar char="•"/>
            </a:pPr>
            <a:r>
              <a:rPr lang="en-US" sz="2000" dirty="0"/>
              <a:t>I/O error tests</a:t>
            </a:r>
            <a:endParaRPr lang="en-US" sz="2000" dirty="0"/>
          </a:p>
          <a:p>
            <a:pPr marL="1257300" lvl="2" indent="-342900">
              <a:buFont typeface="Arial" panose="020B0604020202090204" pitchFamily="34" charset="0"/>
              <a:buChar char="•"/>
            </a:pPr>
            <a:r>
              <a:rPr lang="en-US" sz="2000" dirty="0"/>
              <a:t>Crash and power loss tests</a:t>
            </a:r>
            <a:endParaRPr lang="en-US" sz="2000" dirty="0"/>
          </a:p>
          <a:p>
            <a:pPr marL="1257300" lvl="2" indent="-342900">
              <a:buFont typeface="Arial" panose="020B0604020202090204" pitchFamily="34" charset="0"/>
              <a:buChar char="•"/>
            </a:pPr>
            <a:r>
              <a:rPr lang="en-US" sz="2000" dirty="0"/>
              <a:t>Fuzz tests</a:t>
            </a:r>
            <a:endParaRPr lang="en-US" sz="2000" dirty="0"/>
          </a:p>
          <a:p>
            <a:pPr marL="1257300" lvl="2" indent="-342900">
              <a:buFont typeface="Arial" panose="020B0604020202090204" pitchFamily="34" charset="0"/>
              <a:buChar char="•"/>
            </a:pPr>
            <a:r>
              <a:rPr lang="en-US" sz="2000" dirty="0"/>
              <a:t>Boundary value tests</a:t>
            </a:r>
            <a:endParaRPr lang="en-US" sz="2000" dirty="0"/>
          </a:p>
          <a:p>
            <a:pPr marL="1257300" lvl="2" indent="-342900">
              <a:buFont typeface="Arial" panose="020B0604020202090204" pitchFamily="34" charset="0"/>
              <a:buChar char="•"/>
            </a:pPr>
            <a:r>
              <a:rPr lang="en-US" sz="2000" dirty="0"/>
              <a:t>Disabled optimization tests</a:t>
            </a:r>
            <a:endParaRPr lang="en-US" sz="2000" dirty="0"/>
          </a:p>
          <a:p>
            <a:pPr marL="1257300" lvl="2" indent="-342900">
              <a:buFont typeface="Arial" panose="020B0604020202090204" pitchFamily="34" charset="0"/>
              <a:buChar char="•"/>
            </a:pPr>
            <a:r>
              <a:rPr lang="en-US" sz="2000" dirty="0"/>
              <a:t>Regression tests</a:t>
            </a:r>
            <a:endParaRPr lang="en-US" sz="2000" dirty="0"/>
          </a:p>
          <a:p>
            <a:pPr marL="1257300" lvl="2" indent="-342900">
              <a:buFont typeface="Arial" panose="020B0604020202090204" pitchFamily="34" charset="0"/>
              <a:buChar char="•"/>
            </a:pPr>
            <a:r>
              <a:rPr lang="en-US" sz="2000" dirty="0"/>
              <a:t>Malformed database tests</a:t>
            </a:r>
            <a:endParaRPr lang="en-US" sz="2000" dirty="0"/>
          </a:p>
          <a:p>
            <a:pPr marL="1257300" lvl="2" indent="-342900">
              <a:buFont typeface="Arial" panose="020B0604020202090204" pitchFamily="34" charset="0"/>
              <a:buChar char="•"/>
            </a:pPr>
            <a:r>
              <a:rPr lang="en-US" sz="2000" dirty="0"/>
              <a:t>Extensive use of assert() and run-time checks</a:t>
            </a:r>
            <a:endParaRPr lang="en-US" sz="2000" dirty="0"/>
          </a:p>
          <a:p>
            <a:pPr marL="1257300" lvl="2" indent="-342900">
              <a:buFont typeface="Arial" panose="020B0604020202090204" pitchFamily="34" charset="0"/>
              <a:buChar char="•"/>
            </a:pPr>
            <a:r>
              <a:rPr lang="en-US" sz="2000" dirty="0" err="1"/>
              <a:t>Valgrind</a:t>
            </a:r>
            <a:r>
              <a:rPr lang="en-US" sz="2000" dirty="0"/>
              <a:t> analysis</a:t>
            </a:r>
            <a:endParaRPr lang="en-US" sz="2000" dirty="0"/>
          </a:p>
          <a:p>
            <a:pPr marL="1257300" lvl="2" indent="-342900">
              <a:buFont typeface="Arial" panose="020B0604020202090204" pitchFamily="34" charset="0"/>
              <a:buChar char="•"/>
            </a:pPr>
            <a:r>
              <a:rPr lang="en-US" sz="2000" dirty="0"/>
              <a:t>Undefined behavior checks</a:t>
            </a:r>
            <a:endParaRPr lang="en-US" sz="2000" dirty="0"/>
          </a:p>
          <a:p>
            <a:pPr marL="1257300" lvl="2" indent="-342900">
              <a:buFont typeface="Arial" panose="020B0604020202090204" pitchFamily="34" charset="0"/>
              <a:buChar char="•"/>
            </a:pPr>
            <a:r>
              <a:rPr lang="en-US" sz="2000" dirty="0"/>
              <a:t>Checklists</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Fixing Bugs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440120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Isolate the bug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Intermittent --&gt; repeatable</a:t>
            </a:r>
            <a:endParaRPr lang="en-US" altLang="zh-CN" sz="2000" dirty="0"/>
          </a:p>
          <a:p>
            <a:pPr marL="800100" lvl="1" indent="-342900">
              <a:buFont typeface="Arial" panose="020B0604020202090204" pitchFamily="34" charset="0"/>
              <a:buChar char="•"/>
            </a:pPr>
            <a:r>
              <a:rPr lang="en-US" altLang="zh-CN" sz="2000" dirty="0"/>
              <a:t>Complex example --&gt; simple example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Understand the bug and its context</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Root cause </a:t>
            </a:r>
            <a:endParaRPr lang="en-US" altLang="zh-CN" sz="2000" dirty="0"/>
          </a:p>
          <a:p>
            <a:pPr marL="800100" lvl="1" indent="-342900">
              <a:buFont typeface="Arial" panose="020B0604020202090204" pitchFamily="34" charset="0"/>
              <a:buChar char="•"/>
            </a:pPr>
            <a:r>
              <a:rPr lang="en-US" altLang="zh-CN" sz="2000" dirty="0"/>
              <a:t>Dependencies </a:t>
            </a:r>
            <a:endParaRPr lang="en-US" altLang="zh-CN" sz="2000" dirty="0"/>
          </a:p>
          <a:p>
            <a:pPr marL="800100" lvl="1" indent="-342900">
              <a:buFont typeface="Arial" panose="020B0604020202090204" pitchFamily="34" charset="0"/>
              <a:buChar char="•"/>
            </a:pPr>
            <a:r>
              <a:rPr lang="en-US" altLang="zh-CN" sz="2000" dirty="0"/>
              <a:t>Structural interactions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Fix the bug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Design changes</a:t>
            </a:r>
            <a:endParaRPr lang="en-US" altLang="zh-CN" sz="2000" dirty="0"/>
          </a:p>
          <a:p>
            <a:pPr marL="800100" lvl="1" indent="-342900">
              <a:buFont typeface="Arial" panose="020B0604020202090204" pitchFamily="34" charset="0"/>
              <a:buChar char="•"/>
            </a:pPr>
            <a:r>
              <a:rPr lang="en-US" altLang="zh-CN" sz="2000" dirty="0"/>
              <a:t>Documentation changes</a:t>
            </a:r>
            <a:endParaRPr lang="en-US" altLang="zh-CN" sz="2000" dirty="0"/>
          </a:p>
          <a:p>
            <a:pPr marL="800100" lvl="1" indent="-342900">
              <a:buFont typeface="Arial" panose="020B0604020202090204" pitchFamily="34" charset="0"/>
              <a:buChar char="•"/>
            </a:pPr>
            <a:r>
              <a:rPr lang="en-US" altLang="zh-CN" sz="2000" dirty="0"/>
              <a:t>Code changes</a:t>
            </a:r>
            <a:endParaRPr lang="en-US" altLang="zh-CN" sz="2000" dirty="0"/>
          </a:p>
          <a:p>
            <a:pPr marL="800100" lvl="1" indent="-342900">
              <a:buFont typeface="Arial" panose="020B0604020202090204" pitchFamily="34" charset="0"/>
              <a:buChar char="•"/>
            </a:pPr>
            <a:r>
              <a:rPr lang="en-US" altLang="zh-CN" sz="2000" dirty="0"/>
              <a:t>Create new test case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Moving the Bugs Around</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Fixing bugs is an error-prone process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When you fix a bug, fix its environment.</a:t>
            </a:r>
            <a:endParaRPr lang="en-US" altLang="zh-CN" sz="2000" dirty="0"/>
          </a:p>
          <a:p>
            <a:pPr marL="800100" lvl="1" indent="-342900">
              <a:buFont typeface="Arial" panose="020B0604020202090204" pitchFamily="34" charset="0"/>
              <a:buChar char="•"/>
            </a:pPr>
            <a:r>
              <a:rPr lang="en-US" altLang="zh-CN" sz="2000" dirty="0"/>
              <a:t>Bug fixes need static and dynamic testing.</a:t>
            </a:r>
            <a:endParaRPr lang="en-US" altLang="zh-CN" sz="2000" dirty="0"/>
          </a:p>
          <a:p>
            <a:pPr marL="800100" lvl="1" indent="-342900">
              <a:buFont typeface="Arial" panose="020B0604020202090204" pitchFamily="34" charset="0"/>
              <a:buChar char="•"/>
            </a:pPr>
            <a:r>
              <a:rPr lang="en-US" altLang="zh-CN" sz="2000" dirty="0"/>
              <a:t>Repeat all tests that have the slightest relevance (regression testing).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Bugs have a habit of returning </a:t>
            </a:r>
            <a:endParaRPr lang="en-US" altLang="zh-CN" sz="2000" b="1" dirty="0">
              <a:solidFill>
                <a:srgbClr val="515223"/>
              </a:solidFill>
              <a:latin typeface="Helvetica" pitchFamily="2" charset="0"/>
              <a:cs typeface="Arial" panose="020B0604020202090204" pitchFamily="34" charset="0"/>
            </a:endParaRPr>
          </a:p>
          <a:p>
            <a:r>
              <a:rPr lang="en-US" altLang="zh-CN" sz="2000" dirty="0"/>
              <a:t>When a bug is fixed, add the failure case to the test suite for future regression testing.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Persistence </a:t>
            </a:r>
            <a:endParaRPr lang="en-US" altLang="zh-CN" sz="2000" b="1" dirty="0">
              <a:solidFill>
                <a:srgbClr val="515223"/>
              </a:solidFill>
              <a:latin typeface="Helvetica" pitchFamily="2" charset="0"/>
              <a:cs typeface="Arial" panose="020B0604020202090204" pitchFamily="34" charset="0"/>
            </a:endParaRPr>
          </a:p>
          <a:p>
            <a:r>
              <a:rPr lang="en-US" altLang="zh-CN" sz="2000" dirty="0"/>
              <a:t>Most people work around a problem. The best people track down the root cause and fix it for ever</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Difficult Bugs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3477875"/>
          </a:xfrm>
          <a:prstGeom prst="rect">
            <a:avLst/>
          </a:prstGeom>
          <a:noFill/>
        </p:spPr>
        <p:txBody>
          <a:bodyPr wrap="square">
            <a:spAutoFit/>
          </a:bodyPr>
          <a:lstStyle/>
          <a:p>
            <a:r>
              <a:rPr lang="en-US" altLang="zh-CN" sz="2000" dirty="0"/>
              <a:t>Some bugs may be extremely difficult to track down and isolate. This is particularly true of intermittent failures.</a:t>
            </a:r>
            <a:endParaRPr lang="en-US" altLang="zh-CN" sz="2000" dirty="0"/>
          </a:p>
          <a:p>
            <a:pPr marL="800100" lvl="1" indent="-342900">
              <a:buFont typeface="Arial" panose="020B0604020202090204" pitchFamily="34" charset="0"/>
              <a:buChar char="•"/>
            </a:pPr>
            <a:r>
              <a:rPr lang="en-US" altLang="zh-CN" sz="2000" dirty="0"/>
              <a:t>A large central computer stops a few times every month with no dump or other diagnostic. </a:t>
            </a:r>
            <a:endParaRPr lang="en-US" altLang="zh-CN" sz="2000" dirty="0"/>
          </a:p>
          <a:p>
            <a:pPr marL="800100" lvl="1" indent="-342900">
              <a:buFont typeface="Arial" panose="020B0604020202090204" pitchFamily="34" charset="0"/>
              <a:buChar char="•"/>
            </a:pPr>
            <a:r>
              <a:rPr lang="en-US" altLang="zh-CN" sz="2000" dirty="0"/>
              <a:t>A database load dies after running for several days with no diagnostics. </a:t>
            </a:r>
            <a:endParaRPr lang="en-US" altLang="zh-CN" sz="2000" dirty="0"/>
          </a:p>
          <a:p>
            <a:pPr marL="800100" lvl="1" indent="-342900">
              <a:buFont typeface="Arial" panose="020B0604020202090204" pitchFamily="34" charset="0"/>
              <a:buChar char="•"/>
            </a:pPr>
            <a:r>
              <a:rPr lang="en-US" altLang="zh-CN" sz="2000" dirty="0"/>
              <a:t>An image processing system runs correctly, but uses huge amounts of memory. </a:t>
            </a:r>
            <a:endParaRPr lang="en-US" altLang="zh-CN" sz="2000" dirty="0"/>
          </a:p>
          <a:p>
            <a:endParaRPr lang="en-US" altLang="zh-CN" sz="2000" dirty="0"/>
          </a:p>
          <a:p>
            <a:r>
              <a:rPr lang="en-US" altLang="zh-CN" sz="2000" dirty="0">
                <a:solidFill>
                  <a:srgbClr val="FF0000"/>
                </a:solidFill>
              </a:rPr>
              <a:t>Such problems may require months of effort to track down. </a:t>
            </a:r>
            <a:endParaRPr lang="en-US" altLang="zh-CN" sz="2000" dirty="0">
              <a:solidFill>
                <a:srgbClr val="FF0000"/>
              </a:solidFill>
            </a:endParaRPr>
          </a:p>
          <a:p>
            <a:endParaRPr lang="en-US" altLang="zh-CN" sz="2000" dirty="0"/>
          </a:p>
          <a:p>
            <a:r>
              <a:rPr lang="en-US" altLang="zh-CN" sz="2000" dirty="0"/>
              <a:t>For a fictional example, see</a:t>
            </a:r>
            <a:r>
              <a:rPr lang="en-US" altLang="zh-CN" sz="2000" i="1" dirty="0"/>
              <a:t>: Ellen Ullman, The Bug: a Novel, (Doubleday 2003). </a:t>
            </a:r>
            <a:endParaRPr lang="en-US" altLang="zh-CN" sz="2000" b="1" i="1" dirty="0">
              <a:solidFill>
                <a:srgbClr val="FF0000"/>
              </a:solidFill>
              <a:latin typeface="Helvetica" pitchFamily="2" charset="0"/>
              <a:cs typeface="Arial" panose="020B060402020209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Tracking Down a Difficult Bugs: The Heisenbug </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511464" y="1072586"/>
            <a:ext cx="10854510" cy="707886"/>
          </a:xfrm>
          <a:prstGeom prst="rect">
            <a:avLst/>
          </a:prstGeom>
          <a:noFill/>
        </p:spPr>
        <p:txBody>
          <a:bodyPr wrap="none" rtlCol="0">
            <a:spAutoFit/>
          </a:bodyPr>
          <a:lstStyle/>
          <a:p>
            <a:r>
              <a:rPr lang="en-US" sz="2000" b="1" dirty="0">
                <a:solidFill>
                  <a:srgbClr val="515223"/>
                </a:solidFill>
                <a:latin typeface="Helvetica" pitchFamily="2" charset="0"/>
                <a:cs typeface="Arial" panose="020B0604020202090204" pitchFamily="34" charset="0"/>
              </a:rPr>
              <a:t>A heisenbug (named after the Heisenberg Uncertainty Principle) is a computer bug that </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disappears or alters its characteristics when an attempt is made to study it.</a:t>
            </a:r>
            <a:endParaRPr lang="en-US" sz="2000" b="1" dirty="0">
              <a:solidFill>
                <a:srgbClr val="515223"/>
              </a:solidFill>
              <a:latin typeface="Helvetica" pitchFamily="2" charset="0"/>
              <a:cs typeface="Arial" panose="020B0604020202090204" pitchFamily="34" charset="0"/>
            </a:endParaRPr>
          </a:p>
        </p:txBody>
      </p:sp>
      <p:sp>
        <p:nvSpPr>
          <p:cNvPr id="7" name="TextBox 6"/>
          <p:cNvSpPr txBox="1"/>
          <p:nvPr/>
        </p:nvSpPr>
        <p:spPr>
          <a:xfrm>
            <a:off x="670791" y="2170559"/>
            <a:ext cx="9635836" cy="3170099"/>
          </a:xfrm>
          <a:prstGeom prst="rect">
            <a:avLst/>
          </a:prstGeom>
          <a:noFill/>
        </p:spPr>
        <p:txBody>
          <a:bodyPr wrap="square">
            <a:spAutoFit/>
          </a:bodyPr>
          <a:lstStyle/>
          <a:p>
            <a:r>
              <a:rPr lang="en-US" sz="2000" dirty="0">
                <a:solidFill>
                  <a:srgbClr val="C00000"/>
                </a:solidFill>
              </a:rPr>
              <a:t>Timing</a:t>
            </a:r>
            <a:r>
              <a:rPr lang="en-US" sz="2000" dirty="0"/>
              <a:t> While debugging, you run instructions line by line, the delay between operations might be orders of magnitude larger than in production (e.g., the interaction of different thread)</a:t>
            </a:r>
            <a:endParaRPr lang="en-US" sz="2000" dirty="0"/>
          </a:p>
          <a:p>
            <a:endParaRPr lang="en-US" sz="2000" dirty="0"/>
          </a:p>
          <a:p>
            <a:r>
              <a:rPr lang="en-US" sz="2000" dirty="0">
                <a:solidFill>
                  <a:srgbClr val="C00000"/>
                </a:solidFill>
              </a:rPr>
              <a:t>Memory</a:t>
            </a:r>
            <a:r>
              <a:rPr lang="en-US" sz="2000" dirty="0"/>
              <a:t> During debug the addresses of variables might change (e.g., affect the precision used for floating point comparisons in some languages)</a:t>
            </a:r>
            <a:endParaRPr lang="en-US" sz="2000" dirty="0"/>
          </a:p>
          <a:p>
            <a:endParaRPr lang="en-US" sz="2000" dirty="0"/>
          </a:p>
          <a:p>
            <a:r>
              <a:rPr lang="en-US" sz="2000" dirty="0">
                <a:solidFill>
                  <a:srgbClr val="C00000"/>
                </a:solidFill>
              </a:rPr>
              <a:t>Assertions</a:t>
            </a:r>
            <a:r>
              <a:rPr lang="en-US" sz="2000" dirty="0"/>
              <a:t> When your code is compiled with optimization options activated, assertions are usually disabled, while when compiling in dev mode locally they might likely be active. (Evaluating assertions might have side effects, e.g., timing)</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Tracking Down a Difficult Bugs: The Heisenbug </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6"/>
          <p:cNvSpPr txBox="1"/>
          <p:nvPr/>
        </p:nvSpPr>
        <p:spPr>
          <a:xfrm>
            <a:off x="1004455" y="1257816"/>
            <a:ext cx="9635836" cy="4401205"/>
          </a:xfrm>
          <a:prstGeom prst="rect">
            <a:avLst/>
          </a:prstGeom>
          <a:noFill/>
        </p:spPr>
        <p:txBody>
          <a:bodyPr wrap="square">
            <a:spAutoFit/>
          </a:bodyPr>
          <a:lstStyle/>
          <a:p>
            <a:r>
              <a:rPr lang="en-US" sz="2000" dirty="0">
                <a:solidFill>
                  <a:srgbClr val="C00000"/>
                </a:solidFill>
              </a:rPr>
              <a:t>Side-effects of debugging</a:t>
            </a:r>
            <a:r>
              <a:rPr lang="en-US" sz="2000" dirty="0"/>
              <a:t> Adding logging or prints change the likelihood of the "wrong" interleaving between threads; the expressions checked in the debug's watches can have the same result, or even worse (if you are not careful) have side effects.</a:t>
            </a:r>
            <a:endParaRPr lang="en-US" sz="2000" dirty="0"/>
          </a:p>
          <a:p>
            <a:endParaRPr lang="en-US" sz="2000" dirty="0"/>
          </a:p>
          <a:p>
            <a:r>
              <a:rPr lang="en-US" sz="2000" dirty="0">
                <a:solidFill>
                  <a:srgbClr val="C00000"/>
                </a:solidFill>
              </a:rPr>
              <a:t>Latency</a:t>
            </a:r>
            <a:r>
              <a:rPr lang="zh-CN" altLang="en-US" sz="2000" dirty="0">
                <a:solidFill>
                  <a:srgbClr val="C00000"/>
                </a:solidFill>
              </a:rPr>
              <a:t> </a:t>
            </a:r>
            <a:r>
              <a:rPr lang="en-US" altLang="zh-CN" sz="2000" dirty="0"/>
              <a:t>I</a:t>
            </a:r>
            <a:r>
              <a:rPr lang="en-US" sz="2000" dirty="0"/>
              <a:t>f you are running debug locally, or with mocked services, the latency of sync calls will be orders of magnitude smaller.</a:t>
            </a:r>
            <a:endParaRPr lang="en-US" sz="2000" dirty="0"/>
          </a:p>
          <a:p>
            <a:endParaRPr lang="en-US" sz="2000" dirty="0"/>
          </a:p>
          <a:p>
            <a:r>
              <a:rPr lang="en-US" sz="2000" dirty="0">
                <a:solidFill>
                  <a:srgbClr val="C00000"/>
                </a:solidFill>
              </a:rPr>
              <a:t>Race conditions </a:t>
            </a:r>
            <a:r>
              <a:rPr lang="en-US" sz="2000" dirty="0"/>
              <a:t>Execution depends on operating systems, and on the resources available at runtime. Many of these bugs only happen when certain edge conditions are faced.</a:t>
            </a:r>
            <a:endParaRPr lang="en-US" sz="2000" dirty="0"/>
          </a:p>
          <a:p>
            <a:endParaRPr lang="en-US" sz="2000" dirty="0">
              <a:solidFill>
                <a:srgbClr val="C00000"/>
              </a:solidFill>
            </a:endParaRPr>
          </a:p>
          <a:p>
            <a:r>
              <a:rPr lang="en-US" sz="2000" dirty="0">
                <a:solidFill>
                  <a:srgbClr val="C00000"/>
                </a:solidFill>
              </a:rPr>
              <a:t>Randomization </a:t>
            </a:r>
            <a:r>
              <a:rPr lang="en-US" sz="2000" dirty="0"/>
              <a:t>Using randomization in your code might cause inconsistencies across different runs, including the happening of bug</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de-DE" altLang="zh-CN" dirty="0"/>
              <a:t>Bugs in System Software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2360465"/>
            <a:ext cx="9618104" cy="193899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Even system software from good manufacturers may contain bugs: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Built-in function in Fortran run-time environment (e0 = 0)</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The string-to-number function that was very slow with integers</a:t>
            </a:r>
            <a:br>
              <a:rPr lang="en-US" altLang="zh-CN" sz="2000" dirty="0"/>
            </a:br>
            <a:endParaRPr lang="en-US" altLang="zh-CN" sz="2000" dirty="0"/>
          </a:p>
          <a:p>
            <a:pPr marL="800100" lvl="1" indent="-342900">
              <a:buFont typeface="Arial" panose="020B0604020202090204" pitchFamily="34" charset="0"/>
              <a:buChar char="•"/>
            </a:pPr>
            <a:r>
              <a:rPr lang="en-US" altLang="zh-CN" sz="2000" dirty="0"/>
              <a:t>The preload system with the memory leak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fr-FR" altLang="zh-CN" dirty="0"/>
              <a:t>A Note on Testing User Interfaces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User interfaces need several categories of testing.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During the </a:t>
            </a:r>
            <a:r>
              <a:rPr lang="en-US" altLang="zh-CN" sz="2000" dirty="0">
                <a:solidFill>
                  <a:srgbClr val="FF0000"/>
                </a:solidFill>
              </a:rPr>
              <a:t>design phase</a:t>
            </a:r>
            <a:r>
              <a:rPr lang="en-US" altLang="zh-CN" sz="2000" dirty="0"/>
              <a:t>, user testing is carried out with trial users to ensure that the design is usable. Design testing is also used to develop graphical elements and to validate the requirements.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During the </a:t>
            </a:r>
            <a:r>
              <a:rPr lang="en-US" altLang="zh-CN" sz="2000" dirty="0">
                <a:solidFill>
                  <a:srgbClr val="FF0000"/>
                </a:solidFill>
              </a:rPr>
              <a:t>implementation phase</a:t>
            </a:r>
            <a:r>
              <a:rPr lang="en-US" altLang="zh-CN" sz="2000" dirty="0"/>
              <a:t>, the user interface goes through the standard steps of unit and system testing to check the reliability of the implementation. </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Finally, </a:t>
            </a:r>
            <a:r>
              <a:rPr lang="en-US" altLang="zh-CN" sz="2000" dirty="0">
                <a:solidFill>
                  <a:srgbClr val="FF0000"/>
                </a:solidFill>
              </a:rPr>
              <a:t>acceptance testing </a:t>
            </a:r>
            <a:r>
              <a:rPr lang="en-US" altLang="zh-CN" sz="2000" dirty="0"/>
              <a:t>is carried out with users, on the complete system.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en-US" altLang="zh-CN" sz="3700" b="1" dirty="0">
                <a:solidFill>
                  <a:schemeClr val="accent1"/>
                </a:solidFill>
                <a:latin typeface="Helvetica" pitchFamily="2" charset="0"/>
                <a:cs typeface="+mn-ea"/>
              </a:rPr>
              <a:t>Acceptance Testing</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045"/>
            <a:chOff x="5865211" y="1319889"/>
            <a:chExt cx="2553904" cy="2646045"/>
          </a:xfrm>
        </p:grpSpPr>
        <p:sp>
          <p:nvSpPr>
            <p:cNvPr id="2" name="文本框 1"/>
            <p:cNvSpPr txBox="1"/>
            <p:nvPr/>
          </p:nvSpPr>
          <p:spPr>
            <a:xfrm>
              <a:off x="5865211" y="1319889"/>
              <a:ext cx="2527300" cy="2646045"/>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02</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037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TWO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Acceptance Testing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746411"/>
            <a:ext cx="11163995"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Acceptance testing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The complete system, including documentation, training materials, installation scripts, etc. is tested against the requirements by the client, assisted by the developers. </a:t>
            </a:r>
            <a:endParaRPr lang="en-US" altLang="zh-CN" sz="2000" dirty="0"/>
          </a:p>
          <a:p>
            <a:pPr lvl="1"/>
            <a:r>
              <a:rPr lang="en-US" altLang="zh-CN" sz="2000" dirty="0"/>
              <a:t>Each requirement is tested separately. </a:t>
            </a:r>
            <a:endParaRPr lang="en-US" altLang="zh-CN" sz="2000" dirty="0"/>
          </a:p>
          <a:p>
            <a:pPr lvl="1"/>
            <a:r>
              <a:rPr lang="en-US" altLang="zh-CN" sz="2000" dirty="0"/>
              <a:t>Scenarios are used to compare the expected outcomes with what the system does. </a:t>
            </a:r>
            <a:endParaRPr lang="en-US" altLang="zh-CN" sz="2000" dirty="0"/>
          </a:p>
          <a:p>
            <a:pPr lvl="1"/>
            <a:r>
              <a:rPr lang="en-US" altLang="zh-CN" sz="2000" dirty="0"/>
              <a:t>Emphasis is placed on how the system handles problems, errors, restarts, and other difficulties. </a:t>
            </a:r>
            <a:endParaRPr lang="en-US" altLang="zh-CN" sz="2000" dirty="0"/>
          </a:p>
          <a:p>
            <a:endParaRPr lang="en-US" altLang="zh-CN" sz="2000" dirty="0"/>
          </a:p>
          <a:p>
            <a:r>
              <a:rPr lang="en-US" altLang="zh-CN" sz="2000" dirty="0">
                <a:solidFill>
                  <a:srgbClr val="FF0000"/>
                </a:solidFill>
              </a:rPr>
              <a:t>Is the system we have built, the system that you wanted? Does it meet your requirements?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Acceptance Testing in the Modified Waterfall Model</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458201" y="1122039"/>
            <a:ext cx="9275597" cy="500380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2800" dirty="0"/>
              <a:t>Acceptance Testing with Iterative Development</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937068"/>
            <a:ext cx="11163995"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Iterative development </a:t>
            </a:r>
            <a:endParaRPr lang="en-US" altLang="zh-CN" sz="2000" b="1" dirty="0">
              <a:solidFill>
                <a:srgbClr val="515223"/>
              </a:solidFill>
              <a:latin typeface="Helvetica" pitchFamily="2" charset="0"/>
              <a:cs typeface="Arial" panose="020B0604020202090204" pitchFamily="34" charset="0"/>
            </a:endParaRPr>
          </a:p>
          <a:p>
            <a:r>
              <a:rPr lang="en-US" altLang="zh-CN" sz="2000" dirty="0"/>
              <a:t>If the client is properly involved in the development cycle:</a:t>
            </a:r>
            <a:endParaRPr lang="en-US" altLang="zh-CN" sz="2000" dirty="0"/>
          </a:p>
          <a:p>
            <a:pPr lvl="1"/>
            <a:r>
              <a:rPr lang="en-US" altLang="zh-CN" sz="2000" dirty="0"/>
              <a:t>The client will have tested many parts of the system, e.g., </a:t>
            </a:r>
            <a:endParaRPr lang="en-US" altLang="zh-CN" sz="2000" dirty="0"/>
          </a:p>
          <a:p>
            <a:pPr lvl="2"/>
            <a:r>
              <a:rPr lang="en-US" altLang="zh-CN" sz="2000" dirty="0"/>
              <a:t>At the end of each iteration </a:t>
            </a:r>
            <a:endParaRPr lang="en-US" altLang="zh-CN" sz="2000" dirty="0"/>
          </a:p>
          <a:p>
            <a:pPr lvl="2"/>
            <a:r>
              <a:rPr lang="en-US" altLang="zh-CN" sz="2000" dirty="0"/>
              <a:t>During user testing</a:t>
            </a:r>
            <a:endParaRPr lang="en-US" altLang="zh-CN" sz="2000" dirty="0"/>
          </a:p>
          <a:p>
            <a:pPr lvl="1"/>
            <a:r>
              <a:rPr lang="en-US" altLang="zh-CN" sz="2000" dirty="0"/>
              <a:t>Problems and suggestions for improvement will have been incorporated into the system.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BUT: There must still be an acceptance test of the final system before it is released.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t>Acceptance Testing with Agile Development</a:t>
            </a:r>
            <a:endParaRPr lang="en-US" sz="5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62948" y="2339278"/>
            <a:ext cx="11163995"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Incremental development </a:t>
            </a:r>
            <a:endParaRPr lang="en-US" altLang="zh-CN" sz="2000" b="1" dirty="0">
              <a:solidFill>
                <a:srgbClr val="515223"/>
              </a:solidFill>
              <a:latin typeface="Helvetica" pitchFamily="2" charset="0"/>
              <a:cs typeface="Arial" panose="020B0604020202090204" pitchFamily="34" charset="0"/>
            </a:endParaRPr>
          </a:p>
          <a:p>
            <a:r>
              <a:rPr lang="en-US" altLang="zh-CN" sz="2000" dirty="0"/>
              <a:t>Acceptance testing is particularly important with agile development, since each sprint should end with completed code that is ready for release. </a:t>
            </a:r>
            <a:endParaRPr lang="en-US" altLang="zh-CN" sz="2000" dirty="0"/>
          </a:p>
          <a:p>
            <a:pPr lvl="1"/>
            <a:r>
              <a:rPr lang="en-US" altLang="zh-CN" sz="2000" dirty="0"/>
              <a:t>	Each sprint should be a complete development process, ending with acceptance testing 	by the client and release. </a:t>
            </a:r>
            <a:endParaRPr lang="en-US" altLang="zh-CN" sz="2000" dirty="0"/>
          </a:p>
          <a:p>
            <a:pPr lvl="1"/>
            <a:r>
              <a:rPr lang="en-US" altLang="zh-CN" sz="2000" dirty="0"/>
              <a:t>	If several sprints build on each other, each sprint may need to repeat the acceptance 	tests for earlier sprints to check that they are still met. </a:t>
            </a:r>
            <a:endParaRPr lang="en-US" altLang="zh-CN"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Resources for Acceptance Testing</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5" y="2302596"/>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Acceptance Testing is a important part of a software project.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	It requires </a:t>
            </a:r>
            <a:r>
              <a:rPr lang="en-US" altLang="zh-CN" sz="2000" dirty="0">
                <a:solidFill>
                  <a:srgbClr val="FF0000"/>
                </a:solidFill>
              </a:rPr>
              <a:t>time</a:t>
            </a:r>
            <a:r>
              <a:rPr lang="en-US" altLang="zh-CN" sz="2000" dirty="0"/>
              <a:t> on the schedule.</a:t>
            </a:r>
            <a:endParaRPr lang="en-US" altLang="zh-CN" sz="2000" dirty="0"/>
          </a:p>
          <a:p>
            <a:pPr lvl="1"/>
            <a:r>
              <a:rPr lang="en-US" altLang="zh-CN" sz="2000" dirty="0"/>
              <a:t>	It may require substantial </a:t>
            </a:r>
            <a:r>
              <a:rPr lang="en-US" altLang="zh-CN" sz="2000" dirty="0">
                <a:solidFill>
                  <a:srgbClr val="FF0000"/>
                </a:solidFill>
              </a:rPr>
              <a:t>investment</a:t>
            </a:r>
            <a:r>
              <a:rPr lang="en-US" altLang="zh-CN" sz="2000" dirty="0"/>
              <a:t> in test data, equipment, and test software.</a:t>
            </a:r>
            <a:endParaRPr lang="en-US" altLang="zh-CN" sz="2000" dirty="0"/>
          </a:p>
          <a:p>
            <a:pPr lvl="1"/>
            <a:r>
              <a:rPr lang="en-US" altLang="zh-CN" sz="2000" dirty="0"/>
              <a:t>	Good testing requires good </a:t>
            </a:r>
            <a:r>
              <a:rPr lang="en-US" altLang="zh-CN" sz="2000" dirty="0">
                <a:solidFill>
                  <a:srgbClr val="FF0000"/>
                </a:solidFill>
              </a:rPr>
              <a:t>people</a:t>
            </a:r>
            <a:r>
              <a:rPr lang="en-US" altLang="zh-CN" sz="2000" dirty="0"/>
              <a:t>.</a:t>
            </a:r>
            <a:endParaRPr lang="en-US" altLang="zh-CN" sz="2000" dirty="0"/>
          </a:p>
          <a:p>
            <a:pPr lvl="1"/>
            <a:r>
              <a:rPr lang="en-US" altLang="zh-CN" sz="2000" dirty="0">
                <a:solidFill>
                  <a:srgbClr val="FF0000"/>
                </a:solidFill>
              </a:rPr>
              <a:t>	Help</a:t>
            </a:r>
            <a:r>
              <a:rPr lang="en-US" altLang="zh-CN" sz="2000" dirty="0"/>
              <a:t> </a:t>
            </a:r>
            <a:r>
              <a:rPr lang="en-US" altLang="zh-CN" sz="2000" dirty="0">
                <a:solidFill>
                  <a:srgbClr val="FF0000"/>
                </a:solidFill>
              </a:rPr>
              <a:t>systems</a:t>
            </a:r>
            <a:r>
              <a:rPr lang="en-US" altLang="zh-CN" sz="2000" dirty="0"/>
              <a:t> and </a:t>
            </a:r>
            <a:r>
              <a:rPr lang="en-US" altLang="zh-CN" sz="2000" dirty="0">
                <a:solidFill>
                  <a:srgbClr val="FF0000"/>
                </a:solidFill>
              </a:rPr>
              <a:t>training</a:t>
            </a:r>
            <a:r>
              <a:rPr lang="en-US" altLang="zh-CN" sz="2000" dirty="0"/>
              <a:t> </a:t>
            </a:r>
            <a:r>
              <a:rPr lang="en-US" altLang="zh-CN" sz="2000" dirty="0">
                <a:solidFill>
                  <a:srgbClr val="FF0000"/>
                </a:solidFill>
              </a:rPr>
              <a:t>materials</a:t>
            </a:r>
            <a:r>
              <a:rPr lang="en-US" altLang="zh-CN" sz="2000" dirty="0"/>
              <a:t> are important parts of acceptance testing.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Acceptance Tests</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582387"/>
            <a:ext cx="9550399" cy="4401205"/>
          </a:xfrm>
          <a:prstGeom prst="rect">
            <a:avLst/>
          </a:prstGeom>
          <a:noFill/>
        </p:spPr>
        <p:txBody>
          <a:bodyPr wrap="square">
            <a:spAutoFit/>
          </a:bodyPr>
          <a:lstStyle/>
          <a:p>
            <a:r>
              <a:rPr lang="en-US" altLang="zh-CN" sz="2000" dirty="0">
                <a:solidFill>
                  <a:srgbClr val="FF0000"/>
                </a:solidFill>
              </a:rPr>
              <a:t>Closed box by the client </a:t>
            </a:r>
            <a:r>
              <a:rPr lang="en-US" altLang="zh-CN" sz="2000" dirty="0"/>
              <a:t>without knowledge of the internals.</a:t>
            </a:r>
            <a:endParaRPr lang="en-US" altLang="zh-CN" sz="2000" dirty="0"/>
          </a:p>
          <a:p>
            <a:pPr marL="342900" indent="-342900">
              <a:buFont typeface="Arial" panose="020B0604020202090204" pitchFamily="34" charset="0"/>
              <a:buChar char="•"/>
            </a:pPr>
            <a:endParaRPr lang="en-US" altLang="zh-CN" sz="2000" dirty="0"/>
          </a:p>
          <a:p>
            <a:r>
              <a:rPr lang="en-US" altLang="zh-CN" sz="2000" dirty="0"/>
              <a:t>The entire system is tested as a whole.</a:t>
            </a:r>
            <a:endParaRPr lang="en-US" altLang="zh-CN" sz="2000" dirty="0"/>
          </a:p>
          <a:p>
            <a:pPr marL="342900" indent="-342900">
              <a:buFont typeface="Arial" panose="020B0604020202090204" pitchFamily="34" charset="0"/>
              <a:buChar char="•"/>
            </a:pPr>
            <a:endParaRPr lang="en-US" altLang="zh-CN" sz="2000" dirty="0"/>
          </a:p>
          <a:p>
            <a:r>
              <a:rPr lang="en-US" altLang="zh-CN" sz="2000" dirty="0"/>
              <a:t>The emphasis is on whether the system meets the requirements.</a:t>
            </a:r>
            <a:endParaRPr lang="en-US" altLang="zh-CN" sz="2000" dirty="0"/>
          </a:p>
          <a:p>
            <a:pPr marL="342900" indent="-342900">
              <a:buFont typeface="Arial" panose="020B0604020202090204" pitchFamily="34" charset="0"/>
              <a:buChar char="•"/>
            </a:pPr>
            <a:endParaRPr lang="en-US" altLang="zh-CN" sz="2000" dirty="0"/>
          </a:p>
          <a:p>
            <a:r>
              <a:rPr lang="en-US" altLang="zh-CN" sz="2000" dirty="0"/>
              <a:t>The tests should use real data in realistic situations, with actual users, administrators, and operators. </a:t>
            </a:r>
            <a:endParaRPr lang="en-US" altLang="zh-CN" sz="2000" dirty="0"/>
          </a:p>
          <a:p>
            <a:endParaRPr lang="en-US" altLang="zh-CN" sz="2000" dirty="0"/>
          </a:p>
          <a:p>
            <a:r>
              <a:rPr lang="en-US" altLang="zh-CN" sz="2000" dirty="0">
                <a:solidFill>
                  <a:srgbClr val="FF0000"/>
                </a:solidFill>
              </a:rPr>
              <a:t>The acceptance tests must be successfully completed before the new system can go live or replace a legacy system. </a:t>
            </a:r>
            <a:endParaRPr lang="en-US" altLang="zh-CN" sz="2000" dirty="0">
              <a:solidFill>
                <a:srgbClr val="FF0000"/>
              </a:solidFill>
            </a:endParaRPr>
          </a:p>
          <a:p>
            <a:endParaRPr lang="en-US" altLang="zh-CN" sz="2000" dirty="0"/>
          </a:p>
          <a:p>
            <a:r>
              <a:rPr lang="en-US" altLang="zh-CN" sz="2000" dirty="0">
                <a:solidFill>
                  <a:srgbClr val="FF0000"/>
                </a:solidFill>
              </a:rPr>
              <a:t>Completion of the acceptance tests may be a contractual requirement before the system is paid for.</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Techniques for Release</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990783" y="1141118"/>
            <a:ext cx="9550399" cy="5016758"/>
          </a:xfrm>
          <a:prstGeom prst="rect">
            <a:avLst/>
          </a:prstGeom>
          <a:noFill/>
        </p:spPr>
        <p:txBody>
          <a:bodyPr wrap="square">
            <a:spAutoFit/>
          </a:bodyPr>
          <a:lstStyle/>
          <a:p>
            <a:r>
              <a:rPr lang="en-US" altLang="zh-CN" sz="2000" dirty="0"/>
              <a:t>The transition from the previous version of a production system to a new release is challenging.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Parallel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Clients operate the new system alongside the old production system with same data and compare results.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Alpha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Clients operate the system in a realistic but non-production environment</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Beta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Clients operate the system in a carefully monitored production environment</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A/B Testing: </a:t>
            </a:r>
            <a:endParaRPr lang="en-US" altLang="zh-CN" sz="2000" b="1" dirty="0">
              <a:solidFill>
                <a:srgbClr val="515223"/>
              </a:solidFill>
              <a:latin typeface="Helvetica" pitchFamily="2" charset="0"/>
              <a:cs typeface="Arial" panose="020B0604020202090204" pitchFamily="34" charset="0"/>
            </a:endParaRPr>
          </a:p>
          <a:p>
            <a:r>
              <a:rPr lang="en-US" sz="2000" dirty="0"/>
              <a:t>Comparing two versions of a system against each other to determine which one performs better</a:t>
            </a:r>
            <a:endParaRPr lang="en-US" altLang="zh-CN"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Release: Parallel Testing</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Parallel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For data processing systems, such as financial systems, payroll, etc., the </a:t>
            </a:r>
            <a:r>
              <a:rPr lang="en-US" altLang="zh-CN" sz="2000" dirty="0">
                <a:solidFill>
                  <a:srgbClr val="FF0000"/>
                </a:solidFill>
              </a:rPr>
              <a:t>old</a:t>
            </a:r>
            <a:r>
              <a:rPr lang="en-US" altLang="zh-CN" sz="2000" dirty="0"/>
              <a:t> and the </a:t>
            </a:r>
            <a:r>
              <a:rPr lang="en-US" altLang="zh-CN" sz="2000" dirty="0">
                <a:solidFill>
                  <a:srgbClr val="FF0000"/>
                </a:solidFill>
              </a:rPr>
              <a:t>new</a:t>
            </a:r>
            <a:r>
              <a:rPr lang="en-US" altLang="zh-CN" sz="2000" dirty="0"/>
              <a:t> systems are run together for several productions cycles to check that the new system replicates the functionality of the old.</a:t>
            </a:r>
            <a:endParaRPr lang="en-US" altLang="zh-CN" sz="2000" dirty="0"/>
          </a:p>
          <a:p>
            <a:pPr marL="800100" lvl="1" indent="-342900">
              <a:buFont typeface="Arial" panose="020B0604020202090204" pitchFamily="34" charset="0"/>
              <a:buChar char="•"/>
            </a:pPr>
            <a:r>
              <a:rPr lang="en-US" altLang="zh-CN" sz="2000" dirty="0"/>
              <a:t>Requires two sets of everything (staff, equipment, etc.). </a:t>
            </a:r>
            <a:endParaRPr lang="en-US" altLang="zh-CN" sz="2000" dirty="0"/>
          </a:p>
          <a:p>
            <a:pPr marL="800100" lvl="1" indent="-342900">
              <a:buFont typeface="Arial" panose="020B0604020202090204" pitchFamily="34" charset="0"/>
              <a:buChar char="•"/>
            </a:pPr>
            <a:r>
              <a:rPr lang="en-US" altLang="zh-CN" sz="2000" dirty="0"/>
              <a:t>Requires software to control changeover (e.g., do not mail two sets of payments). </a:t>
            </a:r>
            <a:endParaRPr lang="en-US" altLang="zh-CN" sz="2000" dirty="0"/>
          </a:p>
          <a:p>
            <a:pPr marL="800100" lvl="1" indent="-342900">
              <a:buFont typeface="Arial" panose="020B0604020202090204" pitchFamily="34" charset="0"/>
              <a:buChar char="•"/>
            </a:pPr>
            <a:r>
              <a:rPr lang="en-US" altLang="zh-CN" sz="2000" dirty="0"/>
              <a:t>Requires automated scripts to compare results. </a:t>
            </a:r>
            <a:endParaRPr lang="en-US" altLang="zh-CN" sz="2000" dirty="0"/>
          </a:p>
          <a:p>
            <a:endParaRPr lang="en-US" altLang="zh-CN" sz="2000" dirty="0"/>
          </a:p>
          <a:p>
            <a:r>
              <a:rPr lang="en-US" altLang="zh-CN" sz="2000" dirty="0"/>
              <a:t>May take several months. Often, the new system will be brought into production in phases.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Release: Alpha and Beta Testing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48304" y="1612081"/>
            <a:ext cx="9550399" cy="4093428"/>
          </a:xfrm>
          <a:prstGeom prst="rect">
            <a:avLst/>
          </a:prstGeom>
          <a:noFill/>
        </p:spPr>
        <p:txBody>
          <a:bodyPr wrap="square">
            <a:spAutoFit/>
          </a:bodyPr>
          <a:lstStyle/>
          <a:p>
            <a:r>
              <a:rPr lang="en-US" altLang="zh-CN" sz="2000" dirty="0"/>
              <a:t>Alpha testing can be done with software that lacks some functionality. Beta testing requires fully functional system.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Alpha and Beta testing must be managed. </a:t>
            </a:r>
            <a:endParaRPr lang="en-US" altLang="zh-CN" sz="2000" b="1" dirty="0">
              <a:solidFill>
                <a:srgbClr val="515223"/>
              </a:solidFill>
              <a:latin typeface="Helvetica" pitchFamily="2" charset="0"/>
              <a:cs typeface="Arial" panose="020B0604020202090204" pitchFamily="34" charset="0"/>
            </a:endParaRPr>
          </a:p>
          <a:p>
            <a:r>
              <a:rPr lang="en-US" altLang="zh-CN" sz="2000" dirty="0"/>
              <a:t>If you simply make versions of the software available to clients:</a:t>
            </a:r>
            <a:endParaRPr lang="en-US" altLang="zh-CN" sz="2000" dirty="0"/>
          </a:p>
          <a:p>
            <a:pPr lvl="1"/>
            <a:r>
              <a:rPr lang="en-US" altLang="zh-CN" sz="2000" dirty="0"/>
              <a:t>	Many clients will never use it.</a:t>
            </a:r>
            <a:endParaRPr lang="en-US" altLang="zh-CN" sz="2000" dirty="0"/>
          </a:p>
          <a:p>
            <a:pPr lvl="1"/>
            <a:r>
              <a:rPr lang="en-US" altLang="zh-CN" sz="2000" dirty="0"/>
              <a:t>	Other clients will use a few features. </a:t>
            </a:r>
            <a:endParaRPr lang="en-US" altLang="zh-CN" sz="2000" dirty="0"/>
          </a:p>
          <a:p>
            <a:pPr lvl="1"/>
            <a:r>
              <a:rPr lang="en-US" altLang="zh-CN" sz="2000" dirty="0"/>
              <a:t>	Only a few clients will test it systematically. </a:t>
            </a:r>
            <a:endParaRPr lang="en-US" altLang="zh-CN" sz="2000" dirty="0"/>
          </a:p>
          <a:p>
            <a:pPr lvl="1"/>
            <a:r>
              <a:rPr lang="en-US" altLang="zh-CN" sz="2000" dirty="0"/>
              <a:t>	Only a few clients will report problems systematically.</a:t>
            </a:r>
            <a:endParaRPr lang="en-US" altLang="zh-CN" sz="2000" dirty="0"/>
          </a:p>
          <a:p>
            <a:pPr lvl="1"/>
            <a:endParaRPr lang="en-US" altLang="zh-CN" sz="2000" dirty="0"/>
          </a:p>
          <a:p>
            <a:r>
              <a:rPr lang="en-US" altLang="zh-CN" sz="2000" dirty="0"/>
              <a:t>What </a:t>
            </a:r>
            <a:r>
              <a:rPr lang="en-US" altLang="zh-CN" sz="2000" dirty="0">
                <a:solidFill>
                  <a:srgbClr val="FF0000"/>
                </a:solidFill>
              </a:rPr>
              <a:t>incentives</a:t>
            </a:r>
            <a:r>
              <a:rPr lang="en-US" altLang="zh-CN" sz="2000" dirty="0"/>
              <a:t> can you give clients to test your software for you? </a:t>
            </a:r>
            <a:endParaRPr lang="en-US" altLang="zh-CN" sz="2000" dirty="0"/>
          </a:p>
          <a:p>
            <a:pPr marL="800100" lvl="1" indent="-342900">
              <a:buFont typeface="Arial" panose="020B0604020202090204" pitchFamily="34" charset="0"/>
              <a:buChar char="•"/>
            </a:pPr>
            <a:r>
              <a:rPr lang="en-US" altLang="zh-CN" sz="2000" dirty="0"/>
              <a:t>Financial (e.g., discounts on products) </a:t>
            </a:r>
            <a:endParaRPr lang="en-US" altLang="zh-CN" sz="2000" dirty="0"/>
          </a:p>
          <a:p>
            <a:pPr marL="800100" lvl="1" indent="-342900">
              <a:buFont typeface="Arial" panose="020B0604020202090204" pitchFamily="34" charset="0"/>
              <a:buChar char="•"/>
            </a:pPr>
            <a:r>
              <a:rPr lang="en-US" altLang="zh-CN" sz="2000" dirty="0"/>
              <a:t>Prestige (e.g., recognition, publicity)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Release: A/B Testing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1146976" y="1377032"/>
            <a:ext cx="10371924" cy="3447098"/>
          </a:xfrm>
          <a:prstGeom prst="rect">
            <a:avLst/>
          </a:prstGeom>
          <a:noFill/>
        </p:spPr>
        <p:txBody>
          <a:bodyPr wrap="square">
            <a:spAutoFit/>
          </a:bodyPr>
          <a:lstStyle/>
          <a:p>
            <a:r>
              <a:rPr lang="en-US" sz="2000" dirty="0"/>
              <a:t>In an A/B test, you take a webpage or app screen and modify it to create a second version of the same page. </a:t>
            </a:r>
            <a:endParaRPr lang="en-US" sz="2000" dirty="0"/>
          </a:p>
          <a:p>
            <a:endParaRPr lang="en-US" sz="2000" dirty="0"/>
          </a:p>
          <a:p>
            <a:r>
              <a:rPr lang="en-US" sz="2000" dirty="0"/>
              <a:t>Half of your traffic is shown the original version of the page (known as control or A) and half are shown the modified version of the page (the variation or B).</a:t>
            </a:r>
            <a:endParaRPr lang="en-US" sz="2000" dirty="0"/>
          </a:p>
          <a:p>
            <a:endParaRPr lang="en-US" dirty="0">
              <a:solidFill>
                <a:srgbClr val="E9EBF1"/>
              </a:solidFill>
              <a:highlight>
                <a:srgbClr val="10141D"/>
              </a:highlight>
              <a:latin typeface="Figtree"/>
            </a:endParaRPr>
          </a:p>
          <a:p>
            <a:r>
              <a:rPr lang="en-US" sz="2000" dirty="0"/>
              <a:t>As visitors are served either the control or variation, their engagement with each experience is collected and analyzed through statistical analysis. </a:t>
            </a:r>
            <a:endParaRPr lang="en-US" sz="2000" dirty="0"/>
          </a:p>
          <a:p>
            <a:endParaRPr lang="en-US" sz="2000" dirty="0"/>
          </a:p>
          <a:p>
            <a:r>
              <a:rPr lang="en-US" sz="2000" dirty="0"/>
              <a:t>Developers can then determine whether changing the experience (variation or B) had a positive, negative or neutral effect against the baseline (control or A).</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819048" y="1319889"/>
            <a:ext cx="2553904" cy="2646045"/>
            <a:chOff x="5865211" y="1319889"/>
            <a:chExt cx="2553904" cy="2646045"/>
          </a:xfrm>
        </p:grpSpPr>
        <p:sp>
          <p:nvSpPr>
            <p:cNvPr id="2" name="文本框 1"/>
            <p:cNvSpPr txBox="1"/>
            <p:nvPr/>
          </p:nvSpPr>
          <p:spPr>
            <a:xfrm>
              <a:off x="5865211" y="1319889"/>
              <a:ext cx="2527300" cy="2646045"/>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03</a:t>
              </a:r>
              <a:endParaRPr lang="en-US" altLang="zh-CN"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037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THREE </a:t>
              </a:r>
              <a:endParaRPr lang="zh-CN" altLang="en-US" sz="2400" dirty="0">
                <a:solidFill>
                  <a:schemeClr val="accent1"/>
                </a:solidFill>
                <a:latin typeface="Helvetica" pitchFamily="2" charset="0"/>
                <a:cs typeface="Arial" panose="020B0604020202090204" pitchFamily="34" charset="0"/>
                <a:sym typeface="+mn-lt"/>
              </a:endParaRPr>
            </a:p>
          </p:txBody>
        </p:sp>
      </p:grpSp>
      <p:sp>
        <p:nvSpPr>
          <p:cNvPr id="5" name="文本框 4"/>
          <p:cNvSpPr txBox="1"/>
          <p:nvPr/>
        </p:nvSpPr>
        <p:spPr>
          <a:xfrm>
            <a:off x="0" y="3680460"/>
            <a:ext cx="12192635" cy="706755"/>
          </a:xfrm>
          <a:prstGeom prst="rect">
            <a:avLst/>
          </a:prstGeom>
          <a:noFill/>
        </p:spPr>
        <p:txBody>
          <a:bodyPr wrap="square" rtlCol="0" anchor="t">
            <a:spAutoFit/>
          </a:bodyPr>
          <a:lstStyle/>
          <a:p>
            <a:pPr algn="ctr"/>
            <a:r>
              <a:rPr lang="en-US" altLang="zh-CN" sz="4000" b="1" dirty="0">
                <a:solidFill>
                  <a:schemeClr val="accent1"/>
                </a:solidFill>
                <a:latin typeface="Helvetica" pitchFamily="2" charset="0"/>
                <a:cs typeface="+mn-ea"/>
              </a:rPr>
              <a:t>Build systems</a:t>
            </a:r>
            <a:endParaRPr lang="en-US" altLang="zh-CN" sz="4000" b="1" dirty="0">
              <a:solidFill>
                <a:schemeClr val="accent1"/>
              </a:solidFill>
              <a:latin typeface="Helvetica" pitchFamily="2" charset="0"/>
              <a:cs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What is build system</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284605"/>
            <a:ext cx="10427335" cy="4658995"/>
          </a:xfrm>
          <a:prstGeom prst="rect">
            <a:avLst/>
          </a:prstGeom>
          <a:noFill/>
        </p:spPr>
        <p:txBody>
          <a:bodyPr wrap="square" rtlCol="0" anchor="t">
            <a:noAutofit/>
          </a:bodyPr>
          <a:lstStyle/>
          <a:p>
            <a:pPr indent="0" fontAlgn="auto">
              <a:spcBef>
                <a:spcPts val="1800"/>
              </a:spcBef>
            </a:pPr>
            <a:r>
              <a:rPr lang="en-US" sz="2000" dirty="0">
                <a:solidFill>
                  <a:srgbClr val="C00000"/>
                </a:solidFill>
              </a:rPr>
              <a:t>Build </a:t>
            </a:r>
            <a:r>
              <a:rPr lang="en-US" sz="2000" dirty="0"/>
              <a:t>in software development is the process of “translating” source code files into executable binary code files</a:t>
            </a:r>
            <a:endParaRPr lang="en-US" sz="2000" dirty="0"/>
          </a:p>
          <a:p>
            <a:pPr indent="0" fontAlgn="auto">
              <a:spcBef>
                <a:spcPts val="1800"/>
              </a:spcBef>
            </a:pPr>
            <a:r>
              <a:rPr lang="en-US" sz="2000" b="1" dirty="0">
                <a:solidFill>
                  <a:srgbClr val="515223"/>
                </a:solidFill>
                <a:latin typeface="Helvetica" pitchFamily="2" charset="0"/>
                <a:cs typeface="Arial" panose="020B0604020202090204" pitchFamily="34" charset="0"/>
              </a:rPr>
              <a:t>Compiler is not sufficient anymore when your project get complicated </a:t>
            </a:r>
            <a:endParaRPr lang="en-US" sz="2000" b="1" dirty="0">
              <a:solidFill>
                <a:srgbClr val="515223"/>
              </a:solidFill>
              <a:latin typeface="Helvetica" pitchFamily="2" charset="0"/>
              <a:cs typeface="Arial" panose="020B0604020202090204" pitchFamily="34" charset="0"/>
            </a:endParaRPr>
          </a:p>
          <a:p>
            <a:pPr indent="0" fontAlgn="auto">
              <a:spcBef>
                <a:spcPts val="1800"/>
              </a:spcBef>
            </a:pPr>
            <a:r>
              <a:rPr lang="en-US" sz="2000" dirty="0"/>
              <a:t>	Cannot find code stored in other parts of the filesystem</a:t>
            </a:r>
            <a:endParaRPr lang="en-US" sz="2000" dirty="0"/>
          </a:p>
          <a:p>
            <a:pPr indent="0" fontAlgn="auto">
              <a:spcBef>
                <a:spcPts val="1800"/>
              </a:spcBef>
            </a:pPr>
            <a:r>
              <a:rPr lang="en-US" sz="2000" dirty="0"/>
              <a:t>	Large systems often involve different pieces written in a variety of programming 	languages with webs of dependencies among those pieces</a:t>
            </a:r>
            <a:endParaRPr lang="en-US" sz="2000" dirty="0"/>
          </a:p>
          <a:p>
            <a:pPr indent="0" fontAlgn="auto">
              <a:spcBef>
                <a:spcPts val="1800"/>
              </a:spcBef>
            </a:pPr>
            <a:r>
              <a:rPr lang="en-US" sz="2000" dirty="0">
                <a:solidFill>
                  <a:srgbClr val="C00000"/>
                </a:solidFill>
              </a:rPr>
              <a:t>Build system </a:t>
            </a:r>
            <a:r>
              <a:rPr lang="en-US" sz="2000" dirty="0"/>
              <a:t>is a collection of software tools that is used to facilitate the build process</a:t>
            </a:r>
            <a:endParaRPr lang="en-US" sz="2000" dirty="0"/>
          </a:p>
          <a:p>
            <a:pPr indent="0" fontAlgn="auto">
              <a:spcBef>
                <a:spcPts val="1800"/>
              </a:spcBef>
            </a:pPr>
            <a:endParaRPr lang="en-US" sz="2000" dirty="0"/>
          </a:p>
          <a:p>
            <a:pPr indent="0" fontAlgn="auto">
              <a:spcBef>
                <a:spcPts val="1800"/>
              </a:spcBef>
            </a:pPr>
            <a:r>
              <a:rPr lang="en-US" sz="2000" dirty="0"/>
              <a:t> </a:t>
            </a:r>
            <a:endParaRPr lang="en-US" altLang="zh-CN"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Make Example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72094" y="1111687"/>
            <a:ext cx="5007212" cy="5229991"/>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659" y="1496410"/>
            <a:ext cx="3949700" cy="2667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Make Example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620110" y="1028699"/>
            <a:ext cx="5400946" cy="707886"/>
          </a:xfrm>
          <a:prstGeom prst="rect">
            <a:avLst/>
          </a:prstGeom>
          <a:noFill/>
        </p:spPr>
        <p:txBody>
          <a:bodyPr wrap="square">
            <a:spAutoFit/>
          </a:bodyPr>
          <a:lstStyle/>
          <a:p>
            <a:r>
              <a:rPr lang="en-US" sz="2000" b="1" dirty="0">
                <a:solidFill>
                  <a:srgbClr val="515223"/>
                </a:solidFill>
              </a:rPr>
              <a:t>GNU Make</a:t>
            </a:r>
            <a:r>
              <a:rPr lang="en-US" sz="2000" dirty="0"/>
              <a:t> build projects following the </a:t>
            </a:r>
            <a:endParaRPr lang="en-US" sz="2000" dirty="0"/>
          </a:p>
          <a:p>
            <a:r>
              <a:rPr lang="en-US" sz="2000" dirty="0"/>
              <a:t>information provided in a file called </a:t>
            </a:r>
            <a:r>
              <a:rPr lang="en-US" sz="2000" dirty="0" err="1">
                <a:solidFill>
                  <a:srgbClr val="C00000"/>
                </a:solidFill>
              </a:rPr>
              <a:t>makefile</a:t>
            </a:r>
            <a:endParaRPr lang="en-US" sz="2000" dirty="0">
              <a:solidFill>
                <a:srgbClr val="C00000"/>
              </a:solidFill>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48641" y="237834"/>
            <a:ext cx="5621643" cy="637791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Make Example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48641" y="237834"/>
            <a:ext cx="5621643" cy="6377918"/>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280" y="1282759"/>
            <a:ext cx="1041400" cy="292100"/>
          </a:xfrm>
          <a:prstGeom prst="rect">
            <a:avLst/>
          </a:prstGeom>
        </p:spPr>
      </p:pic>
      <p:sp>
        <p:nvSpPr>
          <p:cNvPr id="8" name="Rectangle 7"/>
          <p:cNvSpPr/>
          <p:nvPr/>
        </p:nvSpPr>
        <p:spPr>
          <a:xfrm>
            <a:off x="6531741" y="1713607"/>
            <a:ext cx="2517665" cy="30437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531741" y="2051252"/>
            <a:ext cx="5418521" cy="13032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31740" y="3370301"/>
            <a:ext cx="5418521" cy="2315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2445" y="1881352"/>
            <a:ext cx="3925085" cy="642098"/>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4504" y="1881352"/>
            <a:ext cx="3775663" cy="600443"/>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445" y="2967137"/>
            <a:ext cx="4043596" cy="558789"/>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4504" y="2967010"/>
            <a:ext cx="3944152" cy="633140"/>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445" y="3969613"/>
            <a:ext cx="5689316" cy="772355"/>
          </a:xfrm>
          <a:prstGeom prst="rect">
            <a:avLst/>
          </a:prstGeom>
        </p:spPr>
      </p:pic>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94504" y="4051496"/>
            <a:ext cx="5597496" cy="522433"/>
          </a:xfrm>
          <a:prstGeom prst="rect">
            <a:avLst/>
          </a:prstGeom>
        </p:spPr>
      </p:pic>
      <p:pic>
        <p:nvPicPr>
          <p:cNvPr id="18" name="Picture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07530" y="5547710"/>
            <a:ext cx="3225800" cy="419100"/>
          </a:xfrm>
          <a:prstGeom prst="rect">
            <a:avLst/>
          </a:prstGeom>
        </p:spPr>
      </p:pic>
      <p:cxnSp>
        <p:nvCxnSpPr>
          <p:cNvPr id="20" name="Straight Arrow Connector 19"/>
          <p:cNvCxnSpPr/>
          <p:nvPr/>
        </p:nvCxnSpPr>
        <p:spPr>
          <a:xfrm>
            <a:off x="2182932" y="2531634"/>
            <a:ext cx="0" cy="43550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8477080" y="2511543"/>
            <a:ext cx="0" cy="43550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198697" y="3525926"/>
            <a:ext cx="0" cy="43550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8477080" y="3600150"/>
            <a:ext cx="0" cy="43550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18" idx="0"/>
          </p:cNvCxnSpPr>
          <p:nvPr/>
        </p:nvCxnSpPr>
        <p:spPr>
          <a:xfrm>
            <a:off x="3149884" y="4855779"/>
            <a:ext cx="2770546" cy="69193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6071761" y="4649468"/>
            <a:ext cx="2405319" cy="89824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itle 1"/>
          <p:cNvSpPr>
            <a:spLocks noGrp="1"/>
          </p:cNvSpPr>
          <p:nvPr>
            <p:ph type="title"/>
          </p:nvPr>
        </p:nvSpPr>
        <p:spPr>
          <a:xfrm>
            <a:off x="1091255" y="237834"/>
            <a:ext cx="8168208" cy="790865"/>
          </a:xfrm>
        </p:spPr>
        <p:txBody>
          <a:bodyPr/>
          <a:lstStyle/>
          <a:p>
            <a:r>
              <a:rPr lang="en-US" dirty="0"/>
              <a:t>A Make Example</a:t>
            </a:r>
            <a:endParaRPr lang="en-US" dirty="0"/>
          </a:p>
        </p:txBody>
      </p:sp>
      <p:sp>
        <p:nvSpPr>
          <p:cNvPr id="30" name="TextBox 29"/>
          <p:cNvSpPr txBox="1"/>
          <p:nvPr/>
        </p:nvSpPr>
        <p:spPr>
          <a:xfrm>
            <a:off x="884247" y="1143824"/>
            <a:ext cx="5400946" cy="400110"/>
          </a:xfrm>
          <a:prstGeom prst="rect">
            <a:avLst/>
          </a:prstGeom>
          <a:noFill/>
        </p:spPr>
        <p:txBody>
          <a:bodyPr wrap="square">
            <a:spAutoFit/>
          </a:bodyPr>
          <a:lstStyle/>
          <a:p>
            <a:r>
              <a:rPr lang="en-US" sz="2000" dirty="0">
                <a:solidFill>
                  <a:srgbClr val="C00000"/>
                </a:solidFill>
              </a:rPr>
              <a:t>Dependency Graph</a:t>
            </a:r>
            <a:endParaRPr lang="en-US" sz="2000" dirty="0">
              <a:solidFill>
                <a:srgbClr val="C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Make Example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48641" y="237834"/>
            <a:ext cx="5621643" cy="6377918"/>
          </a:xfrm>
          <a:prstGeom prst="rect">
            <a:avLst/>
          </a:prstGeom>
        </p:spPr>
      </p:pic>
      <p:sp>
        <p:nvSpPr>
          <p:cNvPr id="8" name="Rectangle 7"/>
          <p:cNvSpPr/>
          <p:nvPr/>
        </p:nvSpPr>
        <p:spPr>
          <a:xfrm>
            <a:off x="6542251" y="3352800"/>
            <a:ext cx="3831458" cy="5517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960" y="1268677"/>
            <a:ext cx="2044700" cy="266700"/>
          </a:xfrm>
          <a:prstGeom prst="rect">
            <a:avLst/>
          </a:prstGeom>
        </p:spPr>
      </p:pic>
      <p:sp>
        <p:nvSpPr>
          <p:cNvPr id="10" name="Rectangle 9"/>
          <p:cNvSpPr/>
          <p:nvPr/>
        </p:nvSpPr>
        <p:spPr>
          <a:xfrm>
            <a:off x="6542250" y="4524703"/>
            <a:ext cx="3831459" cy="5517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Make Example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48641" y="237834"/>
            <a:ext cx="5621643" cy="6377918"/>
          </a:xfrm>
          <a:prstGeom prst="rect">
            <a:avLst/>
          </a:prstGeom>
        </p:spPr>
      </p:pic>
      <p:sp>
        <p:nvSpPr>
          <p:cNvPr id="9" name="Rectangle 8"/>
          <p:cNvSpPr/>
          <p:nvPr/>
        </p:nvSpPr>
        <p:spPr>
          <a:xfrm>
            <a:off x="6542250" y="3946635"/>
            <a:ext cx="3978605" cy="53077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155" y="1262993"/>
            <a:ext cx="2006600" cy="254000"/>
          </a:xfrm>
          <a:prstGeom prst="rect">
            <a:avLst/>
          </a:prstGeom>
        </p:spPr>
      </p:pic>
      <p:sp>
        <p:nvSpPr>
          <p:cNvPr id="10" name="Rectangle 9"/>
          <p:cNvSpPr/>
          <p:nvPr/>
        </p:nvSpPr>
        <p:spPr>
          <a:xfrm>
            <a:off x="6542248" y="5081497"/>
            <a:ext cx="3978605" cy="6151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Make Example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48641" y="237834"/>
            <a:ext cx="5621643" cy="6377918"/>
          </a:xfrm>
          <a:prstGeom prst="rect">
            <a:avLst/>
          </a:prstGeom>
        </p:spPr>
      </p:pic>
      <p:sp>
        <p:nvSpPr>
          <p:cNvPr id="10" name="Rectangle 9"/>
          <p:cNvSpPr/>
          <p:nvPr/>
        </p:nvSpPr>
        <p:spPr>
          <a:xfrm>
            <a:off x="6563269" y="5709086"/>
            <a:ext cx="4535655" cy="9066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881" y="1203873"/>
            <a:ext cx="1257300" cy="3302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With Build Systems</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284605"/>
            <a:ext cx="10427335" cy="4658995"/>
          </a:xfrm>
          <a:prstGeom prst="rect">
            <a:avLst/>
          </a:prstGeom>
          <a:noFill/>
        </p:spPr>
        <p:txBody>
          <a:bodyPr wrap="square" rtlCol="0" anchor="t">
            <a:noAutofit/>
          </a:bodyPr>
          <a:lstStyle/>
          <a:p>
            <a:pPr indent="0" fontAlgn="auto">
              <a:spcBef>
                <a:spcPts val="1800"/>
              </a:spcBef>
            </a:pPr>
            <a:r>
              <a:rPr lang="en-US" altLang="zh-CN" sz="2000" dirty="0"/>
              <a:t>Automate compilation &amp; linkage of all components</a:t>
            </a:r>
            <a:endParaRPr lang="en-US" altLang="zh-CN" sz="2000" dirty="0"/>
          </a:p>
          <a:p>
            <a:pPr indent="0" fontAlgn="auto">
              <a:spcBef>
                <a:spcPts val="1800"/>
              </a:spcBef>
            </a:pPr>
            <a:r>
              <a:rPr lang="en-US" altLang="zh-CN" sz="2000" dirty="0"/>
              <a:t>Rebuild necessary components when things change</a:t>
            </a:r>
            <a:endParaRPr lang="en-US" altLang="zh-CN" sz="2000" dirty="0"/>
          </a:p>
          <a:p>
            <a:pPr indent="0" fontAlgn="auto">
              <a:spcBef>
                <a:spcPts val="1800"/>
              </a:spcBef>
            </a:pPr>
            <a:r>
              <a:rPr lang="en-US" altLang="zh-CN" sz="2000" dirty="0"/>
              <a:t>Manage multiple configurations</a:t>
            </a:r>
            <a:endParaRPr lang="en-US" altLang="zh-CN" sz="2000" dirty="0"/>
          </a:p>
          <a:p>
            <a:pPr indent="0" fontAlgn="auto">
              <a:spcBef>
                <a:spcPts val="1800"/>
              </a:spcBef>
            </a:pPr>
            <a:r>
              <a:rPr lang="en-US" altLang="zh-CN" sz="2000" dirty="0"/>
              <a:t>Manage external dependencies</a:t>
            </a:r>
            <a:endParaRPr lang="en-US" altLang="zh-CN" sz="2000" dirty="0"/>
          </a:p>
          <a:p>
            <a:pPr indent="0" fontAlgn="auto">
              <a:spcBef>
                <a:spcPts val="1800"/>
              </a:spcBef>
            </a:pPr>
            <a:r>
              <a:rPr lang="en-US" altLang="zh-CN" sz="2000" dirty="0"/>
              <a:t>Automate testing</a:t>
            </a:r>
            <a:endParaRPr lang="en-US" altLang="zh-CN" sz="2000" dirty="0"/>
          </a:p>
          <a:p>
            <a:pPr indent="0" fontAlgn="auto">
              <a:spcBef>
                <a:spcPts val="1800"/>
              </a:spcBef>
            </a:pPr>
            <a:r>
              <a:rPr lang="en-US" altLang="zh-CN" sz="2000" dirty="0"/>
              <a:t>Automate release actions</a:t>
            </a:r>
            <a:endParaRPr lang="en-US" altLang="zh-CN" sz="2000" dirty="0"/>
          </a:p>
          <a:p>
            <a:pPr lvl="1" indent="0" fontAlgn="auto">
              <a:spcBef>
                <a:spcPts val="1800"/>
              </a:spcBef>
            </a:pPr>
            <a:r>
              <a:rPr lang="en-US" altLang="zh-CN" sz="2000" dirty="0"/>
              <a:t>	Strip debugging symbols</a:t>
            </a:r>
            <a:endParaRPr lang="en-US" altLang="zh-CN" sz="2000" dirty="0"/>
          </a:p>
          <a:p>
            <a:pPr lvl="1" indent="0" fontAlgn="auto">
              <a:spcBef>
                <a:spcPts val="1800"/>
              </a:spcBef>
            </a:pPr>
            <a:r>
              <a:rPr lang="en-US" altLang="zh-CN" sz="2000" dirty="0"/>
              <a:t>	Minify web assets</a:t>
            </a:r>
            <a:endParaRPr lang="en-US" altLang="zh-CN" sz="2000" dirty="0"/>
          </a:p>
          <a:p>
            <a:pPr lvl="1" indent="0" fontAlgn="auto">
              <a:spcBef>
                <a:spcPts val="1800"/>
              </a:spcBef>
            </a:pPr>
            <a:r>
              <a:rPr lang="en-US" altLang="zh-CN" sz="2000" dirty="0"/>
              <a:t>	Generate installers</a:t>
            </a:r>
            <a:endParaRPr lang="en-US" altLang="zh-CN"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865870" cy="790575"/>
          </a:xfrm>
        </p:spPr>
        <p:txBody>
          <a:bodyPr>
            <a:normAutofit/>
          </a:bodyPr>
          <a:lstStyle/>
          <a:p>
            <a:r>
              <a:t>Options</a:t>
            </a: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985520" y="1152525"/>
            <a:ext cx="10427335" cy="5203825"/>
          </a:xfrm>
          <a:prstGeom prst="rect">
            <a:avLst/>
          </a:prstGeom>
          <a:noFill/>
        </p:spPr>
        <p:txBody>
          <a:bodyPr wrap="square" rtlCol="0" anchor="t">
            <a:noAutofit/>
          </a:bodyPr>
          <a:lstStyle/>
          <a:p>
            <a:pPr indent="0" fontAlgn="auto">
              <a:spcBef>
                <a:spcPts val="0"/>
              </a:spcBef>
            </a:pPr>
            <a:r>
              <a:rPr lang="zh-CN" altLang="en-US" dirty="0"/>
              <a:t>Write your own scripts</a:t>
            </a:r>
            <a:endParaRPr lang="en-US" altLang="zh-CN" dirty="0"/>
          </a:p>
          <a:p>
            <a:pPr indent="0" fontAlgn="auto">
              <a:spcBef>
                <a:spcPts val="0"/>
              </a:spcBef>
            </a:pPr>
            <a:r>
              <a:rPr lang="en-US" altLang="zh-CN" dirty="0"/>
              <a:t>	</a:t>
            </a:r>
            <a:r>
              <a:rPr lang="zh-CN" altLang="en-US" dirty="0"/>
              <a:t>Lots of redundant effort to provide flexibility and functionality</a:t>
            </a:r>
            <a:endParaRPr lang="zh-CN" altLang="en-US" dirty="0"/>
          </a:p>
          <a:p>
            <a:pPr lvl="1" indent="0" fontAlgn="auto">
              <a:spcBef>
                <a:spcPts val="0"/>
              </a:spcBef>
            </a:pPr>
            <a:r>
              <a:rPr lang="en-US" altLang="zh-CN" dirty="0"/>
              <a:t>	</a:t>
            </a:r>
            <a:r>
              <a:rPr lang="zh-CN" altLang="en-US" dirty="0"/>
              <a:t>Maintenance cost of bespoke system</a:t>
            </a:r>
            <a:endParaRPr lang="zh-CN" altLang="en-US" dirty="0"/>
          </a:p>
          <a:p>
            <a:pPr indent="0" fontAlgn="auto">
              <a:spcBef>
                <a:spcPts val="0"/>
              </a:spcBef>
            </a:pPr>
            <a:r>
              <a:rPr lang="zh-CN" altLang="en-US" dirty="0"/>
              <a:t>Follow conventions</a:t>
            </a:r>
            <a:endParaRPr lang="zh-CN" altLang="en-US" dirty="0"/>
          </a:p>
          <a:p>
            <a:pPr lvl="1" indent="0" fontAlgn="auto">
              <a:spcBef>
                <a:spcPts val="0"/>
              </a:spcBef>
            </a:pPr>
            <a:r>
              <a:rPr lang="en-US" altLang="zh-CN" dirty="0"/>
              <a:t>	</a:t>
            </a:r>
            <a:r>
              <a:rPr lang="zh-CN" altLang="en-US" dirty="0"/>
              <a:t>Easy way for new projects to take advantage of build tool features with minimal effort</a:t>
            </a:r>
            <a:endParaRPr lang="zh-CN" altLang="en-US" dirty="0"/>
          </a:p>
          <a:p>
            <a:pPr lvl="1" indent="0" fontAlgn="auto">
              <a:spcBef>
                <a:spcPts val="0"/>
              </a:spcBef>
            </a:pPr>
            <a:r>
              <a:rPr lang="en-US" altLang="zh-CN" dirty="0"/>
              <a:t>	</a:t>
            </a:r>
            <a:r>
              <a:rPr lang="zh-CN" altLang="en-US" dirty="0"/>
              <a:t>Good IDE support</a:t>
            </a:r>
            <a:endParaRPr lang="zh-CN" altLang="en-US" dirty="0"/>
          </a:p>
          <a:p>
            <a:pPr lvl="1" indent="0" fontAlgn="auto">
              <a:spcBef>
                <a:spcPts val="0"/>
              </a:spcBef>
            </a:pPr>
            <a:r>
              <a:rPr lang="en-US" altLang="zh-CN" dirty="0"/>
              <a:t>	</a:t>
            </a:r>
            <a:r>
              <a:rPr lang="zh-CN" altLang="en-US" dirty="0"/>
              <a:t>Hard to adapt for large, heterogeneous, legacy projects</a:t>
            </a:r>
            <a:endParaRPr lang="zh-CN" altLang="en-US" dirty="0"/>
          </a:p>
          <a:p>
            <a:pPr lvl="1" indent="0" fontAlgn="auto">
              <a:spcBef>
                <a:spcPts val="0"/>
              </a:spcBef>
            </a:pPr>
            <a:r>
              <a:rPr lang="en-US" altLang="zh-CN" dirty="0"/>
              <a:t>	</a:t>
            </a:r>
            <a:r>
              <a:rPr lang="zh-CN" altLang="en-US" dirty="0"/>
              <a:t>Difficult to diagnose implicit rules</a:t>
            </a:r>
            <a:endParaRPr lang="zh-CN" altLang="en-US" dirty="0"/>
          </a:p>
          <a:p>
            <a:pPr lvl="1" indent="0" fontAlgn="auto">
              <a:spcBef>
                <a:spcPts val="0"/>
              </a:spcBef>
            </a:pPr>
            <a:r>
              <a:rPr lang="en-US" altLang="zh-CN" dirty="0"/>
              <a:t>	</a:t>
            </a:r>
            <a:r>
              <a:rPr lang="zh-CN" altLang="en-US" dirty="0"/>
              <a:t>Can lead to bloated dependencies</a:t>
            </a:r>
            <a:endParaRPr lang="zh-CN" altLang="en-US" dirty="0"/>
          </a:p>
          <a:p>
            <a:pPr marL="0" lvl="0" indent="0" fontAlgn="auto">
              <a:spcBef>
                <a:spcPts val="0"/>
              </a:spcBef>
              <a:buNone/>
            </a:pPr>
            <a:r>
              <a:rPr lang="en-US" altLang="zh-CN" dirty="0">
                <a:sym typeface="+mn-ea"/>
              </a:rPr>
              <a:t>Configure a build tool</a:t>
            </a:r>
            <a:endParaRPr lang="en-US" altLang="zh-CN" dirty="0">
              <a:solidFill>
                <a:schemeClr val="tx1"/>
              </a:solidFill>
            </a:endParaRPr>
          </a:p>
          <a:p>
            <a:pPr marL="457200" lvl="1" indent="0" fontAlgn="auto">
              <a:spcBef>
                <a:spcPts val="0"/>
              </a:spcBef>
              <a:buNone/>
            </a:pPr>
            <a:r>
              <a:rPr lang="en-US" altLang="zh-CN" dirty="0">
                <a:sym typeface="+mn-ea"/>
              </a:rPr>
              <a:t>	Must learn a complicated tool &amp; configuration syntax</a:t>
            </a:r>
            <a:endParaRPr lang="en-US" altLang="zh-CN" dirty="0">
              <a:solidFill>
                <a:schemeClr val="tx1"/>
              </a:solidFill>
            </a:endParaRPr>
          </a:p>
          <a:p>
            <a:pPr marL="914400" lvl="2" indent="0" fontAlgn="auto">
              <a:spcBef>
                <a:spcPts val="0"/>
              </a:spcBef>
              <a:buNone/>
            </a:pPr>
            <a:r>
              <a:rPr lang="en-US" altLang="zh-CN" dirty="0">
                <a:sym typeface="+mn-ea"/>
              </a:rPr>
              <a:t>	But knowledge is transferrable</a:t>
            </a:r>
            <a:endParaRPr lang="en-US" altLang="zh-CN" dirty="0">
              <a:solidFill>
                <a:schemeClr val="tx1"/>
              </a:solidFill>
            </a:endParaRPr>
          </a:p>
          <a:p>
            <a:pPr marL="457200" lvl="1" indent="0" fontAlgn="auto">
              <a:spcBef>
                <a:spcPts val="0"/>
              </a:spcBef>
              <a:buNone/>
            </a:pPr>
            <a:r>
              <a:rPr lang="en-US" altLang="zh-CN" dirty="0">
                <a:sym typeface="+mn-ea"/>
              </a:rPr>
              <a:t>	Must maintain build configuration</a:t>
            </a:r>
            <a:endParaRPr lang="en-US" altLang="zh-CN" dirty="0">
              <a:solidFill>
                <a:schemeClr val="tx1"/>
              </a:solidFill>
            </a:endParaRPr>
          </a:p>
          <a:p>
            <a:pPr marL="914400" lvl="2" indent="0" fontAlgn="auto">
              <a:spcBef>
                <a:spcPts val="0"/>
              </a:spcBef>
              <a:buNone/>
            </a:pPr>
            <a:r>
              <a:rPr lang="en-US" altLang="zh-CN" dirty="0">
                <a:sym typeface="+mn-ea"/>
              </a:rPr>
              <a:t>	But being explicit is often good, avoids dependency bloat</a:t>
            </a:r>
            <a:endParaRPr lang="en-US" altLang="zh-CN" dirty="0">
              <a:solidFill>
                <a:schemeClr val="tx1"/>
              </a:solidFill>
            </a:endParaRPr>
          </a:p>
          <a:p>
            <a:pPr marL="457200" lvl="1" indent="0" fontAlgn="auto">
              <a:spcBef>
                <a:spcPts val="0"/>
              </a:spcBef>
              <a:buNone/>
            </a:pPr>
            <a:r>
              <a:rPr lang="en-US" altLang="zh-CN" dirty="0">
                <a:sym typeface="+mn-ea"/>
              </a:rPr>
              <a:t>	Can accommodate custom procedures</a:t>
            </a:r>
            <a:endParaRPr lang="en-US" altLang="zh-CN" dirty="0">
              <a:solidFill>
                <a:schemeClr val="tx1"/>
              </a:solidFill>
            </a:endParaRPr>
          </a:p>
          <a:p>
            <a:pPr marL="914400" lvl="2" indent="0" fontAlgn="auto">
              <a:spcBef>
                <a:spcPts val="0"/>
              </a:spcBef>
              <a:buNone/>
            </a:pPr>
            <a:r>
              <a:rPr lang="en-US" altLang="zh-CN" dirty="0">
                <a:sym typeface="+mn-ea"/>
              </a:rPr>
              <a:t>	Code generation</a:t>
            </a:r>
            <a:endParaRPr lang="en-US" altLang="zh-CN" dirty="0">
              <a:solidFill>
                <a:schemeClr val="tx1"/>
              </a:solidFill>
            </a:endParaRPr>
          </a:p>
          <a:p>
            <a:pPr marL="914400" lvl="2" indent="0" fontAlgn="auto">
              <a:spcBef>
                <a:spcPts val="0"/>
              </a:spcBef>
              <a:buNone/>
            </a:pPr>
            <a:r>
              <a:rPr lang="en-US" altLang="zh-CN" dirty="0">
                <a:sym typeface="+mn-ea"/>
              </a:rPr>
              <a:t>	Multiple languages</a:t>
            </a:r>
            <a:endParaRPr lang="en-US" altLang="zh-CN" dirty="0">
              <a:sym typeface="+mn-ea"/>
            </a:endParaRPr>
          </a:p>
          <a:p>
            <a:pPr marL="914400" lvl="2" indent="0" fontAlgn="auto">
              <a:spcBef>
                <a:spcPts val="0"/>
              </a:spcBef>
              <a:buNone/>
            </a:pPr>
            <a:r>
              <a:rPr lang="en-US" altLang="zh-CN" dirty="0">
                <a:sym typeface="+mn-ea"/>
              </a:rPr>
              <a:t>IDE may require additional configuration</a:t>
            </a:r>
            <a:endParaRPr lang="en-US" altLang="zh-CN" dirty="0">
              <a:solidFill>
                <a:schemeClr val="tx1"/>
              </a:solidFill>
            </a:endParaRPr>
          </a:p>
          <a:p>
            <a:pPr marL="0" lvl="0" indent="0" fontAlgn="auto">
              <a:spcBef>
                <a:spcPts val="0"/>
              </a:spcBef>
              <a:buNone/>
            </a:pPr>
            <a:endParaRPr lang="zh-CN" altLang="en-US" sz="2000" dirty="0">
              <a:solidFill>
                <a:schemeClr val="tx1"/>
              </a:solidFill>
            </a:endParaRPr>
          </a:p>
          <a:p>
            <a:pPr marL="0" lvl="0" indent="0" fontAlgn="auto">
              <a:spcBef>
                <a:spcPts val="0"/>
              </a:spcBef>
              <a:buNone/>
            </a:pPr>
            <a:endParaRPr lang="zh-CN" altLang="en-US" sz="2000"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865870" cy="790575"/>
          </a:xfrm>
        </p:spPr>
        <p:txBody>
          <a:bodyPr>
            <a:normAutofit/>
          </a:bodyPr>
          <a:lstStyle/>
          <a:p>
            <a:r>
              <a:rPr lang="en-US" dirty="0"/>
              <a:t>B</a:t>
            </a:r>
            <a:r>
              <a:rPr dirty="0"/>
              <a:t>uild </a:t>
            </a:r>
            <a:r>
              <a:rPr lang="en-US" dirty="0"/>
              <a:t>T</a:t>
            </a:r>
            <a:r>
              <a:rPr dirty="0"/>
              <a:t>ools</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985520" y="1090930"/>
            <a:ext cx="10427335" cy="5203825"/>
          </a:xfrm>
          <a:prstGeom prst="rect">
            <a:avLst/>
          </a:prstGeom>
          <a:noFill/>
        </p:spPr>
        <p:txBody>
          <a:bodyPr wrap="square" rtlCol="0" anchor="t">
            <a:noAutofit/>
          </a:bodyPr>
          <a:lstStyle/>
          <a:p>
            <a:pPr marL="0" lvl="0" indent="0" fontAlgn="auto">
              <a:spcBef>
                <a:spcPts val="0"/>
              </a:spcBef>
              <a:buNone/>
            </a:pPr>
            <a:endParaRPr lang="en-US" altLang="zh-CN" sz="2000" dirty="0">
              <a:sym typeface="+mn-ea"/>
            </a:endParaRPr>
          </a:p>
          <a:p>
            <a:pPr marL="0" lvl="0" indent="0" fontAlgn="auto">
              <a:spcBef>
                <a:spcPts val="0"/>
              </a:spcBef>
              <a:buNone/>
            </a:pPr>
            <a:r>
              <a:rPr lang="en-US" altLang="zh-CN" sz="2000" dirty="0">
                <a:sym typeface="+mn-ea"/>
              </a:rPr>
              <a:t>Common Tools include </a:t>
            </a:r>
            <a:endParaRPr lang="en-US" altLang="zh-CN" sz="2000" dirty="0">
              <a:sym typeface="+mn-ea"/>
            </a:endParaRPr>
          </a:p>
          <a:p>
            <a:pPr marL="0" lvl="0" indent="0" fontAlgn="auto">
              <a:spcBef>
                <a:spcPts val="0"/>
              </a:spcBef>
              <a:buNone/>
            </a:pPr>
            <a:r>
              <a:rPr lang="en-US" altLang="zh-CN" sz="2000" dirty="0">
                <a:sym typeface="+mn-ea"/>
              </a:rPr>
              <a:t>	GNU Make, </a:t>
            </a:r>
            <a:r>
              <a:rPr lang="en-US" altLang="zh-CN" sz="2000" dirty="0" err="1">
                <a:sym typeface="+mn-ea"/>
              </a:rPr>
              <a:t>Cmake</a:t>
            </a:r>
            <a:r>
              <a:rPr lang="en-US" altLang="zh-CN" sz="2000" dirty="0">
                <a:sym typeface="+mn-ea"/>
              </a:rPr>
              <a:t>, Maven (Ant +),  pip, </a:t>
            </a:r>
            <a:r>
              <a:rPr lang="en-US" altLang="zh-CN" sz="2000" dirty="0" err="1">
                <a:sym typeface="+mn-ea"/>
              </a:rPr>
              <a:t>setuptools</a:t>
            </a:r>
            <a:r>
              <a:rPr lang="en-US" altLang="zh-CN" sz="2000" dirty="0">
                <a:sym typeface="+mn-ea"/>
              </a:rPr>
              <a:t>, </a:t>
            </a:r>
            <a:r>
              <a:rPr lang="en-US" altLang="zh-CN" sz="2000" dirty="0" err="1">
                <a:sym typeface="+mn-ea"/>
              </a:rPr>
              <a:t>Bazel</a:t>
            </a:r>
            <a:r>
              <a:rPr lang="en-US" altLang="zh-CN" sz="2000" dirty="0">
                <a:sym typeface="+mn-ea"/>
              </a:rPr>
              <a:t>, etc.</a:t>
            </a:r>
            <a:endParaRPr lang="en-US" altLang="zh-CN" sz="2000" dirty="0">
              <a:sym typeface="+mn-ea"/>
            </a:endParaRPr>
          </a:p>
          <a:p>
            <a:pPr marL="0" lvl="0" indent="0" fontAlgn="auto">
              <a:spcBef>
                <a:spcPts val="0"/>
              </a:spcBef>
              <a:buNone/>
            </a:pPr>
            <a:endParaRPr lang="en-US" altLang="zh-CN" sz="2000" dirty="0">
              <a:sym typeface="+mn-ea"/>
            </a:endParaRPr>
          </a:p>
          <a:p>
            <a:pPr marL="0" lvl="0" indent="0" fontAlgn="auto">
              <a:spcBef>
                <a:spcPts val="0"/>
              </a:spcBef>
              <a:buNone/>
            </a:pPr>
            <a:r>
              <a:rPr lang="en-US" altLang="zh-CN" sz="2000" dirty="0">
                <a:sym typeface="+mn-ea"/>
              </a:rPr>
              <a:t>Responsible for constructing </a:t>
            </a:r>
            <a:r>
              <a:rPr lang="zh-CN" altLang="en-US" sz="2000" dirty="0">
                <a:solidFill>
                  <a:srgbClr val="C00000"/>
                </a:solidFill>
                <a:sym typeface="+mn-ea"/>
              </a:rPr>
              <a:t>dependency graph</a:t>
            </a:r>
            <a:endParaRPr lang="en-US" altLang="zh-CN" sz="2000" dirty="0">
              <a:sym typeface="+mn-ea"/>
            </a:endParaRPr>
          </a:p>
          <a:p>
            <a:pPr marL="457200" lvl="1" indent="0" fontAlgn="auto">
              <a:spcBef>
                <a:spcPts val="0"/>
              </a:spcBef>
              <a:buNone/>
            </a:pPr>
            <a:r>
              <a:rPr lang="en-US" altLang="zh-CN" sz="2000" dirty="0">
                <a:sym typeface="+mn-ea"/>
              </a:rPr>
              <a:t>Task-based: Targets can execute arbitrary commands</a:t>
            </a:r>
            <a:endParaRPr lang="en-US" altLang="zh-CN" sz="2000" dirty="0">
              <a:sym typeface="+mn-ea"/>
            </a:endParaRPr>
          </a:p>
          <a:p>
            <a:pPr marL="914400" lvl="2" indent="0" fontAlgn="auto">
              <a:spcBef>
                <a:spcPts val="0"/>
              </a:spcBef>
              <a:buNone/>
            </a:pPr>
            <a:r>
              <a:rPr lang="en-US" altLang="zh-CN" sz="2000" dirty="0">
                <a:sym typeface="+mn-ea"/>
              </a:rPr>
              <a:t>Hard to correctly specify when a task does not need to be rerun</a:t>
            </a:r>
            <a:endParaRPr lang="en-US" altLang="zh-CN" sz="2000" dirty="0">
              <a:sym typeface="+mn-ea"/>
            </a:endParaRPr>
          </a:p>
          <a:p>
            <a:pPr marL="914400" lvl="2" indent="0" fontAlgn="auto">
              <a:spcBef>
                <a:spcPts val="0"/>
              </a:spcBef>
              <a:buNone/>
            </a:pPr>
            <a:r>
              <a:rPr lang="en-US" altLang="zh-CN" sz="2000" dirty="0">
                <a:sym typeface="+mn-ea"/>
              </a:rPr>
              <a:t>Hard to parallelize safely</a:t>
            </a:r>
            <a:endParaRPr lang="en-US" altLang="zh-CN" sz="2000" dirty="0">
              <a:sym typeface="+mn-ea"/>
            </a:endParaRPr>
          </a:p>
          <a:p>
            <a:pPr marL="457200" lvl="1" indent="0" fontAlgn="auto">
              <a:spcBef>
                <a:spcPts val="0"/>
              </a:spcBef>
              <a:buNone/>
            </a:pPr>
            <a:r>
              <a:rPr lang="en-US" altLang="zh-CN" sz="2000" dirty="0">
                <a:sym typeface="+mn-ea"/>
              </a:rPr>
              <a:t>Artifact-based: Targets must declare inputs, outputs</a:t>
            </a:r>
            <a:endParaRPr lang="en-US" altLang="zh-CN" sz="2000" dirty="0">
              <a:sym typeface="+mn-ea"/>
            </a:endParaRPr>
          </a:p>
          <a:p>
            <a:pPr marL="457200" lvl="1" indent="457200" fontAlgn="auto">
              <a:spcBef>
                <a:spcPts val="0"/>
              </a:spcBef>
              <a:buNone/>
            </a:pPr>
            <a:r>
              <a:rPr lang="en-US" altLang="zh-CN" sz="2000" dirty="0">
                <a:sym typeface="+mn-ea"/>
              </a:rPr>
              <a:t>Enables safe caching, parallelization</a:t>
            </a:r>
            <a:endParaRPr lang="en-US" altLang="zh-CN" sz="2000" dirty="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865870" cy="790575"/>
          </a:xfrm>
        </p:spPr>
        <p:txBody>
          <a:bodyPr>
            <a:normAutofit/>
          </a:bodyPr>
          <a:lstStyle/>
          <a:p>
            <a:r>
              <a:rPr lang="en-US" dirty="0"/>
              <a:t>Task-based Build Tool</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59283" y="1169291"/>
            <a:ext cx="6032717" cy="5688709"/>
          </a:xfrm>
          <a:prstGeom prst="rect">
            <a:avLst/>
          </a:prstGeom>
        </p:spPr>
      </p:pic>
      <p:sp>
        <p:nvSpPr>
          <p:cNvPr id="8" name="TextBox 7"/>
          <p:cNvSpPr txBox="1"/>
          <p:nvPr/>
        </p:nvSpPr>
        <p:spPr>
          <a:xfrm>
            <a:off x="0" y="1028700"/>
            <a:ext cx="6096000" cy="923330"/>
          </a:xfrm>
          <a:prstGeom prst="rect">
            <a:avLst/>
          </a:prstGeom>
          <a:noFill/>
        </p:spPr>
        <p:txBody>
          <a:bodyPr wrap="square">
            <a:spAutoFit/>
          </a:bodyPr>
          <a:lstStyle/>
          <a:p>
            <a:r>
              <a:rPr lang="en-US" b="0" i="0" dirty="0">
                <a:solidFill>
                  <a:srgbClr val="202124"/>
                </a:solidFill>
                <a:effectLst/>
                <a:latin typeface="Roboto" panose="020F0502020204030204" pitchFamily="34" charset="0"/>
              </a:rPr>
              <a:t>The </a:t>
            </a:r>
            <a:r>
              <a:rPr lang="en-US" b="0" i="0" dirty="0" err="1">
                <a:solidFill>
                  <a:srgbClr val="202124"/>
                </a:solidFill>
                <a:effectLst/>
                <a:latin typeface="Roboto" panose="020F0502020204030204" pitchFamily="34" charset="0"/>
              </a:rPr>
              <a:t>buildfile</a:t>
            </a:r>
            <a:r>
              <a:rPr lang="en-US" b="0" i="0" dirty="0">
                <a:solidFill>
                  <a:srgbClr val="202124"/>
                </a:solidFill>
                <a:effectLst/>
                <a:latin typeface="Roboto" panose="020F0502020204030204" pitchFamily="34" charset="0"/>
              </a:rPr>
              <a:t> is written in XML and defines some simple metadata about the build along with a list of tasks (the </a:t>
            </a:r>
            <a:r>
              <a:rPr lang="en-US" dirty="0"/>
              <a:t>&lt;target&gt;</a:t>
            </a:r>
            <a:r>
              <a:rPr lang="en-US" b="0" i="0" dirty="0">
                <a:solidFill>
                  <a:srgbClr val="202124"/>
                </a:solidFill>
                <a:effectLst/>
                <a:latin typeface="Roboto" panose="020F0502020204030204" pitchFamily="34" charset="0"/>
              </a:rPr>
              <a:t> tags in the XML). </a:t>
            </a:r>
            <a:endParaRPr lang="en-US" dirty="0"/>
          </a:p>
        </p:txBody>
      </p:sp>
      <p:sp>
        <p:nvSpPr>
          <p:cNvPr id="10" name="TextBox 9"/>
          <p:cNvSpPr txBox="1"/>
          <p:nvPr/>
        </p:nvSpPr>
        <p:spPr>
          <a:xfrm>
            <a:off x="0" y="2280940"/>
            <a:ext cx="6096000" cy="923330"/>
          </a:xfrm>
          <a:prstGeom prst="rect">
            <a:avLst/>
          </a:prstGeom>
          <a:noFill/>
        </p:spPr>
        <p:txBody>
          <a:bodyPr wrap="square">
            <a:spAutoFit/>
          </a:bodyPr>
          <a:lstStyle/>
          <a:p>
            <a:r>
              <a:rPr lang="en-US" b="0" i="0" dirty="0">
                <a:solidFill>
                  <a:srgbClr val="202124"/>
                </a:solidFill>
                <a:effectLst/>
                <a:latin typeface="Roboto" panose="020F0502020204030204" pitchFamily="34" charset="0"/>
              </a:rPr>
              <a:t> Each task executes a list of possible commands defined by Ant, which here include creating and deleting directories, running </a:t>
            </a:r>
            <a:r>
              <a:rPr lang="en-US" dirty="0" err="1"/>
              <a:t>javac</a:t>
            </a:r>
            <a:r>
              <a:rPr lang="en-US" b="0" i="0" dirty="0">
                <a:solidFill>
                  <a:srgbClr val="202124"/>
                </a:solidFill>
                <a:effectLst/>
                <a:latin typeface="Roboto" panose="020F0502020204030204" pitchFamily="34" charset="0"/>
              </a:rPr>
              <a:t>, and creating a JAR file. </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865870" cy="790575"/>
          </a:xfrm>
        </p:spPr>
        <p:txBody>
          <a:bodyPr>
            <a:normAutofit/>
          </a:bodyPr>
          <a:lstStyle/>
          <a:p>
            <a:r>
              <a:rPr lang="en-US" dirty="0"/>
              <a:t>Task-based Build Tool</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59283" y="1169291"/>
            <a:ext cx="6032717" cy="5688709"/>
          </a:xfrm>
          <a:prstGeom prst="rect">
            <a:avLst/>
          </a:prstGeom>
        </p:spPr>
      </p:pic>
      <p:sp>
        <p:nvSpPr>
          <p:cNvPr id="5" name="TextBox 4"/>
          <p:cNvSpPr txBox="1"/>
          <p:nvPr/>
        </p:nvSpPr>
        <p:spPr>
          <a:xfrm>
            <a:off x="147145" y="1028700"/>
            <a:ext cx="6096000" cy="4524315"/>
          </a:xfrm>
          <a:prstGeom prst="rect">
            <a:avLst/>
          </a:prstGeom>
          <a:noFill/>
        </p:spPr>
        <p:txBody>
          <a:bodyPr wrap="square">
            <a:spAutoFit/>
          </a:bodyPr>
          <a:lstStyle/>
          <a:p>
            <a:pPr algn="l"/>
            <a:r>
              <a:rPr lang="en-US" dirty="0">
                <a:solidFill>
                  <a:srgbClr val="202124"/>
                </a:solidFill>
                <a:latin typeface="Roboto" panose="020F0502020204030204" pitchFamily="34" charset="0"/>
              </a:rPr>
              <a:t>With command line </a:t>
            </a:r>
            <a:r>
              <a:rPr lang="en-US" b="0" i="0" dirty="0">
                <a:solidFill>
                  <a:srgbClr val="202124"/>
                </a:solidFill>
                <a:effectLst/>
                <a:latin typeface="Roboto" panose="020F0502020204030204" pitchFamily="34" charset="0"/>
              </a:rPr>
              <a:t> </a:t>
            </a:r>
            <a:r>
              <a:rPr lang="en-US" b="0" i="1" dirty="0">
                <a:solidFill>
                  <a:srgbClr val="C00000"/>
                </a:solidFill>
                <a:effectLst/>
                <a:latin typeface="Roboto" panose="020F0502020204030204" pitchFamily="34" charset="0"/>
              </a:rPr>
              <a:t>ant </a:t>
            </a:r>
            <a:r>
              <a:rPr lang="en-US" b="0" i="1" dirty="0" err="1">
                <a:solidFill>
                  <a:srgbClr val="C00000"/>
                </a:solidFill>
                <a:effectLst/>
                <a:latin typeface="Roboto" panose="020F0502020204030204" pitchFamily="34" charset="0"/>
              </a:rPr>
              <a:t>dist</a:t>
            </a:r>
            <a:r>
              <a:rPr lang="en-US" b="0" i="0" dirty="0">
                <a:solidFill>
                  <a:srgbClr val="202124"/>
                </a:solidFill>
                <a:effectLst/>
                <a:latin typeface="Roboto" panose="020F0502020204030204" pitchFamily="34" charset="0"/>
              </a:rPr>
              <a:t>, the following steps happened:</a:t>
            </a:r>
            <a:endParaRPr lang="en-US" b="0" i="0" dirty="0">
              <a:solidFill>
                <a:srgbClr val="202124"/>
              </a:solidFill>
              <a:effectLst/>
              <a:latin typeface="Roboto" panose="020F0502020204030204" pitchFamily="34" charset="0"/>
            </a:endParaRPr>
          </a:p>
          <a:p>
            <a:pPr algn="l"/>
            <a:endParaRPr lang="en-US" b="0" i="0" dirty="0">
              <a:solidFill>
                <a:srgbClr val="202124"/>
              </a:solidFill>
              <a:effectLst/>
              <a:latin typeface="Roboto" panose="020F0502020204030204" pitchFamily="34" charset="0"/>
            </a:endParaRPr>
          </a:p>
          <a:p>
            <a:pPr algn="l">
              <a:buFont typeface="+mj-lt"/>
              <a:buAutoNum type="arabicPeriod"/>
            </a:pPr>
            <a:r>
              <a:rPr lang="en-US" b="0" i="0" dirty="0">
                <a:solidFill>
                  <a:srgbClr val="202124"/>
                </a:solidFill>
                <a:effectLst/>
                <a:latin typeface="Roboto" panose="020F0502020204030204" pitchFamily="34" charset="0"/>
              </a:rPr>
              <a:t>Loads a file named </a:t>
            </a:r>
            <a:r>
              <a:rPr lang="en-US" b="0" i="0" dirty="0" err="1">
                <a:solidFill>
                  <a:srgbClr val="C00000"/>
                </a:solidFill>
                <a:effectLst/>
                <a:latin typeface="Roboto" panose="020F0502020204030204" pitchFamily="34" charset="0"/>
              </a:rPr>
              <a:t>build.xml</a:t>
            </a:r>
            <a:r>
              <a:rPr lang="en-US" b="0" i="0" dirty="0">
                <a:solidFill>
                  <a:srgbClr val="C00000"/>
                </a:solidFill>
                <a:effectLst/>
                <a:latin typeface="Roboto" panose="020F0502020204030204" pitchFamily="34" charset="0"/>
              </a:rPr>
              <a:t> </a:t>
            </a:r>
            <a:endParaRPr lang="en-US" b="0" i="0" dirty="0">
              <a:solidFill>
                <a:srgbClr val="C00000"/>
              </a:solidFill>
              <a:effectLst/>
              <a:latin typeface="Roboto" panose="020F0502020204030204" pitchFamily="34" charset="0"/>
            </a:endParaRPr>
          </a:p>
          <a:p>
            <a:pPr algn="l">
              <a:buFont typeface="+mj-lt"/>
              <a:buAutoNum type="arabicPeriod"/>
            </a:pPr>
            <a:endParaRPr lang="en-US" b="0" i="0" dirty="0">
              <a:solidFill>
                <a:srgbClr val="202124"/>
              </a:solidFill>
              <a:effectLst/>
              <a:latin typeface="Roboto" panose="020F0502020204030204" pitchFamily="34" charset="0"/>
            </a:endParaRPr>
          </a:p>
          <a:p>
            <a:pPr algn="l">
              <a:buFont typeface="+mj-lt"/>
              <a:buAutoNum type="arabicPeriod"/>
            </a:pPr>
            <a:r>
              <a:rPr lang="en-US" b="0" i="0" dirty="0">
                <a:solidFill>
                  <a:srgbClr val="202124"/>
                </a:solidFill>
                <a:effectLst/>
                <a:latin typeface="Roboto" panose="020F0502020204030204" pitchFamily="34" charset="0"/>
              </a:rPr>
              <a:t>Looks for the task named </a:t>
            </a:r>
            <a:r>
              <a:rPr lang="en-US" b="0" i="0" dirty="0" err="1">
                <a:solidFill>
                  <a:srgbClr val="C00000"/>
                </a:solidFill>
                <a:effectLst/>
                <a:latin typeface="Roboto" panose="020F0502020204030204" pitchFamily="34" charset="0"/>
              </a:rPr>
              <a:t>dist</a:t>
            </a:r>
            <a:r>
              <a:rPr lang="en-US" dirty="0">
                <a:solidFill>
                  <a:srgbClr val="202124"/>
                </a:solidFill>
                <a:latin typeface="Roboto" panose="020F0502020204030204" pitchFamily="34" charset="0"/>
              </a:rPr>
              <a:t>, </a:t>
            </a:r>
            <a:r>
              <a:rPr lang="en-US" b="0" i="0" dirty="0">
                <a:solidFill>
                  <a:srgbClr val="202124"/>
                </a:solidFill>
                <a:effectLst/>
                <a:latin typeface="Roboto" panose="020F0502020204030204" pitchFamily="34" charset="0"/>
              </a:rPr>
              <a:t>which has a dependency on the task named </a:t>
            </a:r>
            <a:r>
              <a:rPr lang="en-US" b="0" i="0" dirty="0">
                <a:solidFill>
                  <a:srgbClr val="C00000"/>
                </a:solidFill>
                <a:effectLst/>
                <a:latin typeface="Roboto" panose="020F0502020204030204" pitchFamily="34" charset="0"/>
              </a:rPr>
              <a:t>compile</a:t>
            </a:r>
            <a:r>
              <a:rPr lang="en-US" b="0" i="0" dirty="0">
                <a:solidFill>
                  <a:srgbClr val="202124"/>
                </a:solidFill>
                <a:effectLst/>
                <a:latin typeface="Roboto" panose="020F0502020204030204" pitchFamily="34" charset="0"/>
              </a:rPr>
              <a:t>.</a:t>
            </a:r>
            <a:endParaRPr lang="en-US" b="0" i="0" dirty="0">
              <a:solidFill>
                <a:srgbClr val="202124"/>
              </a:solidFill>
              <a:effectLst/>
              <a:latin typeface="Roboto" panose="020F0502020204030204" pitchFamily="34" charset="0"/>
            </a:endParaRPr>
          </a:p>
          <a:p>
            <a:pPr algn="l">
              <a:buFont typeface="+mj-lt"/>
              <a:buAutoNum type="arabicPeriod"/>
            </a:pPr>
            <a:endParaRPr lang="en-US" b="0" i="0" dirty="0">
              <a:solidFill>
                <a:srgbClr val="202124"/>
              </a:solidFill>
              <a:effectLst/>
              <a:latin typeface="Roboto" panose="020F0502020204030204" pitchFamily="34" charset="0"/>
            </a:endParaRPr>
          </a:p>
          <a:p>
            <a:pPr algn="l">
              <a:buFont typeface="+mj-lt"/>
              <a:buAutoNum type="arabicPeriod"/>
            </a:pPr>
            <a:r>
              <a:rPr lang="en-US" b="0" i="0" dirty="0">
                <a:solidFill>
                  <a:srgbClr val="202124"/>
                </a:solidFill>
                <a:effectLst/>
                <a:latin typeface="Roboto" panose="020F0502020204030204" pitchFamily="34" charset="0"/>
              </a:rPr>
              <a:t>Looks for the task named compile which has a dependency on the task named </a:t>
            </a:r>
            <a:r>
              <a:rPr lang="en-US" b="0" i="0" dirty="0" err="1">
                <a:solidFill>
                  <a:srgbClr val="C00000"/>
                </a:solidFill>
                <a:effectLst/>
                <a:latin typeface="Roboto" panose="020F0502020204030204" pitchFamily="34" charset="0"/>
              </a:rPr>
              <a:t>init</a:t>
            </a:r>
            <a:endParaRPr lang="en-US" b="0" i="0" dirty="0">
              <a:solidFill>
                <a:srgbClr val="C00000"/>
              </a:solidFill>
              <a:effectLst/>
              <a:latin typeface="Roboto" panose="020F0502020204030204" pitchFamily="34" charset="0"/>
            </a:endParaRPr>
          </a:p>
          <a:p>
            <a:pPr algn="l">
              <a:buFont typeface="+mj-lt"/>
              <a:buAutoNum type="arabicPeriod"/>
            </a:pPr>
            <a:endParaRPr lang="en-US" b="0" i="0" dirty="0">
              <a:solidFill>
                <a:srgbClr val="C00000"/>
              </a:solidFill>
              <a:effectLst/>
              <a:latin typeface="Roboto" panose="020F0502020204030204" pitchFamily="34" charset="0"/>
            </a:endParaRPr>
          </a:p>
          <a:p>
            <a:pPr algn="l">
              <a:buFont typeface="+mj-lt"/>
              <a:buAutoNum type="arabicPeriod"/>
            </a:pPr>
            <a:r>
              <a:rPr lang="en-US" b="0" i="0" dirty="0">
                <a:solidFill>
                  <a:srgbClr val="202124"/>
                </a:solidFill>
                <a:effectLst/>
                <a:latin typeface="Roboto" panose="020F0502020204030204" pitchFamily="34" charset="0"/>
              </a:rPr>
              <a:t>Looks for the task named </a:t>
            </a:r>
            <a:r>
              <a:rPr lang="en-US" b="0" i="0" dirty="0" err="1">
                <a:solidFill>
                  <a:srgbClr val="C00000"/>
                </a:solidFill>
                <a:effectLst/>
                <a:latin typeface="Roboto" panose="020F0502020204030204" pitchFamily="34" charset="0"/>
              </a:rPr>
              <a:t>init</a:t>
            </a:r>
            <a:r>
              <a:rPr lang="en-US" b="0" i="0" dirty="0">
                <a:solidFill>
                  <a:srgbClr val="202124"/>
                </a:solidFill>
                <a:effectLst/>
                <a:latin typeface="Roboto" panose="020F0502020204030204" pitchFamily="34" charset="0"/>
              </a:rPr>
              <a:t> and discovers that it has no dependencies.</a:t>
            </a:r>
            <a:endParaRPr lang="en-US" b="0" i="0" dirty="0">
              <a:solidFill>
                <a:srgbClr val="202124"/>
              </a:solidFill>
              <a:effectLst/>
              <a:latin typeface="Roboto" panose="020F0502020204030204" pitchFamily="34" charset="0"/>
            </a:endParaRPr>
          </a:p>
          <a:p>
            <a:pPr algn="l">
              <a:buFont typeface="+mj-lt"/>
              <a:buAutoNum type="arabicPeriod"/>
            </a:pPr>
            <a:endParaRPr lang="en-US" b="0" i="0" dirty="0">
              <a:solidFill>
                <a:srgbClr val="202124"/>
              </a:solidFill>
              <a:effectLst/>
              <a:latin typeface="Roboto" panose="020F0502020204030204" pitchFamily="34" charset="0"/>
            </a:endParaRPr>
          </a:p>
          <a:p>
            <a:pPr algn="l">
              <a:buFont typeface="+mj-lt"/>
              <a:buAutoNum type="arabicPeriod"/>
            </a:pPr>
            <a:r>
              <a:rPr lang="en-US" b="0" i="0" dirty="0">
                <a:solidFill>
                  <a:srgbClr val="202124"/>
                </a:solidFill>
                <a:effectLst/>
                <a:latin typeface="Roboto" panose="020F0502020204030204" pitchFamily="34" charset="0"/>
              </a:rPr>
              <a:t>Executes the commands defined in </a:t>
            </a:r>
            <a:r>
              <a:rPr lang="en-US" b="0" i="0" dirty="0" err="1">
                <a:solidFill>
                  <a:srgbClr val="C00000"/>
                </a:solidFill>
                <a:effectLst/>
                <a:latin typeface="Roboto" panose="020F0502020204030204" pitchFamily="34" charset="0"/>
              </a:rPr>
              <a:t>init</a:t>
            </a:r>
            <a:r>
              <a:rPr lang="en-US" dirty="0">
                <a:solidFill>
                  <a:srgbClr val="202124"/>
                </a:solidFill>
                <a:latin typeface="Roboto" panose="020F0502020204030204" pitchFamily="34" charset="0"/>
              </a:rPr>
              <a:t>, </a:t>
            </a:r>
            <a:r>
              <a:rPr lang="en-US" dirty="0">
                <a:solidFill>
                  <a:srgbClr val="C00000"/>
                </a:solidFill>
                <a:latin typeface="Roboto" panose="020F0502020204030204" pitchFamily="34" charset="0"/>
              </a:rPr>
              <a:t>compile </a:t>
            </a:r>
            <a:r>
              <a:rPr lang="en-US" dirty="0">
                <a:solidFill>
                  <a:srgbClr val="202124"/>
                </a:solidFill>
                <a:latin typeface="Roboto" panose="020F0502020204030204" pitchFamily="34" charset="0"/>
              </a:rPr>
              <a:t>and </a:t>
            </a:r>
            <a:r>
              <a:rPr lang="en-US" dirty="0" err="1">
                <a:solidFill>
                  <a:srgbClr val="C00000"/>
                </a:solidFill>
                <a:latin typeface="Roboto" panose="020F0502020204030204" pitchFamily="34" charset="0"/>
              </a:rPr>
              <a:t>dist</a:t>
            </a:r>
            <a:r>
              <a:rPr lang="en-US" dirty="0">
                <a:solidFill>
                  <a:srgbClr val="C00000"/>
                </a:solidFill>
                <a:latin typeface="Roboto" panose="020F0502020204030204" pitchFamily="34" charset="0"/>
              </a:rPr>
              <a:t> </a:t>
            </a:r>
            <a:r>
              <a:rPr lang="en-US" dirty="0">
                <a:solidFill>
                  <a:srgbClr val="FF0000"/>
                </a:solidFill>
                <a:latin typeface="Roboto" panose="020F0502020204030204" pitchFamily="34" charset="0"/>
              </a:rPr>
              <a:t>Sequentially</a:t>
            </a:r>
            <a:endParaRPr lang="en-US" b="0" i="0" dirty="0">
              <a:solidFill>
                <a:srgbClr val="FF0000"/>
              </a:solidFill>
              <a:effectLst/>
              <a:latin typeface="Roboto" panose="020F050202020403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865870" cy="790575"/>
          </a:xfrm>
        </p:spPr>
        <p:txBody>
          <a:bodyPr>
            <a:normAutofit/>
          </a:bodyPr>
          <a:lstStyle/>
          <a:p>
            <a:r>
              <a:rPr lang="en-US" dirty="0"/>
              <a:t>Task-based Build Tool</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59283" y="1169291"/>
            <a:ext cx="6032717" cy="5688709"/>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032" y="1860331"/>
            <a:ext cx="5818686" cy="1106214"/>
          </a:xfrm>
          <a:prstGeom prst="rect">
            <a:avLst/>
          </a:prstGeom>
        </p:spPr>
      </p:pic>
      <p:sp>
        <p:nvSpPr>
          <p:cNvPr id="9" name="TextBox 8"/>
          <p:cNvSpPr txBox="1"/>
          <p:nvPr/>
        </p:nvSpPr>
        <p:spPr>
          <a:xfrm>
            <a:off x="214032" y="1343197"/>
            <a:ext cx="6096000" cy="369332"/>
          </a:xfrm>
          <a:prstGeom prst="rect">
            <a:avLst/>
          </a:prstGeom>
          <a:noFill/>
        </p:spPr>
        <p:txBody>
          <a:bodyPr wrap="square">
            <a:spAutoFit/>
          </a:bodyPr>
          <a:lstStyle/>
          <a:p>
            <a:r>
              <a:rPr lang="en-US" dirty="0">
                <a:solidFill>
                  <a:srgbClr val="202124"/>
                </a:solidFill>
                <a:latin typeface="Roboto" panose="020F0502020204030204" pitchFamily="34" charset="0"/>
              </a:rPr>
              <a:t>E</a:t>
            </a:r>
            <a:r>
              <a:rPr lang="en-US" b="0" i="0" dirty="0">
                <a:solidFill>
                  <a:srgbClr val="202124"/>
                </a:solidFill>
                <a:effectLst/>
                <a:latin typeface="Roboto" panose="020F0502020204030204" pitchFamily="34" charset="0"/>
              </a:rPr>
              <a:t>quivalent to the following shell script:</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865870" cy="790575"/>
          </a:xfrm>
        </p:spPr>
        <p:txBody>
          <a:bodyPr>
            <a:normAutofit/>
          </a:bodyPr>
          <a:lstStyle/>
          <a:p>
            <a:r>
              <a:rPr lang="en-US" dirty="0"/>
              <a:t>Task-based Build Tool</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8"/>
          <p:cNvSpPr txBox="1"/>
          <p:nvPr/>
        </p:nvSpPr>
        <p:spPr>
          <a:xfrm>
            <a:off x="214032" y="1343197"/>
            <a:ext cx="10685196" cy="646331"/>
          </a:xfrm>
          <a:prstGeom prst="rect">
            <a:avLst/>
          </a:prstGeom>
          <a:noFill/>
        </p:spPr>
        <p:txBody>
          <a:bodyPr wrap="square">
            <a:spAutoFit/>
          </a:bodyPr>
          <a:lstStyle/>
          <a:p>
            <a:r>
              <a:rPr lang="en-US" dirty="0">
                <a:solidFill>
                  <a:srgbClr val="202124"/>
                </a:solidFill>
                <a:latin typeface="Roboto" panose="020F0502020204030204" pitchFamily="34" charset="0"/>
              </a:rPr>
              <a:t>Advantage:</a:t>
            </a:r>
            <a:endParaRPr lang="en-US" dirty="0">
              <a:solidFill>
                <a:srgbClr val="202124"/>
              </a:solidFill>
              <a:latin typeface="Roboto" panose="020F0502020204030204" pitchFamily="34" charset="0"/>
            </a:endParaRPr>
          </a:p>
          <a:p>
            <a:r>
              <a:rPr lang="en-US" b="0" i="0" dirty="0">
                <a:solidFill>
                  <a:srgbClr val="202124"/>
                </a:solidFill>
                <a:effectLst/>
                <a:latin typeface="Roboto" panose="020F0502020204030204" pitchFamily="34" charset="0"/>
              </a:rPr>
              <a:t>	powerful, allowing you to do pretty much anything you can imagine with them</a:t>
            </a:r>
            <a:endParaRPr lang="en-US" dirty="0"/>
          </a:p>
        </p:txBody>
      </p:sp>
      <p:sp>
        <p:nvSpPr>
          <p:cNvPr id="4" name="TextBox 3"/>
          <p:cNvSpPr txBox="1"/>
          <p:nvPr/>
        </p:nvSpPr>
        <p:spPr>
          <a:xfrm>
            <a:off x="214032" y="2581024"/>
            <a:ext cx="6096000" cy="1754326"/>
          </a:xfrm>
          <a:prstGeom prst="rect">
            <a:avLst/>
          </a:prstGeom>
          <a:noFill/>
        </p:spPr>
        <p:txBody>
          <a:bodyPr wrap="square">
            <a:spAutoFit/>
          </a:bodyPr>
          <a:lstStyle/>
          <a:p>
            <a:r>
              <a:rPr lang="en-US" dirty="0">
                <a:solidFill>
                  <a:srgbClr val="202124"/>
                </a:solidFill>
                <a:latin typeface="Roboto" panose="020F0502020204030204" pitchFamily="34" charset="0"/>
              </a:rPr>
              <a:t>Disadvantage:</a:t>
            </a:r>
            <a:endParaRPr lang="en-US" dirty="0">
              <a:solidFill>
                <a:srgbClr val="202124"/>
              </a:solidFill>
              <a:latin typeface="Roboto" panose="020F0502020204030204" pitchFamily="34" charset="0"/>
            </a:endParaRPr>
          </a:p>
          <a:p>
            <a:r>
              <a:rPr lang="en-US" b="0" i="0" dirty="0">
                <a:solidFill>
                  <a:srgbClr val="202124"/>
                </a:solidFill>
                <a:effectLst/>
                <a:latin typeface="Roboto" panose="020F0502020204030204" pitchFamily="34" charset="0"/>
              </a:rPr>
              <a:t>	</a:t>
            </a:r>
            <a:r>
              <a:rPr lang="en-US" dirty="0">
                <a:solidFill>
                  <a:srgbClr val="202124"/>
                </a:solidFill>
                <a:latin typeface="Roboto" panose="020F0502020204030204" pitchFamily="34" charset="0"/>
              </a:rPr>
              <a:t>Difficulty of parallelizing build steps</a:t>
            </a:r>
            <a:endParaRPr lang="en-US" dirty="0">
              <a:solidFill>
                <a:srgbClr val="202124"/>
              </a:solidFill>
              <a:latin typeface="Roboto" panose="020F0502020204030204" pitchFamily="34" charset="0"/>
            </a:endParaRPr>
          </a:p>
          <a:p>
            <a:r>
              <a:rPr lang="en-US" dirty="0">
                <a:solidFill>
                  <a:srgbClr val="202124"/>
                </a:solidFill>
                <a:latin typeface="Roboto" panose="020F0502020204030204" pitchFamily="34" charset="0"/>
              </a:rPr>
              <a:t>	Difficulty performing incremental builds</a:t>
            </a:r>
            <a:endParaRPr lang="en-US" dirty="0">
              <a:solidFill>
                <a:srgbClr val="202124"/>
              </a:solidFill>
              <a:latin typeface="Roboto" panose="020F0502020204030204" pitchFamily="34" charset="0"/>
            </a:endParaRPr>
          </a:p>
          <a:p>
            <a:r>
              <a:rPr lang="en-US" dirty="0">
                <a:solidFill>
                  <a:srgbClr val="202124"/>
                </a:solidFill>
                <a:latin typeface="Roboto" panose="020F0502020204030204" pitchFamily="34" charset="0"/>
              </a:rPr>
              <a:t>	Difficulty maintaining and debugging scripts</a:t>
            </a:r>
            <a:endParaRPr lang="en-US" dirty="0">
              <a:solidFill>
                <a:srgbClr val="202124"/>
              </a:solidFill>
              <a:latin typeface="Roboto" panose="020F0502020204030204" pitchFamily="34" charset="0"/>
            </a:endParaRPr>
          </a:p>
          <a:p>
            <a:endParaRPr lang="en-US" dirty="0">
              <a:solidFill>
                <a:srgbClr val="202124"/>
              </a:solidFill>
              <a:latin typeface="Roboto" panose="020F0502020204030204" pitchFamily="34" charset="0"/>
            </a:endParaRP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865870" cy="790575"/>
          </a:xfrm>
        </p:spPr>
        <p:txBody>
          <a:bodyPr>
            <a:normAutofit/>
          </a:bodyPr>
          <a:lstStyle/>
          <a:p>
            <a:r>
              <a:rPr lang="en-US" dirty="0"/>
              <a:t>Artifact-based Build Tool</a:t>
            </a:r>
            <a:r>
              <a:rPr lang="zh-CN" altLang="en-US" dirty="0"/>
              <a:t> （</a:t>
            </a:r>
            <a:r>
              <a:rPr lang="en-US" altLang="zh-CN" dirty="0" err="1"/>
              <a:t>Bazel</a:t>
            </a:r>
            <a:r>
              <a:rPr lang="zh-CN" altLang="en-US" dirty="0"/>
              <a:t>）</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6"/>
          <p:cNvSpPr txBox="1"/>
          <p:nvPr/>
        </p:nvSpPr>
        <p:spPr>
          <a:xfrm>
            <a:off x="409902" y="1182605"/>
            <a:ext cx="6189590" cy="3416320"/>
          </a:xfrm>
          <a:prstGeom prst="rect">
            <a:avLst/>
          </a:prstGeom>
          <a:noFill/>
        </p:spPr>
        <p:txBody>
          <a:bodyPr wrap="square">
            <a:spAutoFit/>
          </a:bodyPr>
          <a:lstStyle/>
          <a:p>
            <a:r>
              <a:rPr lang="en-US" b="0" i="0" dirty="0">
                <a:solidFill>
                  <a:srgbClr val="202124"/>
                </a:solidFill>
                <a:effectLst/>
                <a:latin typeface="Roboto" panose="020F0502020204030204" pitchFamily="34" charset="0"/>
              </a:rPr>
              <a:t>Every </a:t>
            </a:r>
            <a:r>
              <a:rPr lang="en-US" b="0" i="0" dirty="0">
                <a:solidFill>
                  <a:srgbClr val="C00000"/>
                </a:solidFill>
                <a:effectLst/>
                <a:latin typeface="Roboto" panose="020F0502020204030204" pitchFamily="34" charset="0"/>
              </a:rPr>
              <a:t>target </a:t>
            </a:r>
            <a:r>
              <a:rPr lang="en-US" b="0" i="0" dirty="0">
                <a:solidFill>
                  <a:srgbClr val="202124"/>
                </a:solidFill>
                <a:effectLst/>
                <a:latin typeface="Roboto" panose="020F0502020204030204" pitchFamily="34" charset="0"/>
              </a:rPr>
              <a:t>corresponds to an </a:t>
            </a:r>
            <a:r>
              <a:rPr lang="en-US" b="0" i="0" dirty="0">
                <a:solidFill>
                  <a:srgbClr val="C00000"/>
                </a:solidFill>
                <a:effectLst/>
                <a:latin typeface="Roboto" panose="020F0502020204030204" pitchFamily="34" charset="0"/>
              </a:rPr>
              <a:t>artifact</a:t>
            </a:r>
            <a:r>
              <a:rPr lang="en-US" b="0" i="0" dirty="0">
                <a:solidFill>
                  <a:srgbClr val="202124"/>
                </a:solidFill>
                <a:effectLst/>
                <a:latin typeface="Roboto" panose="020F0502020204030204" pitchFamily="34" charset="0"/>
              </a:rPr>
              <a:t> that can be created by the system: </a:t>
            </a:r>
            <a:r>
              <a:rPr lang="en-US" dirty="0" err="1">
                <a:solidFill>
                  <a:srgbClr val="C00000"/>
                </a:solidFill>
                <a:latin typeface="Roboto" panose="020F0502020204030204" pitchFamily="34" charset="0"/>
              </a:rPr>
              <a:t>java_binary</a:t>
            </a:r>
            <a:r>
              <a:rPr lang="en-US" dirty="0">
                <a:solidFill>
                  <a:srgbClr val="202124"/>
                </a:solidFill>
                <a:latin typeface="Roboto" panose="020F0502020204030204" pitchFamily="34" charset="0"/>
              </a:rPr>
              <a:t>, </a:t>
            </a:r>
            <a:r>
              <a:rPr lang="en-US" dirty="0" err="1">
                <a:solidFill>
                  <a:srgbClr val="C00000"/>
                </a:solidFill>
                <a:latin typeface="Roboto" panose="020F0502020204030204" pitchFamily="34" charset="0"/>
              </a:rPr>
              <a:t>java_library</a:t>
            </a:r>
            <a:endParaRPr lang="en-US" dirty="0">
              <a:solidFill>
                <a:srgbClr val="C00000"/>
              </a:solidFill>
              <a:latin typeface="Roboto" panose="020F0502020204030204" pitchFamily="34" charset="0"/>
            </a:endParaRPr>
          </a:p>
          <a:p>
            <a:endParaRPr lang="en-US" dirty="0">
              <a:solidFill>
                <a:srgbClr val="C00000"/>
              </a:solidFill>
              <a:latin typeface="Roboto" panose="020F0502020204030204" pitchFamily="34" charset="0"/>
            </a:endParaRPr>
          </a:p>
          <a:p>
            <a:pPr algn="l"/>
            <a:r>
              <a:rPr lang="en-US" b="0" i="0" dirty="0">
                <a:solidFill>
                  <a:srgbClr val="C00000"/>
                </a:solidFill>
                <a:effectLst/>
                <a:latin typeface="Roboto" panose="020F0502020204030204" pitchFamily="34" charset="0"/>
              </a:rPr>
              <a:t>name</a:t>
            </a:r>
            <a:r>
              <a:rPr lang="en-US" b="0" i="0" dirty="0">
                <a:solidFill>
                  <a:srgbClr val="202124"/>
                </a:solidFill>
                <a:effectLst/>
                <a:latin typeface="Roboto" panose="020F0502020204030204" pitchFamily="34" charset="0"/>
              </a:rPr>
              <a:t>: how the target is referenced on the command line and by other targets</a:t>
            </a:r>
            <a:endParaRPr lang="en-US" b="0" i="0" dirty="0">
              <a:solidFill>
                <a:srgbClr val="202124"/>
              </a:solidFill>
              <a:effectLst/>
              <a:latin typeface="Roboto" panose="020F0502020204030204" pitchFamily="34" charset="0"/>
            </a:endParaRPr>
          </a:p>
          <a:p>
            <a:pPr algn="l"/>
            <a:endParaRPr lang="en-US" b="0" i="0" dirty="0">
              <a:solidFill>
                <a:srgbClr val="202124"/>
              </a:solidFill>
              <a:effectLst/>
              <a:latin typeface="Roboto" panose="020F0502020204030204" pitchFamily="34" charset="0"/>
            </a:endParaRPr>
          </a:p>
          <a:p>
            <a:pPr algn="l"/>
            <a:r>
              <a:rPr lang="en-US" b="0" i="0" dirty="0" err="1">
                <a:solidFill>
                  <a:srgbClr val="C00000"/>
                </a:solidFill>
                <a:effectLst/>
                <a:latin typeface="Roboto" panose="020F0502020204030204" pitchFamily="34" charset="0"/>
              </a:rPr>
              <a:t>srcs</a:t>
            </a:r>
            <a:r>
              <a:rPr lang="en-US" b="0" i="0" dirty="0">
                <a:solidFill>
                  <a:srgbClr val="202124"/>
                </a:solidFill>
                <a:effectLst/>
                <a:latin typeface="Roboto" panose="020F0502020204030204" pitchFamily="34" charset="0"/>
              </a:rPr>
              <a:t>: the source files to compiled to create the artifact for the target</a:t>
            </a:r>
            <a:endParaRPr lang="en-US" b="0" i="0" dirty="0">
              <a:solidFill>
                <a:srgbClr val="202124"/>
              </a:solidFill>
              <a:effectLst/>
              <a:latin typeface="Roboto" panose="020F0502020204030204" pitchFamily="34" charset="0"/>
            </a:endParaRPr>
          </a:p>
          <a:p>
            <a:pPr algn="l"/>
            <a:endParaRPr lang="en-US" b="0" i="0" dirty="0">
              <a:solidFill>
                <a:srgbClr val="202124"/>
              </a:solidFill>
              <a:effectLst/>
              <a:latin typeface="Roboto" panose="020F0502020204030204" pitchFamily="34" charset="0"/>
            </a:endParaRPr>
          </a:p>
          <a:p>
            <a:pPr algn="l"/>
            <a:r>
              <a:rPr lang="en-US" b="0" i="0" dirty="0">
                <a:solidFill>
                  <a:srgbClr val="C00000"/>
                </a:solidFill>
                <a:effectLst/>
                <a:latin typeface="Roboto" panose="020F0502020204030204" pitchFamily="34" charset="0"/>
              </a:rPr>
              <a:t>deps</a:t>
            </a:r>
            <a:r>
              <a:rPr lang="en-US" b="0" i="0" dirty="0">
                <a:solidFill>
                  <a:srgbClr val="202124"/>
                </a:solidFill>
                <a:effectLst/>
                <a:latin typeface="Roboto" panose="020F0502020204030204" pitchFamily="34" charset="0"/>
              </a:rPr>
              <a:t>: other targets that must be built before this target and linked into it</a:t>
            </a:r>
            <a:endParaRPr lang="en-US" b="0" i="0" dirty="0">
              <a:solidFill>
                <a:srgbClr val="202124"/>
              </a:solidFill>
              <a:effectLst/>
              <a:latin typeface="Roboto" panose="020F0502020204030204" pitchFamily="34" charset="0"/>
            </a:endParaRPr>
          </a:p>
          <a:p>
            <a:endParaRPr lang="en-US" dirty="0">
              <a:solidFill>
                <a:srgbClr val="C00000"/>
              </a:solidFill>
              <a:latin typeface="Roboto" panose="020F0502020204030204" pitchFamily="34" charset="0"/>
            </a:endParaRPr>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99492" y="1113221"/>
            <a:ext cx="5515109" cy="299632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865870" cy="790575"/>
          </a:xfrm>
        </p:spPr>
        <p:txBody>
          <a:bodyPr>
            <a:normAutofit/>
          </a:bodyPr>
          <a:lstStyle/>
          <a:p>
            <a:r>
              <a:rPr lang="en-US" dirty="0"/>
              <a:t>Artifact-based Build Tool (Bazel)</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18141" y="1028700"/>
            <a:ext cx="5515109" cy="2996324"/>
          </a:xfrm>
          <a:prstGeom prst="rect">
            <a:avLst/>
          </a:prstGeom>
        </p:spPr>
      </p:pic>
      <p:sp>
        <p:nvSpPr>
          <p:cNvPr id="11" name="TextBox 10"/>
          <p:cNvSpPr txBox="1"/>
          <p:nvPr/>
        </p:nvSpPr>
        <p:spPr>
          <a:xfrm>
            <a:off x="312334" y="3676589"/>
            <a:ext cx="12307615" cy="2862322"/>
          </a:xfrm>
          <a:prstGeom prst="rect">
            <a:avLst/>
          </a:prstGeom>
          <a:noFill/>
        </p:spPr>
        <p:txBody>
          <a:bodyPr wrap="square">
            <a:spAutoFit/>
          </a:bodyPr>
          <a:lstStyle/>
          <a:p>
            <a:r>
              <a:rPr lang="en-US" dirty="0" err="1">
                <a:solidFill>
                  <a:srgbClr val="202124"/>
                </a:solidFill>
                <a:latin typeface="Roboto" panose="020F0502020204030204" pitchFamily="34" charset="0"/>
              </a:rPr>
              <a:t>Bazel</a:t>
            </a:r>
            <a:r>
              <a:rPr lang="en-US" dirty="0">
                <a:solidFill>
                  <a:srgbClr val="202124"/>
                </a:solidFill>
                <a:latin typeface="Roboto" panose="020F0502020204030204" pitchFamily="34" charset="0"/>
              </a:rPr>
              <a:t> build :</a:t>
            </a:r>
            <a:r>
              <a:rPr lang="en-US" dirty="0" err="1">
                <a:solidFill>
                  <a:srgbClr val="202124"/>
                </a:solidFill>
                <a:latin typeface="Roboto" panose="020F0502020204030204" pitchFamily="34" charset="0"/>
              </a:rPr>
              <a:t>MyBinary</a:t>
            </a:r>
            <a:endParaRPr lang="en-US" dirty="0">
              <a:solidFill>
                <a:srgbClr val="202124"/>
              </a:solidFill>
              <a:latin typeface="Roboto" panose="020F0502020204030204" pitchFamily="34" charset="0"/>
            </a:endParaRPr>
          </a:p>
          <a:p>
            <a:endParaRPr lang="en-US" dirty="0">
              <a:solidFill>
                <a:srgbClr val="202124"/>
              </a:solidFill>
              <a:latin typeface="Roboto" panose="020F0502020204030204" pitchFamily="34" charset="0"/>
            </a:endParaRPr>
          </a:p>
          <a:p>
            <a:pPr algn="l">
              <a:buFont typeface="+mj-lt"/>
              <a:buAutoNum type="arabicPeriod"/>
            </a:pPr>
            <a:r>
              <a:rPr lang="en-US" b="0" i="0" dirty="0">
                <a:solidFill>
                  <a:srgbClr val="202124"/>
                </a:solidFill>
                <a:effectLst/>
                <a:latin typeface="Roboto" panose="020F0502020204030204" pitchFamily="34" charset="0"/>
              </a:rPr>
              <a:t>Create a dependency graph among artifacts.</a:t>
            </a:r>
            <a:endParaRPr lang="en-US" b="0" i="0" dirty="0">
              <a:solidFill>
                <a:srgbClr val="202124"/>
              </a:solidFill>
              <a:effectLst/>
              <a:latin typeface="Roboto" panose="020F0502020204030204" pitchFamily="34" charset="0"/>
            </a:endParaRPr>
          </a:p>
          <a:p>
            <a:pPr algn="l">
              <a:buFont typeface="+mj-lt"/>
              <a:buAutoNum type="arabicPeriod"/>
            </a:pPr>
            <a:endParaRPr lang="en-US" b="0" i="0" dirty="0">
              <a:solidFill>
                <a:srgbClr val="202124"/>
              </a:solidFill>
              <a:effectLst/>
              <a:latin typeface="Roboto" panose="020F0502020204030204" pitchFamily="34" charset="0"/>
            </a:endParaRPr>
          </a:p>
          <a:p>
            <a:pPr algn="l">
              <a:buFont typeface="+mj-lt"/>
              <a:buAutoNum type="arabicPeriod"/>
            </a:pPr>
            <a:r>
              <a:rPr lang="en-US" b="0" i="0" dirty="0">
                <a:solidFill>
                  <a:srgbClr val="202124"/>
                </a:solidFill>
                <a:effectLst/>
                <a:latin typeface="Roboto" panose="020F0502020204030204" pitchFamily="34" charset="0"/>
              </a:rPr>
              <a:t>Uses the graph to determine the transitive dependencies of </a:t>
            </a:r>
            <a:r>
              <a:rPr lang="en-US" b="0" i="0" dirty="0" err="1">
                <a:solidFill>
                  <a:srgbClr val="202124"/>
                </a:solidFill>
                <a:effectLst/>
                <a:latin typeface="Roboto" panose="020F0502020204030204" pitchFamily="34" charset="0"/>
              </a:rPr>
              <a:t>MyBinary</a:t>
            </a:r>
            <a:r>
              <a:rPr lang="en-US" dirty="0">
                <a:solidFill>
                  <a:srgbClr val="202124"/>
                </a:solidFill>
                <a:latin typeface="Roboto" panose="020F0502020204030204" pitchFamily="34" charset="0"/>
              </a:rPr>
              <a:t> recursively</a:t>
            </a:r>
            <a:endParaRPr lang="en-US" dirty="0">
              <a:solidFill>
                <a:srgbClr val="202124"/>
              </a:solidFill>
              <a:latin typeface="Roboto" panose="020F0502020204030204" pitchFamily="34" charset="0"/>
            </a:endParaRPr>
          </a:p>
          <a:p>
            <a:pPr algn="l">
              <a:buFont typeface="+mj-lt"/>
              <a:buAutoNum type="arabicPeriod"/>
            </a:pPr>
            <a:endParaRPr lang="en-US" b="0" i="0" dirty="0">
              <a:solidFill>
                <a:srgbClr val="202124"/>
              </a:solidFill>
              <a:effectLst/>
              <a:latin typeface="Roboto" panose="020F0502020204030204" pitchFamily="34" charset="0"/>
            </a:endParaRPr>
          </a:p>
          <a:p>
            <a:pPr algn="l">
              <a:buFont typeface="+mj-lt"/>
              <a:buAutoNum type="arabicPeriod"/>
            </a:pPr>
            <a:r>
              <a:rPr lang="en-US" b="0" i="0" dirty="0">
                <a:solidFill>
                  <a:srgbClr val="202124"/>
                </a:solidFill>
                <a:effectLst/>
                <a:latin typeface="Roboto" panose="020F0502020204030204" pitchFamily="34" charset="0"/>
              </a:rPr>
              <a:t>Builds each of those dependencies, in order. </a:t>
            </a:r>
            <a:endParaRPr lang="en-US" b="0" i="0" dirty="0">
              <a:solidFill>
                <a:srgbClr val="202124"/>
              </a:solidFill>
              <a:effectLst/>
              <a:latin typeface="Roboto" panose="020F0502020204030204" pitchFamily="34" charset="0"/>
            </a:endParaRPr>
          </a:p>
          <a:p>
            <a:pPr algn="l">
              <a:buFont typeface="+mj-lt"/>
              <a:buAutoNum type="arabicPeriod"/>
            </a:pPr>
            <a:endParaRPr lang="en-US" b="0" i="0" dirty="0">
              <a:solidFill>
                <a:srgbClr val="202124"/>
              </a:solidFill>
              <a:effectLst/>
              <a:latin typeface="Roboto" panose="020F0502020204030204" pitchFamily="34" charset="0"/>
            </a:endParaRPr>
          </a:p>
          <a:p>
            <a:pPr algn="l">
              <a:buFont typeface="+mj-lt"/>
              <a:buAutoNum type="arabicPeriod"/>
            </a:pPr>
            <a:r>
              <a:rPr lang="en-US" b="0" i="0" dirty="0">
                <a:solidFill>
                  <a:srgbClr val="202124"/>
                </a:solidFill>
                <a:effectLst/>
                <a:latin typeface="Roboto" panose="020F0502020204030204" pitchFamily="34" charset="0"/>
              </a:rPr>
              <a:t>Builds </a:t>
            </a:r>
            <a:r>
              <a:rPr lang="en-US" b="0" i="0" dirty="0" err="1">
                <a:solidFill>
                  <a:srgbClr val="202124"/>
                </a:solidFill>
                <a:effectLst/>
                <a:latin typeface="Roboto" panose="020F0502020204030204" pitchFamily="34" charset="0"/>
              </a:rPr>
              <a:t>MyBinary</a:t>
            </a:r>
            <a:r>
              <a:rPr lang="en-US" b="0" i="0" dirty="0">
                <a:solidFill>
                  <a:srgbClr val="202124"/>
                </a:solidFill>
                <a:effectLst/>
                <a:latin typeface="Roboto" panose="020F0502020204030204" pitchFamily="34" charset="0"/>
              </a:rPr>
              <a:t> to produce a final executable binary that links in all of the dependencies that were built in step 3.</a:t>
            </a:r>
            <a:endParaRPr lang="en-US" b="0" i="0" dirty="0">
              <a:solidFill>
                <a:srgbClr val="202124"/>
              </a:solidFill>
              <a:effectLst/>
              <a:latin typeface="Roboto" panose="020F0502020204030204" pitchFamily="34" charset="0"/>
            </a:endParaRPr>
          </a:p>
          <a:p>
            <a:endParaRPr lang="en-US" dirty="0">
              <a:solidFill>
                <a:srgbClr val="202124"/>
              </a:solidFill>
              <a:latin typeface="Roboto" panose="020F050202020403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Bazel</a:t>
            </a:r>
            <a:r>
              <a:rPr lang="en-US" altLang="zh-CN" dirty="0"/>
              <a:t> (Artifact-based)</a:t>
            </a:r>
            <a:endParaRPr lang="zh-CN" altLang="en-US"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1091565" y="1274445"/>
            <a:ext cx="5884545" cy="3296285"/>
          </a:xfrm>
          <a:prstGeom prst="rect">
            <a:avLst/>
          </a:prstGeom>
          <a:noFill/>
        </p:spPr>
        <p:txBody>
          <a:bodyPr wrap="square" rtlCol="0" anchor="t">
            <a:noAutofit/>
          </a:bodyPr>
          <a:lstStyle/>
          <a:p>
            <a:pPr fontAlgn="auto">
              <a:spcBef>
                <a:spcPts val="600"/>
              </a:spcBef>
            </a:pPr>
            <a:r>
              <a:rPr lang="zh-CN" altLang="en-US" sz="2000" dirty="0">
                <a:solidFill>
                  <a:srgbClr val="C00000"/>
                </a:solidFill>
              </a:rPr>
              <a:t>Sandboxing </a:t>
            </a:r>
            <a:r>
              <a:rPr lang="zh-CN" altLang="en-US" sz="2000" dirty="0"/>
              <a:t>to enforce artifact dependencies</a:t>
            </a:r>
            <a:endParaRPr lang="zh-CN" altLang="en-US" sz="2000" dirty="0"/>
          </a:p>
          <a:p>
            <a:pPr fontAlgn="auto">
              <a:spcBef>
                <a:spcPts val="600"/>
              </a:spcBef>
            </a:pPr>
            <a:r>
              <a:rPr lang="zh-CN" altLang="en-US" sz="2000" dirty="0"/>
              <a:t>Distributed compilation, </a:t>
            </a:r>
            <a:r>
              <a:rPr lang="zh-CN" altLang="en-US" sz="2000" dirty="0">
                <a:solidFill>
                  <a:srgbClr val="C00000"/>
                </a:solidFill>
              </a:rPr>
              <a:t>caching</a:t>
            </a:r>
            <a:endParaRPr lang="zh-CN" altLang="en-US" sz="2000" dirty="0"/>
          </a:p>
          <a:p>
            <a:pPr fontAlgn="auto">
              <a:spcBef>
                <a:spcPts val="600"/>
              </a:spcBef>
            </a:pPr>
            <a:r>
              <a:rPr lang="zh-CN" altLang="en-US" sz="2000" dirty="0"/>
              <a:t>Test dependencies &amp; caching</a:t>
            </a:r>
            <a:endParaRPr lang="zh-CN" altLang="en-US" sz="2000" dirty="0"/>
          </a:p>
          <a:p>
            <a:pPr fontAlgn="auto">
              <a:spcBef>
                <a:spcPts val="600"/>
              </a:spcBef>
            </a:pPr>
            <a:r>
              <a:rPr lang="zh-CN" altLang="en-US" sz="2000" dirty="0"/>
              <a:t>Dependencies include env vars, toolchains</a:t>
            </a:r>
            <a:endParaRPr lang="zh-CN" altLang="en-US" sz="2000" dirty="0"/>
          </a:p>
          <a:p>
            <a:pPr fontAlgn="auto">
              <a:spcBef>
                <a:spcPts val="600"/>
              </a:spcBef>
            </a:pPr>
            <a:r>
              <a:rPr lang="zh-CN" altLang="en-US" sz="2000" dirty="0"/>
              <a:t>Conservative header dependency extraction</a:t>
            </a:r>
            <a:endParaRPr lang="zh-CN" altLang="en-US" sz="2000" dirty="0"/>
          </a:p>
          <a:p>
            <a:pPr fontAlgn="auto">
              <a:spcBef>
                <a:spcPts val="600"/>
              </a:spcBef>
            </a:pPr>
            <a:r>
              <a:rPr lang="zh-CN" altLang="en-US" sz="2000" dirty="0"/>
              <a:t>Extensible for custom languages, tools</a:t>
            </a:r>
            <a:endParaRPr lang="zh-CN" altLang="en-US" sz="2000" dirty="0"/>
          </a:p>
        </p:txBody>
      </p:sp>
      <p:pic>
        <p:nvPicPr>
          <p:cNvPr id="4" name="图片 3"/>
          <p:cNvPicPr>
            <a:picLocks noChangeAspect="1"/>
          </p:cNvPicPr>
          <p:nvPr/>
        </p:nvPicPr>
        <p:blipFill>
          <a:blip r:embed="rId1"/>
          <a:stretch>
            <a:fillRect/>
          </a:stretch>
        </p:blipFill>
        <p:spPr>
          <a:xfrm>
            <a:off x="7527290" y="1345565"/>
            <a:ext cx="3933825" cy="397192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819048" y="1319889"/>
            <a:ext cx="2553904" cy="2646045"/>
            <a:chOff x="5865211" y="1319889"/>
            <a:chExt cx="2553904" cy="2646045"/>
          </a:xfrm>
        </p:grpSpPr>
        <p:sp>
          <p:nvSpPr>
            <p:cNvPr id="2" name="文本框 1"/>
            <p:cNvSpPr txBox="1"/>
            <p:nvPr/>
          </p:nvSpPr>
          <p:spPr>
            <a:xfrm>
              <a:off x="5865211" y="1319889"/>
              <a:ext cx="2527300" cy="2646045"/>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04</a:t>
              </a:r>
              <a:endParaRPr lang="en-US" altLang="zh-CN"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037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FOUR </a:t>
              </a:r>
              <a:endParaRPr lang="zh-CN" altLang="en-US" sz="2400" dirty="0">
                <a:solidFill>
                  <a:schemeClr val="accent1"/>
                </a:solidFill>
                <a:latin typeface="Helvetica" pitchFamily="2" charset="0"/>
                <a:cs typeface="Arial" panose="020B0604020202090204" pitchFamily="34" charset="0"/>
                <a:sym typeface="+mn-lt"/>
              </a:endParaRPr>
            </a:p>
          </p:txBody>
        </p:sp>
      </p:grpSp>
      <p:sp>
        <p:nvSpPr>
          <p:cNvPr id="5" name="文本框 4"/>
          <p:cNvSpPr txBox="1"/>
          <p:nvPr/>
        </p:nvSpPr>
        <p:spPr>
          <a:xfrm>
            <a:off x="0" y="3680460"/>
            <a:ext cx="12192635" cy="706755"/>
          </a:xfrm>
          <a:prstGeom prst="rect">
            <a:avLst/>
          </a:prstGeom>
          <a:noFill/>
        </p:spPr>
        <p:txBody>
          <a:bodyPr wrap="square" rtlCol="0" anchor="t">
            <a:spAutoFit/>
          </a:bodyPr>
          <a:lstStyle/>
          <a:p>
            <a:pPr algn="ctr"/>
            <a:r>
              <a:rPr lang="en-US" altLang="zh-CN" sz="4000" b="1" dirty="0">
                <a:solidFill>
                  <a:schemeClr val="accent1"/>
                </a:solidFill>
                <a:latin typeface="Helvetica" pitchFamily="2" charset="0"/>
                <a:cs typeface="+mn-ea"/>
              </a:rPr>
              <a:t>Dependency</a:t>
            </a:r>
            <a:endParaRPr lang="en-US" altLang="zh-CN" sz="4000" b="1" dirty="0">
              <a:solidFill>
                <a:schemeClr val="accent1"/>
              </a:solidFill>
              <a:latin typeface="Helvetica" pitchFamily="2" charset="0"/>
              <a:cs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Internal vs. external dependencies</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文本框 4"/>
          <p:cNvSpPr txBox="1"/>
          <p:nvPr/>
        </p:nvSpPr>
        <p:spPr>
          <a:xfrm>
            <a:off x="1091565" y="1217295"/>
            <a:ext cx="10903211" cy="4785995"/>
          </a:xfrm>
          <a:prstGeom prst="rect">
            <a:avLst/>
          </a:prstGeom>
          <a:noFill/>
        </p:spPr>
        <p:txBody>
          <a:bodyPr wrap="square" rtlCol="0" anchor="t">
            <a:noAutofit/>
          </a:bodyPr>
          <a:lstStyle/>
          <a:p>
            <a:pPr indent="0" fontAlgn="auto">
              <a:spcBef>
                <a:spcPts val="600"/>
              </a:spcBef>
            </a:pPr>
            <a:r>
              <a:rPr lang="zh-CN" altLang="en-US" sz="2000" b="1" dirty="0">
                <a:solidFill>
                  <a:srgbClr val="515223"/>
                </a:solidFill>
                <a:latin typeface="Helvetica" pitchFamily="2" charset="0"/>
                <a:cs typeface="Arial" panose="020B0604020202090204" pitchFamily="34" charset="0"/>
              </a:rPr>
              <a:t>Internal</a:t>
            </a:r>
            <a:endParaRPr lang="zh-CN" altLang="en-US" sz="2000" b="1" dirty="0">
              <a:solidFill>
                <a:srgbClr val="515223"/>
              </a:solidFill>
              <a:latin typeface="Helvetica" pitchFamily="2" charset="0"/>
              <a:cs typeface="Arial" panose="020B0604020202090204" pitchFamily="34" charset="0"/>
            </a:endParaRPr>
          </a:p>
          <a:p>
            <a:pPr lvl="1">
              <a:spcBef>
                <a:spcPts val="600"/>
              </a:spcBef>
            </a:pPr>
            <a:r>
              <a:rPr lang="zh-CN" altLang="en-US" sz="2000" dirty="0"/>
              <a:t>Maintainers' goals are (hopefully) aligned</a:t>
            </a:r>
            <a:endParaRPr lang="zh-CN" altLang="en-US" sz="2000" dirty="0"/>
          </a:p>
          <a:p>
            <a:pPr lvl="1">
              <a:spcBef>
                <a:spcPts val="600"/>
              </a:spcBef>
            </a:pPr>
            <a:r>
              <a:rPr lang="zh-CN" altLang="en-US" sz="2000" dirty="0"/>
              <a:t>Can audit for all uses of a library</a:t>
            </a:r>
            <a:endParaRPr lang="zh-CN" altLang="en-US" sz="2000" dirty="0"/>
          </a:p>
          <a:p>
            <a:pPr lvl="1">
              <a:spcBef>
                <a:spcPts val="600"/>
              </a:spcBef>
            </a:pPr>
            <a:r>
              <a:rPr lang="zh-CN" altLang="en-US" sz="2000" dirty="0"/>
              <a:t>Can coordinate large-scale changes of all code using library (facilitated by monorepo)</a:t>
            </a:r>
            <a:endParaRPr lang="zh-CN" altLang="en-US" sz="2000" dirty="0"/>
          </a:p>
          <a:p>
            <a:pPr lvl="1">
              <a:spcBef>
                <a:spcPts val="600"/>
              </a:spcBef>
            </a:pPr>
            <a:r>
              <a:rPr lang="zh-CN" altLang="en-US" sz="2000" dirty="0"/>
              <a:t>Can manage with</a:t>
            </a:r>
            <a:r>
              <a:rPr lang="zh-CN" altLang="en-US" sz="2000" dirty="0">
                <a:solidFill>
                  <a:srgbClr val="C00000"/>
                </a:solidFill>
              </a:rPr>
              <a:t> source control </a:t>
            </a:r>
            <a:r>
              <a:rPr lang="zh-CN" altLang="en-US" sz="2000" dirty="0"/>
              <a:t>tools, policies</a:t>
            </a:r>
            <a:endParaRPr lang="zh-CN" altLang="en-US" sz="2000" dirty="0"/>
          </a:p>
          <a:p>
            <a:pPr>
              <a:spcBef>
                <a:spcPts val="600"/>
              </a:spcBef>
            </a:pPr>
            <a:r>
              <a:rPr lang="zh-CN" altLang="en-US" sz="2000" b="1" dirty="0">
                <a:solidFill>
                  <a:srgbClr val="515223"/>
                </a:solidFill>
                <a:latin typeface="Helvetica" pitchFamily="2" charset="0"/>
                <a:cs typeface="Arial" panose="020B0604020202090204" pitchFamily="34" charset="0"/>
              </a:rPr>
              <a:t>External</a:t>
            </a:r>
            <a:endParaRPr lang="zh-CN" altLang="en-US" sz="2000" b="1" dirty="0">
              <a:solidFill>
                <a:srgbClr val="515223"/>
              </a:solidFill>
              <a:latin typeface="Helvetica" pitchFamily="2" charset="0"/>
              <a:cs typeface="Arial" panose="020B0604020202090204" pitchFamily="34" charset="0"/>
            </a:endParaRPr>
          </a:p>
          <a:p>
            <a:pPr lvl="1">
              <a:spcBef>
                <a:spcPts val="600"/>
              </a:spcBef>
            </a:pPr>
            <a:r>
              <a:rPr lang="zh-CN" altLang="en-US" sz="2000" dirty="0"/>
              <a:t>Cannot assume coordination between library and users</a:t>
            </a:r>
            <a:endParaRPr lang="zh-CN" altLang="en-US" sz="2000" dirty="0"/>
          </a:p>
          <a:p>
            <a:pPr lvl="1">
              <a:spcBef>
                <a:spcPts val="600"/>
              </a:spcBef>
            </a:pPr>
            <a:r>
              <a:rPr lang="zh-CN" altLang="en-US" sz="2000" dirty="0"/>
              <a:t>Cannot enforce compatibility, maintenance policies</a:t>
            </a:r>
            <a:endParaRPr lang="zh-CN" altLang="en-US" sz="2000" dirty="0"/>
          </a:p>
          <a:p>
            <a:pPr lvl="1">
              <a:spcBef>
                <a:spcPts val="600"/>
              </a:spcBef>
            </a:pPr>
            <a:r>
              <a:rPr lang="zh-CN" altLang="en-US" sz="2000" dirty="0"/>
              <a:t>Cannot control release schedule</a:t>
            </a:r>
            <a:endParaRPr lang="zh-CN" altLang="en-US" sz="2000" dirty="0"/>
          </a:p>
          <a:p>
            <a:pPr lvl="1">
              <a:spcBef>
                <a:spcPts val="600"/>
              </a:spcBef>
            </a:pPr>
            <a:r>
              <a:rPr lang="zh-CN" altLang="en-US" sz="2000" dirty="0"/>
              <a:t>Danger of diamond dependency problem</a:t>
            </a:r>
            <a:endParaRPr lang="zh-CN" altLang="en-US" sz="2000" dirty="0"/>
          </a:p>
          <a:p>
            <a:pPr lvl="1">
              <a:spcBef>
                <a:spcPts val="600"/>
              </a:spcBef>
            </a:pPr>
            <a:r>
              <a:rPr lang="zh-CN" altLang="en-US" sz="2000" dirty="0"/>
              <a:t>Domain of </a:t>
            </a:r>
            <a:r>
              <a:rPr lang="zh-CN" altLang="en-US" sz="2000" dirty="0">
                <a:solidFill>
                  <a:srgbClr val="C00000"/>
                </a:solidFill>
              </a:rPr>
              <a:t>dependency management</a:t>
            </a:r>
            <a:endParaRPr lang="zh-CN" altLang="en-US" sz="2000" dirty="0">
              <a:solidFill>
                <a:srgbClr val="C0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9270365" cy="790575"/>
          </a:xfrm>
        </p:spPr>
        <p:txBody>
          <a:bodyPr>
            <a:normAutofit/>
          </a:bodyPr>
          <a:lstStyle/>
          <a:p>
            <a:r>
              <a:rPr lang="zh-CN" altLang="en-US"/>
              <a:t>Why depend on external code?</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文本框 4"/>
          <p:cNvSpPr txBox="1"/>
          <p:nvPr/>
        </p:nvSpPr>
        <p:spPr>
          <a:xfrm>
            <a:off x="1091565" y="1280160"/>
            <a:ext cx="10427335" cy="4702810"/>
          </a:xfrm>
          <a:prstGeom prst="rect">
            <a:avLst/>
          </a:prstGeom>
          <a:noFill/>
        </p:spPr>
        <p:txBody>
          <a:bodyPr wrap="square" rtlCol="0" anchor="t">
            <a:noAutofit/>
          </a:bodyPr>
          <a:lstStyle/>
          <a:p>
            <a:pPr>
              <a:spcBef>
                <a:spcPts val="600"/>
              </a:spcBef>
            </a:pPr>
            <a:r>
              <a:rPr lang="zh-CN" altLang="en-US" sz="2000" b="1" dirty="0">
                <a:solidFill>
                  <a:srgbClr val="515223"/>
                </a:solidFill>
                <a:latin typeface="Helvetica" pitchFamily="2" charset="0"/>
                <a:cs typeface="Arial" panose="020B0604020202090204" pitchFamily="34" charset="0"/>
              </a:rPr>
              <a:t>Pros</a:t>
            </a:r>
            <a:endParaRPr lang="zh-CN" altLang="en-US" sz="2000" b="1" dirty="0">
              <a:solidFill>
                <a:srgbClr val="515223"/>
              </a:solidFill>
              <a:latin typeface="Helvetica" pitchFamily="2" charset="0"/>
              <a:cs typeface="Arial" panose="020B0604020202090204" pitchFamily="34" charset="0"/>
            </a:endParaRPr>
          </a:p>
          <a:p>
            <a:pPr lvl="1">
              <a:spcBef>
                <a:spcPts val="600"/>
              </a:spcBef>
            </a:pPr>
            <a:r>
              <a:rPr lang="zh-CN" altLang="en-US" sz="2000" dirty="0"/>
              <a:t>Increase productivity</a:t>
            </a:r>
            <a:endParaRPr lang="zh-CN" altLang="en-US" sz="2000" dirty="0"/>
          </a:p>
          <a:p>
            <a:pPr lvl="1">
              <a:spcBef>
                <a:spcPts val="600"/>
              </a:spcBef>
            </a:pPr>
            <a:r>
              <a:rPr lang="zh-CN" altLang="en-US" sz="2000" dirty="0"/>
              <a:t>Benefit from higher quality</a:t>
            </a:r>
            <a:endParaRPr lang="zh-CN" altLang="en-US" sz="2000" dirty="0"/>
          </a:p>
          <a:p>
            <a:pPr lvl="2">
              <a:spcBef>
                <a:spcPts val="600"/>
              </a:spcBef>
            </a:pPr>
            <a:r>
              <a:rPr lang="zh-CN" altLang="en-US" sz="2000" dirty="0"/>
              <a:t>External expertise</a:t>
            </a:r>
            <a:endParaRPr lang="zh-CN" altLang="en-US" sz="2000" dirty="0"/>
          </a:p>
          <a:p>
            <a:pPr lvl="2">
              <a:spcBef>
                <a:spcPts val="600"/>
              </a:spcBef>
            </a:pPr>
            <a:r>
              <a:rPr lang="zh-CN" altLang="en-US" sz="2000" dirty="0"/>
              <a:t>Incorporate experience from diverse users</a:t>
            </a:r>
            <a:endParaRPr lang="zh-CN" altLang="en-US" sz="2000" dirty="0"/>
          </a:p>
          <a:p>
            <a:pPr lvl="1">
              <a:spcBef>
                <a:spcPts val="600"/>
              </a:spcBef>
            </a:pPr>
            <a:r>
              <a:rPr lang="zh-CN" altLang="en-US" sz="2000" dirty="0"/>
              <a:t>Outsource maintenance burden</a:t>
            </a:r>
            <a:endParaRPr lang="zh-CN" altLang="en-US" sz="2000" dirty="0"/>
          </a:p>
          <a:p>
            <a:pPr indent="0" fontAlgn="auto">
              <a:spcBef>
                <a:spcPts val="600"/>
              </a:spcBef>
            </a:pPr>
            <a:r>
              <a:rPr lang="zh-CN" altLang="en-US" sz="2000" b="1" dirty="0">
                <a:solidFill>
                  <a:srgbClr val="515223"/>
                </a:solidFill>
                <a:latin typeface="Helvetica" pitchFamily="2" charset="0"/>
                <a:cs typeface="Arial" panose="020B0604020202090204" pitchFamily="34" charset="0"/>
              </a:rPr>
              <a:t>Cons</a:t>
            </a:r>
            <a:endParaRPr lang="zh-CN" altLang="en-US" sz="2000" b="1" dirty="0">
              <a:solidFill>
                <a:srgbClr val="515223"/>
              </a:solidFill>
              <a:latin typeface="Helvetica" pitchFamily="2" charset="0"/>
              <a:cs typeface="Arial" panose="020B0604020202090204" pitchFamily="34" charset="0"/>
            </a:endParaRPr>
          </a:p>
          <a:p>
            <a:pPr lvl="1">
              <a:spcBef>
                <a:spcPts val="600"/>
              </a:spcBef>
            </a:pPr>
            <a:r>
              <a:rPr lang="zh-CN" altLang="en-US" sz="2000" dirty="0"/>
              <a:t>Dependence on code outside of your control</a:t>
            </a:r>
            <a:endParaRPr lang="zh-CN" altLang="en-US" sz="2000" dirty="0"/>
          </a:p>
          <a:p>
            <a:pPr lvl="1" indent="457200">
              <a:spcBef>
                <a:spcPts val="600"/>
              </a:spcBef>
            </a:pPr>
            <a:r>
              <a:rPr lang="zh-CN" altLang="en-US" sz="2000" dirty="0"/>
              <a:t>Do you have the resources to audit it?</a:t>
            </a:r>
            <a:endParaRPr lang="zh-CN" altLang="en-US" sz="2000" dirty="0"/>
          </a:p>
          <a:p>
            <a:pPr lvl="1">
              <a:spcBef>
                <a:spcPts val="600"/>
              </a:spcBef>
            </a:pPr>
            <a:r>
              <a:rPr lang="zh-CN" altLang="en-US" sz="2000" dirty="0"/>
              <a:t>Potential for dependency bloat</a:t>
            </a:r>
            <a:endParaRPr lang="zh-CN" altLang="en-US" sz="2000" dirty="0"/>
          </a:p>
          <a:p>
            <a:pPr lvl="1">
              <a:spcBef>
                <a:spcPts val="600"/>
              </a:spcBef>
            </a:pPr>
            <a:r>
              <a:rPr lang="zh-CN" altLang="en-US" sz="2000" dirty="0"/>
              <a:t>Potential for incompatibilities</a:t>
            </a:r>
            <a:endParaRPr lang="zh-CN" altLang="en-US" sz="2000" dirty="0"/>
          </a:p>
          <a:p>
            <a:pPr lvl="1">
              <a:spcBef>
                <a:spcPts val="600"/>
              </a:spcBef>
            </a:pPr>
            <a:r>
              <a:rPr lang="zh-CN" altLang="en-US" sz="2000" dirty="0"/>
              <a:t>Supply chain vulnerabilities</a:t>
            </a:r>
            <a:endParaRPr lang="zh-CN" alt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t>Where to get dependencies from?</a:t>
            </a: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38860" y="1028700"/>
            <a:ext cx="10480040" cy="5231765"/>
          </a:xfrm>
          <a:prstGeom prst="rect">
            <a:avLst/>
          </a:prstGeom>
          <a:noFill/>
        </p:spPr>
        <p:txBody>
          <a:bodyPr wrap="square" rtlCol="0" anchor="t">
            <a:noAutofit/>
          </a:bodyPr>
          <a:lstStyle/>
          <a:p>
            <a:pPr indent="0" fontAlgn="auto">
              <a:spcBef>
                <a:spcPts val="600"/>
              </a:spcBef>
            </a:pPr>
            <a:r>
              <a:rPr sz="2000" b="1" dirty="0">
                <a:solidFill>
                  <a:srgbClr val="515223"/>
                </a:solidFill>
                <a:latin typeface="Helvetica" pitchFamily="2" charset="0"/>
                <a:cs typeface="Arial" panose="020B0604020202090204" pitchFamily="34" charset="0"/>
              </a:rPr>
              <a:t>Defer to users / distributors</a:t>
            </a:r>
            <a:endParaRPr sz="2000" b="1" dirty="0">
              <a:solidFill>
                <a:srgbClr val="515223"/>
              </a:solidFill>
              <a:latin typeface="Helvetica" pitchFamily="2" charset="0"/>
              <a:cs typeface="Arial" panose="020B0604020202090204" pitchFamily="34" charset="0"/>
            </a:endParaRPr>
          </a:p>
          <a:p>
            <a:pPr lvl="1" indent="0" algn="just" fontAlgn="auto">
              <a:spcBef>
                <a:spcPts val="600"/>
              </a:spcBef>
            </a:pPr>
            <a:r>
              <a:rPr sz="2000" dirty="0"/>
              <a:t>E.g. List of Debian packages to install</a:t>
            </a:r>
            <a:endParaRPr sz="2000" dirty="0"/>
          </a:p>
          <a:p>
            <a:pPr lvl="1" indent="0" algn="just" fontAlgn="auto">
              <a:spcBef>
                <a:spcPts val="600"/>
              </a:spcBef>
            </a:pPr>
            <a:r>
              <a:rPr sz="2000" dirty="0"/>
              <a:t>Common for libraries, system software (C/C++); often used for "standard" dependencies</a:t>
            </a:r>
            <a:endParaRPr sz="2000" dirty="0"/>
          </a:p>
          <a:p>
            <a:pPr lvl="1" indent="0" algn="just" fontAlgn="auto">
              <a:spcBef>
                <a:spcPts val="600"/>
              </a:spcBef>
            </a:pPr>
            <a:r>
              <a:rPr sz="2000" dirty="0"/>
              <a:t>Build system should confirm that dependencies are satisfied</a:t>
            </a:r>
            <a:endParaRPr sz="2000" dirty="0"/>
          </a:p>
          <a:p>
            <a:pPr lvl="1" indent="0" algn="just" fontAlgn="auto">
              <a:spcBef>
                <a:spcPts val="600"/>
              </a:spcBef>
            </a:pPr>
            <a:r>
              <a:rPr sz="2000" dirty="0"/>
              <a:t>May assume elevated privileges, may mask portability</a:t>
            </a:r>
            <a:endParaRPr sz="2000" dirty="0"/>
          </a:p>
          <a:p>
            <a:pPr>
              <a:spcBef>
                <a:spcPts val="600"/>
              </a:spcBef>
            </a:pPr>
            <a:r>
              <a:rPr sz="2000" b="1" dirty="0">
                <a:solidFill>
                  <a:srgbClr val="515223"/>
                </a:solidFill>
                <a:latin typeface="Helvetica" pitchFamily="2" charset="0"/>
                <a:cs typeface="Arial" panose="020B0604020202090204" pitchFamily="34" charset="0"/>
              </a:rPr>
              <a:t>Vendor</a:t>
            </a:r>
            <a:r>
              <a:rPr lang="en-US" sz="2000" b="1" dirty="0">
                <a:solidFill>
                  <a:srgbClr val="515223"/>
                </a:solidFill>
                <a:latin typeface="Helvetica" pitchFamily="2" charset="0"/>
                <a:cs typeface="Arial" panose="020B0604020202090204" pitchFamily="34" charset="0"/>
              </a:rPr>
              <a:t>s</a:t>
            </a:r>
            <a:endParaRPr sz="2000" b="1" dirty="0">
              <a:solidFill>
                <a:srgbClr val="515223"/>
              </a:solidFill>
              <a:latin typeface="Helvetica" pitchFamily="2" charset="0"/>
              <a:cs typeface="Arial" panose="020B0604020202090204" pitchFamily="34" charset="0"/>
            </a:endParaRPr>
          </a:p>
          <a:p>
            <a:pPr lvl="1" indent="0" algn="just" fontAlgn="auto">
              <a:spcBef>
                <a:spcPts val="600"/>
              </a:spcBef>
            </a:pPr>
            <a:r>
              <a:rPr sz="2000" dirty="0"/>
              <a:t>Copy third party source code (or artifacts) into your repository</a:t>
            </a:r>
            <a:endParaRPr sz="2000" dirty="0"/>
          </a:p>
          <a:p>
            <a:pPr lvl="0" indent="0" fontAlgn="auto">
              <a:spcBef>
                <a:spcPts val="600"/>
              </a:spcBef>
              <a:buNone/>
            </a:pPr>
            <a:r>
              <a:rPr sz="2000" b="1" dirty="0">
                <a:solidFill>
                  <a:srgbClr val="515223"/>
                </a:solidFill>
                <a:latin typeface="Helvetica" pitchFamily="2" charset="0"/>
                <a:cs typeface="Arial" panose="020B0604020202090204" pitchFamily="34" charset="0"/>
              </a:rPr>
              <a:t>Artifact repositories</a:t>
            </a:r>
            <a:endParaRPr sz="2000" b="1" dirty="0">
              <a:solidFill>
                <a:srgbClr val="515223"/>
              </a:solidFill>
              <a:latin typeface="Helvetica" pitchFamily="2" charset="0"/>
              <a:cs typeface="Arial" panose="020B0604020202090204" pitchFamily="34" charset="0"/>
            </a:endParaRPr>
          </a:p>
          <a:p>
            <a:pPr marL="457200" lvl="1" indent="0" algn="just" fontAlgn="auto">
              <a:spcBef>
                <a:spcPts val="600"/>
              </a:spcBef>
              <a:buNone/>
            </a:pPr>
            <a:r>
              <a:rPr sz="2000" dirty="0">
                <a:solidFill>
                  <a:schemeClr val="tx1"/>
                </a:solidFill>
              </a:rPr>
              <a:t>Download binary artifacts and their transitive dependencies</a:t>
            </a:r>
            <a:endParaRPr sz="2000" dirty="0">
              <a:solidFill>
                <a:schemeClr val="tx1"/>
              </a:solidFill>
            </a:endParaRPr>
          </a:p>
          <a:p>
            <a:pPr marL="457200" lvl="1" indent="0" algn="just" fontAlgn="auto">
              <a:spcBef>
                <a:spcPts val="600"/>
              </a:spcBef>
              <a:buNone/>
            </a:pPr>
            <a:r>
              <a:rPr sz="2000" dirty="0">
                <a:solidFill>
                  <a:schemeClr val="tx1"/>
                </a:solidFill>
              </a:rPr>
              <a:t>E.g. Maven Central, Python Wheels, Debian packages</a:t>
            </a:r>
            <a:endParaRPr sz="2000" dirty="0">
              <a:solidFill>
                <a:schemeClr val="tx1"/>
              </a:solidFill>
            </a:endParaRPr>
          </a:p>
          <a:p>
            <a:pPr>
              <a:spcBef>
                <a:spcPts val="600"/>
              </a:spcBef>
            </a:pPr>
            <a:r>
              <a:rPr sz="2000" b="1" dirty="0">
                <a:solidFill>
                  <a:srgbClr val="515223"/>
                </a:solidFill>
                <a:latin typeface="Helvetica" pitchFamily="2" charset="0"/>
                <a:cs typeface="Arial" panose="020B0604020202090204" pitchFamily="34" charset="0"/>
              </a:rPr>
              <a:t>Source code repositories</a:t>
            </a:r>
            <a:endParaRPr sz="2000" b="1" dirty="0">
              <a:solidFill>
                <a:srgbClr val="515223"/>
              </a:solidFill>
              <a:latin typeface="Helvetica" pitchFamily="2" charset="0"/>
              <a:cs typeface="Arial" panose="020B0604020202090204" pitchFamily="34" charset="0"/>
            </a:endParaRPr>
          </a:p>
          <a:p>
            <a:pPr marL="457200" lvl="1" indent="0" algn="just" fontAlgn="auto">
              <a:spcBef>
                <a:spcPts val="600"/>
              </a:spcBef>
              <a:buNone/>
            </a:pPr>
            <a:r>
              <a:rPr sz="2000" dirty="0">
                <a:solidFill>
                  <a:schemeClr val="tx1"/>
                </a:solidFill>
              </a:rPr>
              <a:t>Download source code and compile locall</a:t>
            </a:r>
            <a:r>
              <a:rPr lang="en-US" sz="2000" dirty="0">
                <a:solidFill>
                  <a:schemeClr val="tx1"/>
                </a:solidFill>
              </a:rPr>
              <a:t>y</a:t>
            </a:r>
            <a:endParaRPr sz="2000" dirty="0">
              <a:solidFill>
                <a:schemeClr val="tx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Repository mirrors</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1038225" y="1221740"/>
            <a:ext cx="10835528" cy="3927475"/>
          </a:xfrm>
          <a:prstGeom prst="rect">
            <a:avLst/>
          </a:prstGeom>
          <a:noFill/>
        </p:spPr>
        <p:txBody>
          <a:bodyPr wrap="square" rtlCol="0" anchor="t">
            <a:noAutofit/>
          </a:bodyPr>
          <a:lstStyle/>
          <a:p>
            <a:pPr>
              <a:spcBef>
                <a:spcPts val="600"/>
              </a:spcBef>
            </a:pPr>
            <a:r>
              <a:rPr lang="zh-CN" altLang="en-US" sz="2000" b="1" dirty="0">
                <a:solidFill>
                  <a:srgbClr val="515223"/>
                </a:solidFill>
                <a:latin typeface="Helvetica" pitchFamily="2" charset="0"/>
                <a:cs typeface="Arial" panose="020B0604020202090204" pitchFamily="34" charset="0"/>
              </a:rPr>
              <a:t>Depending on public repositories is risky</a:t>
            </a:r>
            <a:endParaRPr lang="zh-CN" altLang="en-US" sz="2000" b="1" dirty="0">
              <a:solidFill>
                <a:srgbClr val="515223"/>
              </a:solidFill>
              <a:latin typeface="Helvetica" pitchFamily="2" charset="0"/>
              <a:cs typeface="Arial" panose="020B0604020202090204" pitchFamily="34" charset="0"/>
            </a:endParaRPr>
          </a:p>
          <a:p>
            <a:pPr lvl="1" fontAlgn="auto">
              <a:spcBef>
                <a:spcPts val="600"/>
              </a:spcBef>
            </a:pPr>
            <a:r>
              <a:rPr lang="zh-CN" altLang="en-US" sz="2000" dirty="0"/>
              <a:t>What if their servers are not available?</a:t>
            </a:r>
            <a:endParaRPr lang="zh-CN" altLang="en-US" sz="2000" dirty="0"/>
          </a:p>
          <a:p>
            <a:pPr lvl="1" fontAlgn="auto">
              <a:spcBef>
                <a:spcPts val="600"/>
              </a:spcBef>
            </a:pPr>
            <a:r>
              <a:rPr lang="zh-CN" altLang="en-US" sz="2000" dirty="0"/>
              <a:t>What if packages are removed?</a:t>
            </a:r>
            <a:endParaRPr lang="zh-CN" altLang="en-US" sz="2000" dirty="0"/>
          </a:p>
          <a:p>
            <a:pPr lvl="1" fontAlgn="auto">
              <a:spcBef>
                <a:spcPts val="600"/>
              </a:spcBef>
            </a:pPr>
            <a:r>
              <a:rPr lang="zh-CN" altLang="en-US" sz="2000" dirty="0"/>
              <a:t>Do you trust that an artifact will never change?</a:t>
            </a:r>
            <a:endParaRPr lang="zh-CN" altLang="en-US" sz="2000" dirty="0"/>
          </a:p>
          <a:p>
            <a:pPr lvl="1" fontAlgn="auto">
              <a:spcBef>
                <a:spcPts val="600"/>
              </a:spcBef>
            </a:pPr>
            <a:r>
              <a:rPr lang="zh-CN" altLang="en-US" sz="2000" dirty="0"/>
              <a:t>Does your employer's firewall block binaries? Do they need to scan for viruses?</a:t>
            </a:r>
            <a:endParaRPr lang="zh-CN" altLang="en-US" sz="2000" dirty="0"/>
          </a:p>
          <a:p>
            <a:pPr fontAlgn="auto">
              <a:spcBef>
                <a:spcPts val="600"/>
              </a:spcBef>
            </a:pPr>
            <a:endParaRPr lang="zh-CN" altLang="en-US" sz="2000" dirty="0"/>
          </a:p>
          <a:p>
            <a:pPr fontAlgn="auto">
              <a:spcBef>
                <a:spcPts val="600"/>
              </a:spcBef>
            </a:pPr>
            <a:r>
              <a:rPr lang="zh-CN" altLang="en-US" sz="2000" b="1" dirty="0">
                <a:solidFill>
                  <a:srgbClr val="515223"/>
                </a:solidFill>
                <a:latin typeface="Helvetica" pitchFamily="2" charset="0"/>
                <a:cs typeface="Arial" panose="020B0604020202090204" pitchFamily="34" charset="0"/>
              </a:rPr>
              <a:t>Can point build tools to an internal repository mirror, rather than the public Internet</a:t>
            </a:r>
            <a:endParaRPr lang="zh-CN" altLang="en-US" sz="2000" b="1" dirty="0">
              <a:solidFill>
                <a:srgbClr val="515223"/>
              </a:solidFill>
              <a:latin typeface="Helvetica" pitchFamily="2" charset="0"/>
              <a:cs typeface="Arial" panose="020B0604020202090204" pitchFamily="34" charset="0"/>
            </a:endParaRPr>
          </a:p>
          <a:p>
            <a:pPr indent="457200" fontAlgn="auto">
              <a:spcBef>
                <a:spcPts val="600"/>
              </a:spcBef>
            </a:pPr>
            <a:r>
              <a:rPr lang="zh-CN" altLang="en-US" sz="2000" dirty="0"/>
              <a:t>Tradeoff between maintenance and control</a:t>
            </a:r>
            <a:endParaRPr lang="zh-CN" alt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Dependency </a:t>
            </a:r>
            <a:r>
              <a:rPr lang="en-US" altLang="zh-CN" dirty="0"/>
              <a:t>Tree</a:t>
            </a:r>
            <a:endParaRPr lang="zh-CN" altLang="en-US"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800997" y="1251093"/>
            <a:ext cx="10032365" cy="597543"/>
          </a:xfrm>
          <a:prstGeom prst="rect">
            <a:avLst/>
          </a:prstGeom>
          <a:noFill/>
        </p:spPr>
        <p:txBody>
          <a:bodyPr wrap="square" rtlCol="0" anchor="t">
            <a:noAutofit/>
          </a:bodyPr>
          <a:lstStyle/>
          <a:p>
            <a:pPr>
              <a:spcBef>
                <a:spcPts val="600"/>
              </a:spcBef>
            </a:pPr>
            <a:r>
              <a:rPr lang="zh-CN" altLang="en-US" sz="2000" b="1" dirty="0">
                <a:solidFill>
                  <a:srgbClr val="515223"/>
                </a:solidFill>
                <a:latin typeface="Helvetica" pitchFamily="2" charset="0"/>
                <a:cs typeface="Arial" panose="020B0604020202090204" pitchFamily="34" charset="0"/>
              </a:rPr>
              <a:t>Dependencies have their own transitive dependencies</a:t>
            </a:r>
            <a:endParaRPr lang="en-US" altLang="zh-CN" sz="2000" b="1" dirty="0">
              <a:solidFill>
                <a:srgbClr val="515223"/>
              </a:solidFill>
              <a:latin typeface="Helvetica" pitchFamily="2" charset="0"/>
              <a:cs typeface="Arial" panose="020B060402020209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5" y="1893922"/>
            <a:ext cx="4210526" cy="1934566"/>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3473" y="3301161"/>
            <a:ext cx="3390003" cy="2753673"/>
          </a:xfrm>
          <a:prstGeom prst="rect">
            <a:avLst/>
          </a:prstGeom>
        </p:spPr>
      </p:pic>
      <p:sp>
        <p:nvSpPr>
          <p:cNvPr id="10" name="TextBox 9"/>
          <p:cNvSpPr txBox="1"/>
          <p:nvPr/>
        </p:nvSpPr>
        <p:spPr>
          <a:xfrm>
            <a:off x="7443359" y="2577886"/>
            <a:ext cx="3390003" cy="723275"/>
          </a:xfrm>
          <a:prstGeom prst="rect">
            <a:avLst/>
          </a:prstGeom>
          <a:noFill/>
        </p:spPr>
        <p:txBody>
          <a:bodyPr wrap="square">
            <a:spAutoFit/>
          </a:bodyPr>
          <a:lstStyle/>
          <a:p>
            <a:pPr indent="457200" fontAlgn="auto">
              <a:spcBef>
                <a:spcPts val="600"/>
              </a:spcBef>
            </a:pPr>
            <a:r>
              <a:rPr lang="en-US" altLang="zh-CN" sz="1800" dirty="0"/>
              <a:t>A Java Example:</a:t>
            </a:r>
            <a:endParaRPr lang="en-US" altLang="zh-CN" sz="1800" dirty="0"/>
          </a:p>
          <a:p>
            <a:pPr indent="457200" fontAlgn="auto">
              <a:spcBef>
                <a:spcPts val="600"/>
              </a:spcBef>
            </a:pPr>
            <a:r>
              <a:rPr lang="en-US" altLang="zh-CN" sz="1800" i="1" dirty="0" err="1"/>
              <a:t>mvn</a:t>
            </a:r>
            <a:r>
              <a:rPr lang="en-US" altLang="zh-CN" sz="1800" i="1" dirty="0"/>
              <a:t> </a:t>
            </a:r>
            <a:r>
              <a:rPr lang="en-US" altLang="zh-CN" sz="1800" i="1" dirty="0" err="1"/>
              <a:t>dependency:tree</a:t>
            </a:r>
            <a:endParaRPr lang="zh-CN" altLang="en-US" sz="1800" i="1"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Dependency </a:t>
            </a:r>
            <a:r>
              <a:rPr lang="en-US" altLang="zh-CN" dirty="0"/>
              <a:t>Management</a:t>
            </a:r>
            <a:endParaRPr lang="zh-CN" altLang="en-US"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5"/>
          <p:cNvSpPr txBox="1"/>
          <p:nvPr/>
        </p:nvSpPr>
        <p:spPr>
          <a:xfrm>
            <a:off x="650129" y="1040979"/>
            <a:ext cx="10032365" cy="2532538"/>
          </a:xfrm>
          <a:prstGeom prst="rect">
            <a:avLst/>
          </a:prstGeom>
          <a:noFill/>
        </p:spPr>
        <p:txBody>
          <a:bodyPr wrap="square" rtlCol="0" anchor="t">
            <a:noAutofit/>
          </a:bodyPr>
          <a:lstStyle/>
          <a:p>
            <a:pPr fontAlgn="auto">
              <a:spcBef>
                <a:spcPts val="600"/>
              </a:spcBef>
            </a:pPr>
            <a:r>
              <a:rPr lang="en-US" altLang="zh-CN" sz="2000" b="1" dirty="0">
                <a:solidFill>
                  <a:srgbClr val="515223"/>
                </a:solidFill>
                <a:latin typeface="Helvetica" pitchFamily="2" charset="0"/>
                <a:cs typeface="Arial" panose="020B0604020202090204" pitchFamily="34" charset="0"/>
              </a:rPr>
              <a:t>Dependency Resolution </a:t>
            </a:r>
            <a:endParaRPr lang="en-US" altLang="zh-CN" sz="2000" b="1" dirty="0">
              <a:solidFill>
                <a:srgbClr val="515223"/>
              </a:solidFill>
              <a:latin typeface="Helvetica" pitchFamily="2" charset="0"/>
              <a:cs typeface="Arial" panose="020B0604020202090204" pitchFamily="34" charset="0"/>
            </a:endParaRPr>
          </a:p>
          <a:p>
            <a:pPr fontAlgn="auto">
              <a:spcBef>
                <a:spcPts val="600"/>
              </a:spcBef>
            </a:pPr>
            <a:r>
              <a:rPr lang="en-US" altLang="zh-CN" sz="2000" b="1" dirty="0">
                <a:solidFill>
                  <a:srgbClr val="515223"/>
                </a:solidFill>
                <a:latin typeface="Helvetica" pitchFamily="2" charset="0"/>
                <a:cs typeface="Arial" panose="020B0604020202090204" pitchFamily="34" charset="0"/>
              </a:rPr>
              <a:t>	</a:t>
            </a:r>
            <a:r>
              <a:rPr lang="en-US" altLang="zh-CN" sz="2000" dirty="0"/>
              <a:t>Process determining and resolving the dependencies between various 	components or modules of a software system</a:t>
            </a:r>
            <a:endParaRPr lang="en-US" altLang="zh-CN" sz="2000" dirty="0"/>
          </a:p>
          <a:p>
            <a:pPr fontAlgn="auto">
              <a:spcBef>
                <a:spcPts val="600"/>
              </a:spcBef>
            </a:pPr>
            <a:endParaRPr lang="en-US" altLang="zh-CN" sz="2000" dirty="0"/>
          </a:p>
          <a:p>
            <a:pPr fontAlgn="auto">
              <a:spcBef>
                <a:spcPts val="600"/>
              </a:spcBef>
            </a:pPr>
            <a:r>
              <a:rPr lang="en-US" altLang="zh-CN" sz="2000" dirty="0"/>
              <a:t>	Make sure any changes or updates to one component do not inadvertently 	break the functionality of other components.</a:t>
            </a:r>
            <a:endParaRPr lang="en-US" altLang="zh-CN" sz="2000" dirty="0"/>
          </a:p>
          <a:p>
            <a:pPr fontAlgn="auto">
              <a:spcBef>
                <a:spcPts val="600"/>
              </a:spcBef>
            </a:pPr>
            <a:endParaRPr lang="en-US" altLang="zh-CN" sz="2000"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0129" y="3365501"/>
            <a:ext cx="4634986" cy="289602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Diamond dependency problem</a:t>
            </a: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386205"/>
            <a:ext cx="10426700" cy="1204595"/>
          </a:xfrm>
          <a:prstGeom prst="rect">
            <a:avLst/>
          </a:prstGeom>
          <a:noFill/>
        </p:spPr>
        <p:txBody>
          <a:bodyPr wrap="square" rtlCol="0" anchor="t">
            <a:noAutofit/>
          </a:bodyPr>
          <a:lstStyle/>
          <a:p>
            <a:pPr indent="0" fontAlgn="auto">
              <a:spcBef>
                <a:spcPts val="600"/>
              </a:spcBef>
            </a:pPr>
            <a:r>
              <a:rPr lang="en-US" sz="2000" dirty="0">
                <a:solidFill>
                  <a:srgbClr val="000000"/>
                </a:solidFill>
                <a:latin typeface="Roboto" panose="020F0502020204030204" pitchFamily="34" charset="0"/>
              </a:rPr>
              <a:t>T</a:t>
            </a:r>
            <a:r>
              <a:rPr lang="en-US" sz="2000" b="0" i="0" dirty="0">
                <a:solidFill>
                  <a:srgbClr val="000000"/>
                </a:solidFill>
                <a:effectLst/>
                <a:latin typeface="Roboto" panose="020F0502020204030204" pitchFamily="34" charset="0"/>
              </a:rPr>
              <a:t>wo or more libraries in a dependency tree consume a common library using versioned references, and none of the common library versions in those references contain all of the features that the consumers expect. </a:t>
            </a:r>
            <a:endParaRPr lang="zh-CN" altLang="en-US" sz="20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5" y="2763202"/>
            <a:ext cx="3292938" cy="2608898"/>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7013" y="2895600"/>
            <a:ext cx="3160796" cy="2476500"/>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4844" y="2817013"/>
            <a:ext cx="3066105" cy="2555087"/>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Dependency </a:t>
            </a:r>
            <a:r>
              <a:rPr lang="en-US" altLang="zh-CN" dirty="0"/>
              <a:t>M</a:t>
            </a:r>
            <a:r>
              <a:rPr lang="zh-CN" altLang="en-US" dirty="0"/>
              <a:t>anagement</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0930" y="1305560"/>
            <a:ext cx="10321290" cy="4166870"/>
          </a:xfrm>
          <a:prstGeom prst="rect">
            <a:avLst/>
          </a:prstGeom>
          <a:noFill/>
        </p:spPr>
        <p:txBody>
          <a:bodyPr wrap="square" rtlCol="0" anchor="t">
            <a:noAutofit/>
          </a:bodyPr>
          <a:lstStyle/>
          <a:p>
            <a:pPr indent="0" fontAlgn="auto">
              <a:spcBef>
                <a:spcPts val="600"/>
              </a:spcBef>
            </a:pPr>
            <a:r>
              <a:rPr lang="zh-CN" altLang="en-US" sz="2000"/>
              <a:t>What versions of dependencies should you import?</a:t>
            </a:r>
            <a:endParaRPr lang="zh-CN" altLang="en-US" sz="2000"/>
          </a:p>
          <a:p>
            <a:pPr indent="0" fontAlgn="auto">
              <a:spcBef>
                <a:spcPts val="600"/>
              </a:spcBef>
            </a:pPr>
            <a:r>
              <a:rPr lang="zh-CN" altLang="en-US" sz="2000"/>
              <a:t>When should you upgrade dependency versions?</a:t>
            </a:r>
            <a:endParaRPr lang="zh-CN" altLang="en-US" sz="2000"/>
          </a:p>
          <a:p>
            <a:pPr indent="0" fontAlgn="auto">
              <a:spcBef>
                <a:spcPts val="600"/>
              </a:spcBef>
            </a:pPr>
            <a:r>
              <a:rPr lang="en-US" altLang="zh-CN" sz="2000" dirty="0"/>
              <a:t>F</a:t>
            </a:r>
            <a:r>
              <a:rPr lang="zh-CN" altLang="en-US" sz="2000" dirty="0"/>
              <a:t>our </a:t>
            </a:r>
            <a:r>
              <a:rPr lang="en-US" altLang="zh-CN" sz="2000" dirty="0"/>
              <a:t>O</a:t>
            </a:r>
            <a:r>
              <a:rPr lang="zh-CN" altLang="en-US" sz="2000" dirty="0"/>
              <a:t>ptions</a:t>
            </a:r>
            <a:r>
              <a:rPr lang="zh-CN" altLang="en-US" sz="2000"/>
              <a:t>:</a:t>
            </a:r>
            <a:endParaRPr lang="en-US" altLang="zh-CN" sz="2000" dirty="0"/>
          </a:p>
          <a:p>
            <a:pPr indent="0" fontAlgn="auto">
              <a:spcBef>
                <a:spcPts val="600"/>
              </a:spcBef>
            </a:pPr>
            <a:r>
              <a:rPr lang="en-US" altLang="zh-CN" sz="2000" dirty="0"/>
              <a:t>	</a:t>
            </a:r>
            <a:r>
              <a:rPr lang="zh-CN" altLang="en-US" sz="2000"/>
              <a:t>Never upgrade</a:t>
            </a:r>
            <a:endParaRPr lang="en-US" altLang="zh-CN" sz="2000" dirty="0"/>
          </a:p>
          <a:p>
            <a:pPr indent="0" fontAlgn="auto">
              <a:spcBef>
                <a:spcPts val="600"/>
              </a:spcBef>
            </a:pPr>
            <a:r>
              <a:rPr lang="en-US" altLang="zh-CN" sz="2000" dirty="0"/>
              <a:t>	</a:t>
            </a:r>
            <a:r>
              <a:rPr lang="zh-CN" altLang="en-US" sz="2000"/>
              <a:t>Semantic versioning</a:t>
            </a:r>
            <a:endParaRPr lang="en-US" altLang="zh-CN" sz="2000" dirty="0"/>
          </a:p>
          <a:p>
            <a:pPr indent="0" fontAlgn="auto">
              <a:spcBef>
                <a:spcPts val="600"/>
              </a:spcBef>
            </a:pPr>
            <a:r>
              <a:rPr lang="en-US" altLang="zh-CN" sz="2000" dirty="0"/>
              <a:t>	</a:t>
            </a:r>
            <a:r>
              <a:rPr lang="zh-CN" altLang="en-US" sz="2000"/>
              <a:t>Bundled distributions</a:t>
            </a:r>
            <a:endParaRPr lang="en-US" altLang="zh-CN" sz="2000" dirty="0"/>
          </a:p>
          <a:p>
            <a:pPr indent="0" fontAlgn="auto">
              <a:spcBef>
                <a:spcPts val="600"/>
              </a:spcBef>
            </a:pPr>
            <a:r>
              <a:rPr lang="en-US" altLang="zh-CN" sz="2000" dirty="0"/>
              <a:t>	</a:t>
            </a:r>
            <a:r>
              <a:rPr lang="zh-CN" altLang="en-US" sz="2000"/>
              <a:t>"Live at HEAD"</a:t>
            </a:r>
            <a:endParaRPr lang="zh-CN" alt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Dependency </a:t>
            </a:r>
            <a:r>
              <a:rPr lang="en-US" altLang="zh-CN" dirty="0"/>
              <a:t>M</a:t>
            </a:r>
            <a:r>
              <a:rPr lang="zh-CN" altLang="en-US" dirty="0"/>
              <a:t>anagement</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1021080" y="1028700"/>
            <a:ext cx="10611485" cy="5327649"/>
          </a:xfrm>
          <a:prstGeom prst="rect">
            <a:avLst/>
          </a:prstGeom>
          <a:noFill/>
        </p:spPr>
        <p:txBody>
          <a:bodyPr wrap="square" rtlCol="0" anchor="t">
            <a:noAutofit/>
          </a:bodyPr>
          <a:lstStyle/>
          <a:p>
            <a:pPr>
              <a:spcBef>
                <a:spcPts val="600"/>
              </a:spcBef>
            </a:pPr>
            <a:r>
              <a:rPr lang="zh-CN" altLang="en-US" sz="2000" b="1" dirty="0">
                <a:solidFill>
                  <a:srgbClr val="515223"/>
                </a:solidFill>
                <a:latin typeface="Helvetica" pitchFamily="2" charset="0"/>
                <a:cs typeface="Arial" panose="020B0604020202090204" pitchFamily="34" charset="0"/>
              </a:rPr>
              <a:t>Never upgrade</a:t>
            </a:r>
            <a:endParaRPr lang="zh-CN" altLang="en-US" sz="2000" b="1" dirty="0">
              <a:solidFill>
                <a:srgbClr val="515223"/>
              </a:solidFill>
              <a:latin typeface="Helvetica" pitchFamily="2" charset="0"/>
              <a:cs typeface="Arial" panose="020B0604020202090204" pitchFamily="34" charset="0"/>
            </a:endParaRPr>
          </a:p>
          <a:p>
            <a:pPr indent="0" fontAlgn="auto">
              <a:spcBef>
                <a:spcPts val="600"/>
              </a:spcBef>
            </a:pPr>
            <a:r>
              <a:rPr lang="zh-CN" altLang="en-US" dirty="0"/>
              <a:t>Predictable</a:t>
            </a:r>
            <a:endParaRPr lang="en-US" altLang="zh-CN" dirty="0"/>
          </a:p>
          <a:p>
            <a:pPr indent="0" fontAlgn="auto">
              <a:spcBef>
                <a:spcPts val="600"/>
              </a:spcBef>
            </a:pPr>
            <a:r>
              <a:rPr lang="en-US" altLang="zh-CN" dirty="0"/>
              <a:t>	</a:t>
            </a:r>
            <a:r>
              <a:rPr lang="zh-CN" altLang="en-US" dirty="0"/>
              <a:t>Avoids failures due to changes outside of your control</a:t>
            </a:r>
            <a:endParaRPr lang="zh-CN" altLang="en-US" dirty="0"/>
          </a:p>
          <a:p>
            <a:pPr indent="0" fontAlgn="auto">
              <a:spcBef>
                <a:spcPts val="600"/>
              </a:spcBef>
            </a:pPr>
            <a:r>
              <a:rPr lang="en-US" altLang="zh-CN" dirty="0"/>
              <a:t>	</a:t>
            </a:r>
            <a:r>
              <a:rPr lang="zh-CN" altLang="en-US" dirty="0"/>
              <a:t>Natural when starting out, or for short-lived projects</a:t>
            </a:r>
            <a:r>
              <a:rPr lang="en-US" altLang="zh-CN" dirty="0"/>
              <a:t>	</a:t>
            </a:r>
            <a:endParaRPr lang="en-US" altLang="zh-CN" dirty="0"/>
          </a:p>
          <a:p>
            <a:pPr indent="0" fontAlgn="auto">
              <a:spcBef>
                <a:spcPts val="600"/>
              </a:spcBef>
            </a:pPr>
            <a:r>
              <a:rPr lang="zh-CN" altLang="en-US" dirty="0"/>
              <a:t>Compatible with "vendoring"</a:t>
            </a:r>
            <a:endParaRPr lang="zh-CN" altLang="en-US" dirty="0"/>
          </a:p>
          <a:p>
            <a:pPr indent="0" fontAlgn="auto">
              <a:spcBef>
                <a:spcPts val="600"/>
              </a:spcBef>
            </a:pPr>
            <a:r>
              <a:rPr lang="zh-CN" altLang="en-US" dirty="0"/>
              <a:t>What happens when a dependency has a security vulnerability?</a:t>
            </a:r>
            <a:endParaRPr lang="zh-CN" altLang="en-US" dirty="0"/>
          </a:p>
          <a:p>
            <a:pPr indent="0" fontAlgn="auto">
              <a:spcBef>
                <a:spcPts val="600"/>
              </a:spcBef>
            </a:pPr>
            <a:r>
              <a:rPr lang="zh-CN" altLang="en-US" dirty="0"/>
              <a:t>What happens when a new dependency depends on newer versions of old</a:t>
            </a:r>
            <a:r>
              <a:rPr lang="en-US" altLang="zh-CN" dirty="0"/>
              <a:t> </a:t>
            </a:r>
            <a:r>
              <a:rPr lang="zh-CN" altLang="en-US" dirty="0"/>
              <a:t>dependencies?</a:t>
            </a:r>
            <a:endParaRPr lang="en-US" altLang="zh-CN" dirty="0"/>
          </a:p>
          <a:p>
            <a:pPr indent="0" fontAlgn="auto">
              <a:spcBef>
                <a:spcPts val="600"/>
              </a:spcBef>
            </a:pPr>
            <a:endParaRPr lang="zh-CN" altLang="en-US" dirty="0"/>
          </a:p>
          <a:p>
            <a:pPr indent="0" fontAlgn="auto">
              <a:spcBef>
                <a:spcPts val="600"/>
              </a:spcBef>
            </a:pPr>
            <a:r>
              <a:rPr lang="zh-CN" altLang="en-US" sz="2000" b="1" dirty="0">
                <a:solidFill>
                  <a:srgbClr val="515223"/>
                </a:solidFill>
                <a:latin typeface="Helvetica" pitchFamily="2" charset="0"/>
                <a:cs typeface="Arial" panose="020B0604020202090204" pitchFamily="34" charset="0"/>
              </a:rPr>
              <a:t>Bundled distributions</a:t>
            </a:r>
            <a:endParaRPr lang="zh-CN" altLang="en-US" sz="2000" b="1" dirty="0">
              <a:solidFill>
                <a:srgbClr val="515223"/>
              </a:solidFill>
              <a:latin typeface="Helvetica" pitchFamily="2" charset="0"/>
              <a:cs typeface="Arial" panose="020B0604020202090204" pitchFamily="34" charset="0"/>
            </a:endParaRPr>
          </a:p>
          <a:p>
            <a:pPr indent="0" fontAlgn="auto">
              <a:spcBef>
                <a:spcPts val="600"/>
              </a:spcBef>
            </a:pPr>
            <a:r>
              <a:rPr lang="zh-CN" altLang="en-US" dirty="0"/>
              <a:t>Defer dependency management to distribution maintainer</a:t>
            </a:r>
            <a:endParaRPr lang="en-US" altLang="zh-CN" dirty="0"/>
          </a:p>
          <a:p>
            <a:pPr indent="0" fontAlgn="auto">
              <a:spcBef>
                <a:spcPts val="600"/>
              </a:spcBef>
            </a:pPr>
            <a:r>
              <a:rPr lang="en-US" altLang="zh-CN" dirty="0"/>
              <a:t>	</a:t>
            </a:r>
            <a:r>
              <a:rPr lang="zh-CN" altLang="en-US" dirty="0"/>
              <a:t>Responsible for maintaining compatibility while incorporating security updates</a:t>
            </a:r>
            <a:endParaRPr lang="zh-CN" altLang="en-US" dirty="0"/>
          </a:p>
          <a:p>
            <a:pPr indent="0" fontAlgn="auto">
              <a:spcBef>
                <a:spcPts val="600"/>
              </a:spcBef>
            </a:pPr>
            <a:r>
              <a:rPr lang="zh-CN" altLang="en-US" dirty="0"/>
              <a:t>Depend on the bundle and whatever dependency versions it provides</a:t>
            </a:r>
            <a:endParaRPr lang="en-US" altLang="zh-CN" dirty="0"/>
          </a:p>
          <a:p>
            <a:pPr indent="0" fontAlgn="auto">
              <a:spcBef>
                <a:spcPts val="600"/>
              </a:spcBef>
            </a:pPr>
            <a:r>
              <a:rPr lang="en-US" altLang="zh-CN" dirty="0"/>
              <a:t>	</a:t>
            </a:r>
            <a:r>
              <a:rPr lang="zh-CN" altLang="en-US" dirty="0"/>
              <a:t>Common for commercial applications</a:t>
            </a:r>
            <a:endParaRPr lang="zh-CN" altLang="en-US" dirty="0"/>
          </a:p>
          <a:p>
            <a:pPr indent="0" fontAlgn="auto">
              <a:spcBef>
                <a:spcPts val="600"/>
              </a:spcBef>
            </a:pPr>
            <a:r>
              <a:rPr lang="zh-CN" altLang="en-US" dirty="0"/>
              <a:t>Limits (verified) portability</a:t>
            </a:r>
            <a:endParaRPr lang="zh-CN" altLang="en-US" dirty="0"/>
          </a:p>
          <a:p>
            <a:pPr indent="0" fontAlgn="auto">
              <a:spcBef>
                <a:spcPts val="600"/>
              </a:spcBef>
            </a:pPr>
            <a:r>
              <a:rPr lang="zh-CN" altLang="en-US" dirty="0"/>
              <a:t>Can't leverage latest features</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1091565" y="1193800"/>
            <a:ext cx="10544175" cy="2800132"/>
          </a:xfrm>
          <a:prstGeom prst="rect">
            <a:avLst/>
          </a:prstGeom>
          <a:noFill/>
        </p:spPr>
        <p:txBody>
          <a:bodyPr wrap="square" rtlCol="0" anchor="t">
            <a:noAutofit/>
          </a:bodyPr>
          <a:lstStyle/>
          <a:p>
            <a:pPr>
              <a:spcBef>
                <a:spcPts val="600"/>
              </a:spcBef>
            </a:pPr>
            <a:r>
              <a:rPr lang="en-US" altLang="zh-CN" sz="2000" b="1" dirty="0">
                <a:solidFill>
                  <a:srgbClr val="515223"/>
                </a:solidFill>
                <a:latin typeface="Helvetica" pitchFamily="2" charset="0"/>
                <a:cs typeface="Arial" panose="020B0604020202090204" pitchFamily="34" charset="0"/>
              </a:rPr>
              <a:t>Semantic Versioning</a:t>
            </a:r>
            <a:endParaRPr lang="en-US" sz="2000" dirty="0"/>
          </a:p>
        </p:txBody>
      </p:sp>
      <p:sp>
        <p:nvSpPr>
          <p:cNvPr id="7" name="标题 1"/>
          <p:cNvSpPr>
            <a:spLocks noGrp="1"/>
          </p:cNvSpPr>
          <p:nvPr>
            <p:ph type="title"/>
          </p:nvPr>
        </p:nvSpPr>
        <p:spPr/>
        <p:txBody>
          <a:bodyPr>
            <a:normAutofit/>
          </a:bodyPr>
          <a:lstStyle/>
          <a:p>
            <a:r>
              <a:rPr lang="zh-CN" altLang="en-US" dirty="0"/>
              <a:t>Dependency </a:t>
            </a:r>
            <a:r>
              <a:rPr lang="en-US" altLang="zh-CN" dirty="0"/>
              <a:t>M</a:t>
            </a:r>
            <a:r>
              <a:rPr lang="zh-CN" altLang="en-US" dirty="0"/>
              <a:t>anagement</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Dependency </a:t>
            </a:r>
            <a:r>
              <a:rPr lang="en-US" altLang="zh-CN" dirty="0"/>
              <a:t>M</a:t>
            </a:r>
            <a:r>
              <a:rPr lang="zh-CN" altLang="en-US" dirty="0"/>
              <a:t>anagement</a:t>
            </a:r>
            <a:endParaRPr lang="zh-CN" altLang="en-US"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882015" y="1251902"/>
            <a:ext cx="10427970" cy="4833588"/>
          </a:xfrm>
          <a:prstGeom prst="rect">
            <a:avLst/>
          </a:prstGeom>
          <a:noFill/>
        </p:spPr>
        <p:txBody>
          <a:bodyPr wrap="square" rtlCol="0" anchor="t">
            <a:noAutofit/>
          </a:bodyPr>
          <a:lstStyle/>
          <a:p>
            <a:pPr>
              <a:spcBef>
                <a:spcPts val="600"/>
              </a:spcBef>
            </a:pPr>
            <a:r>
              <a:rPr lang="zh-CN" altLang="en-US" sz="2000" b="1" dirty="0">
                <a:solidFill>
                  <a:srgbClr val="515223"/>
                </a:solidFill>
                <a:latin typeface="Helvetica" pitchFamily="2" charset="0"/>
                <a:cs typeface="Arial" panose="020B0604020202090204" pitchFamily="34" charset="0"/>
              </a:rPr>
              <a:t>Backward compatibility</a:t>
            </a:r>
            <a:endParaRPr lang="zh-CN" altLang="en-US" sz="2000" b="1" dirty="0">
              <a:solidFill>
                <a:srgbClr val="515223"/>
              </a:solidFill>
              <a:latin typeface="Helvetica" pitchFamily="2" charset="0"/>
              <a:cs typeface="Arial" panose="020B0604020202090204" pitchFamily="34" charset="0"/>
            </a:endParaRPr>
          </a:p>
          <a:p>
            <a:pPr lvl="1">
              <a:spcBef>
                <a:spcPts val="600"/>
              </a:spcBef>
            </a:pPr>
            <a:r>
              <a:rPr lang="zh-CN" altLang="en-US" sz="2000" dirty="0"/>
              <a:t>Code that worked with an older version of a dependency will work with a newer version</a:t>
            </a:r>
            <a:endParaRPr lang="en-US" altLang="zh-CN" sz="2000" dirty="0"/>
          </a:p>
          <a:p>
            <a:pPr lvl="1">
              <a:spcBef>
                <a:spcPts val="600"/>
              </a:spcBef>
            </a:pPr>
            <a:r>
              <a:rPr lang="zh-CN" altLang="en-US" sz="2000" dirty="0"/>
              <a:t>Preserved across MINOR versions</a:t>
            </a:r>
            <a:endParaRPr lang="zh-CN" altLang="en-US" sz="2000" dirty="0"/>
          </a:p>
          <a:p>
            <a:pPr lvl="1">
              <a:spcBef>
                <a:spcPts val="600"/>
              </a:spcBef>
            </a:pPr>
            <a:r>
              <a:rPr lang="zh-CN" altLang="en-US" sz="2000" dirty="0"/>
              <a:t>Implies that public types and functions cannot be removed</a:t>
            </a:r>
            <a:endParaRPr lang="zh-CN" altLang="en-US" sz="2000" dirty="0"/>
          </a:p>
          <a:p>
            <a:pPr lvl="1">
              <a:spcBef>
                <a:spcPts val="600"/>
              </a:spcBef>
            </a:pPr>
            <a:r>
              <a:rPr lang="zh-CN" altLang="en-US" sz="2000" dirty="0"/>
              <a:t>For ABI compatibility, public data structures cannot change outside of "reserved" fields</a:t>
            </a:r>
            <a:endParaRPr lang="zh-CN" altLang="en-US" sz="2000" dirty="0"/>
          </a:p>
          <a:p>
            <a:pPr lvl="1">
              <a:spcBef>
                <a:spcPts val="600"/>
              </a:spcBef>
            </a:pPr>
            <a:endParaRPr lang="zh-CN" altLang="en-US" sz="2000" dirty="0"/>
          </a:p>
          <a:p>
            <a:pPr>
              <a:spcBef>
                <a:spcPts val="600"/>
              </a:spcBef>
            </a:pPr>
            <a:r>
              <a:rPr lang="zh-CN" altLang="en-US" sz="2000" b="1" dirty="0">
                <a:solidFill>
                  <a:srgbClr val="515223"/>
                </a:solidFill>
                <a:latin typeface="Helvetica" pitchFamily="2" charset="0"/>
                <a:cs typeface="Arial" panose="020B0604020202090204" pitchFamily="34" charset="0"/>
              </a:rPr>
              <a:t>Forward compatibility</a:t>
            </a:r>
            <a:endParaRPr lang="zh-CN" altLang="en-US" sz="2000" b="1" dirty="0">
              <a:solidFill>
                <a:srgbClr val="515223"/>
              </a:solidFill>
              <a:latin typeface="Helvetica" pitchFamily="2" charset="0"/>
              <a:cs typeface="Arial" panose="020B0604020202090204" pitchFamily="34" charset="0"/>
            </a:endParaRPr>
          </a:p>
          <a:p>
            <a:pPr lvl="1">
              <a:spcBef>
                <a:spcPts val="600"/>
              </a:spcBef>
            </a:pPr>
            <a:r>
              <a:rPr lang="zh-CN" altLang="en-US" sz="2000" dirty="0"/>
              <a:t>Code built with a newer version of a dependency will also work with an older version</a:t>
            </a:r>
            <a:endParaRPr lang="en-US" altLang="zh-CN" sz="2000" dirty="0"/>
          </a:p>
          <a:p>
            <a:pPr lvl="1">
              <a:spcBef>
                <a:spcPts val="600"/>
              </a:spcBef>
            </a:pPr>
            <a:r>
              <a:rPr lang="zh-CN" altLang="en-US" sz="2000" dirty="0"/>
              <a:t>Preserved across PATCH versions</a:t>
            </a:r>
            <a:endParaRPr lang="zh-CN" altLang="en-US" sz="2000" dirty="0"/>
          </a:p>
          <a:p>
            <a:pPr lvl="1">
              <a:spcBef>
                <a:spcPts val="600"/>
              </a:spcBef>
            </a:pPr>
            <a:r>
              <a:rPr lang="zh-CN" altLang="en-US" sz="2000" dirty="0"/>
              <a:t>Implies that no new public types, fields, or functions may be added</a:t>
            </a:r>
            <a:endParaRPr lang="zh-CN" altLang="en-US" sz="2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1091565" y="1193800"/>
            <a:ext cx="10544175" cy="2800132"/>
          </a:xfrm>
          <a:prstGeom prst="rect">
            <a:avLst/>
          </a:prstGeom>
          <a:noFill/>
        </p:spPr>
        <p:txBody>
          <a:bodyPr wrap="square" rtlCol="0" anchor="t">
            <a:noAutofit/>
          </a:bodyPr>
          <a:lstStyle/>
          <a:p>
            <a:pPr>
              <a:spcBef>
                <a:spcPts val="600"/>
              </a:spcBef>
            </a:pPr>
            <a:r>
              <a:rPr lang="en-US" altLang="zh-CN" sz="2000" b="1" dirty="0">
                <a:solidFill>
                  <a:srgbClr val="515223"/>
                </a:solidFill>
                <a:latin typeface="Helvetica" pitchFamily="2" charset="0"/>
                <a:cs typeface="Arial" panose="020B0604020202090204" pitchFamily="34" charset="0"/>
              </a:rPr>
              <a:t>Semantic Versioning</a:t>
            </a:r>
            <a:endParaRPr lang="en-US" sz="2000" dirty="0"/>
          </a:p>
          <a:p>
            <a:pPr indent="0" fontAlgn="auto">
              <a:lnSpc>
                <a:spcPct val="100000"/>
              </a:lnSpc>
              <a:spcBef>
                <a:spcPts val="600"/>
              </a:spcBef>
            </a:pPr>
            <a:r>
              <a:rPr sz="2000"/>
              <a:t>Dependency version numbers obey MAJOR.MINOR.PATCH format</a:t>
            </a:r>
            <a:endParaRPr sz="2000"/>
          </a:p>
          <a:p>
            <a:pPr lvl="1" indent="0" fontAlgn="auto">
              <a:lnSpc>
                <a:spcPct val="100000"/>
              </a:lnSpc>
              <a:spcBef>
                <a:spcPts val="600"/>
              </a:spcBef>
            </a:pPr>
            <a:r>
              <a:rPr lang="en-US" sz="2000" dirty="0"/>
              <a:t>	</a:t>
            </a:r>
            <a:r>
              <a:rPr sz="2000"/>
              <a:t>Changes to PATCH should be fully compatible (bug fixes, security fixes)</a:t>
            </a:r>
            <a:endParaRPr sz="2000"/>
          </a:p>
          <a:p>
            <a:pPr lvl="1" indent="0" fontAlgn="auto">
              <a:lnSpc>
                <a:spcPct val="100000"/>
              </a:lnSpc>
              <a:spcBef>
                <a:spcPts val="600"/>
              </a:spcBef>
            </a:pPr>
            <a:r>
              <a:rPr lang="en-US" sz="2000" dirty="0"/>
              <a:t>	</a:t>
            </a:r>
            <a:r>
              <a:rPr sz="2000"/>
              <a:t>Changes to MINOR may add functionality in a backwards-compatible manner</a:t>
            </a:r>
            <a:endParaRPr sz="2000"/>
          </a:p>
          <a:p>
            <a:pPr lvl="1" indent="0" fontAlgn="auto">
              <a:lnSpc>
                <a:spcPct val="100000"/>
              </a:lnSpc>
              <a:spcBef>
                <a:spcPts val="600"/>
              </a:spcBef>
            </a:pPr>
            <a:r>
              <a:rPr lang="en-US" sz="2000" dirty="0"/>
              <a:t>	</a:t>
            </a:r>
            <a:r>
              <a:rPr sz="2000"/>
              <a:t>Changes to MAJOR indicate API changes</a:t>
            </a:r>
            <a:endParaRPr sz="2000"/>
          </a:p>
          <a:p>
            <a:pPr indent="0" fontAlgn="auto">
              <a:lnSpc>
                <a:spcPct val="100000"/>
              </a:lnSpc>
              <a:spcBef>
                <a:spcPts val="600"/>
              </a:spcBef>
            </a:pPr>
            <a:r>
              <a:rPr sz="2000"/>
              <a:t>Assumed by many build tools</a:t>
            </a:r>
            <a:endParaRPr lang="en-US" sz="2000" dirty="0"/>
          </a:p>
          <a:p>
            <a:pPr indent="0" fontAlgn="auto">
              <a:lnSpc>
                <a:spcPct val="100000"/>
              </a:lnSpc>
              <a:spcBef>
                <a:spcPts val="600"/>
              </a:spcBef>
            </a:pPr>
            <a:r>
              <a:rPr lang="en-US" sz="2000" dirty="0"/>
              <a:t>	</a:t>
            </a:r>
            <a:r>
              <a:rPr sz="2000"/>
              <a:t>Depend on a specific MAJOR version and a minimum MINOR version</a:t>
            </a:r>
            <a:endParaRPr lang="en-US" sz="2000" dirty="0"/>
          </a:p>
        </p:txBody>
      </p:sp>
      <p:sp>
        <p:nvSpPr>
          <p:cNvPr id="7" name="标题 1"/>
          <p:cNvSpPr>
            <a:spLocks noGrp="1"/>
          </p:cNvSpPr>
          <p:nvPr>
            <p:ph type="title"/>
          </p:nvPr>
        </p:nvSpPr>
        <p:spPr/>
        <p:txBody>
          <a:bodyPr>
            <a:normAutofit/>
          </a:bodyPr>
          <a:lstStyle/>
          <a:p>
            <a:r>
              <a:rPr lang="zh-CN" altLang="en-US" dirty="0"/>
              <a:t>Dependency </a:t>
            </a:r>
            <a:r>
              <a:rPr lang="en-US" altLang="zh-CN" dirty="0"/>
              <a:t>M</a:t>
            </a:r>
            <a:r>
              <a:rPr lang="zh-CN" altLang="en-US" dirty="0"/>
              <a:t>anagement</a:t>
            </a:r>
            <a:endParaRPr lang="zh-CN" altLang="en-US" dirty="0"/>
          </a:p>
        </p:txBody>
      </p:sp>
      <p:sp>
        <p:nvSpPr>
          <p:cNvPr id="9" name="TextBox 8"/>
          <p:cNvSpPr txBox="1"/>
          <p:nvPr/>
        </p:nvSpPr>
        <p:spPr>
          <a:xfrm>
            <a:off x="5727700" y="3993932"/>
            <a:ext cx="6096000" cy="2031325"/>
          </a:xfrm>
          <a:prstGeom prst="rect">
            <a:avLst/>
          </a:prstGeom>
          <a:noFill/>
        </p:spPr>
        <p:txBody>
          <a:bodyPr wrap="square">
            <a:spAutoFit/>
          </a:bodyPr>
          <a:lstStyle/>
          <a:p>
            <a:pPr algn="l" fontAlgn="base"/>
            <a:r>
              <a:rPr lang="en-US" b="0" i="0" dirty="0">
                <a:solidFill>
                  <a:srgbClr val="0C0D0E"/>
                </a:solidFill>
                <a:effectLst/>
                <a:latin typeface="-apple-system"/>
              </a:rPr>
              <a:t>In version </a:t>
            </a:r>
            <a:r>
              <a:rPr lang="en-US" b="0" i="1" dirty="0">
                <a:solidFill>
                  <a:srgbClr val="0C0D0E"/>
                </a:solidFill>
                <a:effectLst/>
                <a:latin typeface="inherit"/>
              </a:rPr>
              <a:t>2.3.0.X</a:t>
            </a:r>
            <a:r>
              <a:rPr lang="en-US" b="0" i="0" dirty="0">
                <a:solidFill>
                  <a:srgbClr val="0C0D0E"/>
                </a:solidFill>
                <a:effectLst/>
                <a:latin typeface="-apple-system"/>
              </a:rPr>
              <a:t>:</a:t>
            </a:r>
            <a:endParaRPr lang="en-US" b="0" i="0" dirty="0">
              <a:solidFill>
                <a:srgbClr val="0C0D0E"/>
              </a:solidFill>
              <a:effectLst/>
              <a:latin typeface="-apple-system"/>
            </a:endParaRPr>
          </a:p>
          <a:p>
            <a:pPr lvl="1" fontAlgn="base"/>
            <a:r>
              <a:rPr lang="en-US" b="1" i="0" dirty="0">
                <a:solidFill>
                  <a:srgbClr val="0C0D0E"/>
                </a:solidFill>
                <a:effectLst/>
                <a:latin typeface="inherit"/>
              </a:rPr>
              <a:t>2</a:t>
            </a:r>
            <a:r>
              <a:rPr lang="en-US" b="0" i="0" dirty="0">
                <a:solidFill>
                  <a:srgbClr val="0C0D0E"/>
                </a:solidFill>
                <a:effectLst/>
                <a:latin typeface="inherit"/>
              </a:rPr>
              <a:t>: Major revision (Breaking changes including new API, lots of new features, conceptual change, etc.)</a:t>
            </a:r>
            <a:endParaRPr lang="en-US" b="0" i="0" dirty="0">
              <a:solidFill>
                <a:srgbClr val="0C0D0E"/>
              </a:solidFill>
              <a:effectLst/>
              <a:latin typeface="inherit"/>
            </a:endParaRPr>
          </a:p>
          <a:p>
            <a:pPr lvl="1" fontAlgn="base"/>
            <a:r>
              <a:rPr lang="en-US" b="1" i="0" dirty="0">
                <a:solidFill>
                  <a:srgbClr val="0C0D0E"/>
                </a:solidFill>
                <a:effectLst/>
                <a:latin typeface="inherit"/>
              </a:rPr>
              <a:t>3</a:t>
            </a:r>
            <a:r>
              <a:rPr lang="en-US" b="0" i="0" dirty="0">
                <a:solidFill>
                  <a:srgbClr val="0C0D0E"/>
                </a:solidFill>
                <a:effectLst/>
                <a:latin typeface="inherit"/>
              </a:rPr>
              <a:t>: Minor revision (maybe a change to a internal </a:t>
            </a:r>
            <a:r>
              <a:rPr lang="en-US" dirty="0">
                <a:solidFill>
                  <a:srgbClr val="0C0D0E"/>
                </a:solidFill>
                <a:latin typeface="inherit"/>
              </a:rPr>
              <a:t>logic</a:t>
            </a:r>
            <a:r>
              <a:rPr lang="en-US" b="0" i="0" dirty="0">
                <a:solidFill>
                  <a:srgbClr val="0C0D0E"/>
                </a:solidFill>
                <a:effectLst/>
                <a:latin typeface="inherit"/>
              </a:rPr>
              <a:t>, 1 feature added, collection of bug fixes)</a:t>
            </a:r>
            <a:endParaRPr lang="en-US" b="0" i="0" dirty="0">
              <a:solidFill>
                <a:srgbClr val="0C0D0E"/>
              </a:solidFill>
              <a:effectLst/>
              <a:latin typeface="inherit"/>
            </a:endParaRPr>
          </a:p>
          <a:p>
            <a:pPr lvl="1" fontAlgn="base"/>
            <a:r>
              <a:rPr lang="en-US" b="1" i="0" dirty="0">
                <a:solidFill>
                  <a:srgbClr val="0C0D0E"/>
                </a:solidFill>
                <a:effectLst/>
                <a:latin typeface="inherit"/>
              </a:rPr>
              <a:t>0</a:t>
            </a:r>
            <a:r>
              <a:rPr lang="en-US" b="0" i="0" dirty="0">
                <a:solidFill>
                  <a:srgbClr val="0C0D0E"/>
                </a:solidFill>
                <a:effectLst/>
                <a:latin typeface="inherit"/>
              </a:rPr>
              <a:t>: Bug fix release</a:t>
            </a:r>
            <a:endParaRPr lang="en-US" b="0" i="0" dirty="0">
              <a:solidFill>
                <a:srgbClr val="0C0D0E"/>
              </a:solidFill>
              <a:effectLst/>
              <a:latin typeface="inherit"/>
            </a:endParaRPr>
          </a:p>
          <a:p>
            <a:pPr lvl="1" fontAlgn="base"/>
            <a:r>
              <a:rPr lang="en-US" b="1" i="0" dirty="0">
                <a:solidFill>
                  <a:srgbClr val="0C0D0E"/>
                </a:solidFill>
                <a:effectLst/>
                <a:latin typeface="inherit"/>
              </a:rPr>
              <a:t>X</a:t>
            </a:r>
            <a:r>
              <a:rPr lang="en-US" b="0" i="0" dirty="0">
                <a:solidFill>
                  <a:srgbClr val="0C0D0E"/>
                </a:solidFill>
                <a:effectLst/>
                <a:latin typeface="inherit"/>
              </a:rPr>
              <a:t>: Build number (if used)—Auditing track number</a:t>
            </a:r>
            <a:endParaRPr lang="en-US" b="0" i="0" dirty="0">
              <a:solidFill>
                <a:srgbClr val="0C0D0E"/>
              </a:solidFill>
              <a:effectLst/>
              <a:latin typeface="inherit"/>
            </a:endParaRPr>
          </a:p>
        </p:txBody>
      </p:sp>
      <p:pic>
        <p:nvPicPr>
          <p:cNvPr id="13" name="Picture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45584" y="4274206"/>
            <a:ext cx="3655116" cy="208214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1091565" y="1193799"/>
            <a:ext cx="10544175" cy="5162549"/>
          </a:xfrm>
          <a:prstGeom prst="rect">
            <a:avLst/>
          </a:prstGeom>
          <a:noFill/>
        </p:spPr>
        <p:txBody>
          <a:bodyPr wrap="square" rtlCol="0" anchor="t">
            <a:noAutofit/>
          </a:bodyPr>
          <a:lstStyle/>
          <a:p>
            <a:pPr>
              <a:spcBef>
                <a:spcPts val="600"/>
              </a:spcBef>
            </a:pPr>
            <a:r>
              <a:rPr lang="en-US" altLang="zh-CN" sz="2000" b="1" dirty="0">
                <a:solidFill>
                  <a:srgbClr val="515223"/>
                </a:solidFill>
                <a:latin typeface="Helvetica" pitchFamily="2" charset="0"/>
                <a:cs typeface="Arial" panose="020B0604020202090204" pitchFamily="34" charset="0"/>
              </a:rPr>
              <a:t>Semantic Versioning </a:t>
            </a:r>
            <a:r>
              <a:rPr sz="2000" b="1" dirty="0">
                <a:solidFill>
                  <a:srgbClr val="515223"/>
                </a:solidFill>
                <a:latin typeface="Helvetica" pitchFamily="2" charset="0"/>
                <a:cs typeface="Arial" panose="020B0604020202090204" pitchFamily="34" charset="0"/>
              </a:rPr>
              <a:t>Challenges</a:t>
            </a:r>
            <a:endParaRPr lang="en-US" sz="2000" b="1" dirty="0">
              <a:solidFill>
                <a:srgbClr val="515223"/>
              </a:solidFill>
              <a:latin typeface="Helvetica" pitchFamily="2" charset="0"/>
              <a:cs typeface="Arial" panose="020B0604020202090204" pitchFamily="34" charset="0"/>
            </a:endParaRPr>
          </a:p>
          <a:p>
            <a:pPr indent="0" fontAlgn="auto">
              <a:lnSpc>
                <a:spcPct val="100000"/>
              </a:lnSpc>
              <a:spcBef>
                <a:spcPts val="600"/>
              </a:spcBef>
            </a:pPr>
            <a:r>
              <a:rPr lang="en-US" sz="2000" dirty="0"/>
              <a:t>	</a:t>
            </a:r>
            <a:r>
              <a:rPr sz="2000" dirty="0"/>
              <a:t>Not all dependencies follow this scheme</a:t>
            </a:r>
            <a:endParaRPr lang="en-US" sz="2000" dirty="0"/>
          </a:p>
          <a:p>
            <a:pPr indent="0" fontAlgn="auto">
              <a:lnSpc>
                <a:spcPct val="100000"/>
              </a:lnSpc>
              <a:spcBef>
                <a:spcPts val="600"/>
              </a:spcBef>
            </a:pPr>
            <a:r>
              <a:rPr lang="en-US" sz="2000" dirty="0"/>
              <a:t>	</a:t>
            </a:r>
            <a:r>
              <a:rPr sz="2000" dirty="0"/>
              <a:t>Human maintainers make mistakes</a:t>
            </a:r>
            <a:endParaRPr lang="en-US" sz="2000" dirty="0"/>
          </a:p>
          <a:p>
            <a:pPr indent="0" fontAlgn="auto">
              <a:lnSpc>
                <a:spcPct val="100000"/>
              </a:lnSpc>
              <a:spcBef>
                <a:spcPts val="600"/>
              </a:spcBef>
            </a:pPr>
            <a:r>
              <a:rPr lang="en-US" sz="2000" dirty="0"/>
              <a:t>	</a:t>
            </a:r>
            <a:r>
              <a:rPr sz="2000" dirty="0"/>
              <a:t>Hyrum's Law: one person's "bug" is another's "feature"</a:t>
            </a:r>
            <a:endParaRPr lang="en-US" sz="2000" dirty="0"/>
          </a:p>
          <a:p>
            <a:pPr indent="0" fontAlgn="auto">
              <a:lnSpc>
                <a:spcPct val="100000"/>
              </a:lnSpc>
              <a:spcBef>
                <a:spcPts val="600"/>
              </a:spcBef>
            </a:pPr>
            <a:r>
              <a:rPr lang="en-US" sz="2000" dirty="0"/>
              <a:t>	</a:t>
            </a:r>
            <a:r>
              <a:rPr sz="2000" dirty="0"/>
              <a:t>Can be over-constraining (no solution to SAT problem)</a:t>
            </a:r>
            <a:endParaRPr sz="2000" dirty="0"/>
          </a:p>
          <a:p>
            <a:pPr lvl="1" indent="457200" fontAlgn="auto">
              <a:lnSpc>
                <a:spcPct val="100000"/>
              </a:lnSpc>
              <a:spcBef>
                <a:spcPts val="600"/>
              </a:spcBef>
            </a:pPr>
            <a:r>
              <a:rPr sz="2000" dirty="0"/>
              <a:t>Heuristics for relaxing some requirements</a:t>
            </a:r>
            <a:endParaRPr sz="2000" dirty="0"/>
          </a:p>
        </p:txBody>
      </p:sp>
      <p:sp>
        <p:nvSpPr>
          <p:cNvPr id="7" name="标题 1"/>
          <p:cNvSpPr>
            <a:spLocks noGrp="1"/>
          </p:cNvSpPr>
          <p:nvPr>
            <p:ph type="title"/>
          </p:nvPr>
        </p:nvSpPr>
        <p:spPr/>
        <p:txBody>
          <a:bodyPr>
            <a:normAutofit/>
          </a:bodyPr>
          <a:lstStyle/>
          <a:p>
            <a:r>
              <a:rPr lang="zh-CN" altLang="en-US" dirty="0"/>
              <a:t>Dependency </a:t>
            </a:r>
            <a:r>
              <a:rPr lang="en-US" altLang="zh-CN" dirty="0"/>
              <a:t>M</a:t>
            </a:r>
            <a:r>
              <a:rPr lang="zh-CN" altLang="en-US" dirty="0"/>
              <a:t>anagement</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Which version to choose?</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文本框 6"/>
          <p:cNvSpPr txBox="1"/>
          <p:nvPr/>
        </p:nvSpPr>
        <p:spPr>
          <a:xfrm>
            <a:off x="350947" y="1210002"/>
            <a:ext cx="11490106" cy="4973388"/>
          </a:xfrm>
          <a:prstGeom prst="rect">
            <a:avLst/>
          </a:prstGeom>
          <a:noFill/>
        </p:spPr>
        <p:txBody>
          <a:bodyPr wrap="square" rtlCol="0" anchor="t">
            <a:noAutofit/>
          </a:bodyPr>
          <a:lstStyle/>
          <a:p>
            <a:pPr indent="0" algn="just" fontAlgn="auto">
              <a:spcBef>
                <a:spcPts val="600"/>
              </a:spcBef>
            </a:pPr>
            <a:r>
              <a:rPr lang="zh-CN" altLang="en-US" sz="2000" dirty="0"/>
              <a:t>For deterministic builds, choice shouldn't depend on when dependency resolution is performed</a:t>
            </a:r>
            <a:endParaRPr lang="zh-CN" altLang="en-US" sz="2000" dirty="0"/>
          </a:p>
          <a:p>
            <a:pPr lvl="2" algn="just">
              <a:spcBef>
                <a:spcPts val="600"/>
              </a:spcBef>
            </a:pPr>
            <a:r>
              <a:rPr lang="zh-CN" altLang="en-US" sz="2000" dirty="0"/>
              <a:t>Lock files: capture results of dependency resolution</a:t>
            </a:r>
            <a:endParaRPr lang="zh-CN" altLang="en-US" sz="2000" dirty="0"/>
          </a:p>
          <a:p>
            <a:pPr lvl="2" algn="just">
              <a:spcBef>
                <a:spcPts val="600"/>
              </a:spcBef>
            </a:pPr>
            <a:r>
              <a:rPr lang="zh-CN" altLang="en-US" sz="2000" dirty="0"/>
              <a:t>Newer dependencies will only be considered if locked versions do not satisfy constraints</a:t>
            </a:r>
            <a:endParaRPr lang="zh-CN" altLang="en-US" sz="2000" dirty="0"/>
          </a:p>
          <a:p>
            <a:pPr lvl="2" algn="just">
              <a:spcBef>
                <a:spcPts val="600"/>
              </a:spcBef>
            </a:pPr>
            <a:r>
              <a:rPr lang="zh-CN" altLang="en-US" sz="2000" dirty="0"/>
              <a:t>Commit lock file to repository</a:t>
            </a:r>
            <a:endParaRPr lang="en-US" altLang="zh-CN" sz="2000" dirty="0"/>
          </a:p>
          <a:p>
            <a:pPr marL="0" lvl="0" indent="0" algn="just" fontAlgn="auto">
              <a:spcBef>
                <a:spcPts val="600"/>
              </a:spcBef>
              <a:buNone/>
            </a:pPr>
            <a:endParaRPr lang="zh-CN" altLang="en-US" sz="2000" dirty="0"/>
          </a:p>
          <a:p>
            <a:pPr marL="0" lvl="0" indent="0" algn="just" fontAlgn="auto">
              <a:spcBef>
                <a:spcPts val="600"/>
              </a:spcBef>
              <a:buNone/>
            </a:pPr>
            <a:endParaRPr lang="en-US" altLang="zh-CN" sz="2000" dirty="0"/>
          </a:p>
          <a:p>
            <a:pPr marL="0" lvl="0" indent="0" algn="just" fontAlgn="auto">
              <a:spcBef>
                <a:spcPts val="600"/>
              </a:spcBef>
              <a:buNone/>
            </a:pPr>
            <a:endParaRPr lang="en-US" altLang="zh-CN" sz="2000" dirty="0"/>
          </a:p>
          <a:p>
            <a:pPr marL="0" lvl="0" indent="0" algn="just" fontAlgn="auto">
              <a:spcBef>
                <a:spcPts val="600"/>
              </a:spcBef>
              <a:buNone/>
            </a:pPr>
            <a:r>
              <a:rPr lang="en-US" altLang="zh-CN" sz="2000" dirty="0"/>
              <a:t>Choosing </a:t>
            </a:r>
            <a:r>
              <a:rPr lang="zh-CN" altLang="en-US" sz="2000" dirty="0"/>
              <a:t>minimum (MINOR) version required by dependency network</a:t>
            </a:r>
            <a:endParaRPr lang="zh-CN" altLang="en-US" sz="2000" dirty="0"/>
          </a:p>
          <a:p>
            <a:pPr marL="0" lvl="0" indent="0" algn="just" fontAlgn="auto">
              <a:spcBef>
                <a:spcPts val="600"/>
              </a:spcBef>
              <a:buNone/>
            </a:pPr>
            <a:r>
              <a:rPr lang="en-US" altLang="zh-CN" sz="2000" dirty="0"/>
              <a:t>	</a:t>
            </a:r>
            <a:r>
              <a:rPr lang="zh-CN" altLang="en-US" sz="2000" dirty="0"/>
              <a:t>If MINOR versions are maintained as release branches, hopefully security fixes will be </a:t>
            </a:r>
            <a:r>
              <a:rPr lang="en-US" altLang="zh-CN" sz="2000" dirty="0"/>
              <a:t>	</a:t>
            </a:r>
            <a:r>
              <a:rPr lang="zh-CN" altLang="en-US" sz="2000" dirty="0"/>
              <a:t>backported to them as PATCH releases</a:t>
            </a:r>
            <a:endParaRPr lang="zh-CN" altLang="en-US" sz="20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147969" y="2678279"/>
            <a:ext cx="4597400" cy="10922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9398635" cy="790575"/>
          </a:xfrm>
        </p:spPr>
        <p:txBody>
          <a:bodyPr>
            <a:normAutofit/>
          </a:bodyPr>
          <a:lstStyle/>
          <a:p>
            <a:r>
              <a:t>"Live at HEAD"</a:t>
            </a: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文本框 4"/>
          <p:cNvSpPr txBox="1"/>
          <p:nvPr/>
        </p:nvSpPr>
        <p:spPr>
          <a:xfrm>
            <a:off x="1091565" y="1196340"/>
            <a:ext cx="10427335" cy="3874770"/>
          </a:xfrm>
          <a:prstGeom prst="rect">
            <a:avLst/>
          </a:prstGeom>
          <a:noFill/>
        </p:spPr>
        <p:txBody>
          <a:bodyPr wrap="square" rtlCol="0" anchor="t">
            <a:noAutofit/>
          </a:bodyPr>
          <a:lstStyle/>
          <a:p>
            <a:pPr indent="0" fontAlgn="auto">
              <a:spcBef>
                <a:spcPts val="600"/>
              </a:spcBef>
            </a:pPr>
            <a:r>
              <a:rPr lang="zh-CN" altLang="en-US" sz="2000" dirty="0"/>
              <a:t>Dependency maintainer responsible for not breaking all users</a:t>
            </a:r>
            <a:endParaRPr lang="en-US" altLang="zh-CN" sz="2000" dirty="0"/>
          </a:p>
          <a:p>
            <a:pPr indent="0" fontAlgn="auto">
              <a:spcBef>
                <a:spcPts val="600"/>
              </a:spcBef>
            </a:pPr>
            <a:r>
              <a:rPr lang="en-US" altLang="zh-CN" sz="2000" dirty="0"/>
              <a:t>	</a:t>
            </a:r>
            <a:r>
              <a:rPr lang="zh-CN" altLang="en-US" dirty="0"/>
              <a:t>Effectively requires continuous integration for all software in the world</a:t>
            </a:r>
            <a:endParaRPr lang="en-US" altLang="zh-CN" dirty="0"/>
          </a:p>
          <a:p>
            <a:pPr indent="0" fontAlgn="auto">
              <a:spcBef>
                <a:spcPts val="600"/>
              </a:spcBef>
            </a:pPr>
            <a:r>
              <a:rPr lang="en-US" altLang="zh-CN" dirty="0"/>
              <a:t>	</a:t>
            </a:r>
            <a:r>
              <a:rPr lang="zh-CN" altLang="en-US" dirty="0"/>
              <a:t>If compatibility cannot be maintained, maintainer will provide upgrade tool</a:t>
            </a:r>
            <a:endParaRPr lang="zh-CN" altLang="en-US" dirty="0"/>
          </a:p>
          <a:p>
            <a:pPr lvl="1" indent="0" fontAlgn="auto">
              <a:spcBef>
                <a:spcPts val="600"/>
              </a:spcBef>
            </a:pPr>
            <a:endParaRPr lang="zh-CN" altLang="en-US" dirty="0"/>
          </a:p>
          <a:p>
            <a:pPr indent="0" fontAlgn="auto">
              <a:spcBef>
                <a:spcPts val="600"/>
              </a:spcBef>
            </a:pPr>
            <a:r>
              <a:rPr lang="zh-CN" altLang="en-US" sz="2000" dirty="0"/>
              <a:t>Some of this infrastructure already exists</a:t>
            </a:r>
            <a:endParaRPr lang="en-US" altLang="zh-CN" sz="2000" dirty="0"/>
          </a:p>
          <a:p>
            <a:pPr indent="0" fontAlgn="auto">
              <a:spcBef>
                <a:spcPts val="600"/>
              </a:spcBef>
            </a:pPr>
            <a:r>
              <a:rPr lang="en-US" altLang="zh-CN" sz="2000" dirty="0"/>
              <a:t>	</a:t>
            </a:r>
            <a:r>
              <a:rPr lang="zh-CN" altLang="en-US" dirty="0"/>
              <a:t>"Rolling" Linux distributions (e.g. Gentoo) integrate tens of thousands of packages </a:t>
            </a:r>
            <a:r>
              <a:rPr lang="en-US" altLang="zh-CN" dirty="0"/>
              <a:t>	</a:t>
            </a:r>
            <a:r>
              <a:rPr lang="zh-CN" altLang="en-US" dirty="0"/>
              <a:t>continuously</a:t>
            </a:r>
            <a:endParaRPr lang="en-US" altLang="zh-CN" dirty="0"/>
          </a:p>
          <a:p>
            <a:pPr indent="0" fontAlgn="auto">
              <a:spcBef>
                <a:spcPts val="600"/>
              </a:spcBef>
            </a:pPr>
            <a:r>
              <a:rPr lang="en-US" altLang="zh-CN" dirty="0"/>
              <a:t>	</a:t>
            </a:r>
            <a:r>
              <a:rPr lang="zh-CN" altLang="en-US" dirty="0"/>
              <a:t>Programming languages (e.g. Scala, Rust) proactively test all changes against major </a:t>
            </a:r>
            <a:r>
              <a:rPr lang="en-US" altLang="zh-CN" dirty="0"/>
              <a:t>	</a:t>
            </a:r>
            <a:r>
              <a:rPr lang="zh-CN" altLang="en-US" dirty="0"/>
              <a:t>libraries/applications</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688705" cy="790575"/>
          </a:xfrm>
        </p:spPr>
        <p:txBody>
          <a:bodyPr>
            <a:normAutofit/>
          </a:bodyPr>
          <a:lstStyle/>
          <a:p>
            <a:r>
              <a:rPr lang="zh-CN" altLang="en-US"/>
              <a:t>Dependency </a:t>
            </a:r>
            <a:r>
              <a:rPr lang="en-US" altLang="zh-CN" dirty="0"/>
              <a:t>V</a:t>
            </a:r>
            <a:r>
              <a:rPr lang="zh-CN" altLang="en-US" dirty="0"/>
              <a:t>ulnerabilities</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204595"/>
            <a:ext cx="10427335" cy="2859405"/>
          </a:xfrm>
          <a:prstGeom prst="rect">
            <a:avLst/>
          </a:prstGeom>
          <a:noFill/>
        </p:spPr>
        <p:txBody>
          <a:bodyPr wrap="square" rtlCol="0" anchor="t">
            <a:noAutofit/>
          </a:bodyPr>
          <a:lstStyle/>
          <a:p>
            <a:pPr>
              <a:spcBef>
                <a:spcPts val="600"/>
              </a:spcBef>
            </a:pPr>
            <a:r>
              <a:rPr lang="zh-CN" altLang="en-US" sz="2000" b="1" dirty="0">
                <a:solidFill>
                  <a:srgbClr val="515223"/>
                </a:solidFill>
                <a:latin typeface="Helvetica" pitchFamily="2" charset="0"/>
                <a:cs typeface="Arial" panose="020B0604020202090204" pitchFamily="34" charset="0"/>
              </a:rPr>
              <a:t>NPM </a:t>
            </a:r>
            <a:r>
              <a:rPr lang="en-US" altLang="zh-CN" sz="2000" b="1" dirty="0">
                <a:solidFill>
                  <a:srgbClr val="515223"/>
                </a:solidFill>
                <a:latin typeface="Helvetica" pitchFamily="2" charset="0"/>
                <a:cs typeface="Arial" panose="020B0604020202090204" pitchFamily="34" charset="0"/>
              </a:rPr>
              <a:t>(a JavaScript package manager ) </a:t>
            </a:r>
            <a:r>
              <a:rPr lang="zh-CN" altLang="en-US" sz="2000" b="1" dirty="0">
                <a:solidFill>
                  <a:srgbClr val="515223"/>
                </a:solidFill>
                <a:latin typeface="Helvetica" pitchFamily="2" charset="0"/>
                <a:cs typeface="Arial" panose="020B0604020202090204" pitchFamily="34" charset="0"/>
              </a:rPr>
              <a:t>dependency-related disasters</a:t>
            </a:r>
            <a:endParaRPr lang="en-US" altLang="zh-CN" sz="2000" b="1" dirty="0">
              <a:solidFill>
                <a:srgbClr val="515223"/>
              </a:solidFill>
              <a:latin typeface="Helvetica" pitchFamily="2" charset="0"/>
              <a:cs typeface="Arial" panose="020B0604020202090204" pitchFamily="34" charset="0"/>
            </a:endParaRPr>
          </a:p>
          <a:p>
            <a:r>
              <a:rPr lang="en-US" altLang="zh-CN" sz="2000" dirty="0"/>
              <a:t>	</a:t>
            </a:r>
            <a:r>
              <a:rPr lang="zh-CN" altLang="en-US" dirty="0"/>
              <a:t>left-pad unpublished</a:t>
            </a:r>
            <a:endParaRPr lang="en-US" altLang="zh-CN" dirty="0"/>
          </a:p>
          <a:p>
            <a:r>
              <a:rPr lang="en-US" altLang="zh-CN" dirty="0"/>
              <a:t>	</a:t>
            </a:r>
            <a:r>
              <a:rPr lang="zh-CN" altLang="en-US" dirty="0"/>
              <a:t>Bitcoin theft transitive dependency in event-stream</a:t>
            </a:r>
            <a:endParaRPr lang="en-US" altLang="zh-CN" dirty="0"/>
          </a:p>
          <a:p>
            <a:r>
              <a:rPr lang="en-US" altLang="zh-CN" dirty="0"/>
              <a:t>	</a:t>
            </a:r>
            <a:r>
              <a:rPr lang="zh-CN" altLang="en-US" dirty="0"/>
              <a:t>Ukraine war "protestware" in node-ipc</a:t>
            </a:r>
            <a:endParaRPr lang="zh-CN" altLang="en-US" dirty="0"/>
          </a:p>
          <a:p>
            <a:pPr>
              <a:spcBef>
                <a:spcPts val="600"/>
              </a:spcBef>
              <a:buClrTx/>
              <a:buSzTx/>
              <a:buFontTx/>
            </a:pPr>
            <a:r>
              <a:rPr lang="zh-CN" altLang="en-US" sz="2000" b="1" dirty="0">
                <a:solidFill>
                  <a:srgbClr val="515223"/>
                </a:solidFill>
                <a:latin typeface="Helvetica" pitchFamily="2" charset="0"/>
                <a:cs typeface="Arial" panose="020B0604020202090204" pitchFamily="34" charset="0"/>
              </a:rPr>
              <a:t>Why was impact so large?</a:t>
            </a:r>
            <a:endParaRPr lang="en-US" altLang="zh-CN" sz="2000" b="1" dirty="0">
              <a:solidFill>
                <a:srgbClr val="515223"/>
              </a:solidFill>
              <a:latin typeface="Helvetica" pitchFamily="2" charset="0"/>
              <a:cs typeface="Arial" panose="020B0604020202090204" pitchFamily="34" charset="0"/>
            </a:endParaRPr>
          </a:p>
          <a:p>
            <a:pPr algn="l">
              <a:buClrTx/>
              <a:buSzTx/>
              <a:buFontTx/>
            </a:pPr>
            <a:r>
              <a:rPr lang="en-US" altLang="zh-CN" sz="2000" dirty="0"/>
              <a:t>	</a:t>
            </a:r>
            <a:r>
              <a:rPr lang="zh-CN" altLang="en-US" dirty="0"/>
              <a:t>Tools depended on external repository services rather than internal mirror</a:t>
            </a:r>
            <a:endParaRPr lang="zh-CN" altLang="en-US" dirty="0"/>
          </a:p>
          <a:p>
            <a:pPr lvl="1"/>
            <a:r>
              <a:rPr lang="en-US" altLang="zh-CN" dirty="0"/>
              <a:t>	</a:t>
            </a:r>
            <a:r>
              <a:rPr lang="zh-CN" altLang="en-US" dirty="0"/>
              <a:t>Projects depended on floating instead of fixed versions</a:t>
            </a:r>
            <a:endParaRPr lang="zh-CN" altLang="en-US" dirty="0"/>
          </a:p>
          <a:p>
            <a:pPr lvl="1"/>
            <a:r>
              <a:rPr lang="en-US" altLang="zh-CN" dirty="0"/>
              <a:t>	</a:t>
            </a:r>
            <a:r>
              <a:rPr lang="zh-CN" altLang="en-US" dirty="0"/>
              <a:t>Projects were built "too continuously"</a:t>
            </a:r>
            <a:endParaRPr lang="zh-CN" altLang="en-US" dirty="0"/>
          </a:p>
          <a:p>
            <a:pPr lvl="1"/>
            <a:r>
              <a:rPr lang="en-US" altLang="zh-CN" dirty="0"/>
              <a:t>	</a:t>
            </a:r>
            <a:r>
              <a:rPr lang="zh-CN" altLang="en-US" dirty="0"/>
              <a:t>Fine-grained dependencies depended upon by many other libraries</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03</a:t>
              </a:r>
              <a:endParaRPr lang="en-US" altLang="zh-CN"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037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THREE </a:t>
              </a:r>
              <a:endParaRPr lang="zh-CN" altLang="en-US" sz="2400" dirty="0">
                <a:solidFill>
                  <a:schemeClr val="accent1"/>
                </a:solidFill>
                <a:latin typeface="Helvetica" pitchFamily="2" charset="0"/>
                <a:cs typeface="Arial" panose="020B0604020202090204" pitchFamily="34" charset="0"/>
                <a:sym typeface="+mn-lt"/>
              </a:endParaRPr>
            </a:p>
          </p:txBody>
        </p:sp>
      </p:grpSp>
      <p:sp>
        <p:nvSpPr>
          <p:cNvPr id="5" name="文本框 4"/>
          <p:cNvSpPr txBox="1"/>
          <p:nvPr/>
        </p:nvSpPr>
        <p:spPr>
          <a:xfrm>
            <a:off x="0" y="3680460"/>
            <a:ext cx="12192635" cy="706755"/>
          </a:xfrm>
          <a:prstGeom prst="rect">
            <a:avLst/>
          </a:prstGeom>
          <a:noFill/>
        </p:spPr>
        <p:txBody>
          <a:bodyPr wrap="square" rtlCol="0" anchor="t">
            <a:spAutoFit/>
          </a:bodyPr>
          <a:lstStyle/>
          <a:p>
            <a:pPr algn="ctr"/>
            <a:r>
              <a:rPr lang="en-US" altLang="zh-CN" sz="4000" b="1" dirty="0">
                <a:solidFill>
                  <a:schemeClr val="accent1"/>
                </a:solidFill>
                <a:latin typeface="Helvetica" pitchFamily="2" charset="0"/>
                <a:cs typeface="+mn-ea"/>
              </a:rPr>
              <a:t>Releasing Software</a:t>
            </a:r>
            <a:endParaRPr lang="en-US" altLang="zh-CN" sz="4000" b="1" dirty="0">
              <a:solidFill>
                <a:schemeClr val="accent1"/>
              </a:solidFill>
              <a:latin typeface="Helvetica" pitchFamily="2" charset="0"/>
              <a:cs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When is software ready to release?</a:t>
            </a: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文本框 4"/>
          <p:cNvSpPr txBox="1"/>
          <p:nvPr/>
        </p:nvSpPr>
        <p:spPr>
          <a:xfrm>
            <a:off x="1091565" y="1247140"/>
            <a:ext cx="8249285" cy="3806825"/>
          </a:xfrm>
          <a:prstGeom prst="rect">
            <a:avLst/>
          </a:prstGeom>
          <a:noFill/>
        </p:spPr>
        <p:txBody>
          <a:bodyPr wrap="square" rtlCol="0" anchor="t">
            <a:noAutofit/>
          </a:bodyPr>
          <a:lstStyle/>
          <a:p>
            <a:pPr algn="l">
              <a:spcBef>
                <a:spcPts val="1800"/>
              </a:spcBef>
              <a:buClrTx/>
              <a:buSzTx/>
              <a:buNone/>
            </a:pPr>
            <a:r>
              <a:rPr sz="2000" dirty="0"/>
              <a:t>When it is feature-complete?</a:t>
            </a:r>
            <a:endParaRPr sz="2000" dirty="0"/>
          </a:p>
          <a:p>
            <a:pPr algn="l">
              <a:spcBef>
                <a:spcPts val="1800"/>
              </a:spcBef>
              <a:buClrTx/>
              <a:buSzTx/>
              <a:buNone/>
            </a:pPr>
            <a:r>
              <a:rPr sz="2000" dirty="0"/>
              <a:t>When it is bug-free?</a:t>
            </a:r>
            <a:endParaRPr sz="2000" dirty="0"/>
          </a:p>
          <a:p>
            <a:pPr algn="l">
              <a:spcBef>
                <a:spcPts val="1800"/>
              </a:spcBef>
              <a:buClrTx/>
              <a:buSzTx/>
              <a:buNone/>
            </a:pPr>
            <a:r>
              <a:rPr sz="2000" dirty="0"/>
              <a:t>When it has soaked for long enough?</a:t>
            </a:r>
            <a:endParaRPr sz="2000" dirty="0"/>
          </a:p>
          <a:p>
            <a:pPr algn="l">
              <a:spcBef>
                <a:spcPts val="1800"/>
              </a:spcBef>
              <a:buClrTx/>
              <a:buSzTx/>
              <a:buNone/>
            </a:pPr>
            <a:r>
              <a:rPr sz="2000" dirty="0"/>
              <a:t>On the release date?</a:t>
            </a:r>
            <a:endParaRPr sz="2000" dirty="0"/>
          </a:p>
          <a:p>
            <a:pPr algn="l">
              <a:spcBef>
                <a:spcPts val="1800"/>
              </a:spcBef>
              <a:buClrTx/>
              <a:buSzTx/>
              <a:buNone/>
            </a:pPr>
            <a:r>
              <a:rPr sz="2000" dirty="0"/>
              <a:t>Continuously?</a:t>
            </a:r>
            <a:endParaRPr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Traditional release process</a:t>
            </a: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152525"/>
            <a:ext cx="10213975" cy="4913630"/>
          </a:xfrm>
          <a:prstGeom prst="rect">
            <a:avLst/>
          </a:prstGeom>
          <a:noFill/>
        </p:spPr>
        <p:txBody>
          <a:bodyPr wrap="square" rtlCol="0" anchor="t">
            <a:noAutofit/>
          </a:bodyPr>
          <a:lstStyle/>
          <a:p>
            <a:pPr indent="0" fontAlgn="auto">
              <a:lnSpc>
                <a:spcPts val="1600"/>
              </a:lnSpc>
              <a:spcBef>
                <a:spcPts val="600"/>
              </a:spcBef>
              <a:spcAft>
                <a:spcPts val="1200"/>
              </a:spcAft>
            </a:pPr>
            <a:r>
              <a:rPr lang="zh-CN" altLang="en-US" dirty="0">
                <a:solidFill>
                  <a:schemeClr val="tx1"/>
                </a:solidFill>
              </a:rPr>
              <a:t>Example: GCC</a:t>
            </a:r>
            <a:endParaRPr lang="zh-CN" altLang="en-US" dirty="0">
              <a:solidFill>
                <a:schemeClr val="tx1"/>
              </a:solidFill>
            </a:endParaRPr>
          </a:p>
          <a:p>
            <a:pPr indent="0" fontAlgn="auto">
              <a:lnSpc>
                <a:spcPts val="2100"/>
              </a:lnSpc>
              <a:spcBef>
                <a:spcPts val="600"/>
              </a:spcBef>
            </a:pPr>
            <a:r>
              <a:rPr lang="zh-CN" altLang="en-US" dirty="0">
                <a:solidFill>
                  <a:schemeClr val="tx1"/>
                </a:solidFill>
              </a:rPr>
              <a:t>1. Merge window (time-boxed)</a:t>
            </a:r>
            <a:endParaRPr lang="zh-CN" altLang="en-US" dirty="0">
              <a:solidFill>
                <a:schemeClr val="tx1"/>
              </a:solidFill>
            </a:endParaRPr>
          </a:p>
          <a:p>
            <a:pPr indent="457200" fontAlgn="auto">
              <a:lnSpc>
                <a:spcPts val="2100"/>
              </a:lnSpc>
              <a:spcBef>
                <a:spcPts val="600"/>
              </a:spcBef>
            </a:pPr>
            <a:r>
              <a:rPr lang="en-US" altLang="zh-CN" dirty="0"/>
              <a:t>	</a:t>
            </a:r>
            <a:r>
              <a:rPr lang="zh-CN" altLang="en-US" dirty="0">
                <a:solidFill>
                  <a:schemeClr val="tx1"/>
                </a:solidFill>
              </a:rPr>
              <a:t>Branches that are "ready" are merged to trunk</a:t>
            </a:r>
            <a:endParaRPr lang="zh-CN" altLang="en-US" dirty="0">
              <a:solidFill>
                <a:schemeClr val="tx1"/>
              </a:solidFill>
            </a:endParaRPr>
          </a:p>
          <a:p>
            <a:pPr indent="0" fontAlgn="auto">
              <a:lnSpc>
                <a:spcPts val="2100"/>
              </a:lnSpc>
              <a:spcBef>
                <a:spcPts val="600"/>
              </a:spcBef>
            </a:pPr>
            <a:r>
              <a:rPr lang="zh-CN" altLang="en-US" dirty="0">
                <a:solidFill>
                  <a:schemeClr val="tx1"/>
                </a:solidFill>
              </a:rPr>
              <a:t>2. Bug fixes (time-boxed)</a:t>
            </a:r>
            <a:endParaRPr lang="zh-CN" altLang="en-US" dirty="0">
              <a:solidFill>
                <a:schemeClr val="tx1"/>
              </a:solidFill>
            </a:endParaRPr>
          </a:p>
          <a:p>
            <a:pPr lvl="2">
              <a:lnSpc>
                <a:spcPts val="2100"/>
              </a:lnSpc>
              <a:spcBef>
                <a:spcPts val="600"/>
              </a:spcBef>
            </a:pPr>
            <a:r>
              <a:rPr lang="zh-CN" altLang="en-US" dirty="0">
                <a:solidFill>
                  <a:schemeClr val="tx1"/>
                </a:solidFill>
              </a:rPr>
              <a:t>Cut release branch</a:t>
            </a:r>
            <a:endParaRPr lang="zh-CN" altLang="en-US" dirty="0">
              <a:solidFill>
                <a:schemeClr val="tx1"/>
              </a:solidFill>
            </a:endParaRPr>
          </a:p>
          <a:p>
            <a:pPr lvl="1" indent="0" fontAlgn="auto">
              <a:lnSpc>
                <a:spcPts val="2100"/>
              </a:lnSpc>
              <a:spcBef>
                <a:spcPts val="600"/>
              </a:spcBef>
            </a:pPr>
            <a:r>
              <a:rPr lang="en-US" altLang="zh-CN" dirty="0"/>
              <a:t>	</a:t>
            </a:r>
            <a:r>
              <a:rPr lang="zh-CN" altLang="en-US" dirty="0">
                <a:solidFill>
                  <a:schemeClr val="tx1"/>
                </a:solidFill>
              </a:rPr>
              <a:t>No new (coupled) features</a:t>
            </a:r>
            <a:endParaRPr lang="zh-CN" altLang="en-US" dirty="0">
              <a:solidFill>
                <a:schemeClr val="tx1"/>
              </a:solidFill>
            </a:endParaRPr>
          </a:p>
          <a:p>
            <a:pPr indent="0" fontAlgn="auto">
              <a:lnSpc>
                <a:spcPts val="2100"/>
              </a:lnSpc>
              <a:spcBef>
                <a:spcPts val="600"/>
              </a:spcBef>
            </a:pPr>
            <a:r>
              <a:rPr lang="zh-CN" altLang="en-US" dirty="0">
                <a:solidFill>
                  <a:schemeClr val="tx1"/>
                </a:solidFill>
              </a:rPr>
              <a:t>3. Regression &amp; doc fixes</a:t>
            </a:r>
            <a:endParaRPr lang="zh-CN" altLang="en-US" dirty="0">
              <a:solidFill>
                <a:schemeClr val="tx1"/>
              </a:solidFill>
            </a:endParaRPr>
          </a:p>
          <a:p>
            <a:pPr indent="0" fontAlgn="auto">
              <a:lnSpc>
                <a:spcPts val="2100"/>
              </a:lnSpc>
              <a:spcBef>
                <a:spcPts val="600"/>
              </a:spcBef>
            </a:pPr>
            <a:r>
              <a:rPr lang="zh-CN" altLang="en-US" dirty="0">
                <a:solidFill>
                  <a:schemeClr val="tx1"/>
                </a:solidFill>
              </a:rPr>
              <a:t>4. Release</a:t>
            </a:r>
            <a:endParaRPr lang="zh-CN" altLang="en-US" dirty="0">
              <a:solidFill>
                <a:schemeClr val="tx1"/>
              </a:solidFill>
            </a:endParaRPr>
          </a:p>
          <a:p>
            <a:pPr indent="457200" fontAlgn="auto">
              <a:lnSpc>
                <a:spcPts val="2100"/>
              </a:lnSpc>
              <a:spcBef>
                <a:spcPts val="600"/>
              </a:spcBef>
            </a:pPr>
            <a:r>
              <a:rPr lang="en-US" altLang="zh-CN" dirty="0"/>
              <a:t>	</a:t>
            </a:r>
            <a:r>
              <a:rPr lang="zh-CN" altLang="en-US" dirty="0">
                <a:solidFill>
                  <a:schemeClr val="tx1"/>
                </a:solidFill>
              </a:rPr>
              <a:t>When all high-priority bugs are fixed</a:t>
            </a:r>
            <a:endParaRPr lang="zh-CN" altLang="en-US" dirty="0">
              <a:solidFill>
                <a:schemeClr val="tx1"/>
              </a:solidFill>
            </a:endParaRPr>
          </a:p>
          <a:p>
            <a:pPr marL="457200" lvl="1" indent="0" fontAlgn="auto">
              <a:lnSpc>
                <a:spcPts val="2100"/>
              </a:lnSpc>
              <a:spcBef>
                <a:spcPts val="600"/>
              </a:spcBef>
              <a:buNone/>
            </a:pPr>
            <a:r>
              <a:rPr lang="en-US" altLang="zh-CN" dirty="0"/>
              <a:t>	</a:t>
            </a:r>
            <a:r>
              <a:rPr lang="zh-CN" altLang="en-US" dirty="0">
                <a:solidFill>
                  <a:schemeClr val="tx1"/>
                </a:solidFill>
              </a:rPr>
              <a:t>Challenges</a:t>
            </a:r>
            <a:endParaRPr lang="zh-CN" altLang="en-US" dirty="0">
              <a:solidFill>
                <a:schemeClr val="tx1"/>
              </a:solidFill>
            </a:endParaRPr>
          </a:p>
          <a:p>
            <a:pPr marL="914400" lvl="2" indent="0" fontAlgn="auto">
              <a:lnSpc>
                <a:spcPts val="2100"/>
              </a:lnSpc>
              <a:spcBef>
                <a:spcPts val="600"/>
              </a:spcBef>
              <a:buNone/>
            </a:pPr>
            <a:r>
              <a:rPr lang="en-US" altLang="zh-CN" dirty="0"/>
              <a:t>	</a:t>
            </a:r>
            <a:r>
              <a:rPr lang="zh-CN" altLang="en-US" dirty="0">
                <a:solidFill>
                  <a:schemeClr val="tx1"/>
                </a:solidFill>
              </a:rPr>
              <a:t>Need to coordinate process</a:t>
            </a:r>
            <a:endParaRPr lang="zh-CN" altLang="en-US" dirty="0">
              <a:solidFill>
                <a:schemeClr val="tx1"/>
              </a:solidFill>
            </a:endParaRPr>
          </a:p>
          <a:p>
            <a:pPr marL="914400" lvl="2" indent="0" fontAlgn="auto">
              <a:lnSpc>
                <a:spcPts val="2100"/>
              </a:lnSpc>
              <a:spcBef>
                <a:spcPts val="600"/>
              </a:spcBef>
              <a:buNone/>
            </a:pPr>
            <a:r>
              <a:rPr lang="en-US" altLang="zh-CN" dirty="0"/>
              <a:t>	</a:t>
            </a:r>
            <a:r>
              <a:rPr lang="zh-CN" altLang="en-US" dirty="0">
                <a:solidFill>
                  <a:schemeClr val="tx1"/>
                </a:solidFill>
              </a:rPr>
              <a:t>Features that miss merge window must wait until next cycle</a:t>
            </a:r>
            <a:endParaRPr lang="zh-CN" altLang="en-US" dirty="0">
              <a:solidFill>
                <a:schemeClr val="tx1"/>
              </a:solidFill>
            </a:endParaRPr>
          </a:p>
          <a:p>
            <a:pPr marL="914400" lvl="2" indent="0" fontAlgn="auto">
              <a:lnSpc>
                <a:spcPts val="2100"/>
              </a:lnSpc>
              <a:spcBef>
                <a:spcPts val="600"/>
              </a:spcBef>
              <a:buNone/>
            </a:pPr>
            <a:r>
              <a:rPr lang="en-US" altLang="zh-CN" dirty="0"/>
              <a:t>	</a:t>
            </a:r>
            <a:r>
              <a:rPr lang="zh-CN" altLang="en-US" dirty="0">
                <a:solidFill>
                  <a:schemeClr val="tx1"/>
                </a:solidFill>
              </a:rPr>
              <a:t>Problematic features are difficult to remove</a:t>
            </a:r>
            <a:endParaRPr lang="zh-CN" altLang="en-US" dirty="0">
              <a:solidFill>
                <a:schemeClr val="tx1"/>
              </a:solidFill>
            </a:endParaRPr>
          </a:p>
          <a:p>
            <a:pPr marL="914400" lvl="2" indent="0" fontAlgn="auto">
              <a:lnSpc>
                <a:spcPts val="2100"/>
              </a:lnSpc>
              <a:spcBef>
                <a:spcPts val="600"/>
              </a:spcBef>
              <a:buNone/>
            </a:pPr>
            <a:r>
              <a:rPr lang="en-US" altLang="zh-CN" dirty="0"/>
              <a:t>	</a:t>
            </a:r>
            <a:r>
              <a:rPr lang="zh-CN" altLang="en-US" dirty="0">
                <a:solidFill>
                  <a:schemeClr val="tx1"/>
                </a:solidFill>
              </a:rPr>
              <a:t>Branch divergence</a:t>
            </a:r>
            <a:endParaRPr lang="zh-CN" altLang="en-US" dirty="0">
              <a:solidFill>
                <a:schemeClr val="tx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t>Time-based vs. </a:t>
            </a:r>
            <a:r>
              <a:rPr lang="en-US" dirty="0"/>
              <a:t>Feature-based Releases</a:t>
            </a:r>
            <a:endParaRPr lang="en-US"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329055"/>
            <a:ext cx="10213975" cy="4622800"/>
          </a:xfrm>
          <a:prstGeom prst="rect">
            <a:avLst/>
          </a:prstGeom>
          <a:noFill/>
        </p:spPr>
        <p:txBody>
          <a:bodyPr wrap="square" rtlCol="0" anchor="t">
            <a:noAutofit/>
          </a:bodyPr>
          <a:lstStyle/>
          <a:p>
            <a:pPr indent="0" fontAlgn="auto">
              <a:spcBef>
                <a:spcPts val="600"/>
              </a:spcBef>
            </a:pPr>
            <a:r>
              <a:rPr lang="zh-CN" altLang="en-US" sz="2000" b="1" dirty="0">
                <a:solidFill>
                  <a:srgbClr val="515223"/>
                </a:solidFill>
                <a:latin typeface="Helvetica" pitchFamily="2" charset="0"/>
                <a:cs typeface="Arial" panose="020B0604020202090204" pitchFamily="34" charset="0"/>
              </a:rPr>
              <a:t>Feature-based</a:t>
            </a:r>
            <a:endParaRPr lang="zh-CN" altLang="en-US" sz="2000" b="1" dirty="0">
              <a:solidFill>
                <a:srgbClr val="515223"/>
              </a:solidFill>
              <a:latin typeface="Helvetica" pitchFamily="2" charset="0"/>
              <a:cs typeface="Arial" panose="020B0604020202090204" pitchFamily="34" charset="0"/>
            </a:endParaRPr>
          </a:p>
          <a:p>
            <a:pPr lvl="1">
              <a:spcBef>
                <a:spcPts val="600"/>
              </a:spcBef>
            </a:pPr>
            <a:r>
              <a:rPr lang="zh-CN" altLang="en-US" sz="2000" dirty="0">
                <a:solidFill>
                  <a:schemeClr val="tx1"/>
                </a:solidFill>
              </a:rPr>
              <a:t>Product manager decides which major features define the next release</a:t>
            </a:r>
            <a:endParaRPr lang="zh-CN" altLang="en-US" sz="2000" dirty="0">
              <a:solidFill>
                <a:schemeClr val="tx1"/>
              </a:solidFill>
            </a:endParaRPr>
          </a:p>
          <a:p>
            <a:pPr lvl="1">
              <a:spcBef>
                <a:spcPts val="600"/>
              </a:spcBef>
            </a:pPr>
            <a:r>
              <a:rPr lang="zh-CN" altLang="en-US" sz="2000" dirty="0">
                <a:solidFill>
                  <a:schemeClr val="tx1"/>
                </a:solidFill>
              </a:rPr>
              <a:t>Developers argue for their features to be included</a:t>
            </a:r>
            <a:endParaRPr lang="zh-CN" altLang="en-US" sz="2000" dirty="0">
              <a:solidFill>
                <a:schemeClr val="tx1"/>
              </a:solidFill>
            </a:endParaRPr>
          </a:p>
          <a:p>
            <a:pPr lvl="1">
              <a:spcBef>
                <a:spcPts val="600"/>
              </a:spcBef>
            </a:pPr>
            <a:r>
              <a:rPr lang="zh-CN" altLang="en-US" sz="2000" dirty="0">
                <a:solidFill>
                  <a:schemeClr val="tx1"/>
                </a:solidFill>
              </a:rPr>
              <a:t>Which features should hold up release? (tendency for inflation)</a:t>
            </a:r>
            <a:endParaRPr lang="zh-CN" altLang="en-US" sz="2000" dirty="0">
              <a:solidFill>
                <a:schemeClr val="tx1"/>
              </a:solidFill>
            </a:endParaRPr>
          </a:p>
          <a:p>
            <a:pPr indent="0" fontAlgn="auto">
              <a:spcBef>
                <a:spcPts val="600"/>
              </a:spcBef>
            </a:pPr>
            <a:endParaRPr lang="zh-CN" altLang="en-US" sz="2000" dirty="0">
              <a:solidFill>
                <a:schemeClr val="tx1"/>
              </a:solidFill>
            </a:endParaRPr>
          </a:p>
          <a:p>
            <a:pPr>
              <a:spcBef>
                <a:spcPts val="600"/>
              </a:spcBef>
            </a:pPr>
            <a:r>
              <a:rPr lang="zh-CN" altLang="en-US" sz="2000" b="1" dirty="0">
                <a:solidFill>
                  <a:srgbClr val="515223"/>
                </a:solidFill>
                <a:latin typeface="Helvetica" pitchFamily="2" charset="0"/>
                <a:cs typeface="Arial" panose="020B0604020202090204" pitchFamily="34" charset="0"/>
              </a:rPr>
              <a:t>Time-based</a:t>
            </a:r>
            <a:endParaRPr lang="zh-CN" altLang="en-US" sz="2000" b="1" dirty="0">
              <a:solidFill>
                <a:srgbClr val="515223"/>
              </a:solidFill>
              <a:latin typeface="Helvetica" pitchFamily="2" charset="0"/>
              <a:cs typeface="Arial" panose="020B0604020202090204" pitchFamily="34" charset="0"/>
            </a:endParaRPr>
          </a:p>
          <a:p>
            <a:pPr lvl="1">
              <a:spcBef>
                <a:spcPts val="600"/>
              </a:spcBef>
            </a:pPr>
            <a:r>
              <a:rPr lang="zh-CN" altLang="en-US" sz="2000" dirty="0">
                <a:solidFill>
                  <a:schemeClr val="tx1"/>
                </a:solidFill>
              </a:rPr>
              <a:t>All features that are completed (tested) by release deadline are included in release</a:t>
            </a:r>
            <a:endParaRPr lang="zh-CN" altLang="en-US" sz="2000" dirty="0">
              <a:solidFill>
                <a:schemeClr val="tx1"/>
              </a:solidFill>
            </a:endParaRPr>
          </a:p>
          <a:p>
            <a:pPr lvl="1">
              <a:spcBef>
                <a:spcPts val="600"/>
              </a:spcBef>
            </a:pPr>
            <a:r>
              <a:rPr lang="zh-CN" altLang="en-US" sz="2000" dirty="0">
                <a:solidFill>
                  <a:schemeClr val="tx1"/>
                </a:solidFill>
              </a:rPr>
              <a:t>Features that are not ready must wait until next release</a:t>
            </a:r>
            <a:endParaRPr lang="zh-CN" altLang="en-US" sz="2000" dirty="0">
              <a:solidFill>
                <a:schemeClr val="tx1"/>
              </a:solidFill>
            </a:endParaRPr>
          </a:p>
          <a:p>
            <a:pPr lvl="1">
              <a:spcBef>
                <a:spcPts val="600"/>
              </a:spcBef>
            </a:pPr>
            <a:r>
              <a:rPr lang="zh-CN" altLang="en-US" sz="2000" dirty="0">
                <a:solidFill>
                  <a:schemeClr val="tx1"/>
                </a:solidFill>
              </a:rPr>
              <a:t>Shorter release cadence reduces cost of missing deadline</a:t>
            </a:r>
            <a:endParaRPr lang="zh-CN" altLang="en-US" sz="2000" dirty="0">
              <a:solidFill>
                <a:schemeClr val="tx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Risks of </a:t>
            </a:r>
            <a:r>
              <a:rPr lang="en-US" dirty="0"/>
              <a:t>Long Release Processes</a:t>
            </a:r>
            <a:endParaRPr lang="en-US"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988695" y="1160780"/>
            <a:ext cx="10213975" cy="4780280"/>
          </a:xfrm>
          <a:prstGeom prst="rect">
            <a:avLst/>
          </a:prstGeom>
          <a:noFill/>
        </p:spPr>
        <p:txBody>
          <a:bodyPr wrap="square" rtlCol="0" anchor="t">
            <a:noAutofit/>
          </a:bodyPr>
          <a:lstStyle/>
          <a:p>
            <a:pPr indent="0" fontAlgn="auto">
              <a:spcBef>
                <a:spcPts val="0"/>
              </a:spcBef>
            </a:pPr>
            <a:r>
              <a:rPr lang="zh-CN" altLang="en-US" sz="2000" dirty="0"/>
              <a:t>Delay in providing value to client</a:t>
            </a:r>
            <a:endParaRPr lang="zh-CN" altLang="en-US" sz="2000" dirty="0"/>
          </a:p>
          <a:p>
            <a:pPr indent="457200" fontAlgn="auto">
              <a:spcBef>
                <a:spcPts val="0"/>
              </a:spcBef>
            </a:pPr>
            <a:r>
              <a:rPr lang="en-US" altLang="zh-CN" sz="2000" dirty="0"/>
              <a:t>	</a:t>
            </a:r>
            <a:r>
              <a:rPr lang="zh-CN" altLang="en-US" sz="2000" dirty="0"/>
              <a:t>May fall behind competition</a:t>
            </a:r>
            <a:endParaRPr lang="en-US" altLang="zh-CN" sz="2000" dirty="0"/>
          </a:p>
          <a:p>
            <a:pPr indent="457200" fontAlgn="auto">
              <a:spcBef>
                <a:spcPts val="0"/>
              </a:spcBef>
            </a:pPr>
            <a:endParaRPr lang="zh-CN" altLang="en-US" sz="2000" dirty="0"/>
          </a:p>
          <a:p>
            <a:pPr indent="0" fontAlgn="auto">
              <a:spcBef>
                <a:spcPts val="0"/>
              </a:spcBef>
            </a:pPr>
            <a:r>
              <a:rPr lang="zh-CN" altLang="en-US" sz="2000" dirty="0"/>
              <a:t>Slow feedback on feature utility</a:t>
            </a:r>
            <a:endParaRPr lang="en-US" altLang="zh-CN" sz="2000" dirty="0"/>
          </a:p>
          <a:p>
            <a:pPr indent="0" fontAlgn="auto">
              <a:spcBef>
                <a:spcPts val="0"/>
              </a:spcBef>
            </a:pPr>
            <a:endParaRPr lang="zh-CN" altLang="en-US" sz="2000" dirty="0"/>
          </a:p>
          <a:p>
            <a:pPr indent="0" fontAlgn="auto">
              <a:spcBef>
                <a:spcPts val="0"/>
              </a:spcBef>
            </a:pPr>
            <a:r>
              <a:rPr lang="zh-CN" altLang="en-US" sz="2000" dirty="0"/>
              <a:t>Drain on morale</a:t>
            </a:r>
            <a:endParaRPr lang="zh-CN" altLang="en-US" sz="2000" dirty="0"/>
          </a:p>
          <a:p>
            <a:pPr lvl="1" indent="0" fontAlgn="auto">
              <a:spcBef>
                <a:spcPts val="0"/>
              </a:spcBef>
            </a:pPr>
            <a:r>
              <a:rPr lang="en-US" altLang="zh-CN" sz="2000" dirty="0"/>
              <a:t>	</a:t>
            </a:r>
            <a:r>
              <a:rPr lang="zh-CN" altLang="en-US" sz="2000" dirty="0"/>
              <a:t>Churn among release managers prevents building expertise</a:t>
            </a:r>
            <a:endParaRPr lang="en-US" altLang="zh-CN" sz="2000" dirty="0"/>
          </a:p>
          <a:p>
            <a:pPr lvl="1" indent="0" fontAlgn="auto">
              <a:spcBef>
                <a:spcPts val="0"/>
              </a:spcBef>
            </a:pPr>
            <a:endParaRPr lang="zh-CN" altLang="en-US" sz="2000" dirty="0"/>
          </a:p>
          <a:p>
            <a:pPr indent="0" fontAlgn="auto">
              <a:spcBef>
                <a:spcPts val="0"/>
              </a:spcBef>
            </a:pPr>
            <a:r>
              <a:rPr lang="zh-CN" altLang="en-US" sz="2000" dirty="0"/>
              <a:t>Difficult to diagnose issues</a:t>
            </a:r>
            <a:endParaRPr lang="zh-CN" altLang="en-US" sz="2000" dirty="0"/>
          </a:p>
          <a:p>
            <a:pPr indent="0" fontAlgn="auto">
              <a:spcBef>
                <a:spcPts val="0"/>
              </a:spcBef>
            </a:pPr>
            <a:endParaRPr lang="zh-CN" alt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Feature flags</a:t>
            </a: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989330" y="1240155"/>
            <a:ext cx="10529570" cy="4823460"/>
          </a:xfrm>
          <a:prstGeom prst="rect">
            <a:avLst/>
          </a:prstGeom>
          <a:noFill/>
        </p:spPr>
        <p:txBody>
          <a:bodyPr wrap="square" rtlCol="0" anchor="t">
            <a:noAutofit/>
          </a:bodyPr>
          <a:lstStyle/>
          <a:p>
            <a:pPr indent="0" fontAlgn="auto">
              <a:spcBef>
                <a:spcPts val="600"/>
              </a:spcBef>
            </a:pPr>
            <a:r>
              <a:rPr lang="zh-CN" altLang="en-US" sz="2000" dirty="0"/>
              <a:t>Tying new features to binary builds is risky</a:t>
            </a:r>
            <a:endParaRPr lang="zh-CN" altLang="en-US" sz="2000" dirty="0"/>
          </a:p>
          <a:p>
            <a:pPr lvl="1" indent="0" fontAlgn="auto">
              <a:spcBef>
                <a:spcPts val="600"/>
              </a:spcBef>
            </a:pPr>
            <a:r>
              <a:rPr lang="en-US" altLang="zh-CN" sz="2000" dirty="0"/>
              <a:t>	</a:t>
            </a:r>
            <a:r>
              <a:rPr lang="zh-CN" altLang="en-US" sz="2000" dirty="0"/>
              <a:t>Binary rollout and rollback takes time</a:t>
            </a:r>
            <a:endParaRPr lang="zh-CN" altLang="en-US" sz="2000" dirty="0"/>
          </a:p>
          <a:p>
            <a:pPr lvl="2" indent="0" fontAlgn="auto">
              <a:spcBef>
                <a:spcPts val="600"/>
              </a:spcBef>
            </a:pPr>
            <a:r>
              <a:rPr lang="zh-CN" altLang="en-US" sz="2000" dirty="0"/>
              <a:t>Risk of version skew</a:t>
            </a:r>
            <a:endParaRPr lang="zh-CN" altLang="en-US" sz="2000" dirty="0"/>
          </a:p>
          <a:p>
            <a:pPr lvl="2" indent="0" fontAlgn="auto">
              <a:spcBef>
                <a:spcPts val="600"/>
              </a:spcBef>
            </a:pPr>
            <a:r>
              <a:rPr lang="zh-CN" altLang="en-US" sz="2000" dirty="0"/>
              <a:t>Can't synchronize feature availability with announcement</a:t>
            </a:r>
            <a:endParaRPr lang="zh-CN" altLang="en-US" sz="2000" dirty="0"/>
          </a:p>
          <a:p>
            <a:pPr lvl="1" indent="0" fontAlgn="auto">
              <a:spcBef>
                <a:spcPts val="600"/>
              </a:spcBef>
            </a:pPr>
            <a:r>
              <a:rPr lang="en-US" altLang="zh-CN" sz="2000" dirty="0"/>
              <a:t>	</a:t>
            </a:r>
            <a:r>
              <a:rPr lang="zh-CN" altLang="en-US" sz="2000" dirty="0"/>
              <a:t>Fixing a regression requires rolling back all new features</a:t>
            </a:r>
            <a:endParaRPr lang="zh-CN" altLang="en-US" sz="20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28852" y="3602294"/>
            <a:ext cx="5250525" cy="2172886"/>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4" y="237834"/>
            <a:ext cx="9398945" cy="790865"/>
          </a:xfrm>
        </p:spPr>
        <p:txBody>
          <a:bodyPr>
            <a:normAutofit fontScale="90000"/>
          </a:bodyPr>
          <a:lstStyle/>
          <a:p>
            <a:r>
              <a:rPr lang="en-US" dirty="0"/>
              <a:t>Feature Flag Technique Using Spring Boot</a:t>
            </a:r>
            <a:br>
              <a:rPr lang="en-US" b="1" i="0" dirty="0">
                <a:solidFill>
                  <a:srgbClr val="3C424F"/>
                </a:solidFill>
                <a:effectLst/>
                <a:highlight>
                  <a:srgbClr val="FFFFFF"/>
                </a:highlight>
                <a:latin typeface="Lato" panose="020F0502020204030204" pitchFamily="34" charset="0"/>
              </a:rPr>
            </a:b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989330" y="1240155"/>
            <a:ext cx="10529570" cy="4823460"/>
          </a:xfrm>
          <a:prstGeom prst="rect">
            <a:avLst/>
          </a:prstGeom>
          <a:noFill/>
        </p:spPr>
        <p:txBody>
          <a:bodyPr wrap="square" rtlCol="0" anchor="t">
            <a:noAutofit/>
          </a:bodyPr>
          <a:lstStyle/>
          <a:p>
            <a:pPr>
              <a:spcBef>
                <a:spcPts val="600"/>
              </a:spcBef>
            </a:pPr>
            <a:r>
              <a:rPr lang="en-US" sz="2000" dirty="0"/>
              <a:t>Use </a:t>
            </a:r>
            <a:r>
              <a:rPr lang="en-US" sz="2000" dirty="0" err="1"/>
              <a:t>application.yml</a:t>
            </a:r>
            <a:r>
              <a:rPr lang="en-US" sz="2000" dirty="0"/>
              <a:t> for feature flags in Spring Boot apps. This file usually defines the configuration of an application and simultaneously can be a perfect place for feature toggles:</a:t>
            </a:r>
            <a:endParaRPr lang="zh-CN" altLang="en-US" sz="20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2400935"/>
            <a:ext cx="3711034" cy="89471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4" y="237834"/>
            <a:ext cx="9398945" cy="790865"/>
          </a:xfrm>
        </p:spPr>
        <p:txBody>
          <a:bodyPr>
            <a:normAutofit fontScale="90000"/>
          </a:bodyPr>
          <a:lstStyle/>
          <a:p>
            <a:r>
              <a:rPr lang="en-US" dirty="0"/>
              <a:t>Feature Flag Technique Using Spring Boot</a:t>
            </a:r>
            <a:br>
              <a:rPr lang="en-US" b="1" i="0" dirty="0">
                <a:solidFill>
                  <a:srgbClr val="3C424F"/>
                </a:solidFill>
                <a:effectLst/>
                <a:highlight>
                  <a:srgbClr val="FFFFFF"/>
                </a:highlight>
                <a:latin typeface="Lato" panose="020F0502020204030204" pitchFamily="34" charset="0"/>
              </a:rPr>
            </a:b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989330" y="1240155"/>
            <a:ext cx="10529570" cy="4823460"/>
          </a:xfrm>
          <a:prstGeom prst="rect">
            <a:avLst/>
          </a:prstGeom>
          <a:noFill/>
        </p:spPr>
        <p:txBody>
          <a:bodyPr wrap="square" rtlCol="0" anchor="t">
            <a:noAutofit/>
          </a:bodyPr>
          <a:lstStyle/>
          <a:p>
            <a:pPr>
              <a:spcBef>
                <a:spcPts val="600"/>
              </a:spcBef>
            </a:pPr>
            <a:r>
              <a:rPr lang="en-US" sz="2000" dirty="0"/>
              <a:t>Use @</a:t>
            </a:r>
            <a:r>
              <a:rPr lang="en-US" sz="2000" dirty="0" err="1"/>
              <a:t>ConditionalOnProperty</a:t>
            </a:r>
            <a:r>
              <a:rPr lang="en-US" sz="2000" dirty="0"/>
              <a:t> annotation to turn on implementation options of the feature </a:t>
            </a:r>
            <a:endParaRPr lang="zh-CN" altLang="en-US" sz="2000"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06998" y="1866582"/>
            <a:ext cx="5454502" cy="43434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4" y="237834"/>
            <a:ext cx="9398945" cy="790865"/>
          </a:xfrm>
        </p:spPr>
        <p:txBody>
          <a:bodyPr>
            <a:normAutofit fontScale="90000"/>
          </a:bodyPr>
          <a:lstStyle/>
          <a:p>
            <a:r>
              <a:rPr lang="en-US" dirty="0"/>
              <a:t>Feature Flag Technique Using Spring Boot</a:t>
            </a:r>
            <a:br>
              <a:rPr lang="en-US" b="1" i="0" dirty="0">
                <a:solidFill>
                  <a:srgbClr val="3C424F"/>
                </a:solidFill>
                <a:effectLst/>
                <a:highlight>
                  <a:srgbClr val="FFFFFF"/>
                </a:highlight>
                <a:latin typeface="Lato" panose="020F0502020204030204" pitchFamily="34" charset="0"/>
              </a:rPr>
            </a:b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831215" y="960755"/>
            <a:ext cx="10529570" cy="4823460"/>
          </a:xfrm>
          <a:prstGeom prst="rect">
            <a:avLst/>
          </a:prstGeom>
          <a:noFill/>
        </p:spPr>
        <p:txBody>
          <a:bodyPr wrap="square" rtlCol="0" anchor="t">
            <a:noAutofit/>
          </a:bodyPr>
          <a:lstStyle/>
          <a:p>
            <a:pPr>
              <a:spcBef>
                <a:spcPts val="600"/>
              </a:spcBef>
            </a:pPr>
            <a:r>
              <a:rPr lang="en-US" sz="2000" dirty="0"/>
              <a:t>If the feature-flags is-new-books-service-enabled value is -false, or there is no such flag in the configuration, an object from the class </a:t>
            </a:r>
            <a:r>
              <a:rPr lang="en-US" sz="2000" dirty="0" err="1"/>
              <a:t>BooksDefaultService</a:t>
            </a:r>
            <a:r>
              <a:rPr lang="en-US" sz="2000" dirty="0"/>
              <a:t> will be created. For the -true value, an object from the class </a:t>
            </a:r>
            <a:r>
              <a:rPr lang="en-US" sz="2000" dirty="0" err="1"/>
              <a:t>BooksNewService</a:t>
            </a:r>
            <a:r>
              <a:rPr lang="en-US" sz="2000" dirty="0"/>
              <a:t> will be created.</a:t>
            </a:r>
            <a:endParaRPr lang="zh-CN" altLang="en-US" sz="20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46450" y="2457450"/>
            <a:ext cx="5245100" cy="2656944"/>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4" y="237834"/>
            <a:ext cx="9398945" cy="790865"/>
          </a:xfrm>
        </p:spPr>
        <p:txBody>
          <a:bodyPr>
            <a:normAutofit fontScale="90000"/>
          </a:bodyPr>
          <a:lstStyle/>
          <a:p>
            <a:r>
              <a:rPr lang="en-US" dirty="0"/>
              <a:t>Feature Flag Technique Using Spring Boot</a:t>
            </a:r>
            <a:br>
              <a:rPr lang="en-US" b="1" i="0" dirty="0">
                <a:solidFill>
                  <a:srgbClr val="3C424F"/>
                </a:solidFill>
                <a:effectLst/>
                <a:highlight>
                  <a:srgbClr val="FFFFFF"/>
                </a:highlight>
                <a:latin typeface="Lato" panose="020F0502020204030204" pitchFamily="34" charset="0"/>
              </a:rPr>
            </a:br>
            <a:endParaRPr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831215" y="960755"/>
            <a:ext cx="10529570" cy="4823460"/>
          </a:xfrm>
          <a:prstGeom prst="rect">
            <a:avLst/>
          </a:prstGeom>
          <a:noFill/>
        </p:spPr>
        <p:txBody>
          <a:bodyPr wrap="square" rtlCol="0" anchor="t">
            <a:noAutofit/>
          </a:bodyPr>
          <a:lstStyle/>
          <a:p>
            <a:pPr>
              <a:spcBef>
                <a:spcPts val="600"/>
              </a:spcBef>
            </a:pPr>
            <a:r>
              <a:rPr lang="en-US" sz="2000" dirty="0"/>
              <a:t>Now, it is possible to use an object of  </a:t>
            </a:r>
            <a:r>
              <a:rPr lang="en-US" sz="2000" dirty="0" err="1"/>
              <a:t>BookService</a:t>
            </a:r>
            <a:r>
              <a:rPr lang="en-US" sz="2000" dirty="0"/>
              <a:t> interface with actual implementation (polymorphism in action):</a:t>
            </a:r>
            <a:endParaRPr lang="zh-CN" altLang="en-US" sz="2000"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48780" y="2552700"/>
            <a:ext cx="4791919" cy="17526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a:xfrm>
            <a:off x="3540868" y="2606037"/>
            <a:ext cx="7978032" cy="914400"/>
          </a:xfrm>
        </p:spPr>
        <p:txBody>
          <a:bodyPr>
            <a:normAutofit fontScale="92500"/>
          </a:bodyPr>
          <a:lstStyle/>
          <a:p>
            <a:pPr algn="r"/>
            <a:r>
              <a:rPr lang="en-US" altLang="zh-CN" dirty="0"/>
              <a:t>Thanks for your listening!</a:t>
            </a:r>
            <a:endParaRPr lang="zh-CN" altLang="en-US" dirty="0"/>
          </a:p>
        </p:txBody>
      </p:sp>
      <p:cxnSp>
        <p:nvCxnSpPr>
          <p:cNvPr id="27" name="直接连接符 2"/>
          <p:cNvCxnSpPr/>
          <p:nvPr/>
        </p:nvCxnSpPr>
        <p:spPr>
          <a:xfrm>
            <a:off x="11226555" y="4069080"/>
            <a:ext cx="0" cy="786699"/>
          </a:xfrm>
          <a:prstGeom prst="line">
            <a:avLst/>
          </a:prstGeom>
          <a:ln w="50800" cmpd="thickThin"/>
        </p:spPr>
        <p:style>
          <a:lnRef idx="1">
            <a:schemeClr val="accent1"/>
          </a:lnRef>
          <a:fillRef idx="0">
            <a:schemeClr val="accent1"/>
          </a:fillRef>
          <a:effectRef idx="0">
            <a:schemeClr val="accent1"/>
          </a:effectRef>
          <a:fontRef idx="minor">
            <a:schemeClr val="tx1"/>
          </a:fontRef>
        </p:style>
      </p:cxnSp>
      <p:sp>
        <p:nvSpPr>
          <p:cNvPr id="3" name="矩形 66"/>
          <p:cNvSpPr/>
          <p:nvPr/>
        </p:nvSpPr>
        <p:spPr>
          <a:xfrm>
            <a:off x="4295518" y="3921753"/>
            <a:ext cx="6751272" cy="611514"/>
          </a:xfrm>
          <a:prstGeom prst="rect">
            <a:avLst/>
          </a:prstGeom>
        </p:spPr>
        <p:txBody>
          <a:bodyPr wrap="square">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Instructor: Liu, </a:t>
            </a:r>
            <a:r>
              <a:rPr lang="en-US" altLang="zh-CN" sz="2800" dirty="0" err="1">
                <a:solidFill>
                  <a:schemeClr val="accent1"/>
                </a:solidFill>
                <a:latin typeface="Helvetica" pitchFamily="2" charset="0"/>
                <a:cs typeface="Arial" panose="020B0604020202090204" pitchFamily="34" charset="0"/>
                <a:sym typeface="+mn-lt"/>
              </a:rPr>
              <a:t>Guangchi</a:t>
            </a:r>
            <a:r>
              <a:rPr lang="en-US" altLang="zh-CN" sz="2800" dirty="0">
                <a:solidFill>
                  <a:schemeClr val="accent1"/>
                </a:solidFill>
                <a:latin typeface="Helvetica" pitchFamily="2" charset="0"/>
                <a:cs typeface="Arial" panose="020B0604020202090204" pitchFamily="34" charset="0"/>
                <a:sym typeface="+mn-lt"/>
              </a:rPr>
              <a:t> Ph.D.</a:t>
            </a:r>
            <a:endParaRPr lang="en-US" altLang="zh-CN" sz="2800" dirty="0">
              <a:solidFill>
                <a:schemeClr val="accent1"/>
              </a:solidFill>
              <a:latin typeface="Helvetica" pitchFamily="2" charset="0"/>
              <a:cs typeface="Arial" panose="020B0604020202090204" pitchFamily="34" charset="0"/>
              <a:sym typeface="+mn-lt"/>
            </a:endParaRPr>
          </a:p>
        </p:txBody>
      </p:sp>
    </p:spTree>
  </p:cSld>
  <p:clrMapOvr>
    <a:masterClrMapping/>
  </p:clrMapOvr>
</p:sld>
</file>

<file path=ppt/theme/theme1.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25723</Words>
  <Application>WPS Slides</Application>
  <PresentationFormat>Widescreen</PresentationFormat>
  <Paragraphs>965</Paragraphs>
  <Slides>81</Slides>
  <Notes>3</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81</vt:i4>
      </vt:variant>
    </vt:vector>
  </HeadingPairs>
  <TitlesOfParts>
    <vt:vector size="106" baseType="lpstr">
      <vt:lpstr>Arial</vt:lpstr>
      <vt:lpstr>宋体</vt:lpstr>
      <vt:lpstr>Wingdings</vt:lpstr>
      <vt:lpstr>Helvetica Regular</vt:lpstr>
      <vt:lpstr>微软雅黑</vt:lpstr>
      <vt:lpstr>汉仪旗黑</vt:lpstr>
      <vt:lpstr>Helvetica</vt:lpstr>
      <vt:lpstr>宋体</vt:lpstr>
      <vt:lpstr>Arial Unicode MS</vt:lpstr>
      <vt:lpstr>黑体</vt:lpstr>
      <vt:lpstr>汉仪中黑KW</vt:lpstr>
      <vt:lpstr>等线</vt:lpstr>
      <vt:lpstr>汉仪中等线KW</vt:lpstr>
      <vt:lpstr>Calibri</vt:lpstr>
      <vt:lpstr>Helvetica Neue</vt:lpstr>
      <vt:lpstr>微软雅黑</vt:lpstr>
      <vt:lpstr>汉仪书宋二KW</vt:lpstr>
      <vt:lpstr>Figtree</vt:lpstr>
      <vt:lpstr>Roboto</vt:lpstr>
      <vt:lpstr>苹方-简</vt:lpstr>
      <vt:lpstr>-apple-system</vt:lpstr>
      <vt:lpstr>Thonburi</vt:lpstr>
      <vt:lpstr>inherit</vt:lpstr>
      <vt:lpstr>Lato</vt:lpstr>
      <vt:lpstr>1_Office 主题​​</vt:lpstr>
      <vt:lpstr>PowerPoint 演示文稿</vt:lpstr>
      <vt:lpstr>Heads Up</vt:lpstr>
      <vt:lpstr>Requirements on Final Project</vt:lpstr>
      <vt:lpstr>Non-Functional Test</vt:lpstr>
      <vt:lpstr>Performance Bug</vt:lpstr>
      <vt:lpstr>Performance Test</vt:lpstr>
      <vt:lpstr>Performance Test</vt:lpstr>
      <vt:lpstr>Performance Test</vt:lpstr>
      <vt:lpstr>Performance Test Challenges</vt:lpstr>
      <vt:lpstr>Amdahl's Law</vt:lpstr>
      <vt:lpstr>Profiling</vt:lpstr>
      <vt:lpstr>Profiling Tools</vt:lpstr>
      <vt:lpstr>Monitoring</vt:lpstr>
      <vt:lpstr>Latency vs. Throughput</vt:lpstr>
      <vt:lpstr>Documentation of Testing</vt:lpstr>
      <vt:lpstr>SQLite: An Example</vt:lpstr>
      <vt:lpstr>Fixing Bugs</vt:lpstr>
      <vt:lpstr>Moving the Bugs Around</vt:lpstr>
      <vt:lpstr>Difficult Bugs</vt:lpstr>
      <vt:lpstr>Tracking Down a Difficult Bugs: The Heisenbug </vt:lpstr>
      <vt:lpstr>Tracking Down a Difficult Bugs: The Heisenbug </vt:lpstr>
      <vt:lpstr>Bugs in System Software</vt:lpstr>
      <vt:lpstr>A Note on Testing User Interfaces</vt:lpstr>
      <vt:lpstr>PowerPoint 演示文稿</vt:lpstr>
      <vt:lpstr>Acceptance Testing</vt:lpstr>
      <vt:lpstr>Acceptance Testing in the Modified Waterfall Model</vt:lpstr>
      <vt:lpstr>Acceptance Testing with Iterative Development</vt:lpstr>
      <vt:lpstr>Acceptance Testing with Agile Development</vt:lpstr>
      <vt:lpstr>Resources for Acceptance Testing</vt:lpstr>
      <vt:lpstr>Acceptance Tests</vt:lpstr>
      <vt:lpstr>Techniques for Release</vt:lpstr>
      <vt:lpstr>Release: Parallel Testing</vt:lpstr>
      <vt:lpstr>Release: Alpha and Beta Testing</vt:lpstr>
      <vt:lpstr>Release: A/B Testing</vt:lpstr>
      <vt:lpstr>PowerPoint 演示文稿</vt:lpstr>
      <vt:lpstr>What is build system</vt:lpstr>
      <vt:lpstr>A Make Example</vt:lpstr>
      <vt:lpstr>A Make Example</vt:lpstr>
      <vt:lpstr>A Make Example</vt:lpstr>
      <vt:lpstr>A Make Example</vt:lpstr>
      <vt:lpstr>A Make Example</vt:lpstr>
      <vt:lpstr>A Make Example</vt:lpstr>
      <vt:lpstr>A Make Example</vt:lpstr>
      <vt:lpstr>With Build Systems</vt:lpstr>
      <vt:lpstr>Options</vt:lpstr>
      <vt:lpstr>Build Tools</vt:lpstr>
      <vt:lpstr>Task-based Build Tool</vt:lpstr>
      <vt:lpstr>Task-based Build Tool</vt:lpstr>
      <vt:lpstr>Task-based Build Tool</vt:lpstr>
      <vt:lpstr>Task-based Build Tool</vt:lpstr>
      <vt:lpstr>Artifact-based Build Tool （Bazel）</vt:lpstr>
      <vt:lpstr>Artifact-based Build Tool (Bazel)</vt:lpstr>
      <vt:lpstr>Bazel (Artifact-based)</vt:lpstr>
      <vt:lpstr>PowerPoint 演示文稿</vt:lpstr>
      <vt:lpstr>Internal vs. external dependencies</vt:lpstr>
      <vt:lpstr>Why depend on external code?</vt:lpstr>
      <vt:lpstr>Where to get dependencies from?</vt:lpstr>
      <vt:lpstr>Repository mirrors</vt:lpstr>
      <vt:lpstr>Dependency Tree</vt:lpstr>
      <vt:lpstr>Dependency Management</vt:lpstr>
      <vt:lpstr>Diamond dependency problem</vt:lpstr>
      <vt:lpstr>Dependency Management</vt:lpstr>
      <vt:lpstr>Dependency Management</vt:lpstr>
      <vt:lpstr>Dependency Management</vt:lpstr>
      <vt:lpstr>Dependency Management</vt:lpstr>
      <vt:lpstr>Dependency Management</vt:lpstr>
      <vt:lpstr>Dependency Management</vt:lpstr>
      <vt:lpstr>Which version to choose?</vt:lpstr>
      <vt:lpstr>"Live at HEAD"</vt:lpstr>
      <vt:lpstr>Dependency Vulnerabilities</vt:lpstr>
      <vt:lpstr>PowerPoint 演示文稿</vt:lpstr>
      <vt:lpstr>When is software ready to release?</vt:lpstr>
      <vt:lpstr>Traditional release process</vt:lpstr>
      <vt:lpstr>Time-based vs. Feature-based Releases</vt:lpstr>
      <vt:lpstr>Risks of Long Release Processes</vt:lpstr>
      <vt:lpstr>Feature flags</vt:lpstr>
      <vt:lpstr>Feature Flag Technique Using Spring Boot </vt:lpstr>
      <vt:lpstr>Feature Flag Technique Using Spring Boot </vt:lpstr>
      <vt:lpstr>Feature Flag Technique Using Spring Boot </vt:lpstr>
      <vt:lpstr>Feature Flag Technique Using Spring Boot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子豪 任</dc:creator>
  <cp:lastModifiedBy>刘光迟</cp:lastModifiedBy>
  <cp:revision>1213</cp:revision>
  <dcterms:created xsi:type="dcterms:W3CDTF">2025-05-15T15:58:43Z</dcterms:created>
  <dcterms:modified xsi:type="dcterms:W3CDTF">2025-05-15T15:58:43Z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E2A01A2579A4E0E9330F2668847C3A27_43</vt:lpwstr>
  </property>
  <property fmtid="{D5CDD505-2E9C-101B-9397-08002B2CF9AE}" pid="3" name="KSOProductBuildVer">
    <vt:lpwstr>1033-7.3.1.8967</vt:lpwstr>
  </property>
</Properties>
</file>