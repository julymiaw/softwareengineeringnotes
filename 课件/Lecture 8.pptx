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82" r:id="rId3"/>
    <p:sldId id="765" r:id="rId5"/>
    <p:sldId id="763" r:id="rId6"/>
    <p:sldId id="682" r:id="rId7"/>
    <p:sldId id="688" r:id="rId8"/>
    <p:sldId id="746" r:id="rId9"/>
    <p:sldId id="747" r:id="rId10"/>
    <p:sldId id="748" r:id="rId11"/>
    <p:sldId id="749" r:id="rId12"/>
    <p:sldId id="750" r:id="rId13"/>
    <p:sldId id="751" r:id="rId14"/>
    <p:sldId id="752" r:id="rId15"/>
    <p:sldId id="630" r:id="rId16"/>
    <p:sldId id="753" r:id="rId17"/>
    <p:sldId id="632" r:id="rId18"/>
    <p:sldId id="631" r:id="rId19"/>
    <p:sldId id="633" r:id="rId20"/>
    <p:sldId id="754" r:id="rId21"/>
    <p:sldId id="755" r:id="rId22"/>
    <p:sldId id="756" r:id="rId23"/>
    <p:sldId id="757" r:id="rId24"/>
    <p:sldId id="643" r:id="rId25"/>
    <p:sldId id="758" r:id="rId26"/>
    <p:sldId id="759" r:id="rId27"/>
    <p:sldId id="760" r:id="rId28"/>
    <p:sldId id="764" r:id="rId29"/>
    <p:sldId id="761" r:id="rId30"/>
    <p:sldId id="762" r:id="rId31"/>
    <p:sldId id="545" r:id="rId32"/>
    <p:sldId id="674" r:id="rId33"/>
    <p:sldId id="584" r:id="rId34"/>
    <p:sldId id="585" r:id="rId35"/>
    <p:sldId id="616" r:id="rId36"/>
    <p:sldId id="728" r:id="rId37"/>
    <p:sldId id="586" r:id="rId38"/>
    <p:sldId id="587" r:id="rId39"/>
    <p:sldId id="588" r:id="rId40"/>
    <p:sldId id="732" r:id="rId41"/>
    <p:sldId id="590" r:id="rId42"/>
    <p:sldId id="730" r:id="rId43"/>
    <p:sldId id="731" r:id="rId44"/>
    <p:sldId id="733" r:id="rId45"/>
    <p:sldId id="734" r:id="rId46"/>
    <p:sldId id="735" r:id="rId47"/>
    <p:sldId id="683" r:id="rId48"/>
    <p:sldId id="596" r:id="rId49"/>
    <p:sldId id="597" r:id="rId50"/>
    <p:sldId id="598" r:id="rId51"/>
    <p:sldId id="599" r:id="rId52"/>
    <p:sldId id="679" r:id="rId53"/>
    <p:sldId id="600" r:id="rId54"/>
    <p:sldId id="601" r:id="rId55"/>
    <p:sldId id="602" r:id="rId56"/>
    <p:sldId id="604" r:id="rId57"/>
    <p:sldId id="680" r:id="rId58"/>
    <p:sldId id="681" r:id="rId59"/>
    <p:sldId id="736" r:id="rId60"/>
    <p:sldId id="737" r:id="rId61"/>
    <p:sldId id="738" r:id="rId62"/>
    <p:sldId id="739" r:id="rId63"/>
    <p:sldId id="740" r:id="rId64"/>
    <p:sldId id="741" r:id="rId65"/>
    <p:sldId id="618" r:id="rId66"/>
    <p:sldId id="620" r:id="rId67"/>
    <p:sldId id="621" r:id="rId68"/>
    <p:sldId id="622" r:id="rId69"/>
    <p:sldId id="624" r:id="rId70"/>
    <p:sldId id="625" r:id="rId71"/>
    <p:sldId id="626" r:id="rId72"/>
    <p:sldId id="629" r:id="rId73"/>
    <p:sldId id="634" r:id="rId74"/>
    <p:sldId id="637" r:id="rId75"/>
    <p:sldId id="638" r:id="rId76"/>
    <p:sldId id="642" r:id="rId77"/>
    <p:sldId id="652" r:id="rId78"/>
    <p:sldId id="675" r:id="rId79"/>
    <p:sldId id="766" r:id="rId8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7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83" autoAdjust="0"/>
    <p:restoredTop sz="94682"/>
  </p:normalViewPr>
  <p:slideViewPr>
    <p:cSldViewPr snapToGrid="0">
      <p:cViewPr varScale="1">
        <p:scale>
          <a:sx n="177" d="100"/>
          <a:sy n="177" d="100"/>
        </p:scale>
        <p:origin x="2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B09S0061</a:t>
            </a: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Software Engineering</a:t>
            </a:r>
            <a:endParaRPr lang="en-US" altLang="zh-CN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Lecture 8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2025/04/18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1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Instructor: Liu, </a:t>
            </a:r>
            <a:r>
              <a:rPr lang="en-US" altLang="zh-CN" sz="2800" dirty="0" err="1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Guangchi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Ph.D.</a:t>
            </a:r>
            <a:endParaRPr lang="en-US" altLang="zh-CN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Heads 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1288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2</a:t>
            </a:r>
            <a:r>
              <a:rPr lang="en-US" altLang="zh-CN" sz="2000" b="1" baseline="300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nd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Assignment Due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: Apr 21th (Monday), 23:55 pm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2738" y="1708859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	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Heads 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1288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2</a:t>
            </a:r>
            <a:r>
              <a:rPr lang="en-US" altLang="zh-CN" sz="2000" b="1" baseline="30000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nd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Lab: 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Apr 26</a:t>
            </a:r>
            <a:r>
              <a:rPr lang="en-US" altLang="zh-CN" sz="2000" b="1" baseline="300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th 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(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Saturday), 14:00 – 17:25,  J6-101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(Lecture Classroom)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2738" y="1708859"/>
            <a:ext cx="109465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Each team will </a:t>
            </a:r>
            <a:r>
              <a:rPr lang="en-US" altLang="zh-CN" sz="2000" b="1" u="sng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take your laptop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and present to TA or Instructor: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/>
              <a:t>User Experience Design</a:t>
            </a:r>
            <a:endParaRPr lang="en-US" altLang="zh-CN" sz="2000" dirty="0"/>
          </a:p>
          <a:p>
            <a:r>
              <a:rPr lang="en-US" altLang="zh-CN" sz="2000" dirty="0"/>
              <a:t>	System Architecture</a:t>
            </a:r>
            <a:endParaRPr lang="en-US" altLang="zh-CN" sz="2000" dirty="0"/>
          </a:p>
          <a:p>
            <a:r>
              <a:rPr lang="en-US" altLang="zh-CN" sz="2000" dirty="0"/>
              <a:t>	Specific design for security</a:t>
            </a:r>
            <a:endParaRPr lang="en-US" altLang="zh-CN" sz="2000" dirty="0"/>
          </a:p>
          <a:p>
            <a:r>
              <a:rPr lang="en-US" altLang="zh-CN" sz="2000" dirty="0"/>
              <a:t>	Specific design for performance</a:t>
            </a:r>
            <a:endParaRPr lang="en-US" altLang="zh-CN" sz="2000" dirty="0"/>
          </a:p>
          <a:p>
            <a:r>
              <a:rPr lang="en-US" sz="2000" dirty="0"/>
              <a:t>	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Heads 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2738" y="1261527"/>
            <a:ext cx="10946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Prepare the following questions (10 pts for each question )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22738" y="1758176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Q1 </a:t>
            </a:r>
            <a:r>
              <a:rPr lang="en-US" sz="1600" dirty="0"/>
              <a:t>Have your designed any paper prototype/wireframe/mock-up/operational prototype for the frontend of your project ?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622738" y="2469568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Q3</a:t>
            </a:r>
            <a:r>
              <a:rPr lang="en-US" sz="1600" dirty="0"/>
              <a:t> What is your plan for evaluating/testing the user experience of your project? 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622738" y="2113872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Q2</a:t>
            </a:r>
            <a:r>
              <a:rPr lang="en-US" sz="1600" dirty="0"/>
              <a:t> What are the MVC components (if any) of your frontend?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22738" y="2832315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Q4</a:t>
            </a:r>
            <a:r>
              <a:rPr lang="en-US" sz="1600" dirty="0"/>
              <a:t> What is the component diagram of your project like?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22738" y="3179074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Q5</a:t>
            </a:r>
            <a:r>
              <a:rPr lang="en-US" sz="1600" dirty="0"/>
              <a:t> What is the deployment diagram of your project like?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22738" y="3514620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Q6</a:t>
            </a:r>
            <a:r>
              <a:rPr lang="en-US" sz="1600" dirty="0"/>
              <a:t> What is the package diagram of your project like?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22738" y="3862076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Q7</a:t>
            </a:r>
            <a:r>
              <a:rPr lang="en-US" sz="1600" dirty="0"/>
              <a:t> Any plan of using virtualization technologies?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22738" y="4195347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Q8</a:t>
            </a:r>
            <a:r>
              <a:rPr lang="en-US" sz="1600" dirty="0"/>
              <a:t> Any possible security risk in your project? How will you minimize them?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22738" y="4547917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Q9</a:t>
            </a:r>
            <a:r>
              <a:rPr lang="en-US" sz="1600" dirty="0"/>
              <a:t> What will the peak demand/capacity of your product be in the future?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22738" y="4909622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Q10</a:t>
            </a:r>
            <a:r>
              <a:rPr lang="en-US" sz="1600" dirty="0"/>
              <a:t> Based on the potential demand/capacity, any performance bottleneck in your project? How will you improve them?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Requirements on Final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690062"/>
            <a:ext cx="111639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9. Show the component/deployment diagram of your project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10. Describe the security mechanism used in your project 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Performance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ONE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1474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Performance of Computer Systems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489271"/>
            <a:ext cx="111639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Yet performance is important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A single bottleneck can slow down an entire system </a:t>
            </a:r>
            <a:endParaRPr lang="en-US" altLang="zh-CN" sz="2000" dirty="0"/>
          </a:p>
          <a:p>
            <a:r>
              <a:rPr lang="en-US" altLang="zh-CN" sz="2000" dirty="0"/>
              <a:t>	Future loads may be much greater than predicted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When Performance Matters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23925"/>
            <a:ext cx="111639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Real time systems </a:t>
            </a:r>
            <a:r>
              <a:rPr lang="en-US" altLang="zh-CN" sz="2000" dirty="0"/>
              <a:t>when computation must be fast enough to support the service provided, e.g., fly-by wire control systems have tight response time requirements.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Very large computations </a:t>
            </a:r>
            <a:r>
              <a:rPr lang="en-US" altLang="zh-CN" sz="2000" dirty="0"/>
              <a:t>where elapsed time may be measured in days, e.g., calculation of weather forecasts must be fast enough for the forecasts to be useful.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User interfaces </a:t>
            </a:r>
            <a:r>
              <a:rPr lang="en-US" altLang="zh-CN" sz="2000" dirty="0"/>
              <a:t>where humans have high expectations, e.g., mouse tracking must appear instantaneous.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Transaction processing </a:t>
            </a:r>
            <a:r>
              <a:rPr lang="en-US" altLang="zh-CN" sz="2000" dirty="0"/>
              <a:t>where staff need to be productive and customers not annoyed by delays, e.g., High Frequency Trading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Resource constrained systems </a:t>
            </a:r>
            <a:r>
              <a:rPr lang="en-US" altLang="zh-CN" sz="2000" dirty="0">
                <a:latin typeface="Helvetica" pitchFamily="2" charset="0"/>
                <a:cs typeface="Arial" panose="020B0604020202090204" pitchFamily="34" charset="0"/>
              </a:rPr>
              <a:t>where small devices still need to do big things</a:t>
            </a:r>
            <a:endParaRPr lang="en-US" altLang="zh-CN" sz="2000" dirty="0"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1593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High-Performance Computing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41825"/>
            <a:ext cx="115145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High-performance computing: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Large data collections with many transactions (e.g., Taobao)</a:t>
            </a:r>
            <a:endParaRPr lang="en-US" altLang="zh-CN" sz="2000" dirty="0"/>
          </a:p>
          <a:p>
            <a:pPr lvl="1"/>
            <a:r>
              <a:rPr lang="en-US" altLang="zh-CN" sz="2000" dirty="0"/>
              <a:t>	Huge numbers of users (e.g., TikTok)</a:t>
            </a:r>
            <a:endParaRPr lang="en-US" altLang="zh-CN" sz="2000" dirty="0"/>
          </a:p>
          <a:p>
            <a:pPr lvl="1"/>
            <a:r>
              <a:rPr lang="en-US" altLang="zh-CN" sz="2000" dirty="0"/>
              <a:t>	Large computations (e.g., LLM)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3194" cy="79086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Performance Challenges for all Software Systems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14002" y="2167937"/>
            <a:ext cx="11163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Tasks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en-US" altLang="zh-CN" sz="2000" dirty="0"/>
              <a:t>Predict performance problems before a system is implemented. 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en-US" altLang="zh-CN" sz="2000" dirty="0"/>
              <a:t>Design and build a system that is not vulnerable to performance problems. 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en-US" altLang="zh-CN" sz="2000" dirty="0"/>
              <a:t>Identify causes and fix problems after a system is implemented.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Performance Challenges for all Software Systems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0432" y="1879420"/>
            <a:ext cx="113839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Basic tactics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Understand</a:t>
            </a:r>
            <a:r>
              <a:rPr lang="en-US" altLang="zh-CN" sz="2000" dirty="0"/>
              <a:t> how the underlying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hardware </a:t>
            </a:r>
            <a:r>
              <a:rPr lang="en-US" altLang="zh-CN" sz="2000" dirty="0"/>
              <a:t>and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networks </a:t>
            </a:r>
            <a:r>
              <a:rPr lang="en-US" altLang="zh-CN" sz="2000" dirty="0"/>
              <a:t>components interact with the 	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software</a:t>
            </a:r>
            <a:r>
              <a:rPr lang="en-US" altLang="zh-CN" sz="2000" dirty="0"/>
              <a:t> when executing the system.</a:t>
            </a:r>
            <a:endParaRPr lang="en-US" altLang="zh-CN" sz="2000" dirty="0"/>
          </a:p>
          <a:p>
            <a:pPr lvl="1"/>
            <a:r>
              <a:rPr lang="en-US" altLang="zh-CN" sz="2000" dirty="0"/>
              <a:t>	For each subsystem calculate the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capacity</a:t>
            </a:r>
            <a:r>
              <a:rPr lang="en-US" altLang="zh-CN" sz="2000" dirty="0"/>
              <a:t> and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load</a:t>
            </a:r>
            <a:r>
              <a:rPr lang="en-US" altLang="zh-CN" sz="2000" dirty="0"/>
              <a:t>. The capacity is a combination of the 	hardware and the software architecture.</a:t>
            </a:r>
            <a:endParaRPr lang="en-US" altLang="zh-CN" sz="2000" dirty="0"/>
          </a:p>
          <a:p>
            <a:pPr lvl="1"/>
            <a:r>
              <a:rPr lang="en-US" altLang="zh-CN" sz="2000" dirty="0"/>
              <a:t>	Identify subsystems where the load is near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peak capacity.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Calculations indicate that the capacity of a search system is 1,000 searches per second. 	What is the anticipated peak demand?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Interactions between Hardware and Software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83526" y="1732408"/>
            <a:ext cx="111639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</a:t>
            </a:r>
            <a:endParaRPr lang="en-US" altLang="zh-CN" sz="2000" dirty="0"/>
          </a:p>
          <a:p>
            <a:pPr lvl="1"/>
            <a:r>
              <a:rPr lang="en-US" altLang="zh-CN" sz="2000" dirty="0"/>
              <a:t>	In a distributed system, what messages pass between nodes?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How many times must the system read from disk for a single transaction?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What buffering and caching is used?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Are operations in parallel or sequential?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Are other systems competing for a shared resource (e.g., a network or server farm)?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How does the operating system schedule tasks?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Look for Bottlenecks: CPU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53515"/>
            <a:ext cx="111639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CPU performance is a limiting constraint in certain domains, e.g.: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large data analysis (e.g., searching)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mathematical computation (e.g., feature engineering)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compression and encryption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multimedia (e.g., video)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perception (e.g., image processing) 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Look for Bottlenecks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38113"/>
            <a:ext cx="116196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BUT</a:t>
            </a:r>
            <a:r>
              <a:rPr lang="en-US" altLang="zh-CN" sz="2000" dirty="0"/>
              <a:t>, CPU performance is usually not the limiting factor, as multi-core machines are common today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Hardware bottlenecks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Reading data from disk</a:t>
            </a:r>
            <a:endParaRPr lang="en-US" altLang="zh-CN" sz="2000" dirty="0"/>
          </a:p>
          <a:p>
            <a:pPr lvl="1"/>
            <a:r>
              <a:rPr lang="en-US" altLang="zh-CN" sz="2000" dirty="0"/>
              <a:t>	Shortage of memory (including paging)</a:t>
            </a:r>
            <a:endParaRPr lang="en-US" altLang="zh-CN" sz="2000" dirty="0"/>
          </a:p>
          <a:p>
            <a:pPr lvl="1"/>
            <a:r>
              <a:rPr lang="en-US" altLang="zh-CN" sz="2000" dirty="0"/>
              <a:t>	Moving data from memory to CPU</a:t>
            </a:r>
            <a:endParaRPr lang="en-US" altLang="zh-CN" sz="2000" dirty="0"/>
          </a:p>
          <a:p>
            <a:pPr lvl="1"/>
            <a:r>
              <a:rPr lang="en-US" altLang="zh-CN" sz="2000" dirty="0"/>
              <a:t>	Network capacity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Inefficient software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Algorithms that do not scale well (e.g., in legacy systems)</a:t>
            </a:r>
            <a:endParaRPr lang="en-US" altLang="zh-CN" sz="2000" dirty="0"/>
          </a:p>
          <a:p>
            <a:pPr lvl="1"/>
            <a:r>
              <a:rPr lang="en-US" altLang="zh-CN" sz="2000" dirty="0"/>
              <a:t>	Parallel and sequential processing (</a:t>
            </a:r>
            <a:r>
              <a:rPr lang="en-US" altLang="zh-CN" sz="2000" dirty="0" err="1"/>
              <a:t>multiprocess</a:t>
            </a:r>
            <a:r>
              <a:rPr lang="en-US" altLang="zh-CN" sz="2000" dirty="0"/>
              <a:t> vs. multithread)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Look for Bottlenecks: Utilization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527293"/>
            <a:ext cx="111639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Utilization is the proportion of the capacity of a service that is used </a:t>
            </a:r>
            <a:r>
              <a:rPr lang="en-US" altLang="zh-CN" sz="2000" b="1" dirty="0">
                <a:solidFill>
                  <a:srgbClr val="5377A1"/>
                </a:solidFill>
                <a:latin typeface="Helvetica" pitchFamily="2" charset="0"/>
                <a:cs typeface="Arial" panose="020B0604020202090204" pitchFamily="34" charset="0"/>
              </a:rPr>
              <a:t>on average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When the utilization of any hardware component exceeds 0.3, be prepared for congestion.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Peak loads and temporary increases in demand can be much greater than the average.</a:t>
            </a:r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603" y="2184578"/>
            <a:ext cx="6498166" cy="10816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Timescale of Different Components</a:t>
            </a:r>
            <a:endParaRPr lang="en-US" sz="6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949" y="1438505"/>
            <a:ext cx="9406102" cy="31383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4880" y="5793513"/>
            <a:ext cx="8443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Actual performance may be considerably less than the theoretical peak 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1000" y="4986659"/>
            <a:ext cx="609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/>
              <a:t>M</a:t>
            </a:r>
            <a:r>
              <a:rPr lang="en-US" altLang="zh-CN" sz="1800" dirty="0" err="1"/>
              <a:t>ultiprocess</a:t>
            </a:r>
            <a:r>
              <a:rPr lang="en-US" altLang="zh-CN" sz="1800" dirty="0"/>
              <a:t> or Multithread?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Predicting System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087610"/>
            <a:ext cx="111639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/>
              <a:t>Direct measurement on subsystem (benchmark) 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Mathematical models (queueing theory) 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Simulation 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All require detailed understanding of the interaction between software and hardware systems.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Mathematical Models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81611"/>
            <a:ext cx="111639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Queueing theory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Good estimates of congestion can be made for single-server queues with: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Arrivals that are independent, random events (Poisson process)</a:t>
            </a:r>
            <a:endParaRPr lang="en-US" altLang="zh-CN" sz="2000" dirty="0"/>
          </a:p>
          <a:p>
            <a:pPr lvl="1"/>
            <a:r>
              <a:rPr lang="en-US" altLang="zh-CN" sz="2000" dirty="0"/>
              <a:t>	Service times that follow families of distributions (e.g., negative exponential, gamma)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Many of the results can be extended to multi-server queues.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i="1" dirty="0"/>
              <a:t>Much of the early work in queueing theory by Erlang was to model congestion in telephone networks.</a:t>
            </a:r>
            <a:endParaRPr lang="en-US" altLang="zh-CN" sz="2000" i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Mathematical Models: Queues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4480187"/>
            <a:ext cx="111090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Requests to read from a disk (with no buffering or other optimization)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Customers waiting for check in at an airport, with a single check-in desk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518" y="2340888"/>
            <a:ext cx="7818798" cy="1394581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4765490" y="1473217"/>
            <a:ext cx="266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Single server queue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Queues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5" y="4942099"/>
            <a:ext cx="111090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Tasks being processed on a computer with several processors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Customers waiting for check in at an airport, with several check-in desks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4765490" y="1322391"/>
            <a:ext cx="266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Multi-server queue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b="2393"/>
          <a:stretch>
            <a:fillRect/>
          </a:stretch>
        </p:blipFill>
        <p:spPr>
          <a:xfrm>
            <a:off x="2178980" y="1884405"/>
            <a:ext cx="7834039" cy="29232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Techniques: Simulation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72375" y="1467066"/>
            <a:ext cx="11163995" cy="4093428"/>
            <a:chOff x="572375" y="1467066"/>
            <a:chExt cx="11163995" cy="4093428"/>
          </a:xfrm>
        </p:grpSpPr>
        <p:sp>
          <p:nvSpPr>
            <p:cNvPr id="7" name="TextBox 3"/>
            <p:cNvSpPr txBox="1"/>
            <p:nvPr/>
          </p:nvSpPr>
          <p:spPr>
            <a:xfrm>
              <a:off x="572375" y="1467066"/>
              <a:ext cx="11163995" cy="4093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Build a computer program that models the system as set of states and events. </a:t>
              </a:r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Discrete time simulation: </a:t>
              </a:r>
              <a:r>
                <a:rPr lang="en-US" altLang="zh-CN" sz="2000" dirty="0"/>
                <a:t>Time is advanced in fixed steps (e.g., 1 millisecond) 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Next event simulation: </a:t>
              </a:r>
              <a:r>
                <a:rPr lang="en-US" altLang="zh-CN" sz="2000" dirty="0"/>
                <a:t>Time is advanced to next event 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en-US" altLang="zh-CN" sz="2000" dirty="0"/>
                <a:t>Events can be simulated by random variables (e.g., arrival of next customer, completion of disk latency), or by using data collected from an operational system. </a:t>
              </a:r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1297" y="2058176"/>
              <a:ext cx="5993354" cy="12694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643" y="2153601"/>
            <a:ext cx="6582713" cy="420274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Behavior of Queues: Utilization</a:t>
            </a:r>
            <a:endParaRPr lang="en-US" sz="6000" dirty="0"/>
          </a:p>
        </p:txBody>
      </p:sp>
      <p:sp>
        <p:nvSpPr>
          <p:cNvPr id="2" name="TextBox 3"/>
          <p:cNvSpPr txBox="1"/>
          <p:nvPr/>
        </p:nvSpPr>
        <p:spPr>
          <a:xfrm>
            <a:off x="5252224" y="972868"/>
            <a:ext cx="58485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FF0000"/>
                </a:solidFill>
              </a:rPr>
              <a:t>The exact shape of the curve depends on the type of queue (e.g., single server) and the statistical distributions of arrival times and service times.</a:t>
            </a:r>
            <a:endParaRPr lang="en-US" altLang="zh-CN" sz="1800" kern="1200" dirty="0">
              <a:solidFill>
                <a:srgbClr val="FF0000"/>
              </a:solidFill>
              <a:effectLst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Measurements on Operational Systems</a:t>
            </a:r>
            <a:endParaRPr lang="en-US" sz="6000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1980021"/>
            <a:ext cx="111639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Measurements on operational systems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Benchmarks: Run system on standard problem sets, sample inputs, or a simulated load 	on the system. </a:t>
            </a:r>
            <a:endParaRPr lang="en-US" altLang="zh-CN" sz="2000" dirty="0"/>
          </a:p>
          <a:p>
            <a:pPr lvl="1"/>
            <a:r>
              <a:rPr lang="en-US" altLang="zh-CN" sz="2000" dirty="0"/>
              <a:t>	Instrumentation: Clock specific events.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If you have any doubt about the performance of part of a system, experiment with a simulated load.</a:t>
            </a:r>
            <a:r>
              <a:rPr lang="en-US" altLang="zh-CN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Example: Web Laboratory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282669"/>
            <a:ext cx="9618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Benchmark: throughput v. number of CPUs on a symmetric multiprocessor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231" y="1782661"/>
            <a:ext cx="8463538" cy="4756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Fixing Bad Performance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If a system performs badly, begin by identifying the cause: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Instrumentation.</a:t>
            </a:r>
            <a:r>
              <a:rPr lang="en-US" altLang="zh-CN" sz="2000" dirty="0"/>
              <a:t> Add timers to the code. Often this will reveal that delays are centered in a specific part of the system.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Test loads. </a:t>
            </a:r>
            <a:r>
              <a:rPr lang="en-US" altLang="zh-CN" sz="2000" dirty="0"/>
              <a:t>Run the system with varying loads, e.g., high transaction rates, large input files, many users, etc. This may reveal the characteristics of when the system runs badly.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Design and code reviews. </a:t>
            </a:r>
            <a:r>
              <a:rPr lang="en-US" altLang="zh-CN" sz="2000" dirty="0"/>
              <a:t>Team review of system design, program design, and suspect sections of code. This may reveal an algorithm that is running very slowly, e.g., a sort, locking procedure, etc.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Hands-on </a:t>
            </a:r>
            <a:r>
              <a:rPr lang="en-US" altLang="zh-CN" sz="2000" dirty="0" err="1">
                <a:solidFill>
                  <a:srgbClr val="FF0000"/>
                </a:solidFill>
              </a:rPr>
              <a:t>linux</a:t>
            </a:r>
            <a:r>
              <a:rPr lang="en-US" altLang="zh-CN" sz="2000" dirty="0">
                <a:solidFill>
                  <a:srgbClr val="FF0000"/>
                </a:solidFill>
              </a:rPr>
              <a:t> command line: </a:t>
            </a:r>
            <a:r>
              <a:rPr lang="en-US" altLang="zh-CN" sz="2000" i="1" dirty="0" err="1">
                <a:solidFill>
                  <a:srgbClr val="FF0000"/>
                </a:solidFill>
              </a:rPr>
              <a:t>htop</a:t>
            </a:r>
            <a:r>
              <a:rPr lang="en-US" altLang="zh-CN" sz="2000" dirty="0">
                <a:solidFill>
                  <a:srgbClr val="FF0000"/>
                </a:solidFill>
              </a:rPr>
              <a:t>, </a:t>
            </a:r>
            <a:r>
              <a:rPr lang="en-US" altLang="zh-CN" sz="2000" i="1" dirty="0" err="1">
                <a:solidFill>
                  <a:srgbClr val="FF0000"/>
                </a:solidFill>
              </a:rPr>
              <a:t>ifhtop</a:t>
            </a:r>
            <a:r>
              <a:rPr lang="en-US" altLang="zh-CN" sz="2000" i="1" dirty="0">
                <a:solidFill>
                  <a:srgbClr val="FF0000"/>
                </a:solidFill>
              </a:rPr>
              <a:t>, </a:t>
            </a:r>
            <a:r>
              <a:rPr lang="en-US" altLang="zh-CN" sz="2000" i="1" dirty="0" err="1">
                <a:solidFill>
                  <a:srgbClr val="FF0000"/>
                </a:solidFill>
              </a:rPr>
              <a:t>nvidia-smi</a:t>
            </a:r>
            <a:r>
              <a:rPr lang="en-US" altLang="zh-CN" sz="2000" dirty="0">
                <a:solidFill>
                  <a:srgbClr val="FF0000"/>
                </a:solidFill>
              </a:rPr>
              <a:t>, </a:t>
            </a:r>
            <a:r>
              <a:rPr lang="en-US" altLang="zh-CN" sz="2000" dirty="0" err="1">
                <a:solidFill>
                  <a:srgbClr val="FF0000"/>
                </a:solidFill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</a:rPr>
              <a:t>….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Fixing Bad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700" y="1501885"/>
            <a:ext cx="7772400" cy="43812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Improving Performance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96901" y="1339591"/>
            <a:ext cx="543825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Special purpose hardware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Graphics processors (e.g., Nvidia)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Algorithm/data structure design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Time/Space Complexity</a:t>
            </a:r>
            <a:endParaRPr lang="en-US" altLang="zh-CN" sz="2000" dirty="0"/>
          </a:p>
          <a:p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Special Database/Data warehouse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Hive, </a:t>
            </a:r>
            <a:r>
              <a:rPr lang="en-US" altLang="zh-CN" sz="2000" dirty="0" err="1"/>
              <a:t>ClickHouse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Parallel processing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latin typeface="Helvetica" pitchFamily="2" charset="0"/>
                <a:cs typeface="Arial" panose="020B0604020202090204" pitchFamily="34" charset="0"/>
              </a:rPr>
              <a:t>Spark, </a:t>
            </a:r>
            <a:r>
              <a:rPr lang="en-US" sz="2000" dirty="0"/>
              <a:t>Kubernetes (K8s)</a:t>
            </a:r>
            <a:endParaRPr lang="en-US" altLang="zh-CN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991" y="1508760"/>
            <a:ext cx="5036490" cy="1890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2804"/>
            <a:ext cx="3521902" cy="20352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164" y="1646232"/>
            <a:ext cx="1193515" cy="1752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689" y="4160520"/>
            <a:ext cx="2131153" cy="203528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5400000">
            <a:off x="8863618" y="3662989"/>
            <a:ext cx="361759" cy="28394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5152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Thoughts for the Future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582387"/>
            <a:ext cx="9550399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Current trends in high performance computing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High performance applications require ever increasing parallel computing, cluster computing, and cloud computing.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The performance of networks is critical — both the throughput and the latency.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Data centers are becoming huge and extremely complex.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Software developers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Distributed, parallel infrastructure (Spark, Hadoop).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Large Language </a:t>
            </a:r>
            <a:r>
              <a:rPr lang="en-US" altLang="zh-CN" sz="2000" dirty="0"/>
              <a:t>Model</a:t>
            </a:r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en-US" altLang="zh-CN" sz="37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Models for Program Design</a:t>
            </a:r>
            <a:endParaRPr lang="zh-CN" altLang="en-US" sz="37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Approaches to Program Development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743865"/>
            <a:ext cx="109465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Heavyweight approach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Program design and coding are separate. 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The design uses class models and other models to specify the program in detail, before beginning to code. UML is a good modeling language for this purpose.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Lightweight approach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The program design and coding are interwoven. 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The development is iterative, using an Integrated development environment (IDE).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Mixed approach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Outline design is created using models, with details worked out iteratively during coding. 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Program Design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918459"/>
            <a:ext cx="109465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The task of </a:t>
            </a:r>
            <a:r>
              <a:rPr lang="en-US" altLang="zh-CN" sz="2000" dirty="0">
                <a:solidFill>
                  <a:srgbClr val="FF0000"/>
                </a:solidFill>
              </a:rPr>
              <a:t>program design </a:t>
            </a:r>
            <a:r>
              <a:rPr lang="en-US" altLang="zh-CN" sz="2000" dirty="0"/>
              <a:t>is to represent the software architecture in a form that can be implemented as one or more executable programs.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Given a system architecture, the </a:t>
            </a:r>
            <a:r>
              <a:rPr lang="en-US" altLang="zh-CN" sz="2000" dirty="0">
                <a:solidFill>
                  <a:srgbClr val="FF0000"/>
                </a:solidFill>
              </a:rPr>
              <a:t>program design </a:t>
            </a:r>
            <a:r>
              <a:rPr lang="en-US" altLang="zh-CN" sz="2000" dirty="0"/>
              <a:t>specifies: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programs, components, packages, classes, class hierarchies, etc.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interfaces, protocols (where not part of the system architecture)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algorithms, data structures, security mechanisms, operational procedures 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998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UML Models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743864"/>
            <a:ext cx="109465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UML models (</a:t>
            </a:r>
            <a:r>
              <a:rPr lang="en-US" altLang="zh-CN" sz="2000" dirty="0">
                <a:solidFill>
                  <a:srgbClr val="FF0000"/>
                </a:solidFill>
              </a:rPr>
              <a:t>diagrams</a:t>
            </a:r>
            <a:r>
              <a:rPr lang="en-US" altLang="zh-CN" sz="2000" dirty="0"/>
              <a:t> and </a:t>
            </a:r>
            <a:r>
              <a:rPr lang="en-US" altLang="zh-CN" sz="2000" dirty="0">
                <a:solidFill>
                  <a:srgbClr val="FF0000"/>
                </a:solidFill>
              </a:rPr>
              <a:t>specifications</a:t>
            </a:r>
            <a:r>
              <a:rPr lang="en-US" altLang="zh-CN" sz="2000" dirty="0"/>
              <a:t>) can be used for almost all aspects of program design.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Diagrams</a:t>
            </a:r>
            <a:r>
              <a:rPr lang="en-US" altLang="zh-CN" sz="2000" dirty="0"/>
              <a:t> give a general overview of the design, showing the principal elements and how they relate to each other.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Specifications</a:t>
            </a:r>
            <a:r>
              <a:rPr lang="en-US" altLang="zh-CN" sz="2000" dirty="0"/>
              <a:t> provide details about each element of the design.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In </a:t>
            </a:r>
            <a:r>
              <a:rPr lang="en-US" altLang="zh-CN" sz="2000" dirty="0">
                <a:solidFill>
                  <a:srgbClr val="FF0000"/>
                </a:solidFill>
              </a:rPr>
              <a:t>heavyweight</a:t>
            </a:r>
            <a:r>
              <a:rPr lang="en-US" altLang="zh-CN" sz="2000" dirty="0"/>
              <a:t> software development processes, the specifications should have sufficient detail that they can be used to write code from. The goal is to complete the entire specification before coding begins.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8332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UML Models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1886302"/>
            <a:ext cx="109465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Models used mainly for requirements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Use case diagram </a:t>
            </a:r>
            <a:r>
              <a:rPr lang="en-US" altLang="zh-CN" sz="2000" dirty="0"/>
              <a:t>shows a set of use cases and actors, and their relationships.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Models used mainly for systems architecture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Component diagram </a:t>
            </a:r>
            <a:r>
              <a:rPr lang="en-US" altLang="zh-CN" sz="2000" dirty="0"/>
              <a:t>shows the organization and dependencies among a set of components.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Deployment diagram </a:t>
            </a:r>
            <a:r>
              <a:rPr lang="en-US" altLang="zh-CN" sz="2000" dirty="0"/>
              <a:t>shows the configuration of processing nodes and the components that live on them.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Models used mainly for program design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Class diagram</a:t>
            </a:r>
            <a:r>
              <a:rPr lang="en-US" altLang="zh-CN" sz="2000" dirty="0"/>
              <a:t> shows a set of classes, interfaces, and collaborations with their relationships.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Object diagram </a:t>
            </a:r>
            <a:r>
              <a:rPr lang="en-US" altLang="zh-CN" sz="2000" dirty="0"/>
              <a:t>or </a:t>
            </a:r>
            <a:r>
              <a:rPr lang="en-US" altLang="zh-CN" sz="2000" dirty="0">
                <a:solidFill>
                  <a:srgbClr val="FF0000"/>
                </a:solidFill>
              </a:rPr>
              <a:t>sequence diagram </a:t>
            </a:r>
            <a:r>
              <a:rPr lang="en-US" altLang="zh-CN" sz="2000" dirty="0"/>
              <a:t>show a set of objects and their relationships.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vs. Object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812" y="1398591"/>
            <a:ext cx="5740376" cy="417718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Class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1604177"/>
            <a:ext cx="1094652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 </a:t>
            </a:r>
            <a:r>
              <a:rPr lang="en-US" altLang="zh-CN" sz="2000" dirty="0">
                <a:solidFill>
                  <a:srgbClr val="FF0000"/>
                </a:solidFill>
              </a:rPr>
              <a:t>class</a:t>
            </a:r>
            <a:r>
              <a:rPr lang="en-US" altLang="zh-CN" sz="2000" dirty="0"/>
              <a:t> is a description of a set of objects that share the same attributes, methods, relationships, and semantics.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Note on terminology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Operations </a:t>
            </a:r>
            <a:r>
              <a:rPr lang="en-US" altLang="zh-CN" sz="2000" dirty="0"/>
              <a:t>is like </a:t>
            </a:r>
            <a:r>
              <a:rPr lang="en-US" altLang="zh-CN" sz="2000" dirty="0">
                <a:solidFill>
                  <a:srgbClr val="FF0000"/>
                </a:solidFill>
              </a:rPr>
              <a:t>methods </a:t>
            </a:r>
            <a:r>
              <a:rPr lang="en-US" altLang="zh-CN" sz="2000" dirty="0"/>
              <a:t>in Java, Python, etc.</a:t>
            </a:r>
            <a:endParaRPr lang="en-US" altLang="zh-CN" sz="2000" b="1" dirty="0"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683" y="2352365"/>
            <a:ext cx="5038530" cy="16328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001" y="4107776"/>
            <a:ext cx="3681651" cy="161309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51" y="2474919"/>
            <a:ext cx="2982232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The "Hello, World!" Applet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4301" y="1597873"/>
            <a:ext cx="6463397" cy="41450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76572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The HelloWorld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462" y="2079623"/>
            <a:ext cx="8501075" cy="269875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Association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7586" y="1230627"/>
            <a:ext cx="112031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A structural link between two peer classes if there is an association between Class1 and Class2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50" y="2272693"/>
            <a:ext cx="42037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Notation: Relationships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550" y="1420729"/>
            <a:ext cx="4660900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Generalization/Inheritance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5020" y="1377898"/>
            <a:ext cx="109177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generalization is a taxonomic relationship between a more general class and a more specific class. Each instance of the specific classifier is also an indirect instance of the general class. Thus, the specific class inherits the features of the more general class.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245" y="3163923"/>
            <a:ext cx="31115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Aggregation/Composition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096" y="1028699"/>
            <a:ext cx="109177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chemeClr val="accent1"/>
                </a:solidFill>
              </a:rPr>
              <a:t>Aggregation is a special type of association</a:t>
            </a:r>
            <a:r>
              <a:rPr lang="zh-CN" altLang="en-US" sz="2000" b="1" dirty="0">
                <a:solidFill>
                  <a:schemeClr val="accent1"/>
                </a:solidFill>
              </a:rPr>
              <a:t> </a:t>
            </a:r>
            <a:r>
              <a:rPr lang="en-US" altLang="zh-CN" sz="2000" b="1" dirty="0">
                <a:solidFill>
                  <a:schemeClr val="accent1"/>
                </a:solidFill>
              </a:rPr>
              <a:t>which </a:t>
            </a:r>
            <a:r>
              <a:rPr lang="en-US" sz="2000" b="1" dirty="0">
                <a:solidFill>
                  <a:schemeClr val="accent1"/>
                </a:solidFill>
              </a:rPr>
              <a:t>represents a "part of" relationship.</a:t>
            </a:r>
            <a:endParaRPr lang="en-US" sz="2000" b="1" dirty="0">
              <a:solidFill>
                <a:schemeClr val="accent1"/>
              </a:solidFill>
            </a:endParaRPr>
          </a:p>
          <a:p>
            <a:pPr algn="l"/>
            <a:r>
              <a:rPr lang="en-US" sz="2000" dirty="0"/>
              <a:t>	Class2 is part of Class1.</a:t>
            </a:r>
            <a:endParaRPr lang="en-US" sz="2000" dirty="0"/>
          </a:p>
          <a:p>
            <a:pPr algn="l"/>
            <a:r>
              <a:rPr lang="en-US" sz="2000" dirty="0"/>
              <a:t>	Many instances (denoted by the *) of Class2 can be associated with Class1.</a:t>
            </a:r>
            <a:endParaRPr lang="en-US" sz="2000" dirty="0"/>
          </a:p>
          <a:p>
            <a:pPr algn="l"/>
            <a:r>
              <a:rPr lang="en-US" sz="2000" dirty="0"/>
              <a:t>	Objects of Class1 and Class2 have separate lifetimes.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50" y="2298700"/>
            <a:ext cx="3213100" cy="1130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096" y="3987609"/>
            <a:ext cx="113532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/>
                </a:solidFill>
              </a:rPr>
              <a:t>Composition is a special type of aggregation where parts are destroyed when the whole is destroyed.</a:t>
            </a:r>
            <a:endParaRPr lang="en-US" sz="2000" b="1" dirty="0">
              <a:solidFill>
                <a:schemeClr val="accent1"/>
              </a:solidFill>
            </a:endParaRPr>
          </a:p>
          <a:p>
            <a:pPr algn="l"/>
            <a:r>
              <a:rPr lang="en-US" sz="2000" dirty="0"/>
              <a:t>	Objects of Class2 live and die with Class1</a:t>
            </a:r>
            <a:endParaRPr lang="en-US" sz="2000" dirty="0"/>
          </a:p>
          <a:p>
            <a:pPr algn="l"/>
            <a:r>
              <a:rPr lang="en-US" sz="2000" dirty="0"/>
              <a:t>	Class2 cannot stand by itself.</a:t>
            </a:r>
            <a:endParaRPr lang="en-US" sz="2000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106" y="5383211"/>
            <a:ext cx="33528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Dependency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096" y="1028699"/>
            <a:ext cx="109177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An object of one class might use an object of another class in the code of a method. If the object is not stored in any field, then this is modeled as a dependency relationship</a:t>
            </a:r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rgbClr val="737C85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	</a:t>
            </a:r>
            <a:r>
              <a:rPr lang="en-US" sz="2000" dirty="0"/>
              <a:t>A special type of association</a:t>
            </a:r>
            <a:endParaRPr lang="en-US" sz="2000" dirty="0"/>
          </a:p>
          <a:p>
            <a:r>
              <a:rPr lang="en-US" sz="2000" dirty="0"/>
              <a:t>	Exists between two classes if changes to the definition of one may cause changes to 	the other (but not the other way around)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627" y="3004552"/>
            <a:ext cx="3048000" cy="1041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36" y="4141633"/>
            <a:ext cx="41656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Realization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096" y="1028699"/>
            <a:ext cx="10917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Realization is a relationship between the blueprint class and the object containing its respective implementation level details. This object is said to realize the blueprint class. 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027" y="2890299"/>
            <a:ext cx="3967782" cy="28092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00" y="2143627"/>
            <a:ext cx="7772400" cy="21533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UML Notation for Classes and Objects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14" y="1383489"/>
            <a:ext cx="7602267" cy="41664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10211484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Deciding which Classes to Use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1591061"/>
            <a:ext cx="109465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Given a real-life system, how do you decide what classes to use?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Step 1. Identify a set of candidate classes that represent the system design.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What terms do the users and implementers use to describe the system? These terms are </a:t>
            </a:r>
            <a:r>
              <a:rPr lang="en-US" altLang="zh-CN" sz="2000" dirty="0">
                <a:solidFill>
                  <a:srgbClr val="FF0000"/>
                </a:solidFill>
              </a:rPr>
              <a:t>candidates</a:t>
            </a:r>
            <a:r>
              <a:rPr lang="en-US" altLang="zh-CN" sz="2000" dirty="0"/>
              <a:t> for classes.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Is each candidate class crisply defined?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For each class, what is its set of responsibilities? Are the responsibilities evenly balanced among the classes?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What attributes and methods does each class need to carry out its responsibilities?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Deciding which Classes to Use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791779"/>
            <a:ext cx="1094652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Step 2. Modify the set of classes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Goals: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Improve the clarity of the design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If the purpose of each class is clear, with easily understood methods and relationships, developers are likely to write simple code, which future maintainers can understand and modify. </a:t>
            </a:r>
            <a:endParaRPr lang="en-US" altLang="zh-CN" sz="2000" dirty="0"/>
          </a:p>
          <a:p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Increase coherence within classes, and lower coupling between classes.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Aim for high cohesion within classes and weak coupling between them.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Application Classes and Solution Classes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2176329"/>
            <a:ext cx="109465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 good design is often a combination of </a:t>
            </a:r>
            <a:r>
              <a:rPr lang="en-US" altLang="zh-CN" sz="2000" dirty="0">
                <a:solidFill>
                  <a:srgbClr val="FF0000"/>
                </a:solidFill>
              </a:rPr>
              <a:t>application classes </a:t>
            </a:r>
            <a:r>
              <a:rPr lang="en-US" altLang="zh-CN" sz="2000" dirty="0"/>
              <a:t>and </a:t>
            </a:r>
            <a:r>
              <a:rPr lang="en-US" altLang="zh-CN" sz="2000" dirty="0">
                <a:solidFill>
                  <a:srgbClr val="FF0000"/>
                </a:solidFill>
              </a:rPr>
              <a:t>solution classes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Application classes </a:t>
            </a:r>
            <a:r>
              <a:rPr lang="en-US" altLang="zh-CN" sz="2000" dirty="0"/>
              <a:t>represent application concepts. 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Noun identification </a:t>
            </a:r>
            <a:r>
              <a:rPr lang="en-US" altLang="zh-CN" sz="2000" dirty="0"/>
              <a:t>is an effective technique to generate candidate application classes.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Solution classes </a:t>
            </a:r>
            <a:r>
              <a:rPr lang="en-US" altLang="zh-CN" sz="2000" dirty="0"/>
              <a:t>represent system concepts, e.g., user interface objects, databases, etc.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Noun Identification: a Library Example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2347274" y="1474742"/>
            <a:ext cx="662704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/>
              <a:t>The library contains books and journals. It may have several copies of a given book. Some of the books are reserved for short-term loans only. All others may be borrowed by any library member for three weeks. Members of the library can normally borrow up to six items at a time, but members of staff may borrow up to 12 items at one time. Only members of staff may borrow journals. </a:t>
            </a:r>
            <a:endParaRPr lang="en-US" altLang="zh-CN" sz="2000" i="1" dirty="0"/>
          </a:p>
          <a:p>
            <a:endParaRPr lang="en-US" altLang="zh-CN" sz="2000" i="1" dirty="0"/>
          </a:p>
          <a:p>
            <a:r>
              <a:rPr lang="en-US" altLang="zh-CN" sz="2000" i="1" dirty="0"/>
              <a:t>The system must keep track of when books and journals are borrowed and returned, and enforce the rules. </a:t>
            </a:r>
            <a:endParaRPr lang="en-US" sz="2000" b="1" i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Noun Identification: a Library Example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2347274" y="1474742"/>
            <a:ext cx="662704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/>
              <a:t>The </a:t>
            </a:r>
            <a:r>
              <a:rPr lang="en-US" altLang="zh-CN" sz="2000" i="1" dirty="0">
                <a:solidFill>
                  <a:srgbClr val="FF0000"/>
                </a:solidFill>
              </a:rPr>
              <a:t>library</a:t>
            </a:r>
            <a:r>
              <a:rPr lang="en-US" altLang="zh-CN" sz="2000" i="1" dirty="0"/>
              <a:t> contains </a:t>
            </a:r>
            <a:r>
              <a:rPr lang="en-US" altLang="zh-CN" sz="2000" i="1" dirty="0">
                <a:solidFill>
                  <a:srgbClr val="FF0000"/>
                </a:solidFill>
              </a:rPr>
              <a:t>books</a:t>
            </a:r>
            <a:r>
              <a:rPr lang="en-US" altLang="zh-CN" sz="2000" i="1" dirty="0"/>
              <a:t> and </a:t>
            </a:r>
            <a:r>
              <a:rPr lang="en-US" altLang="zh-CN" sz="2000" i="1" dirty="0">
                <a:solidFill>
                  <a:srgbClr val="FF0000"/>
                </a:solidFill>
              </a:rPr>
              <a:t>journals</a:t>
            </a:r>
            <a:r>
              <a:rPr lang="en-US" altLang="zh-CN" sz="2000" i="1" dirty="0"/>
              <a:t>. It may have several </a:t>
            </a:r>
            <a:r>
              <a:rPr lang="en-US" altLang="zh-CN" sz="2000" i="1" dirty="0">
                <a:solidFill>
                  <a:srgbClr val="FF0000"/>
                </a:solidFill>
              </a:rPr>
              <a:t>copies</a:t>
            </a:r>
            <a:r>
              <a:rPr lang="en-US" altLang="zh-CN" sz="2000" i="1" dirty="0"/>
              <a:t> of a given book. Some of the books are reserved for </a:t>
            </a:r>
            <a:r>
              <a:rPr lang="en-US" altLang="zh-CN" sz="2000" i="1" dirty="0">
                <a:solidFill>
                  <a:srgbClr val="FF0000"/>
                </a:solidFill>
              </a:rPr>
              <a:t>short-term</a:t>
            </a:r>
            <a:r>
              <a:rPr lang="en-US" altLang="zh-CN" sz="2000" i="1" dirty="0"/>
              <a:t> loans only. All others may be borrowed by any </a:t>
            </a:r>
            <a:r>
              <a:rPr lang="en-US" altLang="zh-CN" sz="2000" i="1" dirty="0">
                <a:solidFill>
                  <a:srgbClr val="FF0000"/>
                </a:solidFill>
              </a:rPr>
              <a:t>library member </a:t>
            </a:r>
            <a:r>
              <a:rPr lang="en-US" altLang="zh-CN" sz="2000" i="1" dirty="0"/>
              <a:t>for three </a:t>
            </a:r>
            <a:r>
              <a:rPr lang="en-US" altLang="zh-CN" sz="2000" i="1" dirty="0">
                <a:solidFill>
                  <a:srgbClr val="FF0000"/>
                </a:solidFill>
              </a:rPr>
              <a:t>weeks</a:t>
            </a:r>
            <a:r>
              <a:rPr lang="en-US" altLang="zh-CN" sz="2000" i="1" dirty="0"/>
              <a:t>.</a:t>
            </a:r>
            <a:endParaRPr lang="en-US" altLang="zh-CN" sz="2000" i="1" dirty="0"/>
          </a:p>
          <a:p>
            <a:r>
              <a:rPr lang="en-US" altLang="zh-CN" sz="2000" i="1" dirty="0">
                <a:solidFill>
                  <a:srgbClr val="FF0000"/>
                </a:solidFill>
              </a:rPr>
              <a:t>Members of the library </a:t>
            </a:r>
            <a:r>
              <a:rPr lang="en-US" altLang="zh-CN" sz="2000" i="1" dirty="0"/>
              <a:t>can normally borrow up to six items at a time, but </a:t>
            </a:r>
            <a:r>
              <a:rPr lang="en-US" altLang="zh-CN" sz="2000" i="1" dirty="0">
                <a:solidFill>
                  <a:srgbClr val="FF0000"/>
                </a:solidFill>
              </a:rPr>
              <a:t>members of staff </a:t>
            </a:r>
            <a:r>
              <a:rPr lang="en-US" altLang="zh-CN" sz="2000" i="1" dirty="0"/>
              <a:t>may borrow up to 12 items at one time. Only members of staff may borrow journals. </a:t>
            </a:r>
            <a:endParaRPr lang="en-US" altLang="zh-CN" sz="2000" i="1" dirty="0"/>
          </a:p>
          <a:p>
            <a:endParaRPr lang="en-US" altLang="zh-CN" sz="2000" i="1" dirty="0"/>
          </a:p>
          <a:p>
            <a:r>
              <a:rPr lang="en-US" altLang="zh-CN" sz="2000" i="1" dirty="0"/>
              <a:t>The </a:t>
            </a:r>
            <a:r>
              <a:rPr lang="en-US" altLang="zh-CN" sz="2000" i="1" dirty="0">
                <a:solidFill>
                  <a:srgbClr val="FF0000"/>
                </a:solidFill>
              </a:rPr>
              <a:t>system</a:t>
            </a:r>
            <a:r>
              <a:rPr lang="en-US" altLang="zh-CN" sz="2000" i="1" dirty="0"/>
              <a:t> must keep track of when books and journals are borrowed and returned, and enforce the </a:t>
            </a:r>
            <a:r>
              <a:rPr lang="en-US" altLang="zh-CN" sz="2000" i="1" dirty="0">
                <a:solidFill>
                  <a:srgbClr val="FF0000"/>
                </a:solidFill>
              </a:rPr>
              <a:t>rules</a:t>
            </a:r>
            <a:r>
              <a:rPr lang="en-US" altLang="zh-CN" sz="2000" i="1" dirty="0"/>
              <a:t>. </a:t>
            </a:r>
            <a:endParaRPr lang="en-US" sz="2000" b="1" i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Candidate Classes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4852" y="1390166"/>
            <a:ext cx="7002295" cy="459725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Relations between Classes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568" y="1508288"/>
            <a:ext cx="7328863" cy="318275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42559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Methods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0609" y="1791093"/>
            <a:ext cx="6610782" cy="280338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042559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A Possible Class Diagram</a:t>
            </a:r>
            <a:endParaRPr lang="en-US" sz="6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468" y="1466576"/>
            <a:ext cx="7621064" cy="392484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From Candidate Classes to Completed Design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179036"/>
            <a:ext cx="109465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Methods used to move to final design 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Reuse</a:t>
            </a:r>
            <a:r>
              <a:rPr lang="en-US" altLang="zh-CN" sz="2000" dirty="0"/>
              <a:t>: Wherever possible use existing components, or class libraries. They may need extensions.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Restructuring</a:t>
            </a:r>
            <a:r>
              <a:rPr lang="en-US" altLang="zh-CN" sz="2000" dirty="0"/>
              <a:t>: Change the design to improve understandability, maintainability, etc. Techniques include merging similar classes, splitting complex classes, etc.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Optimization</a:t>
            </a:r>
            <a:r>
              <a:rPr lang="en-US" altLang="zh-CN" sz="2000" dirty="0"/>
              <a:t>: Ensure that the system meets anticipated performance requirements, e.g., by changed algorithms or restructuring.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Completion</a:t>
            </a:r>
            <a:r>
              <a:rPr lang="en-US" altLang="zh-CN" sz="2000" dirty="0"/>
              <a:t>: Fill all gaps, specify interfaces, etc.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Design is iterative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As the process moves from preliminary design to specification, implementation, and testing it is common to find weaknesses in the program design. Be prepared to make major modifications.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Modeling Dynamic Aspects of Systems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2451656"/>
            <a:ext cx="109465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Interaction diagram: </a:t>
            </a:r>
            <a:r>
              <a:rPr lang="en-US" altLang="zh-CN" sz="2000" dirty="0"/>
              <a:t>shows set of objects and their relationships including messages that may be dispatched among them. </a:t>
            </a:r>
            <a:endParaRPr lang="en-US" altLang="zh-CN" sz="2000" dirty="0"/>
          </a:p>
          <a:p>
            <a:pPr lvl="1"/>
            <a:r>
              <a:rPr lang="en-US" altLang="zh-CN" sz="2000" dirty="0"/>
              <a:t>• </a:t>
            </a:r>
            <a:r>
              <a:rPr lang="en-US" altLang="zh-CN" sz="2000" dirty="0">
                <a:solidFill>
                  <a:srgbClr val="FF0000"/>
                </a:solidFill>
              </a:rPr>
              <a:t>Sequence diagrams: time ordering of messages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Message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50319" y="1352390"/>
            <a:ext cx="10803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 </a:t>
            </a:r>
            <a:r>
              <a:rPr lang="en-US" sz="2000" b="1" dirty="0">
                <a:solidFill>
                  <a:schemeClr val="accent1"/>
                </a:solidFill>
              </a:rPr>
              <a:t>synchronous</a:t>
            </a:r>
            <a:r>
              <a:rPr lang="en-US" sz="2000" dirty="0"/>
              <a:t> message (typically an operation call) is shown as a solid line with a filled arrowhead. It is a regular message call used for normal communication between sender and receiver.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854" y="3054971"/>
            <a:ext cx="322580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Message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1255" y="1237696"/>
            <a:ext cx="108031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 </a:t>
            </a:r>
            <a:r>
              <a:rPr lang="en-US" sz="2000" b="1" dirty="0">
                <a:solidFill>
                  <a:schemeClr val="accent1"/>
                </a:solidFill>
              </a:rPr>
              <a:t>return</a:t>
            </a:r>
            <a:r>
              <a:rPr lang="en-US" sz="2000" dirty="0"/>
              <a:t> message uses a dashed line with an open arrowhead.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354" y="2493306"/>
            <a:ext cx="3670300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Message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1255" y="1237696"/>
            <a:ext cx="10803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 </a:t>
            </a:r>
            <a:r>
              <a:rPr lang="en-US" sz="2000" b="1" dirty="0">
                <a:solidFill>
                  <a:schemeClr val="accent1"/>
                </a:solidFill>
              </a:rPr>
              <a:t>constructor message</a:t>
            </a:r>
            <a:r>
              <a:rPr lang="en-US" sz="2000" dirty="0"/>
              <a:t> creates its receiver. The sender that already exist at the start of the interaction are placed at the top of the diagram. Targets that are created during the interaction by a constructor call are automatically placed further down the diagram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85" y="2534204"/>
            <a:ext cx="32639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 Message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1255" y="1237696"/>
            <a:ext cx="10803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 </a:t>
            </a:r>
            <a:r>
              <a:rPr lang="en-US" sz="2000" b="1" dirty="0">
                <a:solidFill>
                  <a:schemeClr val="accent1"/>
                </a:solidFill>
              </a:rPr>
              <a:t>destructor</a:t>
            </a:r>
            <a:r>
              <a:rPr lang="en-US" sz="2000" dirty="0"/>
              <a:t> message destroys its receiver. There are other ways to indicate that a target is destroyed during an interaction. Only when a target's destruction is set to 'after destructor' do you have to use a destructor.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664" y="2964018"/>
            <a:ext cx="3263900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 instantaneous Message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1255" y="1237696"/>
            <a:ext cx="10803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Messages are often considered to be instantaneous, thus, the time it takes to arrive at the receiver is negligible. The messages are drawn as a horizontal arrow. To indicate that it takes a certain while before the receiver actually receives a message, a </a:t>
            </a:r>
            <a:r>
              <a:rPr lang="en-US" sz="2000" b="1" dirty="0">
                <a:solidFill>
                  <a:schemeClr val="accent1"/>
                </a:solidFill>
              </a:rPr>
              <a:t>slanted arrow </a:t>
            </a:r>
            <a:r>
              <a:rPr lang="en-US" sz="2000" dirty="0"/>
              <a:t>is used.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459" y="2857059"/>
            <a:ext cx="3136900" cy="2565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449" y="2332559"/>
            <a:ext cx="4278502" cy="3772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424" y="1664921"/>
            <a:ext cx="5834780" cy="4691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1733" y="1163069"/>
            <a:ext cx="78566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Trading System: a </a:t>
            </a:r>
            <a:r>
              <a:rPr lang="en-US" sz="2000" b="1" dirty="0">
                <a:solidFill>
                  <a:srgbClr val="C00000"/>
                </a:solidFill>
              </a:rPr>
              <a:t>Customer</a:t>
            </a:r>
            <a:r>
              <a:rPr lang="en-US" sz="2000" dirty="0"/>
              <a:t> place </a:t>
            </a:r>
            <a:r>
              <a:rPr lang="en-US" sz="2000" b="1" dirty="0">
                <a:solidFill>
                  <a:srgbClr val="C00000"/>
                </a:solidFill>
              </a:rPr>
              <a:t>Orders</a:t>
            </a:r>
            <a:r>
              <a:rPr lang="en-US" sz="2000" dirty="0"/>
              <a:t> for products in </a:t>
            </a:r>
            <a:r>
              <a:rPr lang="en-US" sz="2000" b="1" dirty="0">
                <a:solidFill>
                  <a:srgbClr val="C00000"/>
                </a:solidFill>
              </a:rPr>
              <a:t>Stock</a:t>
            </a:r>
            <a:r>
              <a:rPr lang="en-US" sz="2000" dirty="0"/>
              <a:t>. </a:t>
            </a:r>
            <a:endParaRPr lang="en-US" sz="2000" dirty="0"/>
          </a:p>
          <a:p>
            <a:r>
              <a:rPr lang="en-US" sz="2000" dirty="0"/>
              <a:t>Step 1 - 2: Customer creates an order</a:t>
            </a:r>
            <a:endParaRPr lang="en-US" sz="2000" dirty="0"/>
          </a:p>
          <a:p>
            <a:endParaRPr lang="en-US" sz="2000" dirty="0"/>
          </a:p>
          <a:p>
            <a:pPr algn="l"/>
            <a:r>
              <a:rPr lang="en-US" sz="2000" dirty="0"/>
              <a:t>Step 3: Customer add items to the order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Step 4 - 5: Each item is checked for availability </a:t>
            </a:r>
            <a:endParaRPr lang="en-US" sz="2000" dirty="0"/>
          </a:p>
          <a:p>
            <a:pPr algn="l"/>
            <a:r>
              <a:rPr lang="en-US" sz="2000" dirty="0"/>
              <a:t>	    in inventory.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Step 6 - 8 : If the product is available, it is added </a:t>
            </a:r>
            <a:endParaRPr lang="en-US" sz="2000" dirty="0"/>
          </a:p>
          <a:p>
            <a:pPr algn="l"/>
            <a:r>
              <a:rPr lang="en-US" sz="2000" dirty="0"/>
              <a:t>	    to the order.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Step 9 	    return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Step 10 - 11: save and destroy order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en-US" altLang="zh-CN" sz="37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Program Development</a:t>
            </a:r>
            <a:endParaRPr lang="zh-CN" altLang="en-US" sz="37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THREE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1474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Integrated Development Environments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471178"/>
            <a:ext cx="111639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Basic software development requires: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text editor (e.g., vi editor for Linux)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compiler for individual files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build system (e.g., make for Linux)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Integrated development environments combine: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source code editor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incremental compiler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build automation tools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 debugger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and much, much more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4" y="1663795"/>
            <a:ext cx="5819394" cy="42044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141" y="1663795"/>
            <a:ext cx="6114335" cy="458575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1593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Integrated Development Environment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413923"/>
            <a:ext cx="589030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An IDE provides: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source code editor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debugger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incremental compiler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programming documentation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build automation tools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version control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Auto code generation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Much more is available via plug-ins. 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3194" cy="790865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Program Design: Integrated Development Environment</a:t>
            </a:r>
            <a:endParaRPr lang="en-US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99876" y="1118650"/>
            <a:ext cx="111639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Integrated development environments provide little help in 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designing (NOT coding!)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a program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They assume that you have already have a design: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classes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methods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data structures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interfaces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Options for program design: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program design using modeling tools, such as UML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design while coding: design — code — redesign loop (small programs only)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existing frameworks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advanced environments that combine frameworks and development tools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It is often good to combine aspects of these different approaches.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The Design — Code — Redesign Loop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0432" y="1332665"/>
            <a:ext cx="103013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If the class structure is straightforward it may be possible to use the integrated development environment to: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create an outline of the class structure and interfaces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write code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modify the class structure as needed and rework the code as necessary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This is only possible with small teams with close communication.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The maximum size of program depends on experience of programmer(s) and complexity of the program.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It may be possible to complete a single agile sprint.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Eventually the amount of rework becomes overwhelming.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Class Hierarchies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83526" y="1732408"/>
            <a:ext cx="111639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Since the design of class hierarchies is difficult it is good practice to use existing frameworks.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Often many of the classes will have been written for you, or abstract classes are provided that you can use as a basis for your own subclasses.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Examples: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class hierarchies that are part of programming languages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toolkits (e.g., for graphical user interfaces)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design patterns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frameworks for web development and mobile apps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Class Hierarchies: Programming Languages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38113"/>
            <a:ext cx="111639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Example: Java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Java is a relatively straightforward language with a very rich set of class hierarchies.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Java programs derive much of their functionality from standard classes.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Learning and understanding the classes is difficult.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Experienced Java programmers can write complex systems quickly.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Inexperienced Java programmers write inelegant and buggy programs.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Languages such as Java and Python steadily change their class hierarchies over time. Commonly the changes replace special purpose functionality with more general frameworks. </a:t>
            </a:r>
            <a:endParaRPr lang="en-US" altLang="zh-CN" sz="2000" dirty="0"/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If you design your programs to use the class hierarchies in the style intended by the language developers, it is likely to help with long term maintenance.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Advanced Development Environments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896768"/>
            <a:ext cx="111639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Application frameworks can be used with any program development environment, e.g., Django and Eclipse (Python version)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An advanced development environment combines: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integrated development environment (IDE)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application framework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user interface layout manager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and more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Apple’s Xcode for iOS </a:t>
            </a:r>
            <a:endParaRPr lang="en-US" altLang="zh-CN" sz="2000" i="1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355" y="461846"/>
            <a:ext cx="9248857" cy="574099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Advanced Development Environments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5" y="1397620"/>
            <a:ext cx="1110908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An advanced development environment is intended to provide everything that a developer needs.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The developer is expected to follow the program choices that are provided. 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For example, when Xcode is used with iOS it has a very specific purpose: mobile apps for Apple devices such as iPhones, iPads.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Special programming language (Swift or Objective C)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MVC framework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If you accept the overall program design it is very powerful: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Auto layout of graphical interfaces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Comprehensive set of classes for user interfaces and navigation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Simulators for all Apple devices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Using Development Frameworks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467066"/>
            <a:ext cx="111639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Development frameworks are powerful and flexible.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If your application fits the framework, they do much of the program design and provide high quality code for many of the standard parts of any application.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Some parts of the application may need be designed separately.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But beware: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You are forced to build your application within the framework that is provided.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The frameworks are continually modified.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These frameworks are complex and take a long time to learn. 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Production Programming</a:t>
            </a:r>
            <a:endParaRPr lang="en-US" sz="6000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1687791"/>
            <a:ext cx="111639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Murphy's Law: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If anything can go wrong, it will. 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Challenges: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Code has to be maintained over the long term, with different system software.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Interfaces will be used in new and unexpected ways.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Every possible error will eventually occur at the worst possible time (bad data, failures of hardware and system software).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There are likely to be security attacks.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Production Programming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282669"/>
            <a:ext cx="96181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Robust programming: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Write simple code.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Avoid risky programming constructs.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If code is difficult to read, rewrite it.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Incorporate redundant code to check system state after modifications.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Test implicit assumptions explicitly, e.g., check all parameters received from other routines.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Eliminate all warnings from source code.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Have a thorough set of test cases for all your code.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In a production environment, expect to spend longer on coding and </a:t>
            </a:r>
            <a:r>
              <a:rPr lang="en-US" altLang="zh-CN" sz="2000" dirty="0" err="1">
                <a:solidFill>
                  <a:srgbClr val="FF0000"/>
                </a:solidFill>
              </a:rPr>
              <a:t>tesMng</a:t>
            </a:r>
            <a:r>
              <a:rPr lang="en-US" altLang="zh-CN" sz="2000" dirty="0">
                <a:solidFill>
                  <a:srgbClr val="FF0000"/>
                </a:solidFill>
              </a:rPr>
              <a:t> than in an academic setting. 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540868" y="2606037"/>
            <a:ext cx="7978032" cy="914400"/>
          </a:xfrm>
        </p:spPr>
        <p:txBody>
          <a:bodyPr>
            <a:normAutofit fontScale="92500"/>
          </a:bodyPr>
          <a:lstStyle/>
          <a:p>
            <a:pPr algn="r"/>
            <a:r>
              <a:rPr lang="en-US" altLang="zh-CN" dirty="0"/>
              <a:t>Thanks for your listening!</a:t>
            </a:r>
            <a:endParaRPr lang="zh-CN" altLang="en-US" dirty="0"/>
          </a:p>
        </p:txBody>
      </p:sp>
      <p:cxnSp>
        <p:nvCxnSpPr>
          <p:cNvPr id="27" name="直接连接符 2"/>
          <p:cNvCxnSpPr/>
          <p:nvPr/>
        </p:nvCxnSpPr>
        <p:spPr>
          <a:xfrm>
            <a:off x="11226555" y="4069080"/>
            <a:ext cx="0" cy="786699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63"/>
          <p:cNvSpPr/>
          <p:nvPr/>
        </p:nvSpPr>
        <p:spPr>
          <a:xfrm>
            <a:off x="8043723" y="4360552"/>
            <a:ext cx="3003067" cy="61157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2025/02/28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3" name="矩形 66"/>
          <p:cNvSpPr/>
          <p:nvPr/>
        </p:nvSpPr>
        <p:spPr>
          <a:xfrm>
            <a:off x="4295518" y="3921753"/>
            <a:ext cx="6751272" cy="61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Instructor: Liu, </a:t>
            </a:r>
            <a:r>
              <a:rPr lang="en-US" altLang="zh-CN" sz="2800" dirty="0" err="1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Guangchi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Ph.D.</a:t>
            </a:r>
            <a:endParaRPr lang="en-US" altLang="zh-CN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21549</Words>
  <Application>WPS Writer</Application>
  <PresentationFormat>Widescreen</PresentationFormat>
  <Paragraphs>809</Paragraphs>
  <Slides>77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8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宋体</vt:lpstr>
      <vt:lpstr>Arial Unicode MS</vt:lpstr>
      <vt:lpstr>黑体</vt:lpstr>
      <vt:lpstr>汉仪中黑KW</vt:lpstr>
      <vt:lpstr>等线</vt:lpstr>
      <vt:lpstr>汉仪中等线KW</vt:lpstr>
      <vt:lpstr>黑体</vt:lpstr>
      <vt:lpstr>open sans</vt:lpstr>
      <vt:lpstr>苹方-简</vt:lpstr>
      <vt:lpstr>Calibri</vt:lpstr>
      <vt:lpstr>Helvetica Neue</vt:lpstr>
      <vt:lpstr>微软雅黑</vt:lpstr>
      <vt:lpstr>汉仪书宋二KW</vt:lpstr>
      <vt:lpstr>1_Office 主题​​</vt:lpstr>
      <vt:lpstr>PowerPoint 演示文稿</vt:lpstr>
      <vt:lpstr>Heads Up</vt:lpstr>
      <vt:lpstr>Heads Up</vt:lpstr>
      <vt:lpstr>Heads Up</vt:lpstr>
      <vt:lpstr>Requirements on Final Project</vt:lpstr>
      <vt:lpstr>PowerPoint 演示文稿</vt:lpstr>
      <vt:lpstr>Performance of Computer Systems</vt:lpstr>
      <vt:lpstr>When Performance Matters</vt:lpstr>
      <vt:lpstr>High-Performance Computing</vt:lpstr>
      <vt:lpstr>Performance Challenges for all Software Systems</vt:lpstr>
      <vt:lpstr>Performance Challenges for all Software Systems</vt:lpstr>
      <vt:lpstr>Interactions between Hardware and Software</vt:lpstr>
      <vt:lpstr>Look for Bottlenecks: CPU Performance</vt:lpstr>
      <vt:lpstr>Look for Bottlenecks</vt:lpstr>
      <vt:lpstr>Look for Bottlenecks: Utilization</vt:lpstr>
      <vt:lpstr>Timescale of Different Components</vt:lpstr>
      <vt:lpstr>Predicting System Performance</vt:lpstr>
      <vt:lpstr>Mathematical Models</vt:lpstr>
      <vt:lpstr>Mathematical Models: Queues</vt:lpstr>
      <vt:lpstr>Queues</vt:lpstr>
      <vt:lpstr>Techniques: Simulation</vt:lpstr>
      <vt:lpstr>Behavior of Queues: Utilization</vt:lpstr>
      <vt:lpstr>Measurements on Operational Systems</vt:lpstr>
      <vt:lpstr>Example: Web Laboratory</vt:lpstr>
      <vt:lpstr>Fixing Bad Performance</vt:lpstr>
      <vt:lpstr>Fixing Bad Performance</vt:lpstr>
      <vt:lpstr>Improving Performance</vt:lpstr>
      <vt:lpstr>Thoughts for the Future</vt:lpstr>
      <vt:lpstr>PowerPoint 演示文稿</vt:lpstr>
      <vt:lpstr>Approaches to Program Development</vt:lpstr>
      <vt:lpstr>Program Design</vt:lpstr>
      <vt:lpstr>UML Models</vt:lpstr>
      <vt:lpstr>UML Models</vt:lpstr>
      <vt:lpstr>Class vs. Object</vt:lpstr>
      <vt:lpstr>Class Diagram</vt:lpstr>
      <vt:lpstr>The "Hello, World!" Applet</vt:lpstr>
      <vt:lpstr>The HelloWorld Class</vt:lpstr>
      <vt:lpstr>Association</vt:lpstr>
      <vt:lpstr>Notation: Relationships</vt:lpstr>
      <vt:lpstr>Generalization/Inheritance</vt:lpstr>
      <vt:lpstr>Aggregation/Composition</vt:lpstr>
      <vt:lpstr>Dependency</vt:lpstr>
      <vt:lpstr>Realization</vt:lpstr>
      <vt:lpstr>Object Diagram</vt:lpstr>
      <vt:lpstr>UML Notation for Classes and Objects</vt:lpstr>
      <vt:lpstr>Deciding which Classes to Use</vt:lpstr>
      <vt:lpstr>Deciding which Classes to Use</vt:lpstr>
      <vt:lpstr>Application Classes and Solution Classes</vt:lpstr>
      <vt:lpstr>Noun Identification: a Library Example</vt:lpstr>
      <vt:lpstr>Noun Identification: a Library Example</vt:lpstr>
      <vt:lpstr>Candidate Classes</vt:lpstr>
      <vt:lpstr>Relations between Classes</vt:lpstr>
      <vt:lpstr>Methods</vt:lpstr>
      <vt:lpstr>A Possible Class Diagram</vt:lpstr>
      <vt:lpstr>From Candidate Classes to Completed Design</vt:lpstr>
      <vt:lpstr>Modeling Dynamic Aspects of Systems</vt:lpstr>
      <vt:lpstr>Synchronous Message</vt:lpstr>
      <vt:lpstr>Return Message</vt:lpstr>
      <vt:lpstr>Constructor Message</vt:lpstr>
      <vt:lpstr>Destructor Message</vt:lpstr>
      <vt:lpstr>Non instantaneous Message</vt:lpstr>
      <vt:lpstr>Sequence Diagram</vt:lpstr>
      <vt:lpstr>PowerPoint 演示文稿</vt:lpstr>
      <vt:lpstr>Integrated Development Environments</vt:lpstr>
      <vt:lpstr>PowerPoint 演示文稿</vt:lpstr>
      <vt:lpstr>Integrated Development Environment</vt:lpstr>
      <vt:lpstr>Program Design: Integrated Development Environment</vt:lpstr>
      <vt:lpstr>The Design — Code — Redesign Loop</vt:lpstr>
      <vt:lpstr>Class Hierarchies</vt:lpstr>
      <vt:lpstr>Class Hierarchies: Programming Languages</vt:lpstr>
      <vt:lpstr>Advanced Development Environments</vt:lpstr>
      <vt:lpstr>PowerPoint 演示文稿</vt:lpstr>
      <vt:lpstr>Advanced Development Environments</vt:lpstr>
      <vt:lpstr>Using Development Frameworks</vt:lpstr>
      <vt:lpstr>Production Programming</vt:lpstr>
      <vt:lpstr>Production Programming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731</cp:revision>
  <dcterms:created xsi:type="dcterms:W3CDTF">2025-04-19T00:31:00Z</dcterms:created>
  <dcterms:modified xsi:type="dcterms:W3CDTF">2025-04-19T00:31:00Z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514FB8F0A528E3687C11016892FC3FBB_42</vt:lpwstr>
  </property>
  <property fmtid="{D5CDD505-2E9C-101B-9397-08002B2CF9AE}" pid="3" name="KSOProductBuildVer">
    <vt:lpwstr>1033-7.2.2.8955</vt:lpwstr>
  </property>
</Properties>
</file>