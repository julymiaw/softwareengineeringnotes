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82" r:id="rId3"/>
    <p:sldId id="799" r:id="rId5"/>
    <p:sldId id="868" r:id="rId6"/>
    <p:sldId id="869" r:id="rId7"/>
    <p:sldId id="757" r:id="rId8"/>
    <p:sldId id="758" r:id="rId9"/>
    <p:sldId id="760" r:id="rId10"/>
    <p:sldId id="761" r:id="rId11"/>
    <p:sldId id="762" r:id="rId12"/>
    <p:sldId id="763" r:id="rId13"/>
    <p:sldId id="764" r:id="rId14"/>
    <p:sldId id="765" r:id="rId15"/>
    <p:sldId id="766" r:id="rId16"/>
    <p:sldId id="767" r:id="rId17"/>
    <p:sldId id="768" r:id="rId18"/>
    <p:sldId id="769" r:id="rId19"/>
    <p:sldId id="770" r:id="rId20"/>
    <p:sldId id="771" r:id="rId21"/>
    <p:sldId id="772" r:id="rId22"/>
    <p:sldId id="773" r:id="rId23"/>
    <p:sldId id="774" r:id="rId24"/>
    <p:sldId id="775" r:id="rId25"/>
    <p:sldId id="776" r:id="rId26"/>
    <p:sldId id="777" r:id="rId27"/>
    <p:sldId id="778" r:id="rId28"/>
    <p:sldId id="779" r:id="rId29"/>
    <p:sldId id="780" r:id="rId30"/>
    <p:sldId id="781" r:id="rId31"/>
    <p:sldId id="782" r:id="rId32"/>
    <p:sldId id="783" r:id="rId33"/>
    <p:sldId id="618" r:id="rId34"/>
    <p:sldId id="620" r:id="rId35"/>
    <p:sldId id="622" r:id="rId36"/>
    <p:sldId id="624" r:id="rId37"/>
    <p:sldId id="625" r:id="rId38"/>
    <p:sldId id="626" r:id="rId39"/>
    <p:sldId id="629" r:id="rId40"/>
    <p:sldId id="630" r:id="rId41"/>
    <p:sldId id="631" r:id="rId42"/>
    <p:sldId id="634" r:id="rId43"/>
    <p:sldId id="638" r:id="rId44"/>
    <p:sldId id="642" r:id="rId45"/>
    <p:sldId id="652" r:id="rId46"/>
    <p:sldId id="734" r:id="rId47"/>
    <p:sldId id="801" r:id="rId48"/>
    <p:sldId id="675" r:id="rId49"/>
    <p:sldId id="789" r:id="rId50"/>
    <p:sldId id="736" r:id="rId51"/>
    <p:sldId id="790" r:id="rId52"/>
    <p:sldId id="791" r:id="rId53"/>
    <p:sldId id="739" r:id="rId54"/>
    <p:sldId id="804" r:id="rId55"/>
    <p:sldId id="805" r:id="rId56"/>
    <p:sldId id="806" r:id="rId57"/>
    <p:sldId id="807" r:id="rId58"/>
    <p:sldId id="808" r:id="rId59"/>
    <p:sldId id="809" r:id="rId60"/>
    <p:sldId id="810" r:id="rId61"/>
    <p:sldId id="811" r:id="rId62"/>
    <p:sldId id="812" r:id="rId63"/>
    <p:sldId id="813" r:id="rId64"/>
    <p:sldId id="814" r:id="rId65"/>
    <p:sldId id="815" r:id="rId66"/>
    <p:sldId id="816" r:id="rId67"/>
    <p:sldId id="817" r:id="rId68"/>
    <p:sldId id="818" r:id="rId69"/>
    <p:sldId id="819" r:id="rId70"/>
    <p:sldId id="820" r:id="rId71"/>
    <p:sldId id="821" r:id="rId72"/>
    <p:sldId id="822" r:id="rId73"/>
    <p:sldId id="823" r:id="rId74"/>
    <p:sldId id="824" r:id="rId75"/>
    <p:sldId id="825" r:id="rId76"/>
    <p:sldId id="826" r:id="rId77"/>
    <p:sldId id="827" r:id="rId78"/>
    <p:sldId id="828" r:id="rId79"/>
    <p:sldId id="829" r:id="rId80"/>
    <p:sldId id="830" r:id="rId81"/>
    <p:sldId id="831" r:id="rId82"/>
    <p:sldId id="832" r:id="rId83"/>
    <p:sldId id="833" r:id="rId84"/>
    <p:sldId id="834" r:id="rId85"/>
    <p:sldId id="835" r:id="rId86"/>
    <p:sldId id="836" r:id="rId87"/>
    <p:sldId id="837" r:id="rId88"/>
    <p:sldId id="838" r:id="rId89"/>
    <p:sldId id="839" r:id="rId90"/>
    <p:sldId id="840" r:id="rId91"/>
    <p:sldId id="841" r:id="rId92"/>
    <p:sldId id="844" r:id="rId93"/>
    <p:sldId id="845" r:id="rId94"/>
    <p:sldId id="846" r:id="rId95"/>
    <p:sldId id="847" r:id="rId96"/>
    <p:sldId id="848" r:id="rId97"/>
    <p:sldId id="849" r:id="rId98"/>
    <p:sldId id="850" r:id="rId99"/>
    <p:sldId id="851" r:id="rId100"/>
    <p:sldId id="852" r:id="rId101"/>
    <p:sldId id="853" r:id="rId102"/>
    <p:sldId id="854" r:id="rId103"/>
    <p:sldId id="855" r:id="rId104"/>
    <p:sldId id="856" r:id="rId105"/>
    <p:sldId id="857" r:id="rId106"/>
    <p:sldId id="858" r:id="rId107"/>
    <p:sldId id="859" r:id="rId108"/>
    <p:sldId id="860" r:id="rId109"/>
    <p:sldId id="861" r:id="rId110"/>
    <p:sldId id="862" r:id="rId111"/>
    <p:sldId id="863" r:id="rId112"/>
    <p:sldId id="864" r:id="rId113"/>
    <p:sldId id="865" r:id="rId114"/>
    <p:sldId id="866" r:id="rId115"/>
    <p:sldId id="867" r:id="rId1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77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76" autoAdjust="0"/>
    <p:restoredTop sz="86432"/>
  </p:normalViewPr>
  <p:slideViewPr>
    <p:cSldViewPr snapToGrid="0">
      <p:cViewPr varScale="1">
        <p:scale>
          <a:sx n="174" d="100"/>
          <a:sy n="174" d="100"/>
        </p:scale>
        <p:origin x="5104" y="35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9" Type="http://schemas.openxmlformats.org/officeDocument/2006/relationships/tableStyles" Target="tableStyles.xml"/><Relationship Id="rId118" Type="http://schemas.openxmlformats.org/officeDocument/2006/relationships/viewProps" Target="viewProps.xml"/><Relationship Id="rId117" Type="http://schemas.openxmlformats.org/officeDocument/2006/relationships/presProps" Target="presProps.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B7413-AF54-469D-ABFD-75D5619B000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A31E6-CBE9-40EA-A2F4-8D17CCD5DD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9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9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9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90204" pitchFamily="34" charset="0"/>
              <a:buChar char="•"/>
            </a:pPr>
            <a:r>
              <a:rPr lang="zh-CN" altLang="en-US" dirty="0"/>
              <a:t>最后，祝汇报顺利，马到成功！</a:t>
            </a:r>
            <a:endParaRPr lang="en-US" altLang="zh-CN" dirty="0"/>
          </a:p>
          <a:p>
            <a:pPr marL="285750" indent="-285750">
              <a:lnSpc>
                <a:spcPct val="150000"/>
              </a:lnSpc>
              <a:buFont typeface="Arial" panose="020B060402020209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1" lang="en-US" altLang="zh-CN" dirty="0">
                <a:latin typeface="+mn-ea"/>
                <a:cs typeface="Arial" panose="020B0604020202090204" pitchFamily="34" charset="0"/>
              </a:rPr>
              <a:t>Version:</a:t>
            </a:r>
            <a:r>
              <a:rPr kumimoji="1" lang="zh-CN" altLang="en-US" dirty="0">
                <a:latin typeface="+mn-ea"/>
                <a:cs typeface="Arial" panose="020B0604020202090204" pitchFamily="34" charset="0"/>
              </a:rPr>
              <a:t> </a:t>
            </a:r>
            <a:r>
              <a:rPr kumimoji="1" lang="en-US" altLang="zh-CN" dirty="0">
                <a:latin typeface="+mn-ea"/>
                <a:cs typeface="Arial" panose="020B0604020202090204" pitchFamily="34" charset="0"/>
              </a:rPr>
              <a:t>(2021) v1.5-en.</a:t>
            </a:r>
            <a:endParaRPr kumimoji="1" lang="zh-CN" altLang="en-US" dirty="0">
              <a:latin typeface="+mn-ea"/>
              <a:cs typeface="Arial" panose="020B060402020209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90204" pitchFamily="34" charset="0"/>
                <a:sym typeface="+mn-lt"/>
              </a:rPr>
              <a:t>Contents</a:t>
            </a:r>
            <a:endParaRPr lang="zh-CN" altLang="en-US" sz="4400" b="1" i="0" dirty="0">
              <a:solidFill>
                <a:schemeClr val="bg1"/>
              </a:solidFill>
              <a:latin typeface="Helvetica" pitchFamily="2" charset="0"/>
              <a:cs typeface="Arial" panose="020B0604020202090204" pitchFamily="34" charset="0"/>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90204" pitchFamily="34" charset="0"/>
              </a:rPr>
              <a:t>Part 01</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02</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03</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04</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05</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06</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90204" pitchFamily="34" charset="0"/>
              </a:rPr>
              <a:t>Contents</a:t>
            </a:r>
            <a:endParaRPr lang="zh-CN" altLang="en-US" sz="4000" b="1" i="0" dirty="0">
              <a:solidFill>
                <a:schemeClr val="bg1"/>
              </a:solidFill>
              <a:latin typeface="Helvetica" pitchFamily="2" charset="0"/>
              <a:ea typeface="+mj-ea"/>
              <a:cs typeface="Arial" panose="020B0604020202090204" pitchFamily="34" charset="0"/>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9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dirty="0"/>
          </a:p>
        </p:txBody>
      </p:sp>
      <p:sp>
        <p:nvSpPr>
          <p:cNvPr id="15" name="灯片编号占位符 14"/>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fld>
            <a:endParaRPr lang="zh-CN" altLang="en-US" dirty="0"/>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9.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1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image" Target="../media/image13.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1.xml"/><Relationship Id="rId2" Type="http://schemas.openxmlformats.org/officeDocument/2006/relationships/image" Target="../media/image15.png"/><Relationship Id="rId1"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6.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0.png"/><Relationship Id="rId1" Type="http://schemas.openxmlformats.org/officeDocument/2006/relationships/image" Target="../media/image19.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2.png"/><Relationship Id="rId1" Type="http://schemas.openxmlformats.org/officeDocument/2006/relationships/image" Target="../media/image21.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4.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5.png"/><Relationship Id="rId1" Type="http://schemas.openxmlformats.org/officeDocument/2006/relationships/image" Target="../media/image1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1.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1.xml"/><Relationship Id="rId2" Type="http://schemas.openxmlformats.org/officeDocument/2006/relationships/image" Target="../media/image30.png"/><Relationship Id="rId1" Type="http://schemas.openxmlformats.org/officeDocument/2006/relationships/image" Target="../media/image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1.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5.png"/><Relationship Id="rId1" Type="http://schemas.openxmlformats.org/officeDocument/2006/relationships/image" Target="../media/image3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3791712" y="1239205"/>
            <a:ext cx="8191129"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r">
              <a:lnSpc>
                <a:spcPct val="100000"/>
              </a:lnSpc>
              <a:buNone/>
            </a:pPr>
            <a:r>
              <a:rPr lang="en-US" sz="4000" b="1" dirty="0">
                <a:solidFill>
                  <a:schemeClr val="accent1"/>
                </a:solidFill>
                <a:latin typeface="Helvetica" pitchFamily="2" charset="0"/>
                <a:cs typeface="Arial" panose="020B0604020202090204" pitchFamily="34" charset="0"/>
              </a:rPr>
              <a:t>B09S0061</a:t>
            </a:r>
            <a:r>
              <a:rPr lang="en-US" sz="4000" b="1" dirty="0">
                <a:solidFill>
                  <a:schemeClr val="accent1"/>
                </a:solidFill>
                <a:latin typeface="Helvetica" pitchFamily="2" charset="0"/>
                <a:cs typeface="Arial" panose="020B0604020202090204" pitchFamily="34" charset="0"/>
              </a:rPr>
              <a:t> </a:t>
            </a:r>
            <a:r>
              <a:rPr lang="en-US" altLang="zh-CN" sz="4000" b="1" dirty="0">
                <a:solidFill>
                  <a:schemeClr val="accent1"/>
                </a:solidFill>
                <a:latin typeface="Helvetica" pitchFamily="2" charset="0"/>
                <a:cs typeface="Arial" panose="020B0604020202090204" pitchFamily="34" charset="0"/>
                <a:sym typeface="+mn-lt"/>
              </a:rPr>
              <a:t>Software Engineering</a:t>
            </a:r>
            <a:endParaRPr lang="en-US" altLang="zh-CN" sz="4000" b="1" dirty="0">
              <a:solidFill>
                <a:schemeClr val="accent1"/>
              </a:solidFill>
              <a:latin typeface="Helvetica" pitchFamily="2" charset="0"/>
              <a:cs typeface="Arial" panose="020B0604020202090204" pitchFamily="34" charset="0"/>
              <a:sym typeface="+mn-lt"/>
            </a:endParaRPr>
          </a:p>
          <a:p>
            <a:pPr marL="0" indent="0" algn="r">
              <a:lnSpc>
                <a:spcPct val="100000"/>
              </a:lnSpc>
              <a:buNone/>
            </a:pPr>
            <a:r>
              <a:rPr lang="en-US" altLang="zh-CN" sz="4000" b="1" dirty="0">
                <a:solidFill>
                  <a:schemeClr val="accent1"/>
                </a:solidFill>
                <a:latin typeface="Helvetica" pitchFamily="2" charset="0"/>
                <a:cs typeface="Arial" panose="020B0604020202090204" pitchFamily="34" charset="0"/>
                <a:sym typeface="+mn-lt"/>
              </a:rPr>
              <a:t>Lecture 10</a:t>
            </a:r>
            <a:endParaRPr lang="zh-CN" altLang="en-US" sz="4000" b="1" dirty="0">
              <a:solidFill>
                <a:schemeClr val="accent1"/>
              </a:solidFill>
              <a:latin typeface="Helvetica" pitchFamily="2" charset="0"/>
              <a:cs typeface="Arial" panose="020B0604020202090204" pitchFamily="34" charset="0"/>
              <a:sym typeface="+mn-lt"/>
            </a:endParaRPr>
          </a:p>
        </p:txBody>
      </p:sp>
      <p:sp>
        <p:nvSpPr>
          <p:cNvPr id="64" name="矩形 63"/>
          <p:cNvSpPr/>
          <p:nvPr/>
        </p:nvSpPr>
        <p:spPr>
          <a:xfrm>
            <a:off x="8750859" y="4819809"/>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2025/05/09</a:t>
            </a:r>
            <a:endParaRPr lang="zh-CN" altLang="en-US" sz="2800" dirty="0">
              <a:solidFill>
                <a:schemeClr val="accent1"/>
              </a:solidFill>
              <a:latin typeface="Helvetica" pitchFamily="2" charset="0"/>
              <a:cs typeface="Arial" panose="020B0604020202090204" pitchFamily="34" charset="0"/>
              <a:sym typeface="+mn-lt"/>
            </a:endParaRPr>
          </a:p>
        </p:txBody>
      </p:sp>
      <p:sp>
        <p:nvSpPr>
          <p:cNvPr id="67" name="矩形 66"/>
          <p:cNvSpPr/>
          <p:nvPr/>
        </p:nvSpPr>
        <p:spPr>
          <a:xfrm>
            <a:off x="5002654" y="4381010"/>
            <a:ext cx="6751272" cy="611514"/>
          </a:xfrm>
          <a:prstGeom prst="rect">
            <a:avLst/>
          </a:prstGeom>
        </p:spPr>
        <p:txBody>
          <a:bodyPr wrap="square">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Instructor: Liu, </a:t>
            </a:r>
            <a:r>
              <a:rPr lang="en-US" altLang="zh-CN" sz="2800" dirty="0" err="1">
                <a:solidFill>
                  <a:schemeClr val="accent1"/>
                </a:solidFill>
                <a:latin typeface="Helvetica" pitchFamily="2" charset="0"/>
                <a:cs typeface="Arial" panose="020B0604020202090204" pitchFamily="34" charset="0"/>
                <a:sym typeface="+mn-lt"/>
              </a:rPr>
              <a:t>Guangchi</a:t>
            </a:r>
            <a:r>
              <a:rPr lang="en-US" altLang="zh-CN" sz="2800" dirty="0">
                <a:solidFill>
                  <a:schemeClr val="accent1"/>
                </a:solidFill>
                <a:latin typeface="Helvetica" pitchFamily="2" charset="0"/>
                <a:cs typeface="Arial" panose="020B0604020202090204" pitchFamily="34" charset="0"/>
                <a:sym typeface="+mn-lt"/>
              </a:rPr>
              <a:t> Ph.D.</a:t>
            </a:r>
            <a:endParaRPr lang="en-US" altLang="zh-CN" sz="2800" dirty="0">
              <a:solidFill>
                <a:schemeClr val="accent1"/>
              </a:solidFill>
              <a:latin typeface="Helvetica" pitchFamily="2" charset="0"/>
              <a:cs typeface="Arial" panose="020B0604020202090204" pitchFamily="34" charset="0"/>
              <a:sym typeface="+mn-lt"/>
            </a:endParaRPr>
          </a:p>
        </p:txBody>
      </p:sp>
      <p:cxnSp>
        <p:nvCxnSpPr>
          <p:cNvPr id="3" name="直接连接符 2"/>
          <p:cNvCxnSpPr/>
          <p:nvPr/>
        </p:nvCxnSpPr>
        <p:spPr>
          <a:xfrm>
            <a:off x="11842946" y="4575127"/>
            <a:ext cx="0" cy="752777"/>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98690" y="1444626"/>
            <a:ext cx="10946524" cy="39878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3</a:t>
            </a:r>
            <a:r>
              <a:rPr lang="en-US" altLang="zh-CN" sz="2000" b="1" baseline="30000" dirty="0">
                <a:solidFill>
                  <a:srgbClr val="515223"/>
                </a:solidFill>
                <a:latin typeface="Helvetica" pitchFamily="2" charset="0"/>
                <a:cs typeface="Arial" panose="020B0604020202090204" pitchFamily="34" charset="0"/>
              </a:rPr>
              <a:t>rd</a:t>
            </a:r>
            <a:r>
              <a:rPr lang="en-US" altLang="zh-CN" sz="2000" b="1" dirty="0">
                <a:solidFill>
                  <a:srgbClr val="515223"/>
                </a:solidFill>
                <a:latin typeface="Helvetica" pitchFamily="2" charset="0"/>
                <a:cs typeface="Arial" panose="020B0604020202090204" pitchFamily="34" charset="0"/>
              </a:rPr>
              <a:t> Assignment has ben uploaded to </a:t>
            </a:r>
            <a:r>
              <a:rPr lang="zh-CN" altLang="en-US" sz="2000" b="1" dirty="0">
                <a:solidFill>
                  <a:srgbClr val="515223"/>
                </a:solidFill>
                <a:latin typeface="Helvetica" pitchFamily="2" charset="0"/>
                <a:cs typeface="Arial" panose="020B0604020202090204" pitchFamily="34" charset="0"/>
              </a:rPr>
              <a:t>微助教， </a:t>
            </a:r>
            <a:r>
              <a:rPr lang="en-US" altLang="zh-CN" sz="2000" b="1" u="sng" dirty="0">
                <a:solidFill>
                  <a:srgbClr val="C00000"/>
                </a:solidFill>
                <a:latin typeface="Helvetica" pitchFamily="2" charset="0"/>
                <a:cs typeface="Arial" panose="020B0604020202090204" pitchFamily="34" charset="0"/>
              </a:rPr>
              <a:t>Due on Next Monday </a:t>
            </a:r>
            <a:r>
              <a:rPr lang="zh-CN" altLang="en-US" sz="2000" b="1" u="sng" dirty="0">
                <a:solidFill>
                  <a:srgbClr val="C00000"/>
                </a:solidFill>
                <a:latin typeface="Helvetica" pitchFamily="2" charset="0"/>
                <a:cs typeface="Arial" panose="020B0604020202090204" pitchFamily="34" charset="0"/>
              </a:rPr>
              <a:t>（</a:t>
            </a:r>
            <a:r>
              <a:rPr lang="en-US" altLang="zh-CN" sz="2000" b="1" u="sng" dirty="0">
                <a:solidFill>
                  <a:srgbClr val="C00000"/>
                </a:solidFill>
                <a:latin typeface="Helvetica" pitchFamily="2" charset="0"/>
                <a:cs typeface="Arial" panose="020B0604020202090204" pitchFamily="34" charset="0"/>
              </a:rPr>
              <a:t>May 12</a:t>
            </a:r>
            <a:r>
              <a:rPr lang="en-US" altLang="zh-CN" sz="2000" b="1" u="sng" baseline="30000" dirty="0">
                <a:solidFill>
                  <a:srgbClr val="C00000"/>
                </a:solidFill>
                <a:latin typeface="Helvetica" pitchFamily="2" charset="0"/>
                <a:cs typeface="Arial" panose="020B0604020202090204" pitchFamily="34" charset="0"/>
              </a:rPr>
              <a:t>th</a:t>
            </a:r>
            <a:r>
              <a:rPr lang="zh-CN" altLang="en-US" sz="2000" b="1" u="sng" dirty="0">
                <a:solidFill>
                  <a:srgbClr val="C00000"/>
                </a:solidFill>
                <a:latin typeface="Helvetica" pitchFamily="2" charset="0"/>
                <a:cs typeface="Arial" panose="020B0604020202090204" pitchFamily="34" charset="0"/>
              </a:rPr>
              <a:t>），</a:t>
            </a:r>
            <a:r>
              <a:rPr lang="en-US" altLang="zh-CN" sz="2000" b="1" u="sng" dirty="0">
                <a:solidFill>
                  <a:srgbClr val="C00000"/>
                </a:solidFill>
                <a:latin typeface="Helvetica" pitchFamily="2" charset="0"/>
                <a:cs typeface="Arial" panose="020B0604020202090204" pitchFamily="34" charset="0"/>
              </a:rPr>
              <a:t> 23:55 pm</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8" y="1128862"/>
            <a:ext cx="10946524" cy="39878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3</a:t>
            </a:r>
            <a:r>
              <a:rPr lang="en-US" altLang="zh-CN" sz="2000" b="1" baseline="30000" dirty="0">
                <a:solidFill>
                  <a:srgbClr val="515223"/>
                </a:solidFill>
                <a:latin typeface="Helvetica" pitchFamily="2" charset="0"/>
                <a:cs typeface="Arial" panose="020B0604020202090204" pitchFamily="34" charset="0"/>
              </a:rPr>
              <a:t>rd</a:t>
            </a:r>
            <a:r>
              <a:rPr lang="en-US" altLang="zh-CN" sz="2000" b="1" dirty="0">
                <a:solidFill>
                  <a:srgbClr val="515223"/>
                </a:solidFill>
                <a:latin typeface="Helvetica" pitchFamily="2" charset="0"/>
                <a:cs typeface="Arial" panose="020B0604020202090204" pitchFamily="34" charset="0"/>
              </a:rPr>
              <a:t> Lab: </a:t>
            </a:r>
            <a:r>
              <a:rPr lang="en-US" altLang="zh-CN" sz="2000" b="1" dirty="0">
                <a:solidFill>
                  <a:srgbClr val="C00000"/>
                </a:solidFill>
                <a:latin typeface="Helvetica" pitchFamily="2" charset="0"/>
                <a:cs typeface="Arial" panose="020B0604020202090204" pitchFamily="34" charset="0"/>
              </a:rPr>
              <a:t>May 17</a:t>
            </a:r>
            <a:r>
              <a:rPr lang="en-US" altLang="zh-CN" sz="2000" b="1" baseline="30000" dirty="0">
                <a:solidFill>
                  <a:srgbClr val="C00000"/>
                </a:solidFill>
                <a:latin typeface="Helvetica" pitchFamily="2" charset="0"/>
                <a:cs typeface="Arial" panose="020B0604020202090204" pitchFamily="34" charset="0"/>
              </a:rPr>
              <a:t>th </a:t>
            </a:r>
            <a:r>
              <a:rPr lang="en-US" altLang="zh-CN" sz="2000" b="1" dirty="0">
                <a:solidFill>
                  <a:srgbClr val="C00000"/>
                </a:solidFill>
                <a:latin typeface="Helvetica" pitchFamily="2" charset="0"/>
                <a:cs typeface="Arial" panose="020B0604020202090204" pitchFamily="34" charset="0"/>
              </a:rPr>
              <a:t>(S</a:t>
            </a:r>
            <a:r>
              <a:rPr lang="en-US" altLang="zh-CN" sz="2000" b="1" dirty="0">
                <a:solidFill>
                  <a:srgbClr val="C00000"/>
                </a:solidFill>
                <a:latin typeface="Helvetica" pitchFamily="2" charset="0"/>
                <a:cs typeface="Arial" panose="020B0604020202090204" pitchFamily="34" charset="0"/>
              </a:rPr>
              <a:t>aturday), 14:00 – 17:25,  J6-102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622738" y="1261527"/>
            <a:ext cx="10946524" cy="70788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Prepare the following questions (10 pts for each question )</a:t>
            </a:r>
            <a:endParaRPr lang="en-US" altLang="zh-CN" sz="2000" b="1" dirty="0">
              <a:solidFill>
                <a:srgbClr val="515223"/>
              </a:solidFill>
              <a:latin typeface="Helvetica" pitchFamily="2" charset="0"/>
              <a:cs typeface="Arial" panose="020B0604020202090204" pitchFamily="34" charset="0"/>
            </a:endParaRPr>
          </a:p>
          <a:p>
            <a:endParaRPr lang="en-US" sz="2000" dirty="0"/>
          </a:p>
        </p:txBody>
      </p:sp>
      <p:sp>
        <p:nvSpPr>
          <p:cNvPr id="7" name="TextBox 6"/>
          <p:cNvSpPr txBox="1"/>
          <p:nvPr/>
        </p:nvSpPr>
        <p:spPr>
          <a:xfrm>
            <a:off x="622738" y="1758176"/>
            <a:ext cx="11271040" cy="338554"/>
          </a:xfrm>
          <a:prstGeom prst="rect">
            <a:avLst/>
          </a:prstGeom>
          <a:noFill/>
        </p:spPr>
        <p:txBody>
          <a:bodyPr wrap="square">
            <a:spAutoFit/>
          </a:bodyPr>
          <a:lstStyle/>
          <a:p>
            <a:r>
              <a:rPr lang="en-US" sz="1600" dirty="0">
                <a:solidFill>
                  <a:srgbClr val="C00000"/>
                </a:solidFill>
              </a:rPr>
              <a:t>Q1 </a:t>
            </a:r>
            <a:r>
              <a:rPr lang="en-US" sz="1600" dirty="0"/>
              <a:t>Which IDE is used in your project ?</a:t>
            </a:r>
            <a:endParaRPr lang="en-US" sz="1600" dirty="0"/>
          </a:p>
        </p:txBody>
      </p:sp>
      <p:sp>
        <p:nvSpPr>
          <p:cNvPr id="8" name="TextBox 7"/>
          <p:cNvSpPr txBox="1"/>
          <p:nvPr/>
        </p:nvSpPr>
        <p:spPr>
          <a:xfrm>
            <a:off x="622738" y="2469568"/>
            <a:ext cx="11271040" cy="338554"/>
          </a:xfrm>
          <a:prstGeom prst="rect">
            <a:avLst/>
          </a:prstGeom>
          <a:noFill/>
        </p:spPr>
        <p:txBody>
          <a:bodyPr wrap="square">
            <a:spAutoFit/>
          </a:bodyPr>
          <a:lstStyle/>
          <a:p>
            <a:r>
              <a:rPr lang="en-US" sz="1600" dirty="0">
                <a:solidFill>
                  <a:srgbClr val="C00000"/>
                </a:solidFill>
              </a:rPr>
              <a:t>Q3</a:t>
            </a:r>
            <a:r>
              <a:rPr lang="en-US" sz="1600" dirty="0"/>
              <a:t> Did you use any existing packages or components in your project? </a:t>
            </a:r>
            <a:endParaRPr lang="en-US" sz="1600" dirty="0"/>
          </a:p>
        </p:txBody>
      </p:sp>
      <p:sp>
        <p:nvSpPr>
          <p:cNvPr id="9" name="TextBox 8"/>
          <p:cNvSpPr txBox="1"/>
          <p:nvPr/>
        </p:nvSpPr>
        <p:spPr>
          <a:xfrm>
            <a:off x="622738" y="2113872"/>
            <a:ext cx="11271040" cy="338554"/>
          </a:xfrm>
          <a:prstGeom prst="rect">
            <a:avLst/>
          </a:prstGeom>
          <a:noFill/>
        </p:spPr>
        <p:txBody>
          <a:bodyPr wrap="square">
            <a:spAutoFit/>
          </a:bodyPr>
          <a:lstStyle/>
          <a:p>
            <a:r>
              <a:rPr lang="en-US" sz="1600" dirty="0">
                <a:solidFill>
                  <a:srgbClr val="C00000"/>
                </a:solidFill>
              </a:rPr>
              <a:t>Q2</a:t>
            </a:r>
            <a:r>
              <a:rPr lang="en-US" sz="1600" dirty="0"/>
              <a:t> Any advanced IDE used in your project?</a:t>
            </a:r>
            <a:endParaRPr lang="en-US" sz="1600" dirty="0"/>
          </a:p>
        </p:txBody>
      </p:sp>
      <p:sp>
        <p:nvSpPr>
          <p:cNvPr id="10" name="TextBox 9"/>
          <p:cNvSpPr txBox="1"/>
          <p:nvPr/>
        </p:nvSpPr>
        <p:spPr>
          <a:xfrm>
            <a:off x="622738" y="3170858"/>
            <a:ext cx="11271040" cy="338554"/>
          </a:xfrm>
          <a:prstGeom prst="rect">
            <a:avLst/>
          </a:prstGeom>
          <a:noFill/>
        </p:spPr>
        <p:txBody>
          <a:bodyPr wrap="square">
            <a:spAutoFit/>
          </a:bodyPr>
          <a:lstStyle/>
          <a:p>
            <a:r>
              <a:rPr lang="en-US" sz="1600" dirty="0">
                <a:solidFill>
                  <a:srgbClr val="C00000"/>
                </a:solidFill>
              </a:rPr>
              <a:t>Q5</a:t>
            </a:r>
            <a:r>
              <a:rPr lang="en-US" sz="1600" dirty="0"/>
              <a:t> What is the class diagram of your project like?</a:t>
            </a:r>
            <a:endParaRPr lang="en-US" sz="1600" dirty="0"/>
          </a:p>
        </p:txBody>
      </p:sp>
      <p:sp>
        <p:nvSpPr>
          <p:cNvPr id="11" name="TextBox 10"/>
          <p:cNvSpPr txBox="1"/>
          <p:nvPr/>
        </p:nvSpPr>
        <p:spPr>
          <a:xfrm>
            <a:off x="622738" y="3517617"/>
            <a:ext cx="11271040" cy="338554"/>
          </a:xfrm>
          <a:prstGeom prst="rect">
            <a:avLst/>
          </a:prstGeom>
          <a:noFill/>
        </p:spPr>
        <p:txBody>
          <a:bodyPr wrap="square">
            <a:spAutoFit/>
          </a:bodyPr>
          <a:lstStyle/>
          <a:p>
            <a:r>
              <a:rPr lang="en-US" sz="1600" dirty="0">
                <a:solidFill>
                  <a:srgbClr val="C00000"/>
                </a:solidFill>
              </a:rPr>
              <a:t>Q6</a:t>
            </a:r>
            <a:r>
              <a:rPr lang="en-US" sz="1600" dirty="0"/>
              <a:t> What is the object diagram of your project like?</a:t>
            </a:r>
            <a:endParaRPr lang="en-US" sz="1600" dirty="0"/>
          </a:p>
        </p:txBody>
      </p:sp>
      <p:sp>
        <p:nvSpPr>
          <p:cNvPr id="12" name="TextBox 11"/>
          <p:cNvSpPr txBox="1"/>
          <p:nvPr/>
        </p:nvSpPr>
        <p:spPr>
          <a:xfrm>
            <a:off x="622738" y="3853163"/>
            <a:ext cx="11271040" cy="338554"/>
          </a:xfrm>
          <a:prstGeom prst="rect">
            <a:avLst/>
          </a:prstGeom>
          <a:noFill/>
        </p:spPr>
        <p:txBody>
          <a:bodyPr wrap="square">
            <a:spAutoFit/>
          </a:bodyPr>
          <a:lstStyle/>
          <a:p>
            <a:r>
              <a:rPr lang="en-US" sz="1600" dirty="0">
                <a:solidFill>
                  <a:srgbClr val="C00000"/>
                </a:solidFill>
              </a:rPr>
              <a:t>Q7</a:t>
            </a:r>
            <a:r>
              <a:rPr lang="en-US" sz="1600" dirty="0"/>
              <a:t> What is the sequence diagram of your project like?</a:t>
            </a:r>
            <a:endParaRPr lang="en-US" sz="1600" dirty="0"/>
          </a:p>
        </p:txBody>
      </p:sp>
      <p:sp>
        <p:nvSpPr>
          <p:cNvPr id="13" name="TextBox 12"/>
          <p:cNvSpPr txBox="1"/>
          <p:nvPr/>
        </p:nvSpPr>
        <p:spPr>
          <a:xfrm>
            <a:off x="622738" y="2831273"/>
            <a:ext cx="11271040" cy="338554"/>
          </a:xfrm>
          <a:prstGeom prst="rect">
            <a:avLst/>
          </a:prstGeom>
          <a:noFill/>
        </p:spPr>
        <p:txBody>
          <a:bodyPr wrap="square">
            <a:spAutoFit/>
          </a:bodyPr>
          <a:lstStyle/>
          <a:p>
            <a:r>
              <a:rPr lang="en-US" sz="1600" dirty="0">
                <a:solidFill>
                  <a:srgbClr val="C00000"/>
                </a:solidFill>
              </a:rPr>
              <a:t>Q4</a:t>
            </a:r>
            <a:r>
              <a:rPr lang="en-US" sz="1600" dirty="0"/>
              <a:t> What is the benefit of using these framework or components?</a:t>
            </a:r>
            <a:endParaRPr lang="en-US" sz="1600" dirty="0"/>
          </a:p>
        </p:txBody>
      </p:sp>
      <p:sp>
        <p:nvSpPr>
          <p:cNvPr id="14" name="TextBox 13"/>
          <p:cNvSpPr txBox="1"/>
          <p:nvPr/>
        </p:nvSpPr>
        <p:spPr>
          <a:xfrm>
            <a:off x="622738" y="4195347"/>
            <a:ext cx="11271040" cy="338554"/>
          </a:xfrm>
          <a:prstGeom prst="rect">
            <a:avLst/>
          </a:prstGeom>
          <a:noFill/>
        </p:spPr>
        <p:txBody>
          <a:bodyPr wrap="square">
            <a:spAutoFit/>
          </a:bodyPr>
          <a:lstStyle/>
          <a:p>
            <a:r>
              <a:rPr lang="en-US" sz="1600" dirty="0">
                <a:solidFill>
                  <a:srgbClr val="C00000"/>
                </a:solidFill>
              </a:rPr>
              <a:t>Q8</a:t>
            </a:r>
            <a:r>
              <a:rPr lang="en-US" sz="1600" dirty="0"/>
              <a:t> Any design pattern used in your project?</a:t>
            </a:r>
            <a:endParaRPr lang="en-US" sz="1600" dirty="0"/>
          </a:p>
        </p:txBody>
      </p:sp>
      <p:sp>
        <p:nvSpPr>
          <p:cNvPr id="15" name="TextBox 14"/>
          <p:cNvSpPr txBox="1"/>
          <p:nvPr/>
        </p:nvSpPr>
        <p:spPr>
          <a:xfrm>
            <a:off x="622738" y="4547917"/>
            <a:ext cx="11271040" cy="338554"/>
          </a:xfrm>
          <a:prstGeom prst="rect">
            <a:avLst/>
          </a:prstGeom>
          <a:noFill/>
        </p:spPr>
        <p:txBody>
          <a:bodyPr wrap="square">
            <a:spAutoFit/>
          </a:bodyPr>
          <a:lstStyle/>
          <a:p>
            <a:r>
              <a:rPr lang="en-US" sz="1600" dirty="0">
                <a:solidFill>
                  <a:srgbClr val="C00000"/>
                </a:solidFill>
              </a:rPr>
              <a:t>Q9</a:t>
            </a:r>
            <a:r>
              <a:rPr lang="en-US" sz="1600" dirty="0"/>
              <a:t> How will you handle changes of components or extended features in the future?</a:t>
            </a:r>
            <a:endParaRPr lang="en-US" sz="1600" dirty="0"/>
          </a:p>
        </p:txBody>
      </p:sp>
      <p:sp>
        <p:nvSpPr>
          <p:cNvPr id="16" name="TextBox 15"/>
          <p:cNvSpPr txBox="1"/>
          <p:nvPr/>
        </p:nvSpPr>
        <p:spPr>
          <a:xfrm>
            <a:off x="622738" y="4909622"/>
            <a:ext cx="11271040" cy="338554"/>
          </a:xfrm>
          <a:prstGeom prst="rect">
            <a:avLst/>
          </a:prstGeom>
          <a:noFill/>
        </p:spPr>
        <p:txBody>
          <a:bodyPr wrap="square">
            <a:spAutoFit/>
          </a:bodyPr>
          <a:lstStyle/>
          <a:p>
            <a:r>
              <a:rPr lang="en-US" sz="1600" dirty="0">
                <a:solidFill>
                  <a:srgbClr val="C00000"/>
                </a:solidFill>
              </a:rPr>
              <a:t>Q10</a:t>
            </a:r>
            <a:r>
              <a:rPr lang="en-US" sz="1600" dirty="0"/>
              <a:t> How will you handle legacy code as the project iterates?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en-US" altLang="zh-CN" sz="3700" b="1" dirty="0">
                <a:solidFill>
                  <a:schemeClr val="accent1"/>
                </a:solidFill>
                <a:latin typeface="Helvetica" pitchFamily="2" charset="0"/>
                <a:cs typeface="+mn-ea"/>
              </a:rPr>
              <a:t>Reliability</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01</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ONE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197" y="237834"/>
            <a:ext cx="9966387" cy="790865"/>
          </a:xfrm>
        </p:spPr>
        <p:txBody>
          <a:bodyPr>
            <a:normAutofit/>
          </a:bodyPr>
          <a:lstStyle/>
          <a:p>
            <a:r>
              <a:rPr lang="en-US" altLang="zh-CN" dirty="0"/>
              <a:t>Bugs, Faults, and Failures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2321041"/>
            <a:ext cx="1094652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Bug (fault): </a:t>
            </a:r>
            <a:endParaRPr lang="en-US" altLang="zh-CN" sz="2000" b="1" dirty="0">
              <a:solidFill>
                <a:srgbClr val="515223"/>
              </a:solidFill>
              <a:latin typeface="Helvetica" pitchFamily="2" charset="0"/>
              <a:cs typeface="Arial" panose="020B0604020202090204" pitchFamily="34" charset="0"/>
            </a:endParaRPr>
          </a:p>
          <a:p>
            <a:r>
              <a:rPr lang="en-US" altLang="zh-CN" sz="2000" dirty="0"/>
              <a:t>Programming or design error whereby the delivered system does not </a:t>
            </a:r>
            <a:r>
              <a:rPr lang="en-US" altLang="zh-CN" sz="2000" dirty="0">
                <a:solidFill>
                  <a:srgbClr val="FF0000"/>
                </a:solidFill>
              </a:rPr>
              <a:t>conform to specification </a:t>
            </a:r>
            <a:r>
              <a:rPr lang="en-US" altLang="zh-CN" sz="2000" dirty="0"/>
              <a:t>(e.g., coding error, protocol error)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Failure: </a:t>
            </a:r>
            <a:endParaRPr lang="en-US" altLang="zh-CN" sz="2000" b="1" dirty="0">
              <a:solidFill>
                <a:srgbClr val="515223"/>
              </a:solidFill>
              <a:latin typeface="Helvetica" pitchFamily="2" charset="0"/>
              <a:cs typeface="Arial" panose="020B0604020202090204" pitchFamily="34" charset="0"/>
            </a:endParaRPr>
          </a:p>
          <a:p>
            <a:r>
              <a:rPr lang="en-US" altLang="zh-CN" sz="2000" dirty="0"/>
              <a:t>Software does not deliver the </a:t>
            </a:r>
            <a:r>
              <a:rPr lang="en-US" altLang="zh-CN" sz="2000" dirty="0">
                <a:solidFill>
                  <a:srgbClr val="FF0000"/>
                </a:solidFill>
              </a:rPr>
              <a:t>service expected by the user </a:t>
            </a:r>
            <a:r>
              <a:rPr lang="en-US" altLang="zh-CN" sz="2000" dirty="0"/>
              <a:t>(e.g., mistake in requirements, confusing user interface) </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29985" cy="790865"/>
          </a:xfrm>
        </p:spPr>
        <p:txBody>
          <a:bodyPr>
            <a:noAutofit/>
          </a:bodyPr>
          <a:lstStyle/>
          <a:p>
            <a:r>
              <a:rPr lang="en-US" altLang="zh-CN" dirty="0"/>
              <a:t>Terminology</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756834"/>
            <a:ext cx="1094652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Fault avoidance </a:t>
            </a:r>
            <a:endParaRPr lang="en-US" altLang="zh-CN" sz="2000" b="1" dirty="0">
              <a:solidFill>
                <a:srgbClr val="515223"/>
              </a:solidFill>
              <a:latin typeface="Helvetica" pitchFamily="2" charset="0"/>
              <a:cs typeface="Arial" panose="020B0604020202090204" pitchFamily="34" charset="0"/>
            </a:endParaRPr>
          </a:p>
          <a:p>
            <a:r>
              <a:rPr lang="en-US" altLang="zh-CN" sz="2000" dirty="0"/>
              <a:t>Build systems with the objective of creating fault-free (</a:t>
            </a:r>
            <a:r>
              <a:rPr lang="en-US" altLang="zh-CN" sz="2000" dirty="0" err="1"/>
              <a:t>bugfree</a:t>
            </a:r>
            <a:r>
              <a:rPr lang="en-US" altLang="zh-CN" sz="2000" dirty="0"/>
              <a:t>) software.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Fault detection (testing and verification) </a:t>
            </a:r>
            <a:endParaRPr lang="en-US" altLang="zh-CN" sz="2000" b="1" dirty="0">
              <a:solidFill>
                <a:srgbClr val="515223"/>
              </a:solidFill>
              <a:latin typeface="Helvetica" pitchFamily="2" charset="0"/>
              <a:cs typeface="Arial" panose="020B0604020202090204" pitchFamily="34" charset="0"/>
            </a:endParaRPr>
          </a:p>
          <a:p>
            <a:r>
              <a:rPr lang="en-US" altLang="zh-CN" sz="2000" dirty="0"/>
              <a:t>Detect faults (bugs) before the system is put into operation or when discovered after release.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Fault tolerance </a:t>
            </a:r>
            <a:endParaRPr lang="en-US" altLang="zh-CN" sz="2000" b="1" dirty="0">
              <a:solidFill>
                <a:srgbClr val="515223"/>
              </a:solidFill>
              <a:latin typeface="Helvetica" pitchFamily="2" charset="0"/>
              <a:cs typeface="Arial" panose="020B0604020202090204" pitchFamily="34" charset="0"/>
            </a:endParaRPr>
          </a:p>
          <a:p>
            <a:r>
              <a:rPr lang="en-US" altLang="zh-CN" sz="2000" dirty="0"/>
              <a:t>Build systems that continue to operate when problems (bugs, overloads, bad data, etc.) occur.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83325" cy="790865"/>
          </a:xfrm>
        </p:spPr>
        <p:txBody>
          <a:bodyPr>
            <a:noAutofit/>
          </a:bodyPr>
          <a:lstStyle/>
          <a:p>
            <a:r>
              <a:rPr lang="en-US" altLang="zh-CN" dirty="0"/>
              <a:t>Failure of Requirements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622738" y="1819256"/>
            <a:ext cx="10946524" cy="40011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Year 2000 Problem</a:t>
            </a:r>
            <a:endParaRPr lang="en-US" altLang="zh-CN" sz="2000" b="1" dirty="0">
              <a:solidFill>
                <a:srgbClr val="515223"/>
              </a:solidFill>
              <a:latin typeface="Helvetica" pitchFamily="2" charset="0"/>
              <a:cs typeface="Arial" panose="020B0604020202090204" pitchFamily="34" charset="0"/>
            </a:endParaRPr>
          </a:p>
        </p:txBody>
      </p:sp>
      <p:sp>
        <p:nvSpPr>
          <p:cNvPr id="6" name="TextBox 5"/>
          <p:cNvSpPr txBox="1"/>
          <p:nvPr/>
        </p:nvSpPr>
        <p:spPr>
          <a:xfrm>
            <a:off x="622738" y="2589756"/>
            <a:ext cx="11310761" cy="2246769"/>
          </a:xfrm>
          <a:prstGeom prst="rect">
            <a:avLst/>
          </a:prstGeom>
          <a:noFill/>
        </p:spPr>
        <p:txBody>
          <a:bodyPr wrap="square">
            <a:spAutoFit/>
          </a:bodyPr>
          <a:lstStyle/>
          <a:p>
            <a:r>
              <a:rPr lang="en-US" sz="2000" dirty="0"/>
              <a:t>Many programs developed before 2000 simply prefix "19" to the year of a date, allowing them to only store the last two digits of the year instead of four.</a:t>
            </a:r>
            <a:endParaRPr lang="en-US" sz="2000" dirty="0"/>
          </a:p>
          <a:p>
            <a:endParaRPr lang="en-US" sz="2000" dirty="0"/>
          </a:p>
          <a:p>
            <a:r>
              <a:rPr lang="en-US" sz="2000" dirty="0"/>
              <a:t>The problem started because on memory was expensive at that time. </a:t>
            </a:r>
            <a:endParaRPr lang="en-US" sz="2000" dirty="0"/>
          </a:p>
          <a:p>
            <a:endParaRPr lang="en-US" sz="2000" dirty="0"/>
          </a:p>
          <a:p>
            <a:r>
              <a:rPr lang="en-US" sz="2000" dirty="0"/>
              <a:t>These strategies saved money by reducing the size of stored data files and databases in exchange for becoming unusable past the year 2000</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dirty="0"/>
              <a:t>Failures: A Case Study</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2375906"/>
            <a:ext cx="10946524" cy="1015663"/>
          </a:xfrm>
          <a:prstGeom prst="rect">
            <a:avLst/>
          </a:prstGeom>
          <a:noFill/>
        </p:spPr>
        <p:txBody>
          <a:bodyPr wrap="square">
            <a:spAutoFit/>
          </a:bodyPr>
          <a:lstStyle/>
          <a:p>
            <a:r>
              <a:rPr lang="en-US" altLang="zh-CN" sz="2000" dirty="0"/>
              <a:t>A passenger ship with 1,509 persons on board grounded on a shoal near Nantucket Island, Massachusetts. At the time the vessel was about 17 miles from where the officers thought they were. The vessel was on a route from Bermuda to Boston.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dirty="0"/>
              <a:t>Case Study: Analysis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2113283"/>
            <a:ext cx="1094652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From the report of the National Transportation Safety Board: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The ship was steered by an autopilot that relied on position information from the Global Positioning System (GPS).</a:t>
            </a:r>
            <a:endParaRPr lang="en-US" altLang="zh-CN" sz="2000" dirty="0"/>
          </a:p>
          <a:p>
            <a:pPr marL="800100" lvl="1" indent="-342900">
              <a:buFont typeface="Arial" panose="020B0604020202090204" pitchFamily="34" charset="0"/>
              <a:buChar char="•"/>
            </a:pPr>
            <a:r>
              <a:rPr lang="en-US" altLang="zh-CN" sz="2000" dirty="0"/>
              <a:t>If the GPS could not obtain a position from satellites, it provided an estimated position based on Dead Reckoning (distance and direction traveled from a known point). </a:t>
            </a:r>
            <a:endParaRPr lang="en-US" altLang="zh-CN" sz="2000" dirty="0"/>
          </a:p>
          <a:p>
            <a:pPr marL="800100" lvl="1" indent="-342900">
              <a:buFont typeface="Arial" panose="020B0604020202090204" pitchFamily="34" charset="0"/>
              <a:buChar char="•"/>
            </a:pPr>
            <a:r>
              <a:rPr lang="en-US" altLang="zh-CN" sz="2000" dirty="0"/>
              <a:t>The GPS failed one hour after leaving Bermuda. </a:t>
            </a:r>
            <a:endParaRPr lang="en-US" altLang="zh-CN" sz="2000" dirty="0"/>
          </a:p>
          <a:p>
            <a:pPr marL="800100" lvl="1" indent="-342900">
              <a:buFont typeface="Arial" panose="020B0604020202090204" pitchFamily="34" charset="0"/>
              <a:buChar char="•"/>
            </a:pPr>
            <a:r>
              <a:rPr lang="en-US" altLang="zh-CN" sz="2000" dirty="0"/>
              <a:t>The crew failed to see the warning message on the display (or to check the instruments). </a:t>
            </a:r>
            <a:endParaRPr lang="en-US" altLang="zh-CN" sz="2000" dirty="0"/>
          </a:p>
          <a:p>
            <a:pPr marL="800100" lvl="1" indent="-342900">
              <a:buFont typeface="Arial" panose="020B0604020202090204" pitchFamily="34" charset="0"/>
              <a:buChar char="•"/>
            </a:pPr>
            <a:r>
              <a:rPr lang="en-US" altLang="zh-CN" sz="2000" dirty="0"/>
              <a:t>34 hours and 600 miles later, the Dead Reckoning error was 17 miles.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976572" cy="790865"/>
          </a:xfrm>
        </p:spPr>
        <p:txBody>
          <a:bodyPr>
            <a:noAutofit/>
          </a:bodyPr>
          <a:lstStyle/>
          <a:p>
            <a:r>
              <a:rPr lang="en-US" altLang="zh-CN" dirty="0"/>
              <a:t>Case Study: Software Lessons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493549" y="1730662"/>
            <a:ext cx="10946524"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All the software worked as specified (no bugs), but ...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After the GPS software was specified, the requirements changed (stand alone system now part of integrated system). </a:t>
            </a:r>
            <a:endParaRPr lang="en-US" altLang="zh-CN" sz="2000" dirty="0"/>
          </a:p>
          <a:p>
            <a:pPr marL="800100" lvl="1" indent="-342900">
              <a:buFont typeface="Arial" panose="020B0604020202090204" pitchFamily="34" charset="0"/>
              <a:buChar char="•"/>
            </a:pPr>
            <a:r>
              <a:rPr lang="en-US" altLang="zh-CN" sz="2000" dirty="0"/>
              <a:t>The manufacturers of the autopilot and GPS adopted different design philosophies about the communication of mode changes.</a:t>
            </a:r>
            <a:endParaRPr lang="en-US" altLang="zh-CN" sz="2000" dirty="0"/>
          </a:p>
          <a:p>
            <a:pPr marL="800100" lvl="1" indent="-342900">
              <a:buFont typeface="Arial" panose="020B0604020202090204" pitchFamily="34" charset="0"/>
              <a:buChar char="•"/>
            </a:pPr>
            <a:r>
              <a:rPr lang="en-US" altLang="zh-CN" sz="2000" dirty="0"/>
              <a:t>The autopilot was not programmed to recognize valid/invalid status bits in messages from the GPS.</a:t>
            </a:r>
            <a:endParaRPr lang="en-US" altLang="zh-CN" sz="2000" dirty="0"/>
          </a:p>
          <a:p>
            <a:pPr marL="800100" lvl="1" indent="-342900">
              <a:buFont typeface="Arial" panose="020B0604020202090204" pitchFamily="34" charset="0"/>
              <a:buChar char="•"/>
            </a:pPr>
            <a:r>
              <a:rPr lang="en-US" altLang="zh-CN" sz="2000" dirty="0"/>
              <a:t>The warnings provided by the user interface were not sufficiently conspicuous to alert the crew.</a:t>
            </a:r>
            <a:endParaRPr lang="en-US" altLang="zh-CN" sz="2000" dirty="0"/>
          </a:p>
          <a:p>
            <a:pPr marL="800100" lvl="1" indent="-342900">
              <a:buFont typeface="Arial" panose="020B0604020202090204" pitchFamily="34" charset="0"/>
              <a:buChar char="•"/>
            </a:pPr>
            <a:r>
              <a:rPr lang="en-US" altLang="zh-CN" sz="2000" dirty="0"/>
              <a:t>The officers had not been properly trained on this equipment. </a:t>
            </a:r>
            <a:endParaRPr lang="en-US" altLang="zh-CN" sz="2000" dirty="0"/>
          </a:p>
          <a:p>
            <a:pPr marL="800100" lvl="1" indent="-342900">
              <a:buFont typeface="Arial" panose="020B0604020202090204" pitchFamily="34" charset="0"/>
              <a:buChar char="•"/>
            </a:pPr>
            <a:endParaRPr lang="en-US" altLang="zh-CN" sz="2000" dirty="0"/>
          </a:p>
          <a:p>
            <a:r>
              <a:rPr lang="en-US" altLang="zh-CN" sz="2000" b="1" dirty="0">
                <a:solidFill>
                  <a:srgbClr val="515223"/>
                </a:solidFill>
                <a:latin typeface="Helvetica" pitchFamily="2" charset="0"/>
                <a:cs typeface="Arial" panose="020B0604020202090204" pitchFamily="34" charset="0"/>
              </a:rPr>
              <a:t>Reliable software needs all parts of the software development process to be carried out well.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22365" cy="790865"/>
          </a:xfrm>
        </p:spPr>
        <p:txBody>
          <a:bodyPr>
            <a:noAutofit/>
          </a:bodyPr>
          <a:lstStyle/>
          <a:p>
            <a:r>
              <a:rPr lang="en-US" altLang="zh-CN" dirty="0"/>
              <a:t>Key Factors for Reliable Software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730662"/>
            <a:ext cx="10946524" cy="4093428"/>
          </a:xfrm>
          <a:prstGeom prst="rect">
            <a:avLst/>
          </a:prstGeom>
          <a:noFill/>
        </p:spPr>
        <p:txBody>
          <a:bodyPr wrap="square">
            <a:spAutoFit/>
          </a:bodyPr>
          <a:lstStyle/>
          <a:p>
            <a:pPr marL="342900" indent="-342900">
              <a:buFont typeface="Arial" panose="020B0604020202090204" pitchFamily="34" charset="0"/>
              <a:buChar char="•"/>
            </a:pPr>
            <a:r>
              <a:rPr lang="en-US" altLang="zh-CN" sz="2000" dirty="0"/>
              <a:t> Organization </a:t>
            </a:r>
            <a:r>
              <a:rPr lang="en-US" altLang="zh-CN" sz="2000" dirty="0">
                <a:solidFill>
                  <a:srgbClr val="FF0000"/>
                </a:solidFill>
              </a:rPr>
              <a:t>culture</a:t>
            </a:r>
            <a:r>
              <a:rPr lang="en-US" altLang="zh-CN" sz="2000" dirty="0"/>
              <a:t> that expects quality. This comes from the management and the senior technical staff. </a:t>
            </a:r>
            <a:endParaRPr lang="en-US" altLang="zh-CN" sz="2000" dirty="0"/>
          </a:p>
          <a:p>
            <a:pPr marL="342900" indent="-342900">
              <a:buFont typeface="Arial" panose="020B0604020202090204" pitchFamily="34" charset="0"/>
              <a:buChar char="•"/>
            </a:pPr>
            <a:r>
              <a:rPr lang="en-US" altLang="zh-CN" sz="2000" dirty="0"/>
              <a:t> Precise, unambiguous agreement on </a:t>
            </a:r>
            <a:r>
              <a:rPr lang="en-US" altLang="zh-CN" sz="2000" dirty="0">
                <a:solidFill>
                  <a:srgbClr val="FF0000"/>
                </a:solidFill>
              </a:rPr>
              <a:t>requirements</a:t>
            </a:r>
            <a:r>
              <a:rPr lang="en-US" altLang="zh-CN" sz="2000" dirty="0"/>
              <a:t>. </a:t>
            </a:r>
            <a:endParaRPr lang="en-US" altLang="zh-CN" sz="2000" dirty="0"/>
          </a:p>
          <a:p>
            <a:pPr marL="342900" indent="-342900">
              <a:buFont typeface="Arial" panose="020B0604020202090204" pitchFamily="34" charset="0"/>
              <a:buChar char="•"/>
            </a:pPr>
            <a:r>
              <a:rPr lang="en-US" altLang="zh-CN" sz="2000" dirty="0"/>
              <a:t> Design and implementation that </a:t>
            </a:r>
            <a:r>
              <a:rPr lang="en-US" altLang="zh-CN" sz="2000" dirty="0">
                <a:solidFill>
                  <a:srgbClr val="FF0000"/>
                </a:solidFill>
              </a:rPr>
              <a:t>hides complexity </a:t>
            </a:r>
            <a:r>
              <a:rPr lang="en-US" altLang="zh-CN" sz="2000" dirty="0"/>
              <a:t>(e.g., structured design, object-oriented programming). </a:t>
            </a:r>
            <a:endParaRPr lang="en-US" altLang="zh-CN" sz="2000" dirty="0"/>
          </a:p>
          <a:p>
            <a:pPr marL="342900" indent="-342900">
              <a:buFont typeface="Arial" panose="020B0604020202090204" pitchFamily="34" charset="0"/>
              <a:buChar char="•"/>
            </a:pPr>
            <a:r>
              <a:rPr lang="en-US" altLang="zh-CN" sz="2000" dirty="0"/>
              <a:t> </a:t>
            </a:r>
            <a:r>
              <a:rPr lang="en-US" altLang="zh-CN" sz="2000" dirty="0">
                <a:solidFill>
                  <a:srgbClr val="FF0000"/>
                </a:solidFill>
              </a:rPr>
              <a:t>Programming style </a:t>
            </a:r>
            <a:r>
              <a:rPr lang="en-US" altLang="zh-CN" sz="2000" dirty="0"/>
              <a:t>that emphasizes simplicity, readability, and avoidance of dangerous constructs. </a:t>
            </a:r>
            <a:r>
              <a:rPr lang="en-US" altLang="zh-CN" sz="2000" dirty="0">
                <a:solidFill>
                  <a:srgbClr val="C00000"/>
                </a:solidFill>
              </a:rPr>
              <a:t>https://</a:t>
            </a:r>
            <a:r>
              <a:rPr lang="en-US" altLang="zh-CN" sz="2000" dirty="0" err="1">
                <a:solidFill>
                  <a:srgbClr val="C00000"/>
                </a:solidFill>
              </a:rPr>
              <a:t>google.github.io</a:t>
            </a:r>
            <a:r>
              <a:rPr lang="en-US" altLang="zh-CN" sz="2000" dirty="0">
                <a:solidFill>
                  <a:srgbClr val="C00000"/>
                </a:solidFill>
              </a:rPr>
              <a:t>/</a:t>
            </a:r>
            <a:r>
              <a:rPr lang="en-US" altLang="zh-CN" sz="2000" dirty="0" err="1">
                <a:solidFill>
                  <a:srgbClr val="C00000"/>
                </a:solidFill>
              </a:rPr>
              <a:t>styleguide</a:t>
            </a:r>
            <a:r>
              <a:rPr lang="en-US" altLang="zh-CN" sz="2000" dirty="0">
                <a:solidFill>
                  <a:srgbClr val="C00000"/>
                </a:solidFill>
              </a:rPr>
              <a:t>/</a:t>
            </a:r>
            <a:endParaRPr lang="en-US" altLang="zh-CN" sz="2000" dirty="0">
              <a:solidFill>
                <a:srgbClr val="C00000"/>
              </a:solidFill>
            </a:endParaRPr>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 </a:t>
            </a:r>
            <a:r>
              <a:rPr lang="en-US" altLang="zh-CN" sz="2000" dirty="0">
                <a:solidFill>
                  <a:srgbClr val="FF0000"/>
                </a:solidFill>
              </a:rPr>
              <a:t>Software tools </a:t>
            </a:r>
            <a:r>
              <a:rPr lang="en-US" altLang="zh-CN" sz="2000" dirty="0"/>
              <a:t>that restrict or detect errors (e.g., strongly typed languages, source control systems, debuggers). </a:t>
            </a:r>
            <a:endParaRPr lang="en-US" altLang="zh-CN" sz="2000" dirty="0"/>
          </a:p>
          <a:p>
            <a:pPr marL="342900" indent="-342900">
              <a:buFont typeface="Arial" panose="020B0604020202090204" pitchFamily="34" charset="0"/>
              <a:buChar char="•"/>
            </a:pPr>
            <a:r>
              <a:rPr lang="en-US" altLang="zh-CN" sz="2000" dirty="0"/>
              <a:t> Systematic </a:t>
            </a:r>
            <a:r>
              <a:rPr lang="en-US" altLang="zh-CN" sz="2000" dirty="0">
                <a:solidFill>
                  <a:srgbClr val="FF0000"/>
                </a:solidFill>
              </a:rPr>
              <a:t>verification</a:t>
            </a:r>
            <a:r>
              <a:rPr lang="en-US" altLang="zh-CN" sz="2000" dirty="0"/>
              <a:t> at all stages of development, including requirements, system architecture, program design, implementation, and user testing. </a:t>
            </a:r>
            <a:endParaRPr lang="en-US" altLang="zh-CN" sz="2000" dirty="0"/>
          </a:p>
          <a:p>
            <a:pPr marL="342900" indent="-342900">
              <a:buFont typeface="Arial" panose="020B0604020202090204" pitchFamily="34" charset="0"/>
              <a:buChar char="•"/>
            </a:pPr>
            <a:r>
              <a:rPr lang="en-US" altLang="zh-CN" sz="2000" dirty="0"/>
              <a:t> Particular attention to </a:t>
            </a:r>
            <a:r>
              <a:rPr lang="en-US" altLang="zh-CN" sz="2000" dirty="0">
                <a:solidFill>
                  <a:srgbClr val="FF0000"/>
                </a:solidFill>
              </a:rPr>
              <a:t>changes</a:t>
            </a:r>
            <a:r>
              <a:rPr lang="en-US" altLang="zh-CN" sz="2000" dirty="0"/>
              <a:t> and maintenance.</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Autofit/>
          </a:bodyPr>
          <a:lstStyle/>
          <a:p>
            <a:r>
              <a:rPr lang="en-US" altLang="zh-CN" sz="2400" dirty="0"/>
              <a:t>Building Dependable Systems: Organizational Culture</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02976" y="1946697"/>
            <a:ext cx="10946524" cy="2554545"/>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Good organizations create good systems: </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Managers and senior technical staff must lead by example.</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Acceptance of the group's style of work (e.g., meetings, preparation, support for juniors).</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Visibility. </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Completion of a task before moving to the next (e.g., documentation, comments in code).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2400" dirty="0"/>
              <a:t>Building Dependable Systems: Organizational Culture</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8" name="TextBox 3"/>
          <p:cNvSpPr txBox="1"/>
          <p:nvPr/>
        </p:nvSpPr>
        <p:spPr>
          <a:xfrm>
            <a:off x="502976" y="1752147"/>
            <a:ext cx="10946524" cy="3785652"/>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Example: a library consortium </a:t>
            </a:r>
            <a:endParaRPr lang="en-US" altLang="zh-CN" sz="2000" b="1" dirty="0">
              <a:solidFill>
                <a:srgbClr val="515223"/>
              </a:solidFill>
              <a:latin typeface="Helvetica" pitchFamily="2" charset="0"/>
              <a:cs typeface="Arial" panose="020B0604020202090204" pitchFamily="34" charset="0"/>
            </a:endParaRPr>
          </a:p>
          <a:p>
            <a:pPr marL="0" lvl="1"/>
            <a:r>
              <a:rPr lang="en-US" altLang="zh-CN" sz="2000" dirty="0">
                <a:solidFill>
                  <a:srgbClr val="FF0000"/>
                </a:solidFill>
              </a:rPr>
              <a:t>The problem: </a:t>
            </a:r>
            <a:endParaRPr lang="en-US" altLang="zh-CN" sz="2000" dirty="0">
              <a:solidFill>
                <a:srgbClr val="FF0000"/>
              </a:solidFill>
            </a:endParaRPr>
          </a:p>
          <a:p>
            <a:pPr marL="800100" lvl="2" indent="-342900">
              <a:buFont typeface="Arial" panose="020B0604020202090204" pitchFamily="34" charset="0"/>
              <a:buChar char="•"/>
            </a:pPr>
            <a:r>
              <a:rPr lang="en-US" altLang="zh-CN" sz="2000" dirty="0"/>
              <a:t>Database crashed repeatedly, losing data. </a:t>
            </a:r>
            <a:endParaRPr lang="en-US" altLang="zh-CN" sz="2000" dirty="0"/>
          </a:p>
          <a:p>
            <a:pPr marL="800100" lvl="2" indent="-342900">
              <a:buFont typeface="Arial" panose="020B0604020202090204" pitchFamily="34" charset="0"/>
              <a:buChar char="•"/>
            </a:pPr>
            <a:r>
              <a:rPr lang="en-US" altLang="zh-CN" sz="2000" dirty="0"/>
              <a:t>Successive releases failed to fix the problem. </a:t>
            </a:r>
            <a:endParaRPr lang="en-US" altLang="zh-CN" sz="2000" dirty="0"/>
          </a:p>
          <a:p>
            <a:pPr marL="0" lvl="1"/>
            <a:endParaRPr lang="en-US" altLang="zh-CN" sz="2000" dirty="0"/>
          </a:p>
          <a:p>
            <a:pPr marL="0" lvl="1"/>
            <a:r>
              <a:rPr lang="en-US" altLang="zh-CN" sz="2000" dirty="0">
                <a:solidFill>
                  <a:srgbClr val="FF0000"/>
                </a:solidFill>
              </a:rPr>
              <a:t>Analysis: </a:t>
            </a:r>
            <a:endParaRPr lang="en-US" altLang="zh-CN" sz="2000" dirty="0">
              <a:solidFill>
                <a:srgbClr val="FF0000"/>
              </a:solidFill>
            </a:endParaRPr>
          </a:p>
          <a:p>
            <a:pPr marL="800100" lvl="2" indent="-342900">
              <a:buFont typeface="Arial" panose="020B0604020202090204" pitchFamily="34" charset="0"/>
              <a:buChar char="•"/>
            </a:pPr>
            <a:r>
              <a:rPr lang="en-US" altLang="zh-CN" sz="2000" dirty="0"/>
              <a:t>Team had a good technical plan, but needed time. </a:t>
            </a:r>
            <a:endParaRPr lang="en-US" altLang="zh-CN" sz="2000" dirty="0"/>
          </a:p>
          <a:p>
            <a:pPr marL="800100" lvl="2" indent="-342900">
              <a:buFont typeface="Arial" panose="020B0604020202090204" pitchFamily="34" charset="0"/>
              <a:buChar char="•"/>
            </a:pPr>
            <a:r>
              <a:rPr lang="en-US" altLang="zh-CN" sz="2000" dirty="0"/>
              <a:t>Senior management insisted on releases before they were ready. </a:t>
            </a:r>
            <a:endParaRPr lang="en-US" altLang="zh-CN" sz="2000" dirty="0"/>
          </a:p>
          <a:p>
            <a:pPr marL="0" lvl="1"/>
            <a:endParaRPr lang="en-US" altLang="zh-CN" sz="2000" dirty="0"/>
          </a:p>
          <a:p>
            <a:pPr marL="0" lvl="1"/>
            <a:r>
              <a:rPr lang="en-US" altLang="zh-CN" sz="2000" dirty="0">
                <a:solidFill>
                  <a:srgbClr val="FF0000"/>
                </a:solidFill>
              </a:rPr>
              <a:t>The fix: </a:t>
            </a:r>
            <a:endParaRPr lang="en-US" altLang="zh-CN" sz="2000" dirty="0">
              <a:solidFill>
                <a:srgbClr val="FF0000"/>
              </a:solidFill>
            </a:endParaRPr>
          </a:p>
          <a:p>
            <a:pPr marL="800100" lvl="2" indent="-342900">
              <a:buFont typeface="Arial" panose="020B0604020202090204" pitchFamily="34" charset="0"/>
              <a:buChar char="•"/>
            </a:pPr>
            <a:r>
              <a:rPr lang="en-US" altLang="zh-CN" sz="2000" dirty="0"/>
              <a:t>Give the team time. </a:t>
            </a:r>
            <a:endParaRPr lang="en-US" altLang="zh-CN" sz="2000" dirty="0"/>
          </a:p>
          <a:p>
            <a:pPr marL="800100" lvl="2" indent="-342900">
              <a:buFont typeface="Arial" panose="020B0604020202090204" pitchFamily="34" charset="0"/>
              <a:buChar char="•"/>
            </a:pPr>
            <a:r>
              <a:rPr lang="en-US" altLang="zh-CN" sz="2000" dirty="0"/>
              <a:t>Change the senior management.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957718" cy="790865"/>
          </a:xfrm>
        </p:spPr>
        <p:txBody>
          <a:bodyPr>
            <a:noAutofit/>
          </a:bodyPr>
          <a:lstStyle/>
          <a:p>
            <a:r>
              <a:rPr lang="en-US" altLang="zh-CN" sz="2400" dirty="0"/>
              <a:t>Building Reliable Software: Quality Management Processes</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797068"/>
            <a:ext cx="10946524" cy="3477875"/>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Assumption: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Good software is impossible without good processes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The importance of routine: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Standard terminology (requirements, design, acceptance, etc.) </a:t>
            </a:r>
            <a:endParaRPr lang="en-US" altLang="zh-CN" sz="2000" dirty="0"/>
          </a:p>
          <a:p>
            <a:pPr marL="457200" lvl="2"/>
            <a:r>
              <a:rPr lang="en-US" altLang="zh-CN" sz="2000" dirty="0"/>
              <a:t>Software standards (coding standards, naming conventions, etc.) </a:t>
            </a:r>
            <a:endParaRPr lang="en-US" altLang="zh-CN" sz="2000" dirty="0"/>
          </a:p>
          <a:p>
            <a:pPr marL="457200" lvl="2"/>
            <a:r>
              <a:rPr lang="en-US" altLang="zh-CN" sz="2000" dirty="0"/>
              <a:t>Regular builds of complete system (often daily) </a:t>
            </a:r>
            <a:endParaRPr lang="en-US" altLang="zh-CN" sz="2000" dirty="0"/>
          </a:p>
          <a:p>
            <a:pPr marL="457200" lvl="2"/>
            <a:r>
              <a:rPr lang="en-US" altLang="zh-CN" sz="2000" dirty="0"/>
              <a:t>Internal and external documentation </a:t>
            </a:r>
            <a:endParaRPr lang="en-US" altLang="zh-CN" sz="2000" dirty="0"/>
          </a:p>
          <a:p>
            <a:pPr marL="457200" lvl="2"/>
            <a:r>
              <a:rPr lang="en-US" altLang="zh-CN" sz="2000" dirty="0"/>
              <a:t>Reporting procedures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This routine is important for both heavyweight and lightweight development processes.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sz="2400" dirty="0"/>
              <a:t>Building Reliable Software: Quality Management Processes</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101864"/>
            <a:ext cx="10946524" cy="2246769"/>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When time is short...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Pay extra attention to the early stages of the process: feasibility, requirements, design. </a:t>
            </a:r>
            <a:endParaRPr lang="en-US" altLang="zh-CN" sz="2000" dirty="0"/>
          </a:p>
          <a:p>
            <a:pPr marL="457200" lvl="2"/>
            <a:endParaRPr lang="en-US" altLang="zh-CN" sz="2000" dirty="0"/>
          </a:p>
          <a:p>
            <a:pPr marL="457200" lvl="2"/>
            <a:r>
              <a:rPr lang="en-US" altLang="zh-CN" sz="2000" dirty="0"/>
              <a:t>If mistakes are made in the requirements process, there will be little time to fix them later. </a:t>
            </a:r>
            <a:endParaRPr lang="en-US" altLang="zh-CN" sz="2000" dirty="0"/>
          </a:p>
          <a:p>
            <a:pPr marL="457200" lvl="2"/>
            <a:endParaRPr lang="en-US" altLang="zh-CN" sz="2000" dirty="0"/>
          </a:p>
          <a:p>
            <a:pPr marL="457200" lvl="2"/>
            <a:r>
              <a:rPr lang="en-US" altLang="zh-CN" sz="2000" dirty="0"/>
              <a:t>Experience shows that taking extra time on the early stages will usually reduce the total Ime to release.</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sz="2400" dirty="0"/>
              <a:t>Building Reliable Software: Communication with the Client</a:t>
            </a:r>
            <a:endParaRPr lang="en-US" sz="4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017559"/>
            <a:ext cx="10946524" cy="3170099"/>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A system is no use if it does not meet the client's needs</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The client must </a:t>
            </a:r>
            <a:r>
              <a:rPr lang="en-US" altLang="zh-CN" sz="2000" dirty="0">
                <a:solidFill>
                  <a:srgbClr val="FF0000"/>
                </a:solidFill>
              </a:rPr>
              <a:t>understand</a:t>
            </a:r>
            <a:r>
              <a:rPr lang="en-US" altLang="zh-CN" sz="2000" dirty="0"/>
              <a:t> and review the agreed </a:t>
            </a:r>
            <a:r>
              <a:rPr lang="en-US" altLang="zh-CN" sz="2000" dirty="0">
                <a:solidFill>
                  <a:srgbClr val="FF0000"/>
                </a:solidFill>
              </a:rPr>
              <a:t>requirements</a:t>
            </a:r>
            <a:r>
              <a:rPr lang="en-US" altLang="zh-CN" sz="2000" dirty="0"/>
              <a:t> in detail.</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It is not sufficient to present the client with a </a:t>
            </a:r>
            <a:r>
              <a:rPr lang="en-US" altLang="zh-CN" sz="2000" dirty="0">
                <a:solidFill>
                  <a:srgbClr val="FF0000"/>
                </a:solidFill>
              </a:rPr>
              <a:t>specification document </a:t>
            </a:r>
            <a:r>
              <a:rPr lang="en-US" altLang="zh-CN" sz="2000" dirty="0"/>
              <a:t>and ask him/her to sign off. </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Appropriate members of the client's staff must review relevant areas of the </a:t>
            </a:r>
            <a:r>
              <a:rPr lang="en-US" altLang="zh-CN" sz="2000" dirty="0">
                <a:solidFill>
                  <a:srgbClr val="FF0000"/>
                </a:solidFill>
              </a:rPr>
              <a:t>design</a:t>
            </a:r>
            <a:r>
              <a:rPr lang="en-US" altLang="zh-CN" sz="2000" dirty="0"/>
              <a:t> (including operations, training materials, system administration).</a:t>
            </a:r>
            <a:endParaRPr lang="en-US" altLang="zh-CN" sz="2000" dirty="0"/>
          </a:p>
          <a:p>
            <a:pPr marL="800100" lvl="2" indent="-342900">
              <a:buFont typeface="Arial" panose="020B0604020202090204" pitchFamily="34" charset="0"/>
              <a:buChar char="•"/>
            </a:pPr>
            <a:endParaRPr lang="en-US" altLang="zh-CN" sz="2000" dirty="0"/>
          </a:p>
          <a:p>
            <a:pPr marL="800100" lvl="2" indent="-342900">
              <a:buFont typeface="Arial" panose="020B0604020202090204" pitchFamily="34" charset="0"/>
              <a:buChar char="•"/>
            </a:pPr>
            <a:r>
              <a:rPr lang="en-US" altLang="zh-CN" sz="2000" dirty="0"/>
              <a:t>The </a:t>
            </a:r>
            <a:r>
              <a:rPr lang="en-US" altLang="zh-CN" sz="2000" dirty="0">
                <a:solidFill>
                  <a:srgbClr val="FF0000"/>
                </a:solidFill>
              </a:rPr>
              <a:t>acceptance</a:t>
            </a:r>
            <a:r>
              <a:rPr lang="en-US" altLang="zh-CN" sz="2000" dirty="0"/>
              <a:t> tests must belong to the client.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dirty="0"/>
              <a:t>Building Reliable Software: Complexity</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380723"/>
            <a:ext cx="10946524" cy="1938992"/>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The human mind can encompass only limited complexity: </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Comprehensibility</a:t>
            </a:r>
            <a:endParaRPr lang="en-US" altLang="zh-CN" sz="2000" dirty="0"/>
          </a:p>
          <a:p>
            <a:pPr marL="800100" lvl="2" indent="-342900">
              <a:buFont typeface="Arial" panose="020B0604020202090204" pitchFamily="34" charset="0"/>
              <a:buChar char="•"/>
            </a:pPr>
            <a:r>
              <a:rPr lang="en-US" altLang="zh-CN" sz="2000" dirty="0"/>
              <a:t>Simplicity</a:t>
            </a:r>
            <a:endParaRPr lang="en-US" altLang="zh-CN" sz="2000" dirty="0"/>
          </a:p>
          <a:p>
            <a:pPr marL="800100" lvl="2" indent="-342900">
              <a:buFont typeface="Arial" panose="020B0604020202090204" pitchFamily="34" charset="0"/>
              <a:buChar char="•"/>
            </a:pPr>
            <a:r>
              <a:rPr lang="en-US" altLang="zh-CN" sz="2000" dirty="0"/>
              <a:t>Partitioning of complexity </a:t>
            </a:r>
            <a:endParaRPr lang="en-US" altLang="zh-CN" sz="2000" dirty="0"/>
          </a:p>
          <a:p>
            <a:pPr marL="0" lvl="1"/>
            <a:endParaRPr lang="en-US" altLang="zh-CN" sz="2000" dirty="0"/>
          </a:p>
          <a:p>
            <a:pPr marL="0" lvl="1"/>
            <a:r>
              <a:rPr lang="en-US" altLang="zh-CN" sz="2000" dirty="0">
                <a:solidFill>
                  <a:srgbClr val="FF0000"/>
                </a:solidFill>
              </a:rPr>
              <a:t>A simple component is easier to get right than a complex one.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dirty="0"/>
              <a:t>Building Reliable Software: Change</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3785652"/>
          </a:xfrm>
          <a:prstGeom prst="rect">
            <a:avLst/>
          </a:prstGeom>
          <a:noFill/>
        </p:spPr>
        <p:txBody>
          <a:bodyPr wrap="square">
            <a:spAutoFit/>
          </a:bodyPr>
          <a:lstStyle/>
          <a:p>
            <a:pPr marL="0" lvl="1"/>
            <a:r>
              <a:rPr lang="en-US" altLang="zh-CN" sz="2000" dirty="0"/>
              <a:t>Changes can easily introduce problems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Change management </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Source code management and version control</a:t>
            </a:r>
            <a:endParaRPr lang="en-US" altLang="zh-CN" sz="2000" dirty="0"/>
          </a:p>
          <a:p>
            <a:pPr marL="800100" lvl="2" indent="-342900">
              <a:buFont typeface="Arial" panose="020B0604020202090204" pitchFamily="34" charset="0"/>
              <a:buChar char="•"/>
            </a:pPr>
            <a:r>
              <a:rPr lang="en-US" altLang="zh-CN" sz="2000" dirty="0"/>
              <a:t>Tracking of change requests and bug reports</a:t>
            </a:r>
            <a:endParaRPr lang="en-US" altLang="zh-CN" sz="2000" dirty="0"/>
          </a:p>
          <a:p>
            <a:pPr marL="800100" lvl="2" indent="-342900">
              <a:buFont typeface="Arial" panose="020B0604020202090204" pitchFamily="34" charset="0"/>
              <a:buChar char="•"/>
            </a:pPr>
            <a:r>
              <a:rPr lang="en-US" altLang="zh-CN" sz="2000" dirty="0"/>
              <a:t>Procedures for changing requirements specifications, designs and other documentation </a:t>
            </a:r>
            <a:endParaRPr lang="en-US" altLang="zh-CN" sz="2000" dirty="0"/>
          </a:p>
          <a:p>
            <a:pPr marL="800100" lvl="2" indent="-342900">
              <a:buFont typeface="Arial" panose="020B0604020202090204" pitchFamily="34" charset="0"/>
              <a:buChar char="•"/>
            </a:pPr>
            <a:r>
              <a:rPr lang="en-US" altLang="zh-CN" sz="2000" dirty="0"/>
              <a:t>Regression testing (discussed later)</a:t>
            </a:r>
            <a:endParaRPr lang="en-US" altLang="zh-CN" sz="2000" dirty="0"/>
          </a:p>
          <a:p>
            <a:pPr marL="800100" lvl="2" indent="-342900">
              <a:buFont typeface="Arial" panose="020B0604020202090204" pitchFamily="34" charset="0"/>
              <a:buChar char="•"/>
            </a:pPr>
            <a:r>
              <a:rPr lang="en-US" altLang="zh-CN" sz="2000" dirty="0"/>
              <a:t>Release control </a:t>
            </a:r>
            <a:endParaRPr lang="en-US" altLang="zh-CN" sz="2000" dirty="0"/>
          </a:p>
          <a:p>
            <a:pPr marL="0" lvl="1"/>
            <a:endParaRPr lang="en-US" altLang="zh-CN" sz="2000" dirty="0"/>
          </a:p>
          <a:p>
            <a:pPr marL="0" lvl="1"/>
            <a:r>
              <a:rPr lang="en-US" altLang="zh-CN" sz="2000" dirty="0">
                <a:solidFill>
                  <a:srgbClr val="FF0000"/>
                </a:solidFill>
              </a:rPr>
              <a:t>When adding new functions or fixing bugs it is easy to write patches that violate the systems architecture or overall program design. This should be avoided as much as possible. Be prepared to modify the architecture to keep a high quality system.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sz="3200" dirty="0"/>
              <a:t>Building Reliable Software: Fault Tolerance</a:t>
            </a:r>
            <a:endParaRPr lang="en-US" sz="8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4093428"/>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Aim: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A system that continues to operate when problems occur.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Examples:</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Invalid input data (e.g., in a data processing application)</a:t>
            </a:r>
            <a:endParaRPr lang="en-US" altLang="zh-CN" sz="2000" dirty="0"/>
          </a:p>
          <a:p>
            <a:pPr marL="800100" lvl="2" indent="-342900">
              <a:buFont typeface="Arial" panose="020B0604020202090204" pitchFamily="34" charset="0"/>
              <a:buChar char="•"/>
            </a:pPr>
            <a:r>
              <a:rPr lang="en-US" altLang="zh-CN" sz="2000" dirty="0"/>
              <a:t>Overload (e.g., in a networked system)</a:t>
            </a:r>
            <a:endParaRPr lang="en-US" altLang="zh-CN" sz="2000" dirty="0"/>
          </a:p>
          <a:p>
            <a:pPr marL="800100" lvl="2" indent="-342900">
              <a:buFont typeface="Arial" panose="020B0604020202090204" pitchFamily="34" charset="0"/>
              <a:buChar char="•"/>
            </a:pPr>
            <a:r>
              <a:rPr lang="en-US" altLang="zh-CN" sz="2000" dirty="0"/>
              <a:t>Hardware failure (e.g., in a control system)</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General Approach:</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Failure detection</a:t>
            </a:r>
            <a:endParaRPr lang="en-US" altLang="zh-CN" sz="2000" dirty="0"/>
          </a:p>
          <a:p>
            <a:pPr marL="800100" lvl="2" indent="-342900">
              <a:buFont typeface="Arial" panose="020B0604020202090204" pitchFamily="34" charset="0"/>
              <a:buChar char="•"/>
            </a:pPr>
            <a:r>
              <a:rPr lang="en-US" altLang="zh-CN" sz="2000" dirty="0"/>
              <a:t>Damage assessment</a:t>
            </a:r>
            <a:endParaRPr lang="en-US" altLang="zh-CN" sz="2000" dirty="0"/>
          </a:p>
          <a:p>
            <a:pPr marL="800100" lvl="2" indent="-342900">
              <a:buFont typeface="Arial" panose="020B0604020202090204" pitchFamily="34" charset="0"/>
              <a:buChar char="•"/>
            </a:pPr>
            <a:r>
              <a:rPr lang="en-US" altLang="zh-CN" sz="2000" dirty="0"/>
              <a:t>Fault recovery</a:t>
            </a:r>
            <a:endParaRPr lang="en-US" altLang="zh-CN" sz="2000" dirty="0"/>
          </a:p>
          <a:p>
            <a:pPr marL="800100" lvl="2" indent="-342900">
              <a:buFont typeface="Arial" panose="020B0604020202090204" pitchFamily="34" charset="0"/>
              <a:buChar char="•"/>
            </a:pPr>
            <a:r>
              <a:rPr lang="en-US" altLang="zh-CN" sz="2000" dirty="0"/>
              <a:t>Fault repair</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dirty="0"/>
              <a:t>Fault Tolerance: Recovery</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4093428"/>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Backward recovery</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Record system state at specific events </a:t>
            </a:r>
            <a:r>
              <a:rPr lang="en-US" altLang="zh-CN" sz="2000" dirty="0">
                <a:solidFill>
                  <a:srgbClr val="FF0000"/>
                </a:solidFill>
              </a:rPr>
              <a:t>(checkpoints</a:t>
            </a:r>
            <a:r>
              <a:rPr lang="en-US" altLang="zh-CN" sz="2000" dirty="0"/>
              <a:t>). After failure, recreate state at last checkpoint.</a:t>
            </a:r>
            <a:endParaRPr lang="en-US" altLang="zh-CN" sz="2000" dirty="0"/>
          </a:p>
          <a:p>
            <a:pPr marL="800100" lvl="2" indent="-342900">
              <a:buFont typeface="Arial" panose="020B0604020202090204" pitchFamily="34" charset="0"/>
              <a:buChar char="•"/>
            </a:pPr>
            <a:r>
              <a:rPr lang="en-US" altLang="zh-CN" sz="2000" dirty="0"/>
              <a:t>Combine checkpoints with system </a:t>
            </a:r>
            <a:r>
              <a:rPr lang="en-US" altLang="zh-CN" sz="2000" dirty="0">
                <a:solidFill>
                  <a:srgbClr val="FF0000"/>
                </a:solidFill>
              </a:rPr>
              <a:t>log</a:t>
            </a:r>
            <a:r>
              <a:rPr lang="en-US" altLang="zh-CN" sz="2000" dirty="0"/>
              <a:t> (</a:t>
            </a:r>
            <a:r>
              <a:rPr lang="en-US" altLang="zh-CN" sz="2000" dirty="0">
                <a:solidFill>
                  <a:srgbClr val="FF0000"/>
                </a:solidFill>
              </a:rPr>
              <a:t>audit trail </a:t>
            </a:r>
            <a:r>
              <a:rPr lang="en-US" altLang="zh-CN" sz="2000" dirty="0"/>
              <a:t>of transactions) that allows transactions from last checkpoint to be repeated automatically. </a:t>
            </a:r>
            <a:endParaRPr lang="en-US" altLang="zh-CN" sz="2000" dirty="0"/>
          </a:p>
          <a:p>
            <a:pPr marL="0" lvl="1"/>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Recovery software is difficult to test </a:t>
            </a:r>
            <a:endParaRPr lang="en-US" altLang="zh-CN" sz="2000" b="1" dirty="0">
              <a:solidFill>
                <a:srgbClr val="515223"/>
              </a:solidFill>
              <a:latin typeface="Helvetica" pitchFamily="2" charset="0"/>
              <a:cs typeface="Arial" panose="020B0604020202090204" pitchFamily="34" charset="0"/>
            </a:endParaRPr>
          </a:p>
          <a:p>
            <a:pPr marL="0" lvl="1"/>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pPr marL="0" lvl="1"/>
            <a:r>
              <a:rPr lang="en-US" altLang="zh-CN" sz="2000" dirty="0"/>
              <a:t>After an entire network is hit by lightning, the restart crashes because of overload. (Problem of incremental growth.)</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211484" cy="790865"/>
          </a:xfrm>
        </p:spPr>
        <p:txBody>
          <a:bodyPr>
            <a:noAutofit/>
          </a:bodyPr>
          <a:lstStyle/>
          <a:p>
            <a:r>
              <a:rPr lang="en-US" altLang="zh-CN" sz="2400" dirty="0"/>
              <a:t>Building Reliable Software: Small Teams and Small Projects</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1591061"/>
            <a:ext cx="10946524"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Small teams and small projects have advantages for reliability: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Small group communication cuts need for intermediate documentation, yet reduces misunderstanding. </a:t>
            </a:r>
            <a:endParaRPr lang="en-US" altLang="zh-CN" sz="2000" dirty="0"/>
          </a:p>
          <a:p>
            <a:pPr marL="800100" lvl="1" indent="-342900">
              <a:buFont typeface="Arial" panose="020B0604020202090204" pitchFamily="34" charset="0"/>
              <a:buChar char="•"/>
            </a:pPr>
            <a:r>
              <a:rPr lang="en-US" altLang="zh-CN" sz="2000" dirty="0"/>
              <a:t>Small projects are easier to test and make reliable.</a:t>
            </a:r>
            <a:endParaRPr lang="en-US" altLang="zh-CN" sz="2000" dirty="0"/>
          </a:p>
          <a:p>
            <a:pPr marL="800100" lvl="1" indent="-342900">
              <a:buFont typeface="Arial" panose="020B0604020202090204" pitchFamily="34" charset="0"/>
              <a:buChar char="•"/>
            </a:pPr>
            <a:r>
              <a:rPr lang="en-US" altLang="zh-CN" sz="2000" dirty="0"/>
              <a:t>Small projects have shorter development cycles. Mistakes in requirements are less likely and less expensive to fix.</a:t>
            </a:r>
            <a:endParaRPr lang="en-US" altLang="zh-CN" sz="2000" dirty="0"/>
          </a:p>
          <a:p>
            <a:pPr marL="800100" lvl="1" indent="-342900">
              <a:buFont typeface="Arial" panose="020B0604020202090204" pitchFamily="34" charset="0"/>
              <a:buChar char="•"/>
            </a:pPr>
            <a:r>
              <a:rPr lang="en-US" altLang="zh-CN" sz="2000" dirty="0"/>
              <a:t>When one project is completed it is easier to plan for the next. </a:t>
            </a:r>
            <a:endParaRPr lang="en-US" altLang="zh-CN" sz="2000" dirty="0"/>
          </a:p>
          <a:p>
            <a:endParaRPr lang="en-US" altLang="zh-CN" sz="2000" dirty="0"/>
          </a:p>
          <a:p>
            <a:endParaRPr lang="en-US" altLang="zh-CN" sz="2000" dirty="0"/>
          </a:p>
          <a:p>
            <a:r>
              <a:rPr lang="en-US" altLang="zh-CN" sz="2000" dirty="0"/>
              <a:t>Improved reliability is one of the reasons that agile development has become popular over the past few years.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Reliability Metrics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772324"/>
            <a:ext cx="10946524"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Reliability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Probability of a failure occurring in operational use.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Traditional measures for online systems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Mean Ime between failures </a:t>
            </a:r>
            <a:endParaRPr lang="en-US" altLang="zh-CN" sz="2000" dirty="0"/>
          </a:p>
          <a:p>
            <a:pPr marL="800100" lvl="1" indent="-342900">
              <a:buFont typeface="Arial" panose="020B0604020202090204" pitchFamily="34" charset="0"/>
              <a:buChar char="•"/>
            </a:pPr>
            <a:r>
              <a:rPr lang="en-US" altLang="zh-CN" sz="2000" dirty="0"/>
              <a:t>Availability (up time) </a:t>
            </a:r>
            <a:endParaRPr lang="en-US" altLang="zh-CN" sz="2000" dirty="0"/>
          </a:p>
          <a:p>
            <a:pPr marL="800100" lvl="1" indent="-342900">
              <a:buFont typeface="Arial" panose="020B0604020202090204" pitchFamily="34" charset="0"/>
              <a:buChar char="•"/>
            </a:pPr>
            <a:r>
              <a:rPr lang="en-US" altLang="zh-CN" sz="2000" dirty="0"/>
              <a:t>Mean time to repair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Market measures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Complaints</a:t>
            </a:r>
            <a:endParaRPr lang="en-US" altLang="zh-CN" sz="2000" dirty="0"/>
          </a:p>
          <a:p>
            <a:pPr marL="800100" lvl="1" indent="-342900">
              <a:buFont typeface="Arial" panose="020B0604020202090204" pitchFamily="34" charset="0"/>
              <a:buChar char="•"/>
            </a:pPr>
            <a:r>
              <a:rPr lang="en-US" altLang="zh-CN" sz="2000" dirty="0"/>
              <a:t>Customer retention </a:t>
            </a:r>
            <a:endParaRPr lang="en-US" altLang="zh-CN"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sz="3200" dirty="0"/>
              <a:t>Reliability Metrics for Distributed Systems</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2176329"/>
            <a:ext cx="1094652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Traditional metrics are hard to apply in multi-component systems: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 system that has excellent average reliability might give terrible service to certain users.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In a big network, at any given moment something will be giving trouble, but very few users will see it.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When there are many components, system administrators rely on automatic reporting systems to identify problem areas.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Metrics: User Perception of Reliability</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600564"/>
            <a:ext cx="1094652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Perceived reliability depends upon:</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user behavior</a:t>
            </a:r>
            <a:endParaRPr lang="en-US" altLang="zh-CN" sz="2000" dirty="0"/>
          </a:p>
          <a:p>
            <a:pPr marL="800100" lvl="1" indent="-342900">
              <a:buFont typeface="Arial" panose="020B0604020202090204" pitchFamily="34" charset="0"/>
              <a:buChar char="•"/>
            </a:pPr>
            <a:r>
              <a:rPr lang="en-US" altLang="zh-CN" sz="2000" dirty="0"/>
              <a:t>set of inputs</a:t>
            </a:r>
            <a:endParaRPr lang="en-US" altLang="zh-CN" sz="2000" dirty="0"/>
          </a:p>
          <a:p>
            <a:pPr marL="800100" lvl="1" indent="-342900">
              <a:buFont typeface="Arial" panose="020B0604020202090204" pitchFamily="34" charset="0"/>
              <a:buChar char="•"/>
            </a:pPr>
            <a:r>
              <a:rPr lang="en-US" altLang="zh-CN" sz="2000" dirty="0"/>
              <a:t>pain of failure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User perception is influenced by the distribution of failures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 personal computer that crashes frequently, or a machine that is out of service for two days every few years.</a:t>
            </a:r>
            <a:endParaRPr lang="en-US" altLang="zh-CN" sz="2000" dirty="0"/>
          </a:p>
          <a:p>
            <a:pPr marL="800100" lvl="1" indent="-342900">
              <a:buFont typeface="Arial" panose="020B0604020202090204" pitchFamily="34" charset="0"/>
              <a:buChar char="•"/>
            </a:pPr>
            <a:r>
              <a:rPr lang="en-US" altLang="zh-CN" sz="2000" dirty="0"/>
              <a:t>A database system that crashes frequently but comes back quickly with no loss of data, or a system that fails once in three years but data has to be restored from backup.</a:t>
            </a:r>
            <a:endParaRPr lang="en-US" altLang="zh-CN" sz="2000" dirty="0"/>
          </a:p>
          <a:p>
            <a:pPr marL="800100" lvl="1" indent="-342900">
              <a:buFont typeface="Arial" panose="020B0604020202090204" pitchFamily="34" charset="0"/>
              <a:buChar char="•"/>
            </a:pPr>
            <a:r>
              <a:rPr lang="en-US" altLang="zh-CN" sz="2000" dirty="0"/>
              <a:t>A system that does not fail but has unpredictable periods when it runs very slowly. </a:t>
            </a:r>
            <a:endParaRPr lang="en-US" altLang="zh-CN"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Reliability Metrics for Requirements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29732"/>
            <a:ext cx="10946524" cy="40011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Example: ATM card reader</a:t>
            </a:r>
            <a:endParaRPr lang="en-US" altLang="zh-CN" sz="2000" b="1" dirty="0">
              <a:solidFill>
                <a:srgbClr val="515223"/>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1009058" y="1715312"/>
            <a:ext cx="10173884" cy="421700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Metrics: Cost of Improved Reliability</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69652" y="4830394"/>
            <a:ext cx="10946524"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r>
              <a:rPr lang="en-US" altLang="zh-CN" sz="2000" dirty="0"/>
              <a:t>Many supercomputers average 10 hours productive work per day. How do you spend your money to improve reliability? </a:t>
            </a:r>
            <a:endParaRPr lang="en-US" altLang="zh-CN" sz="2000" dirty="0"/>
          </a:p>
        </p:txBody>
      </p:sp>
      <p:pic>
        <p:nvPicPr>
          <p:cNvPr id="5" name="图片 4"/>
          <p:cNvPicPr>
            <a:picLocks noChangeAspect="1"/>
          </p:cNvPicPr>
          <p:nvPr/>
        </p:nvPicPr>
        <p:blipFill>
          <a:blip r:embed="rId1"/>
          <a:stretch>
            <a:fillRect/>
          </a:stretch>
        </p:blipFill>
        <p:spPr>
          <a:xfrm>
            <a:off x="2172140" y="1131665"/>
            <a:ext cx="7847720" cy="375617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Example: Central Computing System</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1600564"/>
            <a:ext cx="10946524" cy="3477875"/>
          </a:xfrm>
          <a:prstGeom prst="rect">
            <a:avLst/>
          </a:prstGeom>
          <a:noFill/>
        </p:spPr>
        <p:txBody>
          <a:bodyPr wrap="square">
            <a:spAutoFit/>
          </a:bodyPr>
          <a:lstStyle/>
          <a:p>
            <a:r>
              <a:rPr lang="en-US" altLang="zh-CN" sz="2000" dirty="0"/>
              <a:t>A central computer system (e.g., a server farm) is vital to an entire organization (e.g., an Internet shopping site). Any failure is serious.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Step 1: Gather data on every failure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Create a database that records every failure</a:t>
            </a:r>
            <a:endParaRPr lang="en-US" altLang="zh-CN" sz="2000" dirty="0"/>
          </a:p>
          <a:p>
            <a:pPr marL="800100" lvl="1" indent="-342900">
              <a:buFont typeface="Arial" panose="020B0604020202090204" pitchFamily="34" charset="0"/>
              <a:buChar char="•"/>
            </a:pPr>
            <a:r>
              <a:rPr lang="en-US" altLang="zh-CN" sz="2000" dirty="0"/>
              <a:t>Analyze every failure: </a:t>
            </a:r>
            <a:endParaRPr lang="en-US" altLang="zh-CN" sz="2000" dirty="0"/>
          </a:p>
          <a:p>
            <a:pPr lvl="2"/>
            <a:r>
              <a:rPr lang="en-US" altLang="zh-CN" sz="2000" dirty="0"/>
              <a:t>hardware </a:t>
            </a:r>
            <a:endParaRPr lang="en-US" altLang="zh-CN" sz="2000" dirty="0"/>
          </a:p>
          <a:p>
            <a:pPr lvl="2"/>
            <a:r>
              <a:rPr lang="en-US" altLang="zh-CN" sz="2000" dirty="0"/>
              <a:t>software (default) </a:t>
            </a:r>
            <a:endParaRPr lang="en-US" altLang="zh-CN" sz="2000" dirty="0"/>
          </a:p>
          <a:p>
            <a:pPr lvl="2"/>
            <a:r>
              <a:rPr lang="en-US" altLang="zh-CN" sz="2000" dirty="0"/>
              <a:t>environment (e.g., power, air conditioning) </a:t>
            </a:r>
            <a:br>
              <a:rPr lang="en-US" altLang="zh-CN" sz="2000" dirty="0"/>
            </a:br>
            <a:r>
              <a:rPr lang="en-US" altLang="zh-CN" sz="2000" dirty="0"/>
              <a:t>human (e.g., operator error)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Example: Central Computing System</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1600564"/>
            <a:ext cx="1094652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Step 2: Analyze the data</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Weekly, monthly, and annual statistics </a:t>
            </a:r>
            <a:endParaRPr lang="en-US" altLang="zh-CN" sz="2000" dirty="0"/>
          </a:p>
          <a:p>
            <a:pPr lvl="2"/>
            <a:r>
              <a:rPr lang="en-US" altLang="zh-CN" sz="2000" dirty="0"/>
              <a:t>Number of failures and interruptions </a:t>
            </a:r>
            <a:endParaRPr lang="en-US" altLang="zh-CN" sz="2000" dirty="0"/>
          </a:p>
          <a:p>
            <a:pPr lvl="2"/>
            <a:r>
              <a:rPr lang="en-US" altLang="zh-CN" sz="2000" dirty="0"/>
              <a:t>Mean time to repair </a:t>
            </a:r>
            <a:endParaRPr lang="en-US" altLang="zh-CN" sz="2000" dirty="0"/>
          </a:p>
          <a:p>
            <a:endParaRPr lang="en-US" altLang="zh-CN" sz="2000" dirty="0"/>
          </a:p>
          <a:p>
            <a:pPr marL="800100" lvl="1" indent="-342900">
              <a:buFont typeface="Arial" panose="020B0604020202090204" pitchFamily="34" charset="0"/>
              <a:buChar char="•"/>
            </a:pPr>
            <a:r>
              <a:rPr lang="en-US" altLang="zh-CN" sz="2000" dirty="0"/>
              <a:t>Graphs of trends by component, e.g., </a:t>
            </a:r>
            <a:endParaRPr lang="en-US" altLang="zh-CN" sz="2000" dirty="0"/>
          </a:p>
          <a:p>
            <a:pPr lvl="2"/>
            <a:r>
              <a:rPr lang="en-US" altLang="zh-CN" sz="2000" dirty="0"/>
              <a:t>Failure rates of disk drives </a:t>
            </a:r>
            <a:endParaRPr lang="en-US" altLang="zh-CN" sz="2000" dirty="0"/>
          </a:p>
          <a:p>
            <a:pPr lvl="2"/>
            <a:r>
              <a:rPr lang="en-US" altLang="zh-CN" sz="2000" dirty="0"/>
              <a:t>Hardware failures after power failures </a:t>
            </a:r>
            <a:endParaRPr lang="en-US" altLang="zh-CN" sz="2000" dirty="0"/>
          </a:p>
          <a:p>
            <a:pPr lvl="2"/>
            <a:r>
              <a:rPr lang="en-US" altLang="zh-CN" sz="2000" dirty="0"/>
              <a:t>Crashes caused by software bugs in each component </a:t>
            </a:r>
            <a:endParaRPr lang="en-US" altLang="zh-CN" sz="2000" dirty="0"/>
          </a:p>
          <a:p>
            <a:pPr lvl="2"/>
            <a:r>
              <a:rPr lang="en-US" altLang="zh-CN" sz="2000" dirty="0"/>
              <a:t>Categories of human error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en-US" altLang="zh-CN" dirty="0"/>
              <a:t>Example: Central Computing System</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2333386"/>
            <a:ext cx="10946524"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Step 3: Invest resources where benefit will be maximum, e.g.,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Priority order for software improvements</a:t>
            </a:r>
            <a:endParaRPr lang="en-US" altLang="zh-CN" sz="2000" dirty="0"/>
          </a:p>
          <a:p>
            <a:pPr marL="800100" lvl="1" indent="-342900">
              <a:buFont typeface="Arial" panose="020B0604020202090204" pitchFamily="34" charset="0"/>
              <a:buChar char="•"/>
            </a:pPr>
            <a:r>
              <a:rPr lang="en-US" altLang="zh-CN" sz="2000" dirty="0"/>
              <a:t>Changed procedures for operators</a:t>
            </a:r>
            <a:endParaRPr lang="en-US" altLang="zh-CN" sz="2000" dirty="0"/>
          </a:p>
          <a:p>
            <a:pPr marL="800100" lvl="1" indent="-342900">
              <a:buFont typeface="Arial" panose="020B0604020202090204" pitchFamily="34" charset="0"/>
              <a:buChar char="•"/>
            </a:pPr>
            <a:r>
              <a:rPr lang="en-US" altLang="zh-CN" sz="2000" dirty="0"/>
              <a:t>Replacement hardware</a:t>
            </a:r>
            <a:endParaRPr lang="en-US" altLang="zh-CN" sz="2000" dirty="0"/>
          </a:p>
          <a:p>
            <a:pPr marL="800100" lvl="1" indent="-342900">
              <a:buFont typeface="Arial" panose="020B0604020202090204" pitchFamily="34" charset="0"/>
              <a:buChar char="•"/>
            </a:pPr>
            <a:r>
              <a:rPr lang="en-US" altLang="zh-CN" sz="2000" dirty="0"/>
              <a:t>Orderly restart after power failure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en-US" altLang="zh-CN" sz="3700" b="1" dirty="0">
                <a:solidFill>
                  <a:schemeClr val="accent1"/>
                </a:solidFill>
                <a:latin typeface="Helvetica" pitchFamily="2" charset="0"/>
                <a:cs typeface="+mn-ea"/>
              </a:rPr>
              <a:t>Verification, Testing, and Bugs</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02</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TWO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14745" cy="790865"/>
          </a:xfrm>
        </p:spPr>
        <p:txBody>
          <a:bodyPr>
            <a:noAutofit/>
          </a:bodyPr>
          <a:lstStyle/>
          <a:p>
            <a:r>
              <a:rPr lang="en-US" altLang="zh-CN" sz="3200" dirty="0"/>
              <a:t>Building Reliable Systems: Two Principles</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515281"/>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For a software system to be reliable:</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Each stage of development must be done well, with incremental verification and testing.</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Testing and correction do not ensure quality, but reliable systems are not possible without thorough testing.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15937" cy="790865"/>
          </a:xfrm>
        </p:spPr>
        <p:txBody>
          <a:bodyPr>
            <a:normAutofit/>
          </a:bodyPr>
          <a:lstStyle/>
          <a:p>
            <a:r>
              <a:rPr lang="en-US" altLang="zh-CN" dirty="0"/>
              <a:t>Static and Dynamic Verification</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205107"/>
            <a:ext cx="11163995"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Static verification: </a:t>
            </a:r>
            <a:endParaRPr lang="en-US" altLang="zh-CN" sz="2000" b="1" dirty="0">
              <a:solidFill>
                <a:srgbClr val="515223"/>
              </a:solidFill>
              <a:latin typeface="Helvetica" pitchFamily="2" charset="0"/>
              <a:cs typeface="Arial" panose="020B0604020202090204" pitchFamily="34" charset="0"/>
            </a:endParaRPr>
          </a:p>
          <a:p>
            <a:r>
              <a:rPr lang="en-US" altLang="zh-CN" sz="2000" dirty="0"/>
              <a:t>Techniques of verification that do not include execution of the software. </a:t>
            </a:r>
            <a:endParaRPr lang="en-US" altLang="zh-CN" sz="2000" dirty="0"/>
          </a:p>
          <a:p>
            <a:pPr lvl="1"/>
            <a:r>
              <a:rPr lang="en-US" altLang="zh-CN" sz="2000" dirty="0"/>
              <a:t>• May be manual or use computer tools.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Dynamic verification: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Testing</a:t>
            </a:r>
            <a:r>
              <a:rPr lang="en-US" altLang="zh-CN" sz="2000" dirty="0"/>
              <a:t> the software with trial data.</a:t>
            </a: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Debugging</a:t>
            </a:r>
            <a:r>
              <a:rPr lang="en-US" altLang="zh-CN" sz="2000" dirty="0"/>
              <a:t> to remove errors.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3194" cy="790865"/>
          </a:xfrm>
        </p:spPr>
        <p:txBody>
          <a:bodyPr>
            <a:noAutofit/>
          </a:bodyPr>
          <a:lstStyle/>
          <a:p>
            <a:r>
              <a:rPr lang="en-US" altLang="zh-CN" dirty="0"/>
              <a:t>Static Verification: Reviews</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539207"/>
            <a:ext cx="11163995" cy="707886"/>
          </a:xfrm>
          <a:prstGeom prst="rect">
            <a:avLst/>
          </a:prstGeom>
          <a:noFill/>
        </p:spPr>
        <p:txBody>
          <a:bodyPr wrap="square">
            <a:spAutoFit/>
          </a:bodyPr>
          <a:lstStyle/>
          <a:p>
            <a:r>
              <a:rPr lang="en-US" altLang="zh-CN" sz="2000" b="1" dirty="0">
                <a:solidFill>
                  <a:srgbClr val="FF0000"/>
                </a:solidFill>
              </a:rPr>
              <a:t>Reviews</a:t>
            </a:r>
            <a:r>
              <a:rPr lang="en-US" altLang="zh-CN" sz="2000" dirty="0">
                <a:solidFill>
                  <a:srgbClr val="FF0000"/>
                </a:solidFill>
              </a:rPr>
              <a:t> </a:t>
            </a:r>
            <a:r>
              <a:rPr lang="en-US" altLang="zh-CN" sz="2000" dirty="0"/>
              <a:t>are a form of static verification that is carried out throughout the software development process.</a:t>
            </a:r>
            <a:endParaRPr lang="en-US" altLang="zh-CN" sz="2000" dirty="0">
              <a:solidFill>
                <a:srgbClr val="FF0000"/>
              </a:solidFill>
            </a:endParaRPr>
          </a:p>
        </p:txBody>
      </p:sp>
      <p:pic>
        <p:nvPicPr>
          <p:cNvPr id="4" name="图片 3"/>
          <p:cNvPicPr>
            <a:picLocks noChangeAspect="1"/>
          </p:cNvPicPr>
          <p:nvPr/>
        </p:nvPicPr>
        <p:blipFill>
          <a:blip r:embed="rId1"/>
          <a:stretch>
            <a:fillRect/>
          </a:stretch>
        </p:blipFill>
        <p:spPr>
          <a:xfrm>
            <a:off x="2213455" y="2524110"/>
            <a:ext cx="7765089" cy="301129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Reviews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0432" y="1138115"/>
            <a:ext cx="10301365" cy="5016758"/>
          </a:xfrm>
          <a:prstGeom prst="rect">
            <a:avLst/>
          </a:prstGeom>
          <a:noFill/>
        </p:spPr>
        <p:txBody>
          <a:bodyPr wrap="square">
            <a:spAutoFit/>
          </a:bodyPr>
          <a:lstStyle/>
          <a:p>
            <a:r>
              <a:rPr lang="en-US" altLang="zh-CN" sz="2000" dirty="0">
                <a:solidFill>
                  <a:srgbClr val="FF0000"/>
                </a:solidFill>
              </a:rPr>
              <a:t>Reviews are a fundamental part of good software development </a:t>
            </a:r>
            <a:endParaRPr lang="en-US" altLang="zh-CN" sz="2000" dirty="0">
              <a:solidFill>
                <a:srgbClr val="FF0000"/>
              </a:solidFill>
            </a:endParaRPr>
          </a:p>
          <a:p>
            <a:endParaRPr lang="en-US" altLang="zh-CN" sz="2000" dirty="0">
              <a:solidFill>
                <a:srgbClr val="FF0000"/>
              </a:solidFill>
            </a:endParaRPr>
          </a:p>
          <a:p>
            <a:r>
              <a:rPr lang="en-US" altLang="zh-CN" sz="2000" b="1" dirty="0">
                <a:solidFill>
                  <a:srgbClr val="515223"/>
                </a:solidFill>
                <a:latin typeface="Helvetica" pitchFamily="2" charset="0"/>
                <a:cs typeface="Arial" panose="020B0604020202090204" pitchFamily="34" charset="0"/>
              </a:rPr>
              <a:t>Concept </a:t>
            </a:r>
            <a:endParaRPr lang="en-US" altLang="zh-CN" sz="2000" b="1" dirty="0">
              <a:solidFill>
                <a:srgbClr val="515223"/>
              </a:solidFill>
              <a:latin typeface="Helvetica" pitchFamily="2" charset="0"/>
              <a:cs typeface="Arial" panose="020B0604020202090204" pitchFamily="34" charset="0"/>
            </a:endParaRPr>
          </a:p>
          <a:p>
            <a:r>
              <a:rPr lang="en-US" altLang="zh-CN" sz="2000" dirty="0"/>
              <a:t>Colleagues review each other's work: </a:t>
            </a:r>
            <a:endParaRPr lang="en-US" altLang="zh-CN" sz="2000" dirty="0"/>
          </a:p>
          <a:p>
            <a:pPr marL="800100" lvl="1" indent="-342900">
              <a:buFont typeface="Arial" panose="020B0604020202090204" pitchFamily="34" charset="0"/>
              <a:buChar char="•"/>
            </a:pPr>
            <a:r>
              <a:rPr lang="en-US" altLang="zh-CN" sz="2000" dirty="0"/>
              <a:t>can be applied to any stage of software development, but particularly valuable to review </a:t>
            </a:r>
            <a:r>
              <a:rPr lang="en-US" altLang="zh-CN" sz="2000" dirty="0">
                <a:solidFill>
                  <a:srgbClr val="FF0000"/>
                </a:solidFill>
              </a:rPr>
              <a:t>program design </a:t>
            </a:r>
            <a:r>
              <a:rPr lang="en-US" altLang="zh-CN" sz="2000" dirty="0"/>
              <a:t>or </a:t>
            </a:r>
            <a:r>
              <a:rPr lang="en-US" altLang="zh-CN" sz="2000" dirty="0">
                <a:solidFill>
                  <a:srgbClr val="FF0000"/>
                </a:solidFill>
              </a:rPr>
              <a:t>code</a:t>
            </a:r>
            <a:endParaRPr lang="en-US" altLang="zh-CN" sz="2000" dirty="0">
              <a:solidFill>
                <a:srgbClr val="FF0000"/>
              </a:solidFill>
            </a:endParaRPr>
          </a:p>
          <a:p>
            <a:pPr marL="800100" lvl="1" indent="-342900">
              <a:buFont typeface="Arial" panose="020B0604020202090204" pitchFamily="34" charset="0"/>
              <a:buChar char="•"/>
            </a:pPr>
            <a:r>
              <a:rPr lang="en-US" altLang="zh-CN" sz="2000" dirty="0"/>
              <a:t>can be formal or informal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Preparation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The developer(s) provides colleagues with documentation (e.g., models, specifications, or design), or code listing. </a:t>
            </a:r>
            <a:endParaRPr lang="en-US" altLang="zh-CN" sz="2000" dirty="0"/>
          </a:p>
          <a:p>
            <a:pPr lvl="1"/>
            <a:r>
              <a:rPr lang="en-US" altLang="zh-CN" sz="2000" dirty="0"/>
              <a:t>Participants study the materials in advance.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Meeting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The developer leads the reviewers through the materials, describing what each section does and encouraging questions.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The Review Meeting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83526" y="1732408"/>
            <a:ext cx="11163995" cy="2862322"/>
          </a:xfrm>
          <a:prstGeom prst="rect">
            <a:avLst/>
          </a:prstGeom>
          <a:noFill/>
        </p:spPr>
        <p:txBody>
          <a:bodyPr wrap="square">
            <a:spAutoFit/>
          </a:bodyPr>
          <a:lstStyle/>
          <a:p>
            <a:r>
              <a:rPr lang="en-US" altLang="zh-CN" sz="2000" dirty="0">
                <a:solidFill>
                  <a:srgbClr val="FF0000"/>
                </a:solidFill>
              </a:rPr>
              <a:t>A review is a structured meeting </a:t>
            </a:r>
            <a:endParaRPr lang="en-US" altLang="zh-CN" sz="2000" dirty="0">
              <a:solidFill>
                <a:srgbClr val="FF0000"/>
              </a:solidFill>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Participants and their roles:</a:t>
            </a:r>
            <a:endParaRPr lang="en-US" altLang="zh-CN" sz="2000" b="1" dirty="0">
              <a:solidFill>
                <a:srgbClr val="515223"/>
              </a:solidFill>
              <a:latin typeface="Helvetica" pitchFamily="2" charset="0"/>
              <a:cs typeface="Arial" panose="020B0604020202090204" pitchFamily="34" charset="0"/>
            </a:endParaRPr>
          </a:p>
          <a:p>
            <a:pPr marL="914400" lvl="1" indent="-457200">
              <a:buFont typeface="Arial" panose="020B0604020202090204" pitchFamily="34" charset="0"/>
              <a:buChar char="•"/>
            </a:pPr>
            <a:r>
              <a:rPr lang="en-US" altLang="zh-CN" sz="2000" dirty="0"/>
              <a:t> </a:t>
            </a:r>
            <a:r>
              <a:rPr lang="en-US" altLang="zh-CN" sz="2000" dirty="0">
                <a:solidFill>
                  <a:srgbClr val="FF0000"/>
                </a:solidFill>
              </a:rPr>
              <a:t>Developer(s): </a:t>
            </a:r>
            <a:r>
              <a:rPr lang="en-US" altLang="zh-CN" sz="2000" dirty="0"/>
              <a:t>person(s) whose work is being reviewed</a:t>
            </a:r>
            <a:endParaRPr lang="en-US" altLang="zh-CN" sz="2000" dirty="0"/>
          </a:p>
          <a:p>
            <a:pPr marL="914400" lvl="1" indent="-457200">
              <a:buFont typeface="Arial" panose="020B0604020202090204" pitchFamily="34" charset="0"/>
              <a:buChar char="•"/>
            </a:pPr>
            <a:r>
              <a:rPr lang="en-US" altLang="zh-CN" sz="2000" dirty="0"/>
              <a:t> </a:t>
            </a:r>
            <a:r>
              <a:rPr lang="en-US" altLang="zh-CN" sz="2000" dirty="0">
                <a:solidFill>
                  <a:srgbClr val="FF0000"/>
                </a:solidFill>
              </a:rPr>
              <a:t>Moderator: </a:t>
            </a:r>
            <a:r>
              <a:rPr lang="en-US" altLang="zh-CN" sz="2000" dirty="0"/>
              <a:t>ensures that the meeting moves ahead steadily</a:t>
            </a:r>
            <a:endParaRPr lang="en-US" altLang="zh-CN" sz="2000" dirty="0"/>
          </a:p>
          <a:p>
            <a:pPr marL="914400" lvl="1" indent="-457200">
              <a:buFont typeface="Arial" panose="020B0604020202090204" pitchFamily="34" charset="0"/>
              <a:buChar char="•"/>
            </a:pPr>
            <a:r>
              <a:rPr lang="en-US" altLang="zh-CN" sz="2000" dirty="0"/>
              <a:t> </a:t>
            </a:r>
            <a:r>
              <a:rPr lang="en-US" altLang="zh-CN" sz="2000" dirty="0">
                <a:solidFill>
                  <a:srgbClr val="FF0000"/>
                </a:solidFill>
              </a:rPr>
              <a:t>Scribe:</a:t>
            </a:r>
            <a:r>
              <a:rPr lang="en-US" altLang="zh-CN" sz="2000" dirty="0"/>
              <a:t> records discussion in a constructive manner</a:t>
            </a:r>
            <a:endParaRPr lang="en-US" altLang="zh-CN" sz="2000" dirty="0"/>
          </a:p>
          <a:p>
            <a:pPr marL="914400" lvl="1" indent="-457200">
              <a:buFont typeface="Arial" panose="020B0604020202090204" pitchFamily="34" charset="0"/>
              <a:buChar char="•"/>
            </a:pPr>
            <a:r>
              <a:rPr lang="en-US" altLang="zh-CN" sz="2000" dirty="0"/>
              <a:t> </a:t>
            </a:r>
            <a:r>
              <a:rPr lang="en-US" altLang="zh-CN" sz="2000" dirty="0">
                <a:solidFill>
                  <a:srgbClr val="FF0000"/>
                </a:solidFill>
              </a:rPr>
              <a:t>Interested parties: </a:t>
            </a:r>
            <a:r>
              <a:rPr lang="en-US" altLang="zh-CN" sz="2000" dirty="0"/>
              <a:t>other developers on the same project</a:t>
            </a:r>
            <a:endParaRPr lang="en-US" altLang="zh-CN" sz="2000" dirty="0"/>
          </a:p>
          <a:p>
            <a:pPr marL="914400" lvl="1" indent="-457200">
              <a:buFont typeface="Arial" panose="020B0604020202090204" pitchFamily="34" charset="0"/>
              <a:buChar char="•"/>
            </a:pPr>
            <a:r>
              <a:rPr lang="en-US" altLang="zh-CN" sz="2000" dirty="0"/>
              <a:t> </a:t>
            </a:r>
            <a:r>
              <a:rPr lang="en-US" altLang="zh-CN" sz="2000" dirty="0">
                <a:solidFill>
                  <a:srgbClr val="FF0000"/>
                </a:solidFill>
              </a:rPr>
              <a:t>Outside experts: </a:t>
            </a:r>
            <a:r>
              <a:rPr lang="en-US" altLang="zh-CN" sz="2000" dirty="0"/>
              <a:t>knowledgeable people who are not working on this project</a:t>
            </a:r>
            <a:endParaRPr lang="en-US" altLang="zh-CN" sz="2000" dirty="0"/>
          </a:p>
          <a:p>
            <a:pPr marL="914400" lvl="1" indent="-457200">
              <a:buFont typeface="Arial" panose="020B0604020202090204" pitchFamily="34" charset="0"/>
              <a:buChar char="•"/>
            </a:pPr>
            <a:r>
              <a:rPr lang="en-US" altLang="zh-CN" sz="2000" dirty="0"/>
              <a:t> </a:t>
            </a:r>
            <a:r>
              <a:rPr lang="en-US" altLang="zh-CN" sz="2000" dirty="0">
                <a:solidFill>
                  <a:srgbClr val="FF0000"/>
                </a:solidFill>
              </a:rPr>
              <a:t>Client: </a:t>
            </a:r>
            <a:r>
              <a:rPr lang="en-US" altLang="zh-CN" sz="2000" dirty="0"/>
              <a:t>representatives of the client who are knowledgeable about this part of the process </a:t>
            </a:r>
            <a:endParaRPr lang="en-US" altLang="zh-CN"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Benefits of Reviews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218011"/>
            <a:ext cx="11163995" cy="193899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Benefits: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Extra eyes spot mistakes, suggest improvements.</a:t>
            </a:r>
            <a:endParaRPr lang="en-US" altLang="zh-CN" sz="2000" dirty="0"/>
          </a:p>
          <a:p>
            <a:pPr marL="800100" lvl="1" indent="-342900">
              <a:buFont typeface="Arial" panose="020B0604020202090204" pitchFamily="34" charset="0"/>
              <a:buChar char="•"/>
            </a:pPr>
            <a:r>
              <a:rPr lang="en-US" altLang="zh-CN" sz="2000" dirty="0"/>
              <a:t>Colleagues share expertise; helps with training.</a:t>
            </a:r>
            <a:endParaRPr lang="en-US" altLang="zh-CN" sz="2000" dirty="0"/>
          </a:p>
          <a:p>
            <a:pPr marL="800100" lvl="1" indent="-342900">
              <a:buFont typeface="Arial" panose="020B0604020202090204" pitchFamily="34" charset="0"/>
              <a:buChar char="•"/>
            </a:pPr>
            <a:r>
              <a:rPr lang="en-US" altLang="zh-CN" sz="2000" dirty="0"/>
              <a:t>Incompatibilities between components can be identified.</a:t>
            </a:r>
            <a:endParaRPr lang="en-US" altLang="zh-CN" sz="2000" dirty="0"/>
          </a:p>
          <a:p>
            <a:pPr marL="800100" lvl="1" indent="-342900">
              <a:buFont typeface="Arial" panose="020B0604020202090204" pitchFamily="34" charset="0"/>
              <a:buChar char="•"/>
            </a:pPr>
            <a:r>
              <a:rPr lang="en-US" altLang="zh-CN" sz="2000" dirty="0"/>
              <a:t>Gives developers an incentive to tidy loose ends.</a:t>
            </a:r>
            <a:endParaRPr lang="en-US" altLang="zh-CN" sz="2000" dirty="0"/>
          </a:p>
          <a:p>
            <a:pPr marL="800100" lvl="1" indent="-342900">
              <a:buFont typeface="Arial" panose="020B0604020202090204" pitchFamily="34" charset="0"/>
              <a:buChar char="•"/>
            </a:pPr>
            <a:r>
              <a:rPr lang="en-US" altLang="zh-CN" sz="2000" dirty="0"/>
              <a:t>Helps scheduling and management control.</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Successful Reviews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548942"/>
            <a:ext cx="11163995" cy="193899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To make a review a success: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Senior team members must show leadership. </a:t>
            </a:r>
            <a:endParaRPr lang="en-US" altLang="zh-CN" sz="2000" dirty="0"/>
          </a:p>
          <a:p>
            <a:pPr marL="800100" lvl="1" indent="-342900">
              <a:buFont typeface="Arial" panose="020B0604020202090204" pitchFamily="34" charset="0"/>
              <a:buChar char="•"/>
            </a:pPr>
            <a:r>
              <a:rPr lang="en-US" altLang="zh-CN" sz="2000" dirty="0"/>
              <a:t>Good reviews require good preparation by everybody.</a:t>
            </a:r>
            <a:endParaRPr lang="en-US" altLang="zh-CN" sz="2000" dirty="0"/>
          </a:p>
          <a:p>
            <a:pPr marL="800100" lvl="1" indent="-342900">
              <a:buFont typeface="Arial" panose="020B0604020202090204" pitchFamily="34" charset="0"/>
              <a:buChar char="•"/>
            </a:pPr>
            <a:r>
              <a:rPr lang="en-US" altLang="zh-CN" sz="2000" dirty="0"/>
              <a:t>Everybody must be helpful, not threatening. </a:t>
            </a:r>
            <a:endParaRPr lang="en-US" altLang="zh-CN" sz="2000" dirty="0"/>
          </a:p>
          <a:p>
            <a:endParaRPr lang="en-US" altLang="zh-CN" sz="2000" dirty="0"/>
          </a:p>
          <a:p>
            <a:r>
              <a:rPr lang="en-US" altLang="zh-CN" sz="2000" dirty="0">
                <a:solidFill>
                  <a:srgbClr val="FF0000"/>
                </a:solidFill>
              </a:rPr>
              <a:t>Allow plenty of time and be prepared to continue on another day.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Static Verification: Pair Design and Pair Programming</a:t>
            </a:r>
            <a:endParaRPr lang="en-US" sz="4400" dirty="0"/>
          </a:p>
        </p:txBody>
      </p:sp>
      <p:sp>
        <p:nvSpPr>
          <p:cNvPr id="5" name="TextBox 3"/>
          <p:cNvSpPr txBox="1"/>
          <p:nvPr/>
        </p:nvSpPr>
        <p:spPr>
          <a:xfrm>
            <a:off x="572375" y="1738307"/>
            <a:ext cx="11163995"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Concept: achieve benefits of review by shared development </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Two people work together as a team:</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design and/or coding</a:t>
            </a:r>
            <a:endParaRPr lang="en-US" altLang="zh-CN" sz="2000" dirty="0"/>
          </a:p>
          <a:p>
            <a:pPr marL="800100" lvl="1" indent="-342900">
              <a:buFont typeface="Arial" panose="020B0604020202090204" pitchFamily="34" charset="0"/>
              <a:buChar char="•"/>
            </a:pPr>
            <a:r>
              <a:rPr lang="en-US" altLang="zh-CN" sz="2000" dirty="0"/>
              <a:t>testing and system integration</a:t>
            </a:r>
            <a:endParaRPr lang="en-US" altLang="zh-CN" sz="2000" dirty="0"/>
          </a:p>
          <a:p>
            <a:pPr marL="800100" lvl="1" indent="-342900">
              <a:buFont typeface="Arial" panose="020B0604020202090204" pitchFamily="34" charset="0"/>
              <a:buChar char="•"/>
            </a:pPr>
            <a:r>
              <a:rPr lang="en-US" altLang="zh-CN" sz="2000" dirty="0"/>
              <a:t>documentation and hand-over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Benefits include:</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two people create better software with fewer mistakes</a:t>
            </a:r>
            <a:endParaRPr lang="en-US" altLang="zh-CN" sz="2000" dirty="0"/>
          </a:p>
          <a:p>
            <a:pPr marL="800100" lvl="1" indent="-342900">
              <a:buFont typeface="Arial" panose="020B0604020202090204" pitchFamily="34" charset="0"/>
              <a:buChar char="•"/>
            </a:pPr>
            <a:r>
              <a:rPr lang="en-US" altLang="zh-CN" sz="2000" dirty="0"/>
              <a:t>cross training </a:t>
            </a:r>
            <a:endParaRPr lang="en-US" altLang="zh-CN" sz="2000" dirty="0"/>
          </a:p>
          <a:p>
            <a:endParaRPr lang="en-US" altLang="zh-CN" sz="2000" dirty="0"/>
          </a:p>
          <a:p>
            <a:r>
              <a:rPr lang="en-US" altLang="zh-CN" sz="2000" dirty="0">
                <a:solidFill>
                  <a:srgbClr val="FF0000"/>
                </a:solidFill>
              </a:rPr>
              <a:t>Many software houses report excellent productivity. </a:t>
            </a:r>
            <a:endParaRPr lang="en-US" altLang="zh-CN" sz="2000" b="1" dirty="0">
              <a:solidFill>
                <a:srgbClr val="FF0000"/>
              </a:solidFill>
              <a:latin typeface="Helvetica" pitchFamily="2" charset="0"/>
              <a:cs typeface="Arial" panose="020B060402020209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81328" y="1176766"/>
            <a:ext cx="3618301" cy="556026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Static Verification: Program Inspections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058893"/>
            <a:ext cx="11163995"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Formal program reviews whose objective is to detect faults: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Code is read or reviewed line by line</a:t>
            </a:r>
            <a:endParaRPr lang="en-US" altLang="zh-CN" sz="2000" dirty="0"/>
          </a:p>
          <a:p>
            <a:pPr marL="800100" lvl="1" indent="-342900">
              <a:buFont typeface="Arial" panose="020B0604020202090204" pitchFamily="34" charset="0"/>
              <a:buChar char="•"/>
            </a:pPr>
            <a:r>
              <a:rPr lang="en-US" altLang="zh-CN" sz="2000" dirty="0"/>
              <a:t>150 to 250 lines of code in 2 hour meeting</a:t>
            </a:r>
            <a:endParaRPr lang="en-US" altLang="zh-CN" sz="2000" dirty="0"/>
          </a:p>
          <a:p>
            <a:pPr marL="800100" lvl="1" indent="-342900">
              <a:buFont typeface="Arial" panose="020B0604020202090204" pitchFamily="34" charset="0"/>
              <a:buChar char="•"/>
            </a:pPr>
            <a:r>
              <a:rPr lang="en-US" altLang="zh-CN" sz="2000" dirty="0"/>
              <a:t>Use checklist of common errors</a:t>
            </a:r>
            <a:endParaRPr lang="en-US" altLang="zh-CN" sz="2000" dirty="0"/>
          </a:p>
          <a:p>
            <a:pPr marL="800100" lvl="1" indent="-342900">
              <a:buFont typeface="Arial" panose="020B0604020202090204" pitchFamily="34" charset="0"/>
              <a:buChar char="•"/>
            </a:pPr>
            <a:r>
              <a:rPr lang="en-US" altLang="zh-CN" sz="2000" dirty="0"/>
              <a:t>Requires team commitment, e.g., trained leaders </a:t>
            </a:r>
            <a:endParaRPr lang="en-US" altLang="zh-CN" sz="2000" dirty="0"/>
          </a:p>
          <a:p>
            <a:endParaRPr lang="en-US" altLang="zh-CN" sz="2000" dirty="0"/>
          </a:p>
          <a:p>
            <a:endParaRPr lang="en-US" altLang="zh-CN" sz="2000" dirty="0"/>
          </a:p>
          <a:p>
            <a:r>
              <a:rPr lang="en-US" altLang="zh-CN" sz="2000" dirty="0">
                <a:solidFill>
                  <a:srgbClr val="FF0000"/>
                </a:solidFill>
              </a:rPr>
              <a:t>So effective that it is claimed that it can replace unit testing.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Static Verification: Analysis Tools</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5" y="1397620"/>
            <a:ext cx="11109085"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Program analyzers scan the source of a program for possible errors and anomalies.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Control flow</a:t>
            </a:r>
            <a:r>
              <a:rPr lang="en-US" altLang="zh-CN" sz="2000" dirty="0"/>
              <a:t>: Loops with multiple exit or entry points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Data use</a:t>
            </a:r>
            <a:r>
              <a:rPr lang="en-US" altLang="zh-CN" sz="2000" dirty="0"/>
              <a:t>: Undeclared or uninitialized variables, unused variables, multiple assignments, array bounds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Interface faults</a:t>
            </a:r>
            <a:r>
              <a:rPr lang="en-US" altLang="zh-CN" sz="2000" dirty="0"/>
              <a:t>: Parameter mismatches, non-use of functions results, uncalled procedures</a:t>
            </a:r>
            <a:endParaRPr lang="en-US" altLang="zh-CN" sz="2000" dirty="0"/>
          </a:p>
          <a:p>
            <a:pPr lvl="1"/>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Storage management</a:t>
            </a:r>
            <a:r>
              <a:rPr lang="en-US" altLang="zh-CN" sz="2000" dirty="0"/>
              <a:t>: Unassigned pointers, pointer arithmetic</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Static Analysis Tools (continued)</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2290675"/>
            <a:ext cx="11163995" cy="193899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Static analysis tools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Cross-reference table</a:t>
            </a:r>
            <a:r>
              <a:rPr lang="en-US" altLang="zh-CN" sz="2000" dirty="0"/>
              <a:t>: Shows every use of a variable, procedure, object, etc.</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Information flow analysis</a:t>
            </a:r>
            <a:r>
              <a:rPr lang="en-US" altLang="zh-CN" sz="2000" dirty="0"/>
              <a:t>: Identifies input variables on which an output depends.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Path analysis</a:t>
            </a:r>
            <a:r>
              <a:rPr lang="en-US" altLang="zh-CN" sz="2000" dirty="0"/>
              <a:t>: Identifies all possible paths through the program. </a:t>
            </a:r>
            <a:endParaRPr lang="en-US" altLang="zh-CN"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itle 1"/>
          <p:cNvSpPr>
            <a:spLocks noGrp="1"/>
          </p:cNvSpPr>
          <p:nvPr>
            <p:ph type="title"/>
          </p:nvPr>
        </p:nvSpPr>
        <p:spPr>
          <a:xfrm>
            <a:off x="1091254" y="237834"/>
            <a:ext cx="9099225" cy="790865"/>
          </a:xfrm>
        </p:spPr>
        <p:txBody>
          <a:bodyPr>
            <a:normAutofit fontScale="90000"/>
          </a:bodyPr>
          <a:lstStyle/>
          <a:p>
            <a:r>
              <a:rPr lang="en-US" altLang="zh-CN" dirty="0"/>
              <a:t>Static Analysis Tools in Programming Toolkits </a:t>
            </a:r>
            <a:endParaRPr lang="en-US" sz="6000" dirty="0"/>
          </a:p>
        </p:txBody>
      </p:sp>
      <p:pic>
        <p:nvPicPr>
          <p:cNvPr id="2" name="图片 1"/>
          <p:cNvPicPr>
            <a:picLocks noChangeAspect="1"/>
          </p:cNvPicPr>
          <p:nvPr/>
        </p:nvPicPr>
        <p:blipFill>
          <a:blip r:embed="rId1"/>
          <a:stretch>
            <a:fillRect/>
          </a:stretch>
        </p:blipFill>
        <p:spPr>
          <a:xfrm>
            <a:off x="1767465" y="1028699"/>
            <a:ext cx="8657070" cy="547163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itle 1"/>
          <p:cNvSpPr>
            <a:spLocks noGrp="1"/>
          </p:cNvSpPr>
          <p:nvPr>
            <p:ph type="title"/>
          </p:nvPr>
        </p:nvSpPr>
        <p:spPr>
          <a:xfrm>
            <a:off x="1091254" y="237834"/>
            <a:ext cx="9099225" cy="790865"/>
          </a:xfrm>
        </p:spPr>
        <p:txBody>
          <a:bodyPr>
            <a:normAutofit fontScale="90000"/>
          </a:bodyPr>
          <a:lstStyle/>
          <a:p>
            <a:r>
              <a:rPr lang="en-US" altLang="zh-CN" dirty="0"/>
              <a:t>Static Analysis Tools in Programming Toolkits </a:t>
            </a:r>
            <a:endParaRPr lang="en-US" sz="6000" dirty="0"/>
          </a:p>
        </p:txBody>
      </p:sp>
      <p:pic>
        <p:nvPicPr>
          <p:cNvPr id="4" name="图片 3"/>
          <p:cNvPicPr>
            <a:picLocks noChangeAspect="1"/>
          </p:cNvPicPr>
          <p:nvPr/>
        </p:nvPicPr>
        <p:blipFill>
          <a:blip r:embed="rId1"/>
          <a:stretch>
            <a:fillRect/>
          </a:stretch>
        </p:blipFill>
        <p:spPr>
          <a:xfrm>
            <a:off x="2128354" y="979559"/>
            <a:ext cx="7935292" cy="537679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Dynamic Verification</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707886"/>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Dynamic Verification</a:t>
            </a:r>
            <a:endParaRPr lang="en-US" sz="2000" b="1" dirty="0">
              <a:solidFill>
                <a:srgbClr val="515223"/>
              </a:solidFill>
              <a:latin typeface="Helvetica" pitchFamily="2" charset="0"/>
              <a:cs typeface="Arial" panose="020B0604020202090204" pitchFamily="34" charset="0"/>
            </a:endParaRPr>
          </a:p>
          <a:p>
            <a:r>
              <a:rPr lang="en-US" sz="2000" dirty="0">
                <a:solidFill>
                  <a:srgbClr val="202122"/>
                </a:solidFill>
                <a:highlight>
                  <a:srgbClr val="FFFFFF"/>
                </a:highlight>
                <a:latin typeface="Arial" panose="020B0604020202090204" pitchFamily="34" charset="0"/>
              </a:rPr>
              <a:t>	E</a:t>
            </a:r>
            <a:r>
              <a:rPr lang="en-US" sz="2000" b="0" i="0" dirty="0">
                <a:solidFill>
                  <a:srgbClr val="202122"/>
                </a:solidFill>
                <a:effectLst/>
                <a:highlight>
                  <a:srgbClr val="FFFFFF"/>
                </a:highlight>
                <a:latin typeface="Arial" panose="020B0604020202090204" pitchFamily="34" charset="0"/>
              </a:rPr>
              <a:t>xecute programmed code with a given set of test cases</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Dynamic Verification</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Testing is most effective if divided into stages </a:t>
            </a:r>
            <a:endParaRPr lang="en-US" altLang="zh-CN" sz="2000" b="1" dirty="0">
              <a:solidFill>
                <a:srgbClr val="515223"/>
              </a:solidFill>
              <a:latin typeface="Helvetica" pitchFamily="2" charset="0"/>
              <a:cs typeface="Arial" panose="020B0604020202090204" pitchFamily="34" charset="0"/>
            </a:endParaRPr>
          </a:p>
          <a:p>
            <a:r>
              <a:rPr lang="en-US" altLang="zh-CN" sz="2000" dirty="0">
                <a:solidFill>
                  <a:srgbClr val="FF0000"/>
                </a:solidFill>
              </a:rPr>
              <a:t>User interface testing (carried out separately) </a:t>
            </a:r>
            <a:endParaRPr lang="en-US" altLang="zh-CN" sz="2000" dirty="0">
              <a:solidFill>
                <a:srgbClr val="FF0000"/>
              </a:solidFill>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Unit testing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unit test </a:t>
            </a:r>
            <a:br>
              <a:rPr lang="en-US" altLang="zh-CN" sz="2000" dirty="0"/>
            </a:br>
            <a:endParaRPr lang="en-US" altLang="zh-CN" sz="2000" dirty="0"/>
          </a:p>
          <a:p>
            <a:r>
              <a:rPr lang="en-US" altLang="zh-CN" sz="2000" b="1" dirty="0">
                <a:solidFill>
                  <a:srgbClr val="515223"/>
                </a:solidFill>
                <a:latin typeface="Helvetica" pitchFamily="2" charset="0"/>
                <a:cs typeface="Arial" panose="020B0604020202090204" pitchFamily="34" charset="0"/>
              </a:rPr>
              <a:t>System testing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integration test</a:t>
            </a:r>
            <a:endParaRPr lang="en-US" altLang="zh-CN" sz="2000" dirty="0"/>
          </a:p>
          <a:p>
            <a:pPr marL="800100" lvl="1" indent="-342900">
              <a:buFont typeface="Arial" panose="020B0604020202090204" pitchFamily="34" charset="0"/>
              <a:buChar char="•"/>
            </a:pPr>
            <a:r>
              <a:rPr lang="en-US" altLang="zh-CN" sz="2000" dirty="0"/>
              <a:t>function test </a:t>
            </a:r>
            <a:endParaRPr lang="en-US" altLang="zh-CN" sz="2000" dirty="0"/>
          </a:p>
          <a:p>
            <a:pPr marL="800100" lvl="1" indent="-342900">
              <a:buFont typeface="Arial" panose="020B0604020202090204" pitchFamily="34" charset="0"/>
              <a:buChar char="•"/>
            </a:pPr>
            <a:r>
              <a:rPr lang="en-US" altLang="zh-CN" sz="2000" dirty="0"/>
              <a:t>performance test </a:t>
            </a:r>
            <a:endParaRPr lang="en-US" altLang="zh-CN" sz="2000" dirty="0"/>
          </a:p>
          <a:p>
            <a:pPr marL="800100" lvl="1" indent="-342900">
              <a:buFont typeface="Arial" panose="020B0604020202090204" pitchFamily="34" charset="0"/>
              <a:buChar char="•"/>
            </a:pPr>
            <a:r>
              <a:rPr lang="en-US" altLang="zh-CN" sz="2000" dirty="0"/>
              <a:t>installation test </a:t>
            </a:r>
            <a:endParaRPr lang="en-US" altLang="zh-CN" sz="2000" dirty="0"/>
          </a:p>
          <a:p>
            <a:endParaRPr lang="en-US" altLang="zh-CN" sz="2000" dirty="0"/>
          </a:p>
          <a:p>
            <a:r>
              <a:rPr lang="en-US" altLang="zh-CN" sz="2000" dirty="0">
                <a:solidFill>
                  <a:srgbClr val="FF0000"/>
                </a:solidFill>
              </a:rPr>
              <a:t>Acceptance testing (carried out separately)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Types of Software Testing </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06754" y="1275585"/>
            <a:ext cx="6653996" cy="50807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Terminologies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34275" y="1221998"/>
            <a:ext cx="12710487"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White/Glass/Open Box Testing </a:t>
            </a:r>
            <a:endParaRPr lang="en-US" altLang="zh-CN" sz="2000" b="1" dirty="0">
              <a:solidFill>
                <a:srgbClr val="515223"/>
              </a:solidFill>
              <a:latin typeface="Helvetica" pitchFamily="2" charset="0"/>
              <a:cs typeface="Arial" panose="020B0604020202090204" pitchFamily="34" charset="0"/>
            </a:endParaRPr>
          </a:p>
          <a:p>
            <a:r>
              <a:rPr lang="en-US" sz="2000" dirty="0"/>
              <a:t>	Involves testing the internal structure and workings of a software application. </a:t>
            </a:r>
            <a:endParaRPr lang="en-US" sz="2000" dirty="0"/>
          </a:p>
          <a:p>
            <a:r>
              <a:rPr lang="en-US" sz="2000" dirty="0"/>
              <a:t>	Tester has access to the source code and uses this knowledge to design test cases</a:t>
            </a:r>
            <a:endParaRPr lang="en-US" sz="2000" dirty="0"/>
          </a:p>
          <a:p>
            <a:r>
              <a:rPr lang="en-US" altLang="zh-CN" sz="2000" dirty="0"/>
              <a:t>	Task owner</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Black/Box Testing </a:t>
            </a:r>
            <a:endParaRPr lang="en-US" altLang="zh-CN" sz="2000" dirty="0"/>
          </a:p>
          <a:p>
            <a:r>
              <a:rPr lang="en-US" altLang="zh-CN" sz="2000" dirty="0"/>
              <a:t>	T</a:t>
            </a:r>
            <a:r>
              <a:rPr lang="en-US" sz="2000" dirty="0"/>
              <a:t>ester is not concerned with the internal knowledge or implementation details of the software</a:t>
            </a:r>
            <a:endParaRPr lang="en-US" sz="2000" dirty="0"/>
          </a:p>
          <a:p>
            <a:r>
              <a:rPr lang="en-US" altLang="zh-CN" sz="2000" dirty="0"/>
              <a:t>	F</a:t>
            </a:r>
            <a:r>
              <a:rPr lang="en-US" sz="2000" dirty="0"/>
              <a:t>ocuses on validating the functionality based on the provided specifications or requirements</a:t>
            </a:r>
            <a:endParaRPr lang="en-US" sz="2000" dirty="0"/>
          </a:p>
          <a:p>
            <a:r>
              <a:rPr lang="en-US" altLang="zh-CN" sz="2000" dirty="0"/>
              <a:t>	Third party tester</a:t>
            </a:r>
            <a:endParaRPr lang="en-US" altLang="zh-CN"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2698" y="4000500"/>
            <a:ext cx="4292600" cy="21336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Terminologies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11415" y="1258963"/>
            <a:ext cx="12710487"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Functional Testing</a:t>
            </a:r>
            <a:endParaRPr lang="en-US" altLang="zh-CN" sz="2000" b="1" dirty="0">
              <a:solidFill>
                <a:srgbClr val="515223"/>
              </a:solidFill>
              <a:latin typeface="Helvetica" pitchFamily="2" charset="0"/>
              <a:cs typeface="Arial" panose="020B0604020202090204" pitchFamily="34" charset="0"/>
            </a:endParaRPr>
          </a:p>
          <a:p>
            <a:r>
              <a:rPr lang="en-US" altLang="zh-CN" sz="2000" dirty="0"/>
              <a:t>	T</a:t>
            </a:r>
            <a:r>
              <a:rPr lang="en-US" sz="2000" dirty="0"/>
              <a:t>est against the functional requirements and specifications</a:t>
            </a:r>
            <a:endParaRPr lang="en-US" sz="2000" dirty="0"/>
          </a:p>
          <a:p>
            <a:r>
              <a:rPr lang="en-US" altLang="zh-CN" sz="2000" dirty="0"/>
              <a:t>	Unit Test/Integration Test/System Test/Smoke Test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Non-Functional Testing</a:t>
            </a:r>
            <a:endParaRPr lang="en-US" altLang="zh-CN" sz="2000" b="1" dirty="0">
              <a:solidFill>
                <a:srgbClr val="515223"/>
              </a:solidFill>
              <a:latin typeface="Helvetica" pitchFamily="2" charset="0"/>
              <a:cs typeface="Arial" panose="020B0604020202090204" pitchFamily="34" charset="0"/>
            </a:endParaRPr>
          </a:p>
          <a:p>
            <a:r>
              <a:rPr lang="en-US" altLang="zh-CN" sz="2000" dirty="0"/>
              <a:t>	T</a:t>
            </a:r>
            <a:r>
              <a:rPr lang="en-US" sz="2000" dirty="0"/>
              <a:t>est against the non-functional requirements and specifications</a:t>
            </a:r>
            <a:endParaRPr lang="en-US" sz="2000" dirty="0"/>
          </a:p>
          <a:p>
            <a:r>
              <a:rPr lang="en-US" altLang="zh-CN" sz="2000" dirty="0"/>
              <a:t>	Performance, Usability, Security, etc.</a:t>
            </a:r>
            <a:endParaRPr lang="en-US" altLang="zh-CN"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10020" y="3915040"/>
            <a:ext cx="5130800" cy="2032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Terminologies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324865" y="2830085"/>
            <a:ext cx="11720461"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Integration Test</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	</a:t>
            </a:r>
            <a:r>
              <a:rPr lang="en-US" altLang="zh-CN" sz="2000" dirty="0"/>
              <a:t>T</a:t>
            </a:r>
            <a:r>
              <a:rPr lang="en-US" sz="2000" dirty="0"/>
              <a:t>esting units or components of a software application interact with each other</a:t>
            </a:r>
            <a:endParaRPr lang="en-US" sz="2000" dirty="0"/>
          </a:p>
          <a:p>
            <a:r>
              <a:rPr lang="en-US" sz="2000" dirty="0"/>
              <a:t>	Incremental Test/Non-incremental Test (Big Bang Test)</a:t>
            </a:r>
            <a:endParaRPr lang="en-US" sz="2000" dirty="0"/>
          </a:p>
        </p:txBody>
      </p:sp>
      <p:sp>
        <p:nvSpPr>
          <p:cNvPr id="4" name="TextBox 3"/>
          <p:cNvSpPr txBox="1"/>
          <p:nvPr/>
        </p:nvSpPr>
        <p:spPr>
          <a:xfrm>
            <a:off x="385825" y="5170516"/>
            <a:ext cx="11720461"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System Test</a:t>
            </a:r>
            <a:endParaRPr lang="en-US" sz="2000" dirty="0"/>
          </a:p>
          <a:p>
            <a:r>
              <a:rPr lang="en-US" sz="2000" dirty="0"/>
              <a:t>	Testing that evaluates the overall functionality and performance of a complete and fully 	integrated software solution</a:t>
            </a:r>
            <a:endParaRPr lang="en-US" sz="2000" dirty="0"/>
          </a:p>
        </p:txBody>
      </p:sp>
      <p:sp>
        <p:nvSpPr>
          <p:cNvPr id="5" name="TextBox 3"/>
          <p:cNvSpPr txBox="1"/>
          <p:nvPr/>
        </p:nvSpPr>
        <p:spPr>
          <a:xfrm>
            <a:off x="324866" y="1028699"/>
            <a:ext cx="11720461"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Unit Test</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	</a:t>
            </a:r>
            <a:r>
              <a:rPr lang="en-US" altLang="zh-CN" sz="2000" dirty="0"/>
              <a:t>T</a:t>
            </a:r>
            <a:r>
              <a:rPr lang="en-US" sz="2000" dirty="0"/>
              <a:t>esting individual units or components of a software application</a:t>
            </a:r>
            <a:endParaRPr lang="en-US" sz="2000" dirty="0"/>
          </a:p>
          <a:p>
            <a:r>
              <a:rPr lang="en-US" altLang="zh-CN" sz="2000" dirty="0"/>
              <a:t>	Test data is usually chosen by developer(s) based on their understanding of specification and 	knowledge of the unit. </a:t>
            </a:r>
            <a:endParaRPr lang="en-US" altLang="zh-CN" sz="2000" dirty="0"/>
          </a:p>
          <a:p>
            <a:r>
              <a:rPr lang="en-US" altLang="zh-CN" sz="2000" dirty="0"/>
              <a:t>	Created by the developer(s) of the unit or by special testers. </a:t>
            </a:r>
            <a:endParaRPr lang="en-US" altLang="zh-CN" sz="2000"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28600" y="16195"/>
            <a:ext cx="3863400" cy="1234142"/>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313" y="3845748"/>
            <a:ext cx="5557106" cy="143637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Unit Test Design</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724776" y="1580140"/>
            <a:ext cx="9618104"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Testing can never prove that a system is correct. </a:t>
            </a:r>
            <a:endParaRPr lang="en-US" altLang="zh-CN" sz="2000" b="1" dirty="0">
              <a:solidFill>
                <a:srgbClr val="515223"/>
              </a:solidFill>
              <a:latin typeface="Helvetica" pitchFamily="2" charset="0"/>
              <a:cs typeface="Arial" panose="020B0604020202090204" pitchFamily="34" charset="0"/>
            </a:endParaRPr>
          </a:p>
          <a:p>
            <a:r>
              <a:rPr lang="en-US" altLang="zh-CN" sz="2000" dirty="0"/>
              <a:t>It can only show that either (a) a system is correct in a single case, or (b) that it has an error. </a:t>
            </a:r>
            <a:endParaRPr lang="en-US" altLang="zh-CN" sz="2000" dirty="0"/>
          </a:p>
          <a:p>
            <a:pPr marL="800100" lvl="1" indent="-342900">
              <a:buFont typeface="Arial" panose="020B0604020202090204" pitchFamily="34" charset="0"/>
              <a:buChar char="•"/>
            </a:pPr>
            <a:r>
              <a:rPr lang="en-US" altLang="zh-CN" sz="2000" dirty="0"/>
              <a:t>The objective of testing is to find errors or demonstrate that program is correct in specific instances.</a:t>
            </a:r>
            <a:endParaRPr lang="en-US" altLang="zh-CN" sz="2000" dirty="0"/>
          </a:p>
          <a:p>
            <a:pPr marL="800100" lvl="1" indent="-342900">
              <a:buFont typeface="Arial" panose="020B0604020202090204" pitchFamily="34" charset="0"/>
              <a:buChar char="•"/>
            </a:pPr>
            <a:r>
              <a:rPr lang="en-US" altLang="zh-CN" sz="2000" dirty="0"/>
              <a:t>Testing is never comprehensive.</a:t>
            </a:r>
            <a:endParaRPr lang="en-US" altLang="zh-CN" sz="2000" dirty="0"/>
          </a:p>
          <a:p>
            <a:pPr marL="800100" lvl="1" indent="-342900">
              <a:buFont typeface="Arial" panose="020B0604020202090204" pitchFamily="34" charset="0"/>
              <a:buChar char="•"/>
            </a:pPr>
            <a:r>
              <a:rPr lang="en-US" altLang="zh-CN" sz="2000" dirty="0"/>
              <a:t>Testing is expensive.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Test Cases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831814" y="1143852"/>
            <a:ext cx="9618104"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Test cases </a:t>
            </a:r>
            <a:r>
              <a:rPr lang="en-US" altLang="zh-CN" sz="2000" dirty="0"/>
              <a:t>are specific tests that are chosen because they </a:t>
            </a:r>
            <a:r>
              <a:rPr lang="en-US" altLang="zh-CN" sz="2000" b="1" dirty="0">
                <a:solidFill>
                  <a:srgbClr val="515223"/>
                </a:solidFill>
                <a:latin typeface="Helvetica" pitchFamily="2" charset="0"/>
                <a:cs typeface="Arial" panose="020B0604020202090204" pitchFamily="34" charset="0"/>
              </a:rPr>
              <a:t>are likely to find specific problems. </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dirty="0"/>
              <a:t>Test cases are chosen to balance expense against chance of finding serious errors.</a:t>
            </a:r>
            <a:endParaRPr lang="en-US" altLang="zh-CN" sz="2000" dirty="0"/>
          </a:p>
          <a:p>
            <a:pPr marL="800100" lvl="1" indent="-342900">
              <a:buFont typeface="Arial" panose="020B0604020202090204" pitchFamily="34" charset="0"/>
              <a:buChar char="•"/>
            </a:pPr>
            <a:r>
              <a:rPr lang="en-US" altLang="zh-CN" sz="2000" dirty="0"/>
              <a:t>Cases chosen by the </a:t>
            </a:r>
            <a:r>
              <a:rPr lang="en-US" altLang="zh-CN" sz="2000" dirty="0">
                <a:solidFill>
                  <a:srgbClr val="FF0000"/>
                </a:solidFill>
              </a:rPr>
              <a:t>development team </a:t>
            </a:r>
            <a:r>
              <a:rPr lang="en-US" altLang="zh-CN" sz="2000" dirty="0"/>
              <a:t>are effective in testing known vulnerable areas.</a:t>
            </a:r>
            <a:endParaRPr lang="en-US" altLang="zh-CN" sz="2000" dirty="0"/>
          </a:p>
          <a:p>
            <a:pPr marL="800100" lvl="1" indent="-342900">
              <a:buFont typeface="Arial" panose="020B0604020202090204" pitchFamily="34" charset="0"/>
              <a:buChar char="•"/>
            </a:pPr>
            <a:r>
              <a:rPr lang="en-US" altLang="zh-CN" sz="2000" dirty="0"/>
              <a:t>Cases chosen by </a:t>
            </a:r>
            <a:r>
              <a:rPr lang="en-US" altLang="zh-CN" sz="2000" dirty="0">
                <a:solidFill>
                  <a:srgbClr val="FF0000"/>
                </a:solidFill>
              </a:rPr>
              <a:t>experienced outsiders and clients </a:t>
            </a:r>
            <a:r>
              <a:rPr lang="en-US" altLang="zh-CN" sz="2000" dirty="0"/>
              <a:t>will be effective in finding gaps left by the developers.</a:t>
            </a:r>
            <a:endParaRPr lang="en-US" altLang="zh-CN" sz="2000" dirty="0"/>
          </a:p>
          <a:p>
            <a:pPr marL="800100" lvl="1" indent="-342900">
              <a:buFont typeface="Arial" panose="020B0604020202090204" pitchFamily="34" charset="0"/>
              <a:buChar char="•"/>
            </a:pPr>
            <a:r>
              <a:rPr lang="en-US" altLang="zh-CN" sz="2000" dirty="0"/>
              <a:t>Cases chosen by </a:t>
            </a:r>
            <a:r>
              <a:rPr lang="en-US" altLang="zh-CN" sz="2000" dirty="0">
                <a:solidFill>
                  <a:srgbClr val="FF0000"/>
                </a:solidFill>
              </a:rPr>
              <a:t>inexperienced users </a:t>
            </a:r>
            <a:r>
              <a:rPr lang="en-US" altLang="zh-CN" sz="2000" dirty="0"/>
              <a:t>will find other errors. </a:t>
            </a:r>
            <a:endParaRPr lang="en-US" altLang="zh-CN" sz="2000" b="1" dirty="0">
              <a:solidFill>
                <a:srgbClr val="FF0000"/>
              </a:solidFill>
              <a:latin typeface="Helvetica" pitchFamily="2" charset="0"/>
              <a:cs typeface="Arial" panose="020B0604020202090204" pitchFamily="34" charset="0"/>
            </a:endParaRPr>
          </a:p>
        </p:txBody>
      </p:sp>
      <p:sp>
        <p:nvSpPr>
          <p:cNvPr id="4" name="TextBox 3"/>
          <p:cNvSpPr txBox="1"/>
          <p:nvPr/>
        </p:nvSpPr>
        <p:spPr>
          <a:xfrm>
            <a:off x="831814" y="4089754"/>
            <a:ext cx="9618104"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Test coverage </a:t>
            </a:r>
            <a:r>
              <a:rPr lang="en-US" altLang="zh-CN" sz="2000" dirty="0"/>
              <a:t>are w</a:t>
            </a:r>
            <a:r>
              <a:rPr lang="en-US" sz="2000" dirty="0"/>
              <a:t>ays to measure "how much code" was tested</a:t>
            </a:r>
            <a:endParaRPr lang="en-US" sz="2000" dirty="0"/>
          </a:p>
          <a:p>
            <a:r>
              <a:rPr lang="en-US" sz="2000" dirty="0"/>
              <a:t>	Statement (line) coverage</a:t>
            </a:r>
            <a:endParaRPr lang="en-US" sz="2000" dirty="0"/>
          </a:p>
          <a:p>
            <a:r>
              <a:rPr lang="en-US" sz="2000" dirty="0"/>
              <a:t>	Branch coverage</a:t>
            </a:r>
            <a:endParaRPr lang="en-US" sz="2000" dirty="0"/>
          </a:p>
          <a:p>
            <a:r>
              <a:rPr lang="en-US" sz="2000" dirty="0"/>
              <a:t>	Path coverage</a:t>
            </a:r>
            <a:endParaRPr lang="en-US" sz="2000" dirty="0"/>
          </a:p>
          <a:p>
            <a:r>
              <a:rPr lang="en-US" altLang="zh-CN" sz="2000" b="1" dirty="0">
                <a:solidFill>
                  <a:srgbClr val="515223"/>
                </a:solidFill>
                <a:latin typeface="Helvetica" pitchFamily="2" charset="0"/>
                <a:cs typeface="Arial" panose="020B0604020202090204" pitchFamily="34" charset="0"/>
              </a:rPr>
              <a:t>	</a:t>
            </a:r>
            <a:r>
              <a:rPr lang="en-US" altLang="zh-CN" sz="2000" dirty="0"/>
              <a:t>…</a:t>
            </a:r>
            <a:endParaRPr lang="en-US" altLang="zh-CN"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Statement Coverage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72216" y="1758940"/>
            <a:ext cx="7631904" cy="374142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Branch Coverage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26920" y="1652111"/>
            <a:ext cx="7772400" cy="3810297"/>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Path Coverage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44035" y="1290377"/>
            <a:ext cx="8724900" cy="427724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Fuzz Test</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538275" y="1221823"/>
            <a:ext cx="10152982" cy="2554545"/>
          </a:xfrm>
          <a:prstGeom prst="rect">
            <a:avLst/>
          </a:prstGeom>
          <a:noFill/>
        </p:spPr>
        <p:txBody>
          <a:bodyPr wrap="square">
            <a:spAutoFit/>
          </a:bodyPr>
          <a:lstStyle/>
          <a:p>
            <a:r>
              <a:rPr lang="en-US" sz="2000" dirty="0"/>
              <a:t>Give program random input, look for crashes, assertion violations</a:t>
            </a:r>
            <a:endParaRPr lang="en-US" sz="2000" dirty="0"/>
          </a:p>
          <a:p>
            <a:endParaRPr lang="en-US" sz="2000" dirty="0"/>
          </a:p>
          <a:p>
            <a:r>
              <a:rPr lang="en-US" sz="2000" dirty="0"/>
              <a:t>Increased in popularity in 2010s; very effective at finding security vulnerabilities</a:t>
            </a:r>
            <a:endParaRPr lang="en-US" sz="2000" dirty="0"/>
          </a:p>
          <a:p>
            <a:endParaRPr lang="en-US" sz="2000" dirty="0"/>
          </a:p>
          <a:p>
            <a:r>
              <a:rPr lang="en-US" sz="2000" dirty="0"/>
              <a:t>Can be enhanced with coverage feedback (construct input that exercises particular branches)</a:t>
            </a:r>
            <a:endParaRPr lang="en-US" sz="2000" dirty="0"/>
          </a:p>
          <a:p>
            <a:r>
              <a:rPr lang="en-US" sz="2000" dirty="0"/>
              <a:t>	Use genetic algorithms, </a:t>
            </a:r>
            <a:endParaRPr lang="en-US" sz="2000" dirty="0"/>
          </a:p>
          <a:p>
            <a:r>
              <a:rPr lang="en-US" sz="2000" dirty="0"/>
              <a:t>	neural networks</a:t>
            </a: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Unit Test: A Java Example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9807" y="1410193"/>
            <a:ext cx="3037490" cy="647998"/>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5546" y="2609479"/>
            <a:ext cx="5359400" cy="26797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Unit Test: A Java Example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2602" y="1241096"/>
            <a:ext cx="5691998" cy="2574159"/>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0960" y="3311633"/>
            <a:ext cx="3517900" cy="28321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Unit Test: A Java Example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74900" y="1455015"/>
            <a:ext cx="7772400" cy="447501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Unit Test: A Java Example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13" name="TextBox 12"/>
          <p:cNvSpPr txBox="1"/>
          <p:nvPr/>
        </p:nvSpPr>
        <p:spPr>
          <a:xfrm>
            <a:off x="0" y="1617518"/>
            <a:ext cx="12412718" cy="1785104"/>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Run unittest with command line</a:t>
            </a:r>
            <a:endParaRPr lang="en-US" sz="2000" b="1" dirty="0">
              <a:solidFill>
                <a:srgbClr val="515223"/>
              </a:solidFill>
              <a:latin typeface="Helvetica" pitchFamily="2" charset="0"/>
              <a:cs typeface="Arial" panose="020B0604020202090204" pitchFamily="34" charset="0"/>
            </a:endParaRPr>
          </a:p>
          <a:p>
            <a:endParaRPr lang="en-US" dirty="0"/>
          </a:p>
          <a:p>
            <a:r>
              <a:rPr lang="en-US" dirty="0"/>
              <a:t>$ javac -d target -cp target:junit-platform-console-standalone-1.7.2.jar  /Path/to/Folder/FactorialTest.java</a:t>
            </a:r>
            <a:endParaRPr lang="en-US" dirty="0"/>
          </a:p>
          <a:p>
            <a:endParaRPr lang="en-US" dirty="0"/>
          </a:p>
          <a:p>
            <a:r>
              <a:rPr lang="en-US" dirty="0"/>
              <a:t>$ java -jar junit-platform-console-standalone-1.7.2.jar --class-path target --select-class </a:t>
            </a:r>
            <a:r>
              <a:rPr lang="en-US" dirty="0"/>
              <a:t>Path.to.Folder.FactorialTest.java</a:t>
            </a:r>
            <a:endParaRPr lang="en-US" dirty="0"/>
          </a:p>
          <a:p>
            <a:endParaRPr lang="en-US" dirty="0"/>
          </a:p>
        </p:txBody>
      </p:sp>
      <p:sp>
        <p:nvSpPr>
          <p:cNvPr id="14" name="TextBox 13"/>
          <p:cNvSpPr txBox="1"/>
          <p:nvPr/>
        </p:nvSpPr>
        <p:spPr>
          <a:xfrm>
            <a:off x="84082" y="4525542"/>
            <a:ext cx="12412718" cy="984885"/>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R</a:t>
            </a:r>
            <a:r>
              <a:rPr lang="en-US" sz="2000" b="1" dirty="0">
                <a:solidFill>
                  <a:srgbClr val="515223"/>
                </a:solidFill>
                <a:latin typeface="Helvetica" pitchFamily="2" charset="0"/>
                <a:cs typeface="Arial" panose="020B0604020202090204" pitchFamily="34" charset="0"/>
              </a:rPr>
              <a:t>un unittest with </a:t>
            </a:r>
            <a:r>
              <a:rPr lang="en-US" sz="2000" b="1" dirty="0">
                <a:solidFill>
                  <a:srgbClr val="C00000"/>
                </a:solidFill>
                <a:latin typeface="Helvetica" pitchFamily="2" charset="0"/>
                <a:cs typeface="Arial" panose="020B0604020202090204" pitchFamily="34" charset="0"/>
              </a:rPr>
              <a:t>Maven</a:t>
            </a:r>
            <a:r>
              <a:rPr lang="en-US" sz="2000" b="1" dirty="0">
                <a:solidFill>
                  <a:srgbClr val="515223"/>
                </a:solidFill>
                <a:latin typeface="Helvetica" pitchFamily="2" charset="0"/>
                <a:cs typeface="Arial" panose="020B0604020202090204" pitchFamily="34" charset="0"/>
              </a:rPr>
              <a:t> as build tool</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dirty="0"/>
              <a:t>$ </a:t>
            </a:r>
            <a:r>
              <a:rPr lang="en-US" dirty="0" err="1"/>
              <a:t>mvn</a:t>
            </a:r>
            <a:r>
              <a:rPr lang="en-US" dirty="0"/>
              <a:t> test -</a:t>
            </a:r>
            <a:r>
              <a:rPr lang="en-US" dirty="0" err="1"/>
              <a:t>Dtest</a:t>
            </a:r>
            <a:r>
              <a:rPr lang="en-US" dirty="0"/>
              <a:t>=</a:t>
            </a:r>
            <a:r>
              <a:rPr lang="en-US" dirty="0"/>
              <a:t> FactorialTest</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Unit Test: A Java Example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84580" y="1811173"/>
            <a:ext cx="6222840" cy="3447914"/>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System and Integration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47790" y="1244222"/>
            <a:ext cx="9618104" cy="3170099"/>
          </a:xfrm>
          <a:prstGeom prst="rect">
            <a:avLst/>
          </a:prstGeom>
          <a:noFill/>
        </p:spPr>
        <p:txBody>
          <a:bodyPr wrap="square">
            <a:spAutoFit/>
          </a:bodyPr>
          <a:lstStyle/>
          <a:p>
            <a:r>
              <a:rPr lang="en-US" altLang="zh-CN" sz="2000" dirty="0"/>
              <a:t>Tests on components or complete system, combining units that have already been thoroughly tested. </a:t>
            </a:r>
            <a:endParaRPr lang="en-US" altLang="zh-CN" sz="2000" dirty="0"/>
          </a:p>
          <a:p>
            <a:r>
              <a:rPr lang="en-US" altLang="zh-CN" sz="2000" dirty="0"/>
              <a:t>Emphasis on integration and interfaces. </a:t>
            </a:r>
            <a:endParaRPr lang="en-US" altLang="zh-CN" sz="2000" dirty="0"/>
          </a:p>
          <a:p>
            <a:r>
              <a:rPr lang="en-US" altLang="zh-CN" sz="2000" dirty="0"/>
              <a:t>Trial data that is typical of the actual data, and/or stresses the boundaries of the system, e.g., failures, restart. </a:t>
            </a:r>
            <a:endParaRPr lang="en-US" altLang="zh-CN" sz="2000" dirty="0"/>
          </a:p>
          <a:p>
            <a:r>
              <a:rPr lang="en-US" altLang="zh-CN" sz="2000" dirty="0"/>
              <a:t>Carried out systematically, adding components until the entire system is assembled. </a:t>
            </a:r>
            <a:endParaRPr lang="en-US" altLang="zh-CN" sz="2000" dirty="0"/>
          </a:p>
          <a:p>
            <a:r>
              <a:rPr lang="en-US" altLang="zh-CN" sz="2000" dirty="0">
                <a:solidFill>
                  <a:srgbClr val="FF0000"/>
                </a:solidFill>
              </a:rPr>
              <a:t>	Can be black or white box</a:t>
            </a:r>
            <a:r>
              <a:rPr lang="en-US" altLang="zh-CN" sz="2000" dirty="0"/>
              <a:t>: by development team or by special testers. </a:t>
            </a:r>
            <a:endParaRPr lang="en-US" altLang="zh-CN" sz="2000" dirty="0"/>
          </a:p>
          <a:p>
            <a:endParaRPr lang="en-US" altLang="zh-CN" sz="2000" dirty="0"/>
          </a:p>
          <a:p>
            <a:r>
              <a:rPr lang="en-US" altLang="zh-CN" sz="2000" dirty="0">
                <a:solidFill>
                  <a:srgbClr val="FF0000"/>
                </a:solidFill>
              </a:rPr>
              <a:t>System testing is finished fastest if each component is completely debugged before assembling the next. </a:t>
            </a:r>
            <a:endParaRPr lang="en-US" altLang="zh-CN" sz="2000" b="1" dirty="0">
              <a:solidFill>
                <a:srgbClr val="FF0000"/>
              </a:solidFill>
              <a:latin typeface="Helvetica" pitchFamily="2" charset="0"/>
              <a:cs typeface="Arial" panose="020B060402020209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62313" y="4937620"/>
            <a:ext cx="5557106" cy="1436370"/>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6514" y="4525857"/>
            <a:ext cx="2324045" cy="233214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fr-FR" altLang="zh-CN" dirty="0"/>
              <a:t>Incremental Testing (e.g., Daily Testing)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1161962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Spiral development and incremental testing</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	Create a first iteration that has the structure of the final system and some basic functionality</a:t>
            </a:r>
            <a:endParaRPr lang="en-US" altLang="zh-CN" sz="2000" dirty="0"/>
          </a:p>
          <a:p>
            <a:pPr lvl="1"/>
            <a:r>
              <a:rPr lang="en-US" altLang="zh-CN" sz="2000" dirty="0"/>
              <a:t>	Create an initial set of test cases</a:t>
            </a:r>
            <a:endParaRPr lang="en-US" altLang="zh-CN" sz="2000" dirty="0"/>
          </a:p>
          <a:p>
            <a:pPr lvl="1"/>
            <a:r>
              <a:rPr lang="en-US" altLang="zh-CN" sz="2000" dirty="0"/>
              <a:t>	Check-in changes to the system on a daily basis, rebuild entire system daily</a:t>
            </a:r>
            <a:endParaRPr lang="en-US" altLang="zh-CN" sz="2000" dirty="0"/>
          </a:p>
          <a:p>
            <a:pPr lvl="1"/>
            <a:r>
              <a:rPr lang="en-US" altLang="zh-CN" sz="2000" dirty="0"/>
              <a:t>	Run a comprehensive set of test cases daily, identify and deal with any new errors</a:t>
            </a:r>
            <a:endParaRPr lang="en-US" altLang="zh-CN" sz="2000" dirty="0"/>
          </a:p>
          <a:p>
            <a:pPr lvl="1"/>
            <a:r>
              <a:rPr lang="en-US" altLang="zh-CN" sz="2000" dirty="0"/>
              <a:t>	Add new test cases continually</a:t>
            </a:r>
            <a:endParaRPr lang="en-US" altLang="zh-CN" sz="2000" dirty="0"/>
          </a:p>
          <a:p>
            <a:endParaRPr lang="en-US" altLang="zh-CN" sz="2000" dirty="0"/>
          </a:p>
          <a:p>
            <a:r>
              <a:rPr lang="en-US" altLang="zh-CN" sz="2000" dirty="0">
                <a:solidFill>
                  <a:srgbClr val="FF0000"/>
                </a:solidFill>
              </a:rPr>
              <a:t>Many large software houses, e.g., Microsoft, follow this procedure with a daily build of the entire system and comprehensive sets of test cases. For a really big system this may require hundreds or even thousands of test computers and a very large staff of testers.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29196" y="1084231"/>
            <a:ext cx="9618104" cy="2862322"/>
          </a:xfrm>
          <a:prstGeom prst="rect">
            <a:avLst/>
          </a:prstGeom>
          <a:noFill/>
        </p:spPr>
        <p:txBody>
          <a:bodyPr wrap="square">
            <a:spAutoFit/>
          </a:bodyPr>
          <a:lstStyle/>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Bottom-up testing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	Each unit is tested with its own test environment. Used for all systems.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Top-down testing </a:t>
            </a:r>
            <a:endParaRPr lang="en-US" altLang="zh-CN" sz="2000" b="1" dirty="0">
              <a:solidFill>
                <a:srgbClr val="515223"/>
              </a:solidFill>
              <a:latin typeface="Helvetica" pitchFamily="2" charset="0"/>
              <a:cs typeface="Arial" panose="020B0604020202090204" pitchFamily="34" charset="0"/>
            </a:endParaRPr>
          </a:p>
          <a:p>
            <a:pPr lvl="2"/>
            <a:r>
              <a:rPr lang="en-US" altLang="zh-CN" sz="2000" dirty="0"/>
              <a:t>Large components are tested with dummy stubs. Particularly useful for:</a:t>
            </a:r>
            <a:endParaRPr lang="en-US" altLang="zh-CN" sz="2000" dirty="0"/>
          </a:p>
          <a:p>
            <a:pPr lvl="2"/>
            <a:r>
              <a:rPr lang="en-US" altLang="zh-CN" sz="2000" dirty="0"/>
              <a:t>	user interfaces</a:t>
            </a:r>
            <a:endParaRPr lang="en-US" altLang="zh-CN" sz="2000" dirty="0"/>
          </a:p>
          <a:p>
            <a:pPr lvl="3"/>
            <a:r>
              <a:rPr lang="en-US" altLang="zh-CN" sz="2000" dirty="0"/>
              <a:t>	work-flow</a:t>
            </a:r>
            <a:endParaRPr lang="en-US" altLang="zh-CN" sz="2000" dirty="0"/>
          </a:p>
          <a:p>
            <a:pPr lvl="3"/>
            <a:r>
              <a:rPr lang="en-US" altLang="zh-CN" sz="2000" dirty="0"/>
              <a:t>	client and management demonstrations </a:t>
            </a:r>
            <a:endParaRPr lang="en-US" altLang="zh-CN"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555479" y="0"/>
            <a:ext cx="2588595" cy="2037644"/>
          </a:xfrm>
          <a:prstGeom prst="rect">
            <a:avLst/>
          </a:prstGeom>
        </p:spPr>
      </p:pic>
      <p:sp>
        <p:nvSpPr>
          <p:cNvPr id="8" name="Title 1"/>
          <p:cNvSpPr txBox="1"/>
          <p:nvPr/>
        </p:nvSpPr>
        <p:spPr>
          <a:xfrm>
            <a:off x="1213175" y="148356"/>
            <a:ext cx="9099225"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微软雅黑" panose="020B0503020204020204" pitchFamily="34" charset="-122"/>
                <a:cs typeface="Arial" panose="020B0604020202090204" pitchFamily="34" charset="0"/>
              </a:defRPr>
            </a:lvl1pPr>
          </a:lstStyle>
          <a:p>
            <a:r>
              <a:rPr lang="en-US" altLang="zh-CN" dirty="0"/>
              <a:t>Terminologies</a:t>
            </a:r>
            <a:endParaRPr lang="en-US" sz="6000"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496" y="4239429"/>
            <a:ext cx="4175523" cy="2116920"/>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1139" y="4621359"/>
            <a:ext cx="1211648" cy="173499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Incremental Testing: an Example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4401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r>
              <a:rPr lang="en-US" altLang="zh-CN" sz="2000" dirty="0"/>
              <a:t>A calendar package consisting of a several modules</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Starting point </a:t>
            </a:r>
            <a:endParaRPr lang="en-US" altLang="zh-CN" sz="2000" b="1" dirty="0">
              <a:solidFill>
                <a:srgbClr val="515223"/>
              </a:solidFill>
              <a:latin typeface="Helvetica" pitchFamily="2" charset="0"/>
              <a:cs typeface="Arial" panose="020B0604020202090204" pitchFamily="34" charset="0"/>
            </a:endParaRPr>
          </a:p>
          <a:p>
            <a:r>
              <a:rPr lang="en-US" altLang="zh-CN" sz="2000" dirty="0"/>
              <a:t>A prototype with a good overall structure, and most of the functionality, but hastily coded and not robust.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Approach </a:t>
            </a:r>
            <a:endParaRPr lang="en-US" altLang="zh-CN" sz="2000" b="1" dirty="0">
              <a:solidFill>
                <a:srgbClr val="515223"/>
              </a:solidFill>
              <a:latin typeface="Helvetica" pitchFamily="2" charset="0"/>
              <a:cs typeface="Arial" panose="020B0604020202090204" pitchFamily="34" charset="0"/>
            </a:endParaRPr>
          </a:p>
          <a:p>
            <a:r>
              <a:rPr lang="en-US" altLang="zh-CN" sz="2000" dirty="0"/>
              <a:t>On a daily cycle:</a:t>
            </a:r>
            <a:endParaRPr lang="en-US" altLang="zh-CN" sz="2000" dirty="0"/>
          </a:p>
          <a:p>
            <a:pPr lvl="1"/>
            <a:r>
              <a:rPr lang="en-US" altLang="zh-CN" sz="2000" dirty="0"/>
              <a:t>	Design and code one small part of the package </a:t>
            </a:r>
            <a:endParaRPr lang="en-US" altLang="zh-CN" sz="2000" dirty="0"/>
          </a:p>
          <a:p>
            <a:pPr lvl="1"/>
            <a:r>
              <a:rPr lang="en-US" altLang="zh-CN" sz="2000" dirty="0"/>
              <a:t>		e.g., an interface, a dummy stub</a:t>
            </a:r>
            <a:endParaRPr lang="en-US" altLang="zh-CN" sz="2000" dirty="0"/>
          </a:p>
          <a:p>
            <a:pPr lvl="1"/>
            <a:r>
              <a:rPr lang="en-US" altLang="zh-CN" sz="2000" dirty="0"/>
              <a:t>	Integrate into prototype</a:t>
            </a:r>
            <a:endParaRPr lang="en-US" altLang="zh-CN" sz="2000" dirty="0"/>
          </a:p>
          <a:p>
            <a:pPr lvl="1"/>
            <a:r>
              <a:rPr lang="en-US" altLang="zh-CN" sz="2000" dirty="0"/>
              <a:t>	Create additional test cases if needed</a:t>
            </a:r>
            <a:endParaRPr lang="en-US" altLang="zh-CN" sz="2000" dirty="0"/>
          </a:p>
          <a:p>
            <a:pPr lvl="1"/>
            <a:r>
              <a:rPr lang="en-US" altLang="zh-CN" sz="2000" dirty="0"/>
              <a:t>	Regression test</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8" name="Title 1"/>
          <p:cNvSpPr txBox="1"/>
          <p:nvPr/>
        </p:nvSpPr>
        <p:spPr>
          <a:xfrm>
            <a:off x="1213175" y="148356"/>
            <a:ext cx="9099225"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微软雅黑" panose="020B0503020204020204" pitchFamily="34" charset="-122"/>
                <a:cs typeface="Arial" panose="020B0604020202090204" pitchFamily="34" charset="0"/>
              </a:defRPr>
            </a:lvl1pPr>
          </a:lstStyle>
          <a:p>
            <a:r>
              <a:rPr lang="en-US" altLang="zh-CN" dirty="0"/>
              <a:t>Bottom up vs. Top-Down</a:t>
            </a:r>
            <a:endParaRPr lang="en-US" sz="6000"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7852" y="1864891"/>
            <a:ext cx="6449208" cy="4375310"/>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2270" y="939221"/>
            <a:ext cx="6626860" cy="3442153"/>
          </a:xfrm>
          <a:prstGeom prst="rect">
            <a:avLst/>
          </a:prstGeom>
        </p:spPr>
      </p:pic>
      <p:sp>
        <p:nvSpPr>
          <p:cNvPr id="2" name="Right Arrow 1"/>
          <p:cNvSpPr/>
          <p:nvPr/>
        </p:nvSpPr>
        <p:spPr>
          <a:xfrm rot="7295926">
            <a:off x="4869180" y="3587595"/>
            <a:ext cx="609600" cy="411480"/>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257800" y="2191836"/>
            <a:ext cx="6831330" cy="9829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Regression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86676" y="1707365"/>
            <a:ext cx="9618104" cy="1323439"/>
          </a:xfrm>
          <a:prstGeom prst="rect">
            <a:avLst/>
          </a:prstGeom>
          <a:noFill/>
        </p:spPr>
        <p:txBody>
          <a:bodyPr wrap="square">
            <a:spAutoFit/>
          </a:bodyPr>
          <a:lstStyle/>
          <a:p>
            <a:r>
              <a:rPr lang="en-US" altLang="zh-CN" sz="2000" dirty="0"/>
              <a:t>When software is modified, a </a:t>
            </a:r>
            <a:r>
              <a:rPr lang="en-US" altLang="zh-CN" sz="2000" dirty="0">
                <a:solidFill>
                  <a:srgbClr val="FF0000"/>
                </a:solidFill>
              </a:rPr>
              <a:t>regression test </a:t>
            </a:r>
            <a:r>
              <a:rPr lang="en-US" altLang="zh-CN" sz="2000" dirty="0"/>
              <a:t>is used to check that modifications behave as intended and do not adversely affect the behavior of unmodified code. </a:t>
            </a:r>
            <a:endParaRPr lang="en-US" altLang="zh-CN" sz="2000" dirty="0"/>
          </a:p>
          <a:p>
            <a:endParaRPr lang="en-US" altLang="zh-CN" sz="2000" dirty="0"/>
          </a:p>
          <a:p>
            <a:r>
              <a:rPr lang="en-US" altLang="zh-CN" sz="2000" dirty="0">
                <a:solidFill>
                  <a:srgbClr val="FF0000"/>
                </a:solidFill>
              </a:rPr>
              <a:t>After every change, however small, rerun the entire testing suite.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Regression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296820"/>
            <a:ext cx="11430572" cy="4401205"/>
          </a:xfrm>
          <a:prstGeom prst="rect">
            <a:avLst/>
          </a:prstGeom>
          <a:noFill/>
        </p:spPr>
        <p:txBody>
          <a:bodyPr wrap="square">
            <a:spAutoFit/>
          </a:bodyPr>
          <a:lstStyle/>
          <a:p>
            <a:r>
              <a:rPr lang="en-US" altLang="zh-CN" sz="2000" dirty="0"/>
              <a:t>Collect a </a:t>
            </a:r>
            <a:r>
              <a:rPr lang="en-US" altLang="zh-CN" sz="2000" dirty="0">
                <a:solidFill>
                  <a:srgbClr val="FF0000"/>
                </a:solidFill>
              </a:rPr>
              <a:t>suite of test cases</a:t>
            </a:r>
            <a:r>
              <a:rPr lang="en-US" altLang="zh-CN" sz="2000" dirty="0"/>
              <a:t>, each with its expected behavior. </a:t>
            </a:r>
            <a:endParaRPr lang="en-US" altLang="zh-CN" sz="2000" dirty="0"/>
          </a:p>
          <a:p>
            <a:pPr marL="342900" indent="-342900">
              <a:buFont typeface="Arial" panose="020B0604020202090204" pitchFamily="34" charset="0"/>
              <a:buChar char="•"/>
            </a:pPr>
            <a:endParaRPr lang="en-US" altLang="zh-CN" sz="2000" dirty="0"/>
          </a:p>
          <a:p>
            <a:r>
              <a:rPr lang="en-US" altLang="zh-CN" sz="2000" dirty="0"/>
              <a:t>Create scripts to run all test cases and compare with expected behavior. (Scripts may be automatic or have human interaction.)</a:t>
            </a:r>
            <a:endParaRPr lang="en-US" altLang="zh-CN" sz="2000" dirty="0"/>
          </a:p>
          <a:p>
            <a:pPr marL="342900" indent="-342900">
              <a:buFont typeface="Arial" panose="020B0604020202090204" pitchFamily="34" charset="0"/>
              <a:buChar char="•"/>
            </a:pPr>
            <a:endParaRPr lang="en-US" altLang="zh-CN" sz="2000" dirty="0"/>
          </a:p>
          <a:p>
            <a:r>
              <a:rPr lang="en-US" altLang="zh-CN" sz="2000" dirty="0"/>
              <a:t>When a change is made to the system, however small (e.g., a bug is fixed), add a new test case that illustrates the change (e.g., a test case that revealed the bug).</a:t>
            </a:r>
            <a:endParaRPr lang="en-US" altLang="zh-CN" sz="2000" dirty="0"/>
          </a:p>
          <a:p>
            <a:pPr marL="342900" indent="-342900">
              <a:buFont typeface="Arial" panose="020B0604020202090204" pitchFamily="34" charset="0"/>
              <a:buChar char="•"/>
            </a:pPr>
            <a:endParaRPr lang="en-US" altLang="zh-CN" sz="2000" dirty="0"/>
          </a:p>
          <a:p>
            <a:r>
              <a:rPr lang="en-US" altLang="zh-CN" sz="2000" dirty="0"/>
              <a:t>Before releasing the changed code, </a:t>
            </a:r>
            <a:r>
              <a:rPr lang="en-US" altLang="zh-CN" sz="2000" dirty="0">
                <a:solidFill>
                  <a:srgbClr val="FF0000"/>
                </a:solidFill>
              </a:rPr>
              <a:t>rerun the entire test suite</a:t>
            </a:r>
            <a:endParaRPr lang="en-US" altLang="zh-CN" sz="2000" dirty="0">
              <a:solidFill>
                <a:srgbClr val="FF0000"/>
              </a:solidFill>
            </a:endParaRPr>
          </a:p>
          <a:p>
            <a:pPr marL="342900" indent="-342900">
              <a:buFont typeface="Arial" panose="020B0604020202090204" pitchFamily="34" charset="0"/>
              <a:buChar char="•"/>
            </a:pPr>
            <a:endParaRPr lang="en-US" altLang="zh-CN" sz="2000" b="1" dirty="0">
              <a:solidFill>
                <a:srgbClr val="FF0000"/>
              </a:solidFill>
              <a:latin typeface="Helvetica" pitchFamily="2" charset="0"/>
              <a:cs typeface="Arial" panose="020B0604020202090204" pitchFamily="34" charset="0"/>
            </a:endParaRPr>
          </a:p>
          <a:p>
            <a:r>
              <a:rPr lang="en-US" altLang="zh-CN" sz="2000" dirty="0"/>
              <a:t>Often comes with </a:t>
            </a:r>
            <a:r>
              <a:rPr lang="en-US" altLang="zh-CN" sz="2000" b="1" dirty="0">
                <a:solidFill>
                  <a:srgbClr val="C00000"/>
                </a:solidFill>
              </a:rPr>
              <a:t>Smoke Test</a:t>
            </a:r>
            <a:endParaRPr lang="en-US" altLang="zh-CN" sz="2000" b="1" dirty="0">
              <a:solidFill>
                <a:srgbClr val="C00000"/>
              </a:solidFill>
            </a:endParaRPr>
          </a:p>
          <a:p>
            <a:pPr lvl="1"/>
            <a:r>
              <a:rPr lang="en-US" altLang="zh-CN" sz="2000" b="1" dirty="0">
                <a:solidFill>
                  <a:srgbClr val="C00000"/>
                </a:solidFill>
              </a:rPr>
              <a:t>	</a:t>
            </a:r>
            <a:r>
              <a:rPr lang="en-US" altLang="zh-CN" sz="2000" dirty="0"/>
              <a:t>Quickly go through the suite of basic test cases</a:t>
            </a:r>
            <a:endParaRPr lang="en-US" altLang="zh-CN" sz="2000" dirty="0"/>
          </a:p>
          <a:p>
            <a:pPr lvl="1"/>
            <a:r>
              <a:rPr lang="en-US" altLang="zh-CN" sz="2000" dirty="0"/>
              <a:t>	M</a:t>
            </a:r>
            <a:r>
              <a:rPr lang="en-US" sz="2000" dirty="0"/>
              <a:t>ake sure that the software under testing is ready or stable for further testing </a:t>
            </a:r>
            <a:br>
              <a:rPr lang="en-US" sz="2000" dirty="0"/>
            </a:br>
            <a:r>
              <a:rPr lang="en-US" sz="2000" dirty="0"/>
              <a:t>	</a:t>
            </a:r>
            <a:endParaRPr lang="en-US" altLang="zh-CN"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sz="3600" dirty="0"/>
              <a:t>Continuous </a:t>
            </a:r>
            <a:r>
              <a:rPr lang="en-US" dirty="0"/>
              <a:t>I</a:t>
            </a:r>
            <a:r>
              <a:rPr lang="en-US" sz="3600" dirty="0"/>
              <a:t>ntegration (CI)</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296820"/>
            <a:ext cx="11430572" cy="3477875"/>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Build and test whole systems regularly </a:t>
            </a:r>
            <a:endParaRPr lang="en-US" sz="2000" b="1" dirty="0">
              <a:solidFill>
                <a:srgbClr val="515223"/>
              </a:solidFill>
              <a:latin typeface="Helvetica" pitchFamily="2" charset="0"/>
              <a:cs typeface="Arial" panose="020B0604020202090204" pitchFamily="34" charset="0"/>
            </a:endParaRPr>
          </a:p>
          <a:p>
            <a:r>
              <a:rPr lang="en-US" sz="2000" dirty="0"/>
              <a:t>	Discover issues earlier </a:t>
            </a:r>
            <a:endParaRPr lang="en-US" sz="2000" dirty="0"/>
          </a:p>
          <a:p>
            <a:pPr lvl="1"/>
            <a:r>
              <a:rPr lang="en-US" sz="2000" dirty="0"/>
              <a:t>	Reduce integration pain through automation and isolation of issues </a:t>
            </a:r>
            <a:endParaRPr lang="en-US" sz="2000" dirty="0"/>
          </a:p>
          <a:p>
            <a:pPr lvl="1"/>
            <a:r>
              <a:rPr lang="en-US" sz="2000" dirty="0"/>
              <a:t>	Test beyond single developer's resources </a:t>
            </a:r>
            <a:endParaRPr lang="en-US" sz="2000" dirty="0"/>
          </a:p>
          <a:p>
            <a:pPr lvl="1"/>
            <a:r>
              <a:rPr lang="en-US" sz="2000" dirty="0"/>
              <a:t>	Eliminate reliance on developers' discipline </a:t>
            </a:r>
            <a:endParaRPr lang="en-US" sz="2000" dirty="0"/>
          </a:p>
          <a:p>
            <a:pPr lvl="1"/>
            <a:r>
              <a:rPr lang="en-US" sz="2000" dirty="0"/>
              <a:t>	Continuously monitor readiness of code </a:t>
            </a:r>
            <a:endParaRPr lang="en-US" sz="2000" dirty="0"/>
          </a:p>
          <a:p>
            <a:pPr lvl="1"/>
            <a:endParaRPr lang="en-US" sz="2000" dirty="0"/>
          </a:p>
          <a:p>
            <a:r>
              <a:rPr lang="en-US" sz="2000" b="1" dirty="0">
                <a:solidFill>
                  <a:srgbClr val="515223"/>
                </a:solidFill>
                <a:latin typeface="Helvetica" pitchFamily="2" charset="0"/>
                <a:cs typeface="Arial" panose="020B0604020202090204" pitchFamily="34" charset="0"/>
              </a:rPr>
              <a:t>Applies to both development and release</a:t>
            </a:r>
            <a:endParaRPr lang="en-US" sz="2000" b="1" dirty="0">
              <a:solidFill>
                <a:srgbClr val="515223"/>
              </a:solidFill>
              <a:latin typeface="Helvetica" pitchFamily="2" charset="0"/>
              <a:cs typeface="Arial" panose="020B0604020202090204" pitchFamily="34" charset="0"/>
            </a:endParaRPr>
          </a:p>
          <a:p>
            <a:r>
              <a:rPr lang="en-US" sz="2000" dirty="0"/>
              <a:t> 	Continuous </a:t>
            </a:r>
            <a:r>
              <a:rPr lang="en-US" sz="2000" dirty="0" err="1"/>
              <a:t>build+test</a:t>
            </a:r>
            <a:endParaRPr lang="en-US" sz="2000" dirty="0"/>
          </a:p>
          <a:p>
            <a:r>
              <a:rPr lang="en-US" sz="2000" dirty="0"/>
              <a:t>	Continuous delivery</a:t>
            </a:r>
            <a:br>
              <a:rPr lang="en-US" sz="2000" dirty="0"/>
            </a:br>
            <a:r>
              <a:rPr lang="en-US" sz="2000" dirty="0"/>
              <a:t>	</a:t>
            </a:r>
            <a:endParaRPr lang="en-US" altLang="zh-CN"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dirty="0"/>
              <a:t>CI Decisions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1009981" y="1244568"/>
            <a:ext cx="11430572" cy="4401205"/>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How to compose systems along release workflow </a:t>
            </a:r>
            <a:endParaRPr lang="en-US" sz="2000" b="1" dirty="0">
              <a:solidFill>
                <a:srgbClr val="515223"/>
              </a:solidFill>
              <a:latin typeface="Helvetica" pitchFamily="2" charset="0"/>
              <a:cs typeface="Arial" panose="020B0604020202090204" pitchFamily="34" charset="0"/>
            </a:endParaRPr>
          </a:p>
          <a:p>
            <a:endParaRPr lang="en-US" sz="2000" dirty="0"/>
          </a:p>
          <a:p>
            <a:r>
              <a:rPr lang="en-US" sz="2000" b="1" dirty="0">
                <a:solidFill>
                  <a:srgbClr val="515223"/>
                </a:solidFill>
                <a:latin typeface="Helvetica" pitchFamily="2" charset="0"/>
                <a:cs typeface="Arial" panose="020B0604020202090204" pitchFamily="34" charset="0"/>
              </a:rPr>
              <a:t>Which tests to run when along release workflow</a:t>
            </a:r>
            <a:endParaRPr lang="en-US" sz="2000" b="1" dirty="0">
              <a:solidFill>
                <a:srgbClr val="515223"/>
              </a:solidFill>
              <a:latin typeface="Helvetica" pitchFamily="2" charset="0"/>
              <a:cs typeface="Arial" panose="020B0604020202090204" pitchFamily="34" charset="0"/>
            </a:endParaRPr>
          </a:p>
          <a:p>
            <a:endParaRPr lang="en-US" sz="2000" dirty="0"/>
          </a:p>
          <a:p>
            <a:r>
              <a:rPr lang="en-US" sz="2000" b="1" dirty="0">
                <a:solidFill>
                  <a:srgbClr val="515223"/>
                </a:solidFill>
                <a:latin typeface="Helvetica" pitchFamily="2" charset="0"/>
                <a:cs typeface="Arial" panose="020B0604020202090204" pitchFamily="34" charset="0"/>
              </a:rPr>
              <a:t>Typical Setup</a:t>
            </a:r>
            <a:endParaRPr lang="en-US" sz="2000" b="1" dirty="0">
              <a:solidFill>
                <a:srgbClr val="515223"/>
              </a:solidFill>
              <a:latin typeface="Helvetica" pitchFamily="2" charset="0"/>
              <a:cs typeface="Arial" panose="020B0604020202090204" pitchFamily="34" charset="0"/>
            </a:endParaRPr>
          </a:p>
          <a:p>
            <a:r>
              <a:rPr lang="en-US" sz="2000" dirty="0"/>
              <a:t>	Pre-submit test suite gates all merges</a:t>
            </a:r>
            <a:endParaRPr lang="en-US" sz="2000" dirty="0"/>
          </a:p>
          <a:p>
            <a:r>
              <a:rPr lang="en-US" sz="2000" dirty="0"/>
              <a:t>		Compilation and fast tests relevant to affected code </a:t>
            </a:r>
            <a:endParaRPr lang="en-US" sz="2000" dirty="0"/>
          </a:p>
          <a:p>
            <a:endParaRPr lang="en-US" sz="2000" dirty="0"/>
          </a:p>
          <a:p>
            <a:r>
              <a:rPr lang="en-US" sz="2000" dirty="0"/>
              <a:t>	Post-submit test suite verifies subset of commits on trunk </a:t>
            </a:r>
            <a:endParaRPr lang="en-US" sz="2000" dirty="0"/>
          </a:p>
          <a:p>
            <a:r>
              <a:rPr lang="en-US" sz="2000" dirty="0"/>
              <a:t>		Contains larger, more integrated tests </a:t>
            </a:r>
            <a:endParaRPr lang="en-US" sz="2000" dirty="0"/>
          </a:p>
          <a:p>
            <a:r>
              <a:rPr lang="en-US" sz="2000" dirty="0"/>
              <a:t>		</a:t>
            </a:r>
            <a:endParaRPr lang="en-US" sz="2000" dirty="0"/>
          </a:p>
          <a:p>
            <a:r>
              <a:rPr lang="en-US" sz="2000" dirty="0"/>
              <a:t>	Release promotion pipeline verifies candidates for release </a:t>
            </a:r>
            <a:endParaRPr lang="en-US" sz="2000" dirty="0"/>
          </a:p>
          <a:p>
            <a:r>
              <a:rPr lang="en-US" sz="2000" dirty="0"/>
              <a:t>		Contains even larger tests, may require dedicated resources</a:t>
            </a:r>
            <a:br>
              <a:rPr lang="en-US" sz="2000" dirty="0"/>
            </a:br>
            <a:r>
              <a:rPr lang="en-US" sz="2000" dirty="0"/>
              <a:t>	</a:t>
            </a:r>
            <a:endParaRPr lang="en-US" altLang="zh-CN"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dirty="0"/>
              <a:t>Automation, Speed, &amp; Infrastructure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1009981" y="1244568"/>
            <a:ext cx="11430572" cy="5016758"/>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Tests must be automated and reliable </a:t>
            </a:r>
            <a:endParaRPr lang="en-US" sz="2000" b="1" dirty="0">
              <a:solidFill>
                <a:srgbClr val="515223"/>
              </a:solidFill>
              <a:latin typeface="Helvetica" pitchFamily="2" charset="0"/>
              <a:cs typeface="Arial" panose="020B0604020202090204" pitchFamily="34" charset="0"/>
            </a:endParaRPr>
          </a:p>
          <a:p>
            <a:r>
              <a:rPr lang="en-US" sz="2000" dirty="0"/>
              <a:t>	Ideally completely reproducible</a:t>
            </a:r>
            <a:endParaRPr lang="en-US" sz="2000" dirty="0"/>
          </a:p>
          <a:p>
            <a:endParaRPr lang="en-US" sz="2000" dirty="0"/>
          </a:p>
          <a:p>
            <a:r>
              <a:rPr lang="en-US" sz="2000" b="1" dirty="0">
                <a:solidFill>
                  <a:srgbClr val="515223"/>
                </a:solidFill>
                <a:latin typeface="Helvetica" pitchFamily="2" charset="0"/>
                <a:cs typeface="Arial" panose="020B0604020202090204" pitchFamily="34" charset="0"/>
              </a:rPr>
              <a:t>Most steps must be fast to avoid impeding productivity</a:t>
            </a:r>
            <a:endParaRPr lang="en-US" sz="2000" b="1" dirty="0">
              <a:solidFill>
                <a:srgbClr val="515223"/>
              </a:solidFill>
              <a:latin typeface="Helvetica" pitchFamily="2" charset="0"/>
              <a:cs typeface="Arial" panose="020B0604020202090204" pitchFamily="34" charset="0"/>
            </a:endParaRPr>
          </a:p>
          <a:p>
            <a:r>
              <a:rPr lang="en-US" sz="2000" dirty="0"/>
              <a:t>	Cache build products</a:t>
            </a:r>
            <a:endParaRPr lang="en-US" sz="2000" dirty="0"/>
          </a:p>
          <a:p>
            <a:r>
              <a:rPr lang="en-US" sz="2000" dirty="0"/>
              <a:t>	Skip unaffected tests</a:t>
            </a:r>
            <a:endParaRPr lang="en-US" sz="2000" dirty="0"/>
          </a:p>
          <a:p>
            <a:r>
              <a:rPr lang="en-US" sz="2000" dirty="0"/>
              <a:t>	Parallelize &amp; invest in compute resources</a:t>
            </a:r>
            <a:endParaRPr lang="en-US" sz="2000" dirty="0"/>
          </a:p>
          <a:p>
            <a:endParaRPr lang="en-US" sz="2000" dirty="0"/>
          </a:p>
          <a:p>
            <a:r>
              <a:rPr lang="en-US" sz="2000" b="1" dirty="0">
                <a:solidFill>
                  <a:srgbClr val="515223"/>
                </a:solidFill>
                <a:latin typeface="Helvetica" pitchFamily="2" charset="0"/>
                <a:cs typeface="Arial" panose="020B0604020202090204" pitchFamily="34" charset="0"/>
              </a:rPr>
              <a:t>Benefits from tooling</a:t>
            </a:r>
            <a:endParaRPr lang="en-US" sz="2000" b="1" dirty="0">
              <a:solidFill>
                <a:srgbClr val="515223"/>
              </a:solidFill>
              <a:latin typeface="Helvetica" pitchFamily="2" charset="0"/>
              <a:cs typeface="Arial" panose="020B0604020202090204" pitchFamily="34" charset="0"/>
            </a:endParaRPr>
          </a:p>
          <a:p>
            <a:r>
              <a:rPr lang="en-US" sz="2000" dirty="0"/>
              <a:t>	Integration with version control and code review</a:t>
            </a:r>
            <a:endParaRPr lang="en-US" sz="2000" dirty="0"/>
          </a:p>
          <a:p>
            <a:r>
              <a:rPr lang="en-US" sz="2000" dirty="0"/>
              <a:t>		Pre-merge and pre-release gates</a:t>
            </a:r>
            <a:endParaRPr lang="en-US" sz="2000" dirty="0"/>
          </a:p>
          <a:p>
            <a:r>
              <a:rPr lang="en-US" sz="2000" dirty="0"/>
              <a:t>		"Last-known-good" branch (new work should branch from here, not trunk)</a:t>
            </a:r>
            <a:endParaRPr lang="en-US" sz="2000" dirty="0"/>
          </a:p>
          <a:p>
            <a:r>
              <a:rPr lang="en-US" sz="2000" dirty="0"/>
              <a:t>	Bisect breakages</a:t>
            </a:r>
            <a:endParaRPr lang="en-US" sz="2000" dirty="0"/>
          </a:p>
          <a:p>
            <a:r>
              <a:rPr lang="en-US" sz="2000" dirty="0"/>
              <a:t>	Log all results</a:t>
            </a:r>
            <a:endParaRPr lang="en-US" sz="2000" dirty="0"/>
          </a:p>
          <a:p>
            <a:r>
              <a:rPr lang="en-US" sz="2000" dirty="0"/>
              <a:t>	Automatically rerun flaky tests</a:t>
            </a:r>
            <a:br>
              <a:rPr lang="en-US" sz="2000" dirty="0"/>
            </a:br>
            <a:r>
              <a:rPr lang="en-US" sz="2000" dirty="0"/>
              <a:t>	</a:t>
            </a:r>
            <a:endParaRPr lang="en-US" altLang="zh-CN"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31952" y="5053054"/>
            <a:ext cx="5626100" cy="4572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Non-Functional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23820" y="4114800"/>
            <a:ext cx="4376057" cy="2743200"/>
          </a:xfrm>
          <a:prstGeom prst="rect">
            <a:avLst/>
          </a:prstGeom>
        </p:spPr>
      </p:pic>
      <p:sp>
        <p:nvSpPr>
          <p:cNvPr id="9" name="TextBox 3"/>
          <p:cNvSpPr txBox="1"/>
          <p:nvPr/>
        </p:nvSpPr>
        <p:spPr>
          <a:xfrm>
            <a:off x="653398" y="1294477"/>
            <a:ext cx="11060182"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Performance Test</a:t>
            </a:r>
            <a:endParaRPr lang="en-US" altLang="zh-CN" sz="2000" b="1" dirty="0">
              <a:solidFill>
                <a:srgbClr val="515223"/>
              </a:solidFill>
              <a:latin typeface="Helvetica" pitchFamily="2" charset="0"/>
              <a:cs typeface="Arial" panose="020B0604020202090204" pitchFamily="34" charset="0"/>
            </a:endParaRPr>
          </a:p>
          <a:p>
            <a:r>
              <a:rPr lang="en-US" sz="2000" dirty="0"/>
              <a:t>	Ensures software applications perform properly under their expected workload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Usability Test</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	</a:t>
            </a:r>
            <a:r>
              <a:rPr lang="en-US" sz="2000" dirty="0"/>
              <a:t>To understand whether the machine is ready to come on the market</a:t>
            </a:r>
            <a:endParaRPr lang="en-US" altLang="zh-CN" sz="2000" dirty="0"/>
          </a:p>
          <a:p>
            <a:r>
              <a:rPr lang="en-US" altLang="zh-CN" sz="2000" b="1" dirty="0">
                <a:solidFill>
                  <a:srgbClr val="515223"/>
                </a:solidFill>
                <a:latin typeface="Helvetica" pitchFamily="2" charset="0"/>
                <a:cs typeface="Arial" panose="020B0604020202090204" pitchFamily="34" charset="0"/>
              </a:rPr>
              <a:t>	</a:t>
            </a:r>
            <a:endParaRPr lang="en-US" altLang="zh-CN" sz="2000" dirty="0"/>
          </a:p>
          <a:p>
            <a:r>
              <a:rPr lang="en-US" altLang="zh-CN" sz="2000" b="1" dirty="0">
                <a:solidFill>
                  <a:srgbClr val="515223"/>
                </a:solidFill>
                <a:latin typeface="Helvetica" pitchFamily="2" charset="0"/>
                <a:cs typeface="Arial" panose="020B0604020202090204" pitchFamily="34" charset="0"/>
              </a:rPr>
              <a:t>Compatibility</a:t>
            </a:r>
            <a:endParaRPr lang="en-US" altLang="zh-CN" sz="2000" b="1" dirty="0">
              <a:solidFill>
                <a:srgbClr val="515223"/>
              </a:solidFill>
              <a:latin typeface="Helvetica" pitchFamily="2" charset="0"/>
              <a:cs typeface="Arial" panose="020B0604020202090204" pitchFamily="34" charset="0"/>
            </a:endParaRPr>
          </a:p>
          <a:p>
            <a:r>
              <a:rPr lang="en-US" sz="2000" dirty="0"/>
              <a:t>	To check its compatibility (running capability) on different platforms/environments.</a:t>
            </a:r>
            <a:endParaRPr lang="en-US" altLang="zh-CN"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Bug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1009497" y="1192378"/>
            <a:ext cx="7417415" cy="4278094"/>
          </a:xfrm>
          <a:prstGeom prst="rect">
            <a:avLst/>
          </a:prstGeom>
          <a:noFill/>
        </p:spPr>
        <p:txBody>
          <a:bodyPr wrap="none" rtlCol="0">
            <a:spAutoFit/>
          </a:bodyPr>
          <a:lstStyle/>
          <a:p>
            <a:r>
              <a:rPr lang="en-US" sz="2000" b="1" dirty="0">
                <a:solidFill>
                  <a:srgbClr val="515223"/>
                </a:solidFill>
                <a:latin typeface="Helvetica" pitchFamily="2" charset="0"/>
                <a:cs typeface="Arial" panose="020B0604020202090204" pitchFamily="34" charset="0"/>
              </a:rPr>
              <a:t>Does not meet deadlines / satisfy SLA</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Responsiveness, smoothness do not meet requirements </a:t>
            </a:r>
            <a:endParaRPr lang="en-US" sz="2000" b="1" dirty="0">
              <a:solidFill>
                <a:srgbClr val="515223"/>
              </a:solidFill>
              <a:latin typeface="Helvetica" pitchFamily="2" charset="0"/>
              <a:cs typeface="Arial" panose="020B0604020202090204" pitchFamily="34" charset="0"/>
            </a:endParaRPr>
          </a:p>
          <a:p>
            <a:r>
              <a:rPr lang="en-US" dirty="0"/>
              <a:t>	100 </a:t>
            </a:r>
            <a:r>
              <a:rPr lang="en-US" dirty="0" err="1"/>
              <a:t>ms</a:t>
            </a:r>
            <a:r>
              <a:rPr lang="en-US" dirty="0"/>
              <a:t>: GUI </a:t>
            </a:r>
            <a:endParaRPr lang="en-US" dirty="0"/>
          </a:p>
          <a:p>
            <a:r>
              <a:rPr lang="en-US" dirty="0"/>
              <a:t>	15-30 </a:t>
            </a:r>
            <a:r>
              <a:rPr lang="en-US" dirty="0" err="1"/>
              <a:t>ms</a:t>
            </a:r>
            <a:r>
              <a:rPr lang="en-US" dirty="0"/>
              <a:t>: Animation (30-60 fps) </a:t>
            </a:r>
            <a:endParaRPr lang="en-US" dirty="0"/>
          </a:p>
          <a:p>
            <a:r>
              <a:rPr lang="en-US" dirty="0"/>
              <a:t>	10 </a:t>
            </a:r>
            <a:r>
              <a:rPr lang="en-US" dirty="0" err="1"/>
              <a:t>ms</a:t>
            </a:r>
            <a:r>
              <a:rPr lang="en-US" dirty="0"/>
              <a:t>: MIDI, VR</a:t>
            </a:r>
            <a:endParaRPr lang="en-US" dirty="0"/>
          </a:p>
          <a:p>
            <a:endParaRPr lang="en-US" dirty="0"/>
          </a:p>
          <a:p>
            <a:r>
              <a:rPr lang="en-US" sz="2000" b="1" dirty="0">
                <a:solidFill>
                  <a:srgbClr val="515223"/>
                </a:solidFill>
                <a:latin typeface="Helvetica" pitchFamily="2" charset="0"/>
                <a:cs typeface="Arial" panose="020B0604020202090204" pitchFamily="34" charset="0"/>
              </a:rPr>
              <a:t>Unexpected slowdown for certain inputs / DoS vulnerability</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Performance regression (gradual and acute degradation)</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Performance variability across platforms</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Sub-optimal throughput for HPC</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Performance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3398" y="1294477"/>
            <a:ext cx="11060182"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Load Test</a:t>
            </a:r>
            <a:endParaRPr lang="en-US" sz="2000" dirty="0"/>
          </a:p>
          <a:p>
            <a:r>
              <a:rPr lang="en-US" sz="2000" dirty="0"/>
              <a:t>	Response of the system measured under varying load conditions</a:t>
            </a:r>
            <a:endParaRPr lang="en-US" altLang="zh-CN" sz="2000" dirty="0"/>
          </a:p>
          <a:p>
            <a:endParaRPr lang="en-US" altLang="zh-CN" sz="2000" dirty="0"/>
          </a:p>
          <a:p>
            <a:pPr algn="l" fontAlgn="base"/>
            <a:r>
              <a:rPr lang="en-US" sz="2000" dirty="0"/>
              <a:t>	For normal and extreme load conditions. </a:t>
            </a:r>
            <a:endParaRPr lang="en-US" sz="2000" dirty="0"/>
          </a:p>
          <a:p>
            <a:pPr algn="l" fontAlgn="base"/>
            <a:endParaRPr lang="en-US" sz="2000" dirty="0"/>
          </a:p>
          <a:p>
            <a:pPr algn="l" fontAlgn="base"/>
            <a:r>
              <a:rPr lang="en-US" sz="2000" dirty="0"/>
              <a:t>	Simulates a real-world load on a system to see how it performs under stress.</a:t>
            </a:r>
            <a:endParaRPr lang="en-US" sz="2000" dirty="0"/>
          </a:p>
          <a:p>
            <a:pPr algn="l" fontAlgn="base"/>
            <a:endParaRPr lang="en-US" sz="2000" dirty="0"/>
          </a:p>
          <a:p>
            <a:pPr algn="l" fontAlgn="base"/>
            <a:r>
              <a:rPr lang="en-US" sz="2000" dirty="0"/>
              <a:t>	Identify bottlenecks and determine the limits the system can handle.</a:t>
            </a:r>
            <a:endParaRPr lang="en-US" sz="2000" dirty="0"/>
          </a:p>
          <a:p>
            <a:pPr algn="l" fontAlgn="base">
              <a:buFont typeface="+mj-lt"/>
              <a:buAutoNum type="arabicPeriod" startAt="3"/>
            </a:pPr>
            <a:endParaRPr lang="en-US" sz="2000" dirty="0"/>
          </a:p>
          <a:p>
            <a:pPr algn="l" fontAlgn="base"/>
            <a:r>
              <a:rPr lang="en-US" sz="2000" dirty="0"/>
              <a:t>	Ensure that the system can handle the expected usage levels</a:t>
            </a:r>
            <a:endParaRPr lang="en-US" sz="2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Performance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3398" y="1294477"/>
            <a:ext cx="11060182"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Stress Test</a:t>
            </a:r>
            <a:endParaRPr lang="en-US" sz="2000" dirty="0"/>
          </a:p>
          <a:p>
            <a:r>
              <a:rPr lang="en-US" sz="2000" dirty="0"/>
              <a:t>	Given unfavorable conditions to the system and check how it perform in those 	conditions. </a:t>
            </a:r>
            <a:endParaRPr lang="en-US" sz="2000" dirty="0"/>
          </a:p>
          <a:p>
            <a:endParaRPr lang="en-US" altLang="zh-CN" sz="2000" dirty="0"/>
          </a:p>
          <a:p>
            <a:pPr algn="l" fontAlgn="base"/>
            <a:r>
              <a:rPr lang="en-US" sz="2000" dirty="0"/>
              <a:t>	designed to test the run-time performance of software within the context of an integrated 	system</a:t>
            </a:r>
            <a:endParaRPr lang="en-US" sz="2000" dirty="0"/>
          </a:p>
          <a:p>
            <a:pPr algn="l" fontAlgn="base">
              <a:buFont typeface="+mj-lt"/>
              <a:buAutoNum type="arabicPeriod"/>
            </a:pPr>
            <a:endParaRPr lang="en-US" sz="2000" dirty="0"/>
          </a:p>
          <a:p>
            <a:pPr algn="l" fontAlgn="base"/>
            <a:r>
              <a:rPr lang="en-US" sz="2000" dirty="0"/>
              <a:t>	It is used to test the speed and effectiveness of the program</a:t>
            </a:r>
            <a:endParaRPr lang="en-US" sz="2000" dirty="0"/>
          </a:p>
          <a:p>
            <a:pPr algn="l" fontAlgn="base">
              <a:buFont typeface="+mj-lt"/>
              <a:buAutoNum type="arabicPeriod"/>
            </a:pPr>
            <a:endParaRPr lang="en-US" sz="2000" dirty="0"/>
          </a:p>
          <a:p>
            <a:pPr algn="l" fontAlgn="base">
              <a:buFont typeface="+mj-lt"/>
              <a:buAutoNum type="arabicPeriod"/>
            </a:pPr>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Performance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3397" y="1294477"/>
            <a:ext cx="11418997"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Scalability Test</a:t>
            </a:r>
            <a:endParaRPr lang="en-US" sz="2000" dirty="0"/>
          </a:p>
          <a:p>
            <a:r>
              <a:rPr lang="en-US" sz="2000" dirty="0"/>
              <a:t>	Test the capability to scale up or scale down the number of user request load or other such 	performance attributes. </a:t>
            </a:r>
            <a:endParaRPr lang="en-US" sz="2000" dirty="0"/>
          </a:p>
          <a:p>
            <a:endParaRPr lang="en-US" altLang="zh-CN" sz="2000" dirty="0"/>
          </a:p>
          <a:p>
            <a:pPr fontAlgn="base"/>
            <a:r>
              <a:rPr lang="en-US" sz="2000" dirty="0"/>
              <a:t>	It can be carried out at a hardware, software or database level. </a:t>
            </a:r>
            <a:endParaRPr lang="en-US" sz="2000" dirty="0"/>
          </a:p>
          <a:p>
            <a:pPr fontAlgn="base"/>
            <a:r>
              <a:rPr lang="en-US" sz="2000" dirty="0"/>
              <a:t>	</a:t>
            </a:r>
            <a:endParaRPr lang="en-US" sz="2000" dirty="0"/>
          </a:p>
          <a:p>
            <a:pPr fontAlgn="base"/>
            <a:r>
              <a:rPr lang="en-US" sz="2000" dirty="0"/>
              <a:t>	Ensures that a software product can manage the scheduled increase in user traffic, data 	volume, transaction counts frequency, and many other things</a:t>
            </a:r>
            <a:endParaRPr lang="en-US" sz="2000" dirty="0"/>
          </a:p>
          <a:p>
            <a:pPr algn="l" fontAlgn="base">
              <a:buFont typeface="+mj-lt"/>
              <a:buAutoNum type="arabicPeriod"/>
            </a:pPr>
            <a:endParaRPr lang="en-US" sz="2000" dirty="0"/>
          </a:p>
        </p:txBody>
      </p:sp>
      <p:sp>
        <p:nvSpPr>
          <p:cNvPr id="4" name="TextBox 3"/>
          <p:cNvSpPr txBox="1"/>
          <p:nvPr/>
        </p:nvSpPr>
        <p:spPr>
          <a:xfrm>
            <a:off x="653397" y="3867860"/>
            <a:ext cx="11418997"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Stability Test</a:t>
            </a:r>
            <a:endParaRPr lang="en-US" sz="2000" dirty="0"/>
          </a:p>
          <a:p>
            <a:r>
              <a:rPr lang="en-US" sz="2000" dirty="0"/>
              <a:t>	Checks the quality and behavior of the software under different environmental parameters 	and over time without failure. </a:t>
            </a:r>
            <a:endParaRPr 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Test Challenges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1009497" y="1192378"/>
            <a:ext cx="9896235" cy="3170099"/>
          </a:xfrm>
          <a:prstGeom prst="rect">
            <a:avLst/>
          </a:prstGeom>
          <a:noFill/>
        </p:spPr>
        <p:txBody>
          <a:bodyPr wrap="none" rtlCol="0">
            <a:spAutoFit/>
          </a:bodyPr>
          <a:lstStyle/>
          <a:p>
            <a:r>
              <a:rPr lang="en-US" sz="2000" b="1" dirty="0">
                <a:solidFill>
                  <a:srgbClr val="515223"/>
                </a:solidFill>
                <a:latin typeface="Helvetica" pitchFamily="2" charset="0"/>
                <a:cs typeface="Arial" panose="020B0604020202090204" pitchFamily="34" charset="0"/>
              </a:rPr>
              <a:t>How much room for improvement is there?</a:t>
            </a:r>
            <a:endParaRPr lang="en-US" sz="2000" b="1" dirty="0">
              <a:solidFill>
                <a:srgbClr val="515223"/>
              </a:solidFill>
              <a:latin typeface="Helvetica" pitchFamily="2" charset="0"/>
              <a:cs typeface="Arial" panose="020B0604020202090204" pitchFamily="34" charset="0"/>
            </a:endParaRPr>
          </a:p>
          <a:p>
            <a:r>
              <a:rPr lang="en-US" sz="2000" dirty="0"/>
              <a:t>	Amdahl's law: Limits to speedup from parallelization, local optimization </a:t>
            </a:r>
            <a:endParaRPr lang="en-US" sz="2000" dirty="0"/>
          </a:p>
          <a:p>
            <a:r>
              <a:rPr lang="en-US" sz="2000" dirty="0"/>
              <a:t>	Roofline analysis: Do you expect to be limited by bandwidth or compute? </a:t>
            </a:r>
            <a:endParaRPr lang="en-US" sz="2000" dirty="0"/>
          </a:p>
          <a:p>
            <a:endParaRPr lang="en-US" sz="2000" dirty="0"/>
          </a:p>
          <a:p>
            <a:r>
              <a:rPr lang="en-US" sz="2000" b="1" dirty="0">
                <a:solidFill>
                  <a:srgbClr val="515223"/>
                </a:solidFill>
                <a:latin typeface="Helvetica" pitchFamily="2" charset="0"/>
                <a:cs typeface="Arial" panose="020B0604020202090204" pitchFamily="34" charset="0"/>
              </a:rPr>
              <a:t>Is slowdown localized, dispersed, or emergent? </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Getting reliable measurements is difficult</a:t>
            </a:r>
            <a:endParaRPr lang="en-US" sz="2000" b="1" dirty="0">
              <a:solidFill>
                <a:srgbClr val="515223"/>
              </a:solidFill>
              <a:latin typeface="Helvetica" pitchFamily="2" charset="0"/>
              <a:cs typeface="Arial" panose="020B0604020202090204" pitchFamily="34" charset="0"/>
            </a:endParaRPr>
          </a:p>
          <a:p>
            <a:r>
              <a:rPr lang="en-US" sz="2000" dirty="0"/>
              <a:t>	Inconsistency, load dependency, JIT compilation, non-representative datasets</a:t>
            </a:r>
            <a:endParaRPr lang="en-US" sz="2000" dirty="0"/>
          </a:p>
          <a:p>
            <a:r>
              <a:rPr lang="en-US" sz="2000" dirty="0"/>
              <a:t>	Average case vs. worst case</a:t>
            </a:r>
            <a:endParaRPr lang="en-US" sz="2000" dirty="0"/>
          </a:p>
          <a:p>
            <a:r>
              <a:rPr lang="en-US" sz="2000" dirty="0"/>
              <a:t>	Tension between latency and bandwidth</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Amdahl's Law</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439265" y="1299109"/>
            <a:ext cx="9123883" cy="3416320"/>
          </a:xfrm>
          <a:prstGeom prst="rect">
            <a:avLst/>
          </a:prstGeom>
          <a:noFill/>
        </p:spPr>
        <p:txBody>
          <a:bodyPr wrap="square">
            <a:spAutoFit/>
          </a:bodyPr>
          <a:lstStyle/>
          <a:p>
            <a:r>
              <a:rPr lang="en-US" dirty="0"/>
              <a:t>Speedup: S = </a:t>
            </a:r>
            <a:r>
              <a:rPr lang="en-US" dirty="0" err="1"/>
              <a:t>T_before</a:t>
            </a:r>
            <a:r>
              <a:rPr lang="en-US" dirty="0"/>
              <a:t> / </a:t>
            </a:r>
            <a:r>
              <a:rPr lang="en-US" dirty="0" err="1"/>
              <a:t>T_after</a:t>
            </a:r>
            <a:r>
              <a:rPr lang="en-US" dirty="0"/>
              <a:t> </a:t>
            </a:r>
            <a:endParaRPr lang="en-US" dirty="0"/>
          </a:p>
          <a:p>
            <a:r>
              <a:rPr lang="en-US" dirty="0"/>
              <a:t>Identify portion p of runtime cost amenable to optimization </a:t>
            </a:r>
            <a:endParaRPr lang="en-US" dirty="0"/>
          </a:p>
          <a:p>
            <a:r>
              <a:rPr lang="en-US" dirty="0"/>
              <a:t>	</a:t>
            </a:r>
            <a:r>
              <a:rPr lang="en-US" dirty="0" err="1"/>
              <a:t>T_before</a:t>
            </a:r>
            <a:r>
              <a:rPr lang="en-US" dirty="0"/>
              <a:t> = p*T + (1 - p)*T </a:t>
            </a:r>
            <a:endParaRPr lang="en-US" dirty="0"/>
          </a:p>
          <a:p>
            <a:r>
              <a:rPr lang="en-US" dirty="0"/>
              <a:t>Let s be speedup of optimization on this portion</a:t>
            </a:r>
            <a:endParaRPr lang="en-US" dirty="0"/>
          </a:p>
          <a:p>
            <a:r>
              <a:rPr lang="en-US" dirty="0"/>
              <a:t>	Example: s = 10 for parallelizing on a 10-core machine </a:t>
            </a:r>
            <a:endParaRPr lang="en-US" dirty="0"/>
          </a:p>
          <a:p>
            <a:r>
              <a:rPr lang="en-US" dirty="0"/>
              <a:t>	Often interested in limit as s → ∞ </a:t>
            </a:r>
            <a:endParaRPr lang="en-US" dirty="0"/>
          </a:p>
          <a:p>
            <a:endParaRPr lang="en-US" dirty="0"/>
          </a:p>
          <a:p>
            <a:r>
              <a:rPr lang="en-US" dirty="0" err="1"/>
              <a:t>T_after</a:t>
            </a:r>
            <a:r>
              <a:rPr lang="en-US" dirty="0"/>
              <a:t> = p*T/s + (1 - p)*T </a:t>
            </a:r>
            <a:endParaRPr lang="en-US" dirty="0"/>
          </a:p>
          <a:p>
            <a:endParaRPr lang="en-US" dirty="0"/>
          </a:p>
          <a:p>
            <a:r>
              <a:rPr lang="en-US" dirty="0"/>
              <a:t>S(s) = 1/(1 - p + p/s) </a:t>
            </a:r>
            <a:endParaRPr lang="en-US" dirty="0"/>
          </a:p>
          <a:p>
            <a:endParaRPr lang="en-US" dirty="0"/>
          </a:p>
          <a:p>
            <a:r>
              <a:rPr lang="en-US" dirty="0"/>
              <a:t>S → 1/(1 - p)</a:t>
            </a:r>
            <a:endParaRPr 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93466" y="2750515"/>
            <a:ext cx="4598534" cy="3525836"/>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Profiling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077773" y="1124522"/>
            <a:ext cx="10036454" cy="4062651"/>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How can we estimate </a:t>
            </a:r>
            <a:r>
              <a:rPr lang="en-US" sz="2000" b="1" dirty="0">
                <a:solidFill>
                  <a:srgbClr val="C00000"/>
                </a:solidFill>
                <a:latin typeface="Helvetica" pitchFamily="2" charset="0"/>
                <a:cs typeface="Arial" panose="020B0604020202090204" pitchFamily="34" charset="0"/>
              </a:rPr>
              <a:t>p</a:t>
            </a:r>
            <a:r>
              <a:rPr lang="en-US" sz="2000" b="1" dirty="0">
                <a:solidFill>
                  <a:srgbClr val="515223"/>
                </a:solidFill>
                <a:latin typeface="Helvetica" pitchFamily="2" charset="0"/>
                <a:cs typeface="Arial" panose="020B0604020202090204" pitchFamily="34" charset="0"/>
              </a:rPr>
              <a:t>? Where should our optimization efforts be focused?</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Profiling Techniques</a:t>
            </a:r>
            <a:endParaRPr lang="en-US" sz="2000" b="1" dirty="0">
              <a:solidFill>
                <a:srgbClr val="515223"/>
              </a:solidFill>
              <a:latin typeface="Helvetica" pitchFamily="2" charset="0"/>
              <a:cs typeface="Arial" panose="020B0604020202090204" pitchFamily="34" charset="0"/>
            </a:endParaRPr>
          </a:p>
          <a:p>
            <a:r>
              <a:rPr lang="en-US" dirty="0"/>
              <a:t>	Sampling: Periodically interrupt process and examine stack trace </a:t>
            </a:r>
            <a:endParaRPr lang="en-US" dirty="0"/>
          </a:p>
          <a:p>
            <a:r>
              <a:rPr lang="en-US" dirty="0"/>
              <a:t>		Low overhead</a:t>
            </a:r>
            <a:endParaRPr lang="en-US" dirty="0"/>
          </a:p>
          <a:p>
            <a:r>
              <a:rPr lang="en-US" dirty="0"/>
              <a:t>		Incomplete data</a:t>
            </a:r>
            <a:endParaRPr lang="en-US" dirty="0"/>
          </a:p>
          <a:p>
            <a:endParaRPr lang="en-US" dirty="0"/>
          </a:p>
          <a:p>
            <a:r>
              <a:rPr lang="en-US" dirty="0"/>
              <a:t>	Tracing: Record whenever a function is called or returns </a:t>
            </a:r>
            <a:endParaRPr lang="en-US" dirty="0"/>
          </a:p>
          <a:p>
            <a:r>
              <a:rPr lang="en-US" dirty="0"/>
              <a:t>		High overhead</a:t>
            </a:r>
            <a:endParaRPr lang="en-US" dirty="0"/>
          </a:p>
          <a:p>
            <a:r>
              <a:rPr lang="en-US" dirty="0"/>
              <a:t>		Complete function counts </a:t>
            </a:r>
            <a:endParaRPr lang="en-US" dirty="0"/>
          </a:p>
          <a:p>
            <a:r>
              <a:rPr lang="en-US" dirty="0"/>
              <a:t>		Timing may be distorted</a:t>
            </a:r>
            <a:endParaRPr lang="en-US" dirty="0"/>
          </a:p>
          <a:p>
            <a:endParaRPr lang="en-US" dirty="0"/>
          </a:p>
          <a:p>
            <a:r>
              <a:rPr lang="en-US" dirty="0"/>
              <a:t>	Instruction-level: Estimate cost of each statement </a:t>
            </a:r>
            <a:endParaRPr lang="en-US" dirty="0"/>
          </a:p>
          <a:p>
            <a:r>
              <a:rPr lang="en-US" dirty="0"/>
              <a:t>		Requires CPU model</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Profiling Tools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077773" y="1124522"/>
            <a:ext cx="10036454" cy="3170099"/>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 Profiling Techniques</a:t>
            </a:r>
            <a:endParaRPr lang="en-US" sz="2000" b="1" dirty="0">
              <a:solidFill>
                <a:srgbClr val="515223"/>
              </a:solidFill>
              <a:latin typeface="Helvetica" pitchFamily="2" charset="0"/>
              <a:cs typeface="Arial" panose="020B0604020202090204" pitchFamily="34" charset="0"/>
            </a:endParaRPr>
          </a:p>
          <a:p>
            <a:r>
              <a:rPr lang="en-US" dirty="0"/>
              <a:t>	Native code</a:t>
            </a:r>
            <a:endParaRPr lang="en-US" dirty="0"/>
          </a:p>
          <a:p>
            <a:r>
              <a:rPr lang="en-US" dirty="0"/>
              <a:t>		perf (Linux)</a:t>
            </a:r>
            <a:endParaRPr lang="en-US" dirty="0"/>
          </a:p>
          <a:p>
            <a:r>
              <a:rPr lang="en-US" dirty="0"/>
              <a:t>		</a:t>
            </a:r>
            <a:r>
              <a:rPr lang="en-US" dirty="0" err="1"/>
              <a:t>gprof</a:t>
            </a:r>
            <a:r>
              <a:rPr lang="en-US" dirty="0"/>
              <a:t> </a:t>
            </a:r>
            <a:endParaRPr lang="en-US" dirty="0"/>
          </a:p>
          <a:p>
            <a:r>
              <a:rPr lang="en-US" dirty="0"/>
              <a:t>		</a:t>
            </a:r>
            <a:r>
              <a:rPr lang="en-US" dirty="0" err="1"/>
              <a:t>callgrind</a:t>
            </a:r>
            <a:endParaRPr lang="en-US" dirty="0"/>
          </a:p>
          <a:p>
            <a:r>
              <a:rPr lang="en-US" dirty="0"/>
              <a:t>	Python</a:t>
            </a:r>
            <a:endParaRPr lang="en-US" dirty="0"/>
          </a:p>
          <a:p>
            <a:r>
              <a:rPr lang="en-US" dirty="0"/>
              <a:t>		</a:t>
            </a:r>
            <a:r>
              <a:rPr lang="en-US" dirty="0" err="1"/>
              <a:t>cProfile</a:t>
            </a:r>
            <a:endParaRPr lang="en-US" dirty="0"/>
          </a:p>
          <a:p>
            <a:r>
              <a:rPr lang="en-US" dirty="0"/>
              <a:t>	Java</a:t>
            </a:r>
            <a:endParaRPr lang="en-US" dirty="0"/>
          </a:p>
          <a:p>
            <a:r>
              <a:rPr lang="en-US" dirty="0"/>
              <a:t>		</a:t>
            </a:r>
            <a:r>
              <a:rPr lang="en-US" dirty="0" err="1"/>
              <a:t>JProfiler</a:t>
            </a:r>
            <a:r>
              <a:rPr lang="en-US" dirty="0"/>
              <a:t> </a:t>
            </a:r>
            <a:endParaRPr lang="en-US" dirty="0"/>
          </a:p>
          <a:p>
            <a:r>
              <a:rPr lang="en-US" dirty="0"/>
              <a:t>		</a:t>
            </a:r>
            <a:r>
              <a:rPr lang="en-US" dirty="0" err="1"/>
              <a:t>VisualVM</a:t>
            </a:r>
            <a:endParaRPr lang="en-US" dirty="0"/>
          </a:p>
          <a:p>
            <a:r>
              <a:rPr lang="en-US" dirty="0"/>
              <a:t>		NetBeans</a:t>
            </a:r>
            <a:endParaRPr 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76954" y="355508"/>
            <a:ext cx="3907017" cy="696516"/>
          </a:xfrm>
          <a:prstGeom prst="rect">
            <a:avLst/>
          </a:prstGeom>
        </p:spPr>
      </p:pic>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6954" y="1169698"/>
            <a:ext cx="6119353" cy="2196023"/>
          </a:xfrm>
          <a:prstGeom prst="rect">
            <a:avLst/>
          </a:prstGeom>
        </p:spPr>
      </p:pic>
      <p:sp>
        <p:nvSpPr>
          <p:cNvPr id="12" name="TextBox 11"/>
          <p:cNvSpPr txBox="1"/>
          <p:nvPr/>
        </p:nvSpPr>
        <p:spPr>
          <a:xfrm>
            <a:off x="5592048" y="3570797"/>
            <a:ext cx="6094674" cy="2462213"/>
          </a:xfrm>
          <a:prstGeom prst="rect">
            <a:avLst/>
          </a:prstGeom>
          <a:noFill/>
        </p:spPr>
        <p:txBody>
          <a:bodyPr wrap="square">
            <a:spAutoFit/>
          </a:bodyPr>
          <a:lstStyle/>
          <a:p>
            <a:pPr algn="l"/>
            <a:r>
              <a:rPr lang="en-US" sz="1400" dirty="0" err="1"/>
              <a:t>Ncalls</a:t>
            </a:r>
            <a:r>
              <a:rPr lang="en-US" sz="1400" dirty="0"/>
              <a:t>: </a:t>
            </a:r>
            <a:r>
              <a:rPr lang="en-US" sz="1400" dirty="0">
                <a:effectLst/>
              </a:rPr>
              <a:t>for the number of calls</a:t>
            </a:r>
            <a:endParaRPr lang="en-US" sz="1400" dirty="0">
              <a:effectLst/>
            </a:endParaRPr>
          </a:p>
          <a:p>
            <a:pPr algn="l"/>
            <a:endParaRPr lang="en-US" sz="1400" dirty="0">
              <a:effectLst/>
            </a:endParaRPr>
          </a:p>
          <a:p>
            <a:pPr algn="l"/>
            <a:r>
              <a:rPr lang="en-US" sz="1400" dirty="0" err="1"/>
              <a:t>Tottime</a:t>
            </a:r>
            <a:r>
              <a:rPr lang="en-US" sz="1400" dirty="0"/>
              <a:t>: </a:t>
            </a:r>
            <a:r>
              <a:rPr lang="en-US" sz="1400" dirty="0">
                <a:effectLst/>
              </a:rPr>
              <a:t>total time spent in the given function</a:t>
            </a:r>
            <a:endParaRPr lang="en-US" sz="1400" dirty="0">
              <a:effectLst/>
            </a:endParaRPr>
          </a:p>
          <a:p>
            <a:pPr algn="l"/>
            <a:endParaRPr lang="en-US" sz="1400" dirty="0">
              <a:effectLst/>
            </a:endParaRPr>
          </a:p>
          <a:p>
            <a:pPr algn="l"/>
            <a:r>
              <a:rPr lang="en-US" sz="1400" dirty="0" err="1"/>
              <a:t>Percall</a:t>
            </a:r>
            <a:r>
              <a:rPr lang="en-US" sz="1400" dirty="0"/>
              <a:t>: </a:t>
            </a:r>
            <a:r>
              <a:rPr lang="en-US" sz="1400" dirty="0">
                <a:effectLst/>
              </a:rPr>
              <a:t>quotient of </a:t>
            </a:r>
            <a:r>
              <a:rPr lang="en-US" sz="1400" dirty="0" err="1">
                <a:effectLst/>
              </a:rPr>
              <a:t>tottime</a:t>
            </a:r>
            <a:r>
              <a:rPr lang="en-US" sz="1400" dirty="0">
                <a:effectLst/>
              </a:rPr>
              <a:t> divided by </a:t>
            </a:r>
            <a:r>
              <a:rPr lang="en-US" sz="1400" dirty="0" err="1">
                <a:effectLst/>
              </a:rPr>
              <a:t>ncalls</a:t>
            </a:r>
            <a:endParaRPr lang="en-US" sz="1400" dirty="0">
              <a:effectLst/>
            </a:endParaRPr>
          </a:p>
          <a:p>
            <a:pPr algn="l"/>
            <a:endParaRPr lang="en-US" sz="1400" dirty="0">
              <a:effectLst/>
            </a:endParaRPr>
          </a:p>
          <a:p>
            <a:pPr algn="l"/>
            <a:r>
              <a:rPr lang="en-US" sz="1400" dirty="0" err="1"/>
              <a:t>Cumtime</a:t>
            </a:r>
            <a:r>
              <a:rPr lang="en-US" sz="1400" dirty="0"/>
              <a:t>: </a:t>
            </a:r>
            <a:r>
              <a:rPr lang="en-US" sz="1400" dirty="0">
                <a:effectLst/>
              </a:rPr>
              <a:t>cumulative time spent in this and all subfunctions</a:t>
            </a:r>
            <a:endParaRPr lang="en-US" sz="1400" dirty="0">
              <a:effectLst/>
            </a:endParaRPr>
          </a:p>
          <a:p>
            <a:pPr algn="l"/>
            <a:endParaRPr lang="en-US" sz="1400" dirty="0">
              <a:effectLst/>
            </a:endParaRPr>
          </a:p>
          <a:p>
            <a:pPr algn="l"/>
            <a:r>
              <a:rPr lang="en-US" sz="1400" dirty="0" err="1"/>
              <a:t>Percall</a:t>
            </a:r>
            <a:r>
              <a:rPr lang="en-US" sz="1400" dirty="0"/>
              <a:t>:</a:t>
            </a:r>
            <a:r>
              <a:rPr lang="en-US" sz="1400" dirty="0">
                <a:effectLst/>
              </a:rPr>
              <a:t> the quotient of </a:t>
            </a:r>
            <a:r>
              <a:rPr lang="en-US" sz="1400" dirty="0" err="1">
                <a:effectLst/>
              </a:rPr>
              <a:t>cumtime</a:t>
            </a:r>
            <a:r>
              <a:rPr lang="en-US" sz="1400" dirty="0">
                <a:effectLst/>
              </a:rPr>
              <a:t> divided by primitive calls</a:t>
            </a:r>
            <a:endParaRPr lang="en-US" sz="1400" dirty="0">
              <a:effectLst/>
            </a:endParaRPr>
          </a:p>
          <a:p>
            <a:pPr algn="l"/>
            <a:endParaRPr lang="en-US" sz="1400" dirty="0">
              <a:effectLst/>
            </a:endParaRPr>
          </a:p>
          <a:p>
            <a:pPr algn="l"/>
            <a:r>
              <a:rPr lang="en-US" sz="1400" dirty="0"/>
              <a:t>Filename: </a:t>
            </a:r>
            <a:r>
              <a:rPr lang="en-US" sz="1400" dirty="0" err="1"/>
              <a:t>lineno</a:t>
            </a:r>
            <a:r>
              <a:rPr lang="en-US" sz="1400" dirty="0"/>
              <a:t>(function)</a:t>
            </a:r>
            <a:r>
              <a:rPr lang="en-US" sz="1400" dirty="0">
                <a:effectLst/>
              </a:rPr>
              <a:t>provides the respective data of each function</a:t>
            </a:r>
            <a:endParaRPr lang="en-US" sz="1400" dirty="0">
              <a:effectLst/>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Monitoring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660805" y="1395184"/>
            <a:ext cx="11531195" cy="2554545"/>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To detect degradation and catch regressions, need to log and monitor performance metrics</a:t>
            </a:r>
            <a:endParaRPr lang="en-US" sz="2000" b="1" dirty="0">
              <a:solidFill>
                <a:srgbClr val="515223"/>
              </a:solidFill>
              <a:latin typeface="Helvetica" pitchFamily="2" charset="0"/>
              <a:cs typeface="Arial" panose="020B0604020202090204" pitchFamily="34" charset="0"/>
            </a:endParaRPr>
          </a:p>
          <a:p>
            <a:r>
              <a:rPr lang="en-US" sz="2000" dirty="0"/>
              <a:t>	Can measure duration of tests in CI, but benefits from unloaded servers</a:t>
            </a:r>
            <a:endParaRPr lang="en-US" sz="2000" dirty="0"/>
          </a:p>
          <a:p>
            <a:endParaRPr lang="en-US" sz="2000" dirty="0"/>
          </a:p>
          <a:p>
            <a:r>
              <a:rPr lang="en-US" sz="2000" b="1" dirty="0">
                <a:solidFill>
                  <a:srgbClr val="515223"/>
                </a:solidFill>
                <a:latin typeface="Helvetica" pitchFamily="2" charset="0"/>
                <a:cs typeface="Arial" panose="020B0604020202090204" pitchFamily="34" charset="0"/>
              </a:rPr>
              <a:t>For services, also need to monitor performance in production</a:t>
            </a:r>
            <a:endParaRPr lang="en-US" sz="2000" b="1" dirty="0">
              <a:solidFill>
                <a:srgbClr val="515223"/>
              </a:solidFill>
              <a:latin typeface="Helvetica" pitchFamily="2" charset="0"/>
              <a:cs typeface="Arial" panose="020B0604020202090204" pitchFamily="34" charset="0"/>
            </a:endParaRPr>
          </a:p>
          <a:p>
            <a:r>
              <a:rPr lang="en-US" sz="2000" dirty="0"/>
              <a:t>	Network conditions, load are dynamic</a:t>
            </a:r>
            <a:endParaRPr lang="en-US" sz="2000" dirty="0"/>
          </a:p>
          <a:p>
            <a:endParaRPr lang="en-US" sz="2000" dirty="0"/>
          </a:p>
          <a:p>
            <a:r>
              <a:rPr lang="en-US" sz="2000" dirty="0"/>
              <a:t>	With scalable microservice architectures, counterintuitive bottlenecks may appear 		Scaling the wrong components can remove beneficial backpressure</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Latency vs. Throughput</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1009497" y="1192378"/>
            <a:ext cx="11244232" cy="2554545"/>
          </a:xfrm>
          <a:prstGeom prst="rect">
            <a:avLst/>
          </a:prstGeom>
          <a:noFill/>
        </p:spPr>
        <p:txBody>
          <a:bodyPr wrap="none" rtlCol="0">
            <a:spAutoFit/>
          </a:bodyPr>
          <a:lstStyle/>
          <a:p>
            <a:r>
              <a:rPr lang="en-US" sz="2000" b="1" dirty="0">
                <a:solidFill>
                  <a:srgbClr val="515223"/>
                </a:solidFill>
                <a:latin typeface="Helvetica" pitchFamily="2" charset="0"/>
                <a:cs typeface="Arial" panose="020B0604020202090204" pitchFamily="34" charset="0"/>
              </a:rPr>
              <a:t>Latency: Duration between a single trigger and the system's response </a:t>
            </a:r>
            <a:endParaRPr lang="en-US" sz="2000" b="1" dirty="0">
              <a:solidFill>
                <a:srgbClr val="515223"/>
              </a:solidFill>
              <a:latin typeface="Helvetica" pitchFamily="2" charset="0"/>
              <a:cs typeface="Arial" panose="020B0604020202090204" pitchFamily="34" charset="0"/>
            </a:endParaRPr>
          </a:p>
          <a:p>
            <a:r>
              <a:rPr lang="en-US" sz="2000" dirty="0"/>
              <a:t>	 "Tail latency" (e.g. 95th percentile under a specified load) is more important than average</a:t>
            </a:r>
            <a:endParaRPr lang="en-US" sz="2000" dirty="0"/>
          </a:p>
          <a:p>
            <a:r>
              <a:rPr lang="en-US" sz="2000" dirty="0"/>
              <a:t> </a:t>
            </a:r>
            <a:endParaRPr lang="en-US" sz="2000" dirty="0"/>
          </a:p>
          <a:p>
            <a:r>
              <a:rPr lang="en-US" sz="2000" b="1" dirty="0">
                <a:solidFill>
                  <a:srgbClr val="515223"/>
                </a:solidFill>
                <a:latin typeface="Helvetica" pitchFamily="2" charset="0"/>
                <a:cs typeface="Arial" panose="020B0604020202090204" pitchFamily="34" charset="0"/>
              </a:rPr>
              <a:t>Throughput: Time it takes to processes a fixed amount of work</a:t>
            </a:r>
            <a:endParaRPr lang="en-US" sz="2000" b="1" dirty="0">
              <a:solidFill>
                <a:srgbClr val="515223"/>
              </a:solidFill>
              <a:latin typeface="Helvetica" pitchFamily="2" charset="0"/>
              <a:cs typeface="Arial" panose="020B0604020202090204" pitchFamily="34" charset="0"/>
            </a:endParaRPr>
          </a:p>
          <a:p>
            <a:r>
              <a:rPr lang="en-US" sz="2000" dirty="0"/>
              <a:t>	Often a function of workload </a:t>
            </a:r>
            <a:endParaRPr lang="en-US" sz="2000" dirty="0"/>
          </a:p>
          <a:p>
            <a:r>
              <a:rPr lang="en-US" sz="2000" dirty="0"/>
              <a:t>		Typically throughput increases with workload size up to a saturation point</a:t>
            </a:r>
            <a:endParaRPr lang="en-US" sz="2000" dirty="0"/>
          </a:p>
          <a:p>
            <a:r>
              <a:rPr lang="en-US" sz="2000" dirty="0"/>
              <a:t>	Reduce overhead with batching</a:t>
            </a:r>
            <a:endParaRPr lang="en-US" sz="2000" dirty="0"/>
          </a:p>
          <a:p>
            <a:r>
              <a:rPr lang="en-US" sz="2000" dirty="0"/>
              <a:t>		Typically at expense of latency</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Documentation of Testing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71436" y="1237240"/>
            <a:ext cx="9618104" cy="2554545"/>
          </a:xfrm>
          <a:prstGeom prst="rect">
            <a:avLst/>
          </a:prstGeom>
          <a:noFill/>
        </p:spPr>
        <p:txBody>
          <a:bodyPr wrap="square">
            <a:spAutoFit/>
          </a:bodyPr>
          <a:lstStyle/>
          <a:p>
            <a:r>
              <a:rPr lang="en-US" altLang="zh-CN" sz="2000" dirty="0"/>
              <a:t>Every project needs a </a:t>
            </a:r>
            <a:r>
              <a:rPr lang="en-US" altLang="zh-CN" sz="2000" dirty="0">
                <a:solidFill>
                  <a:srgbClr val="FF0000"/>
                </a:solidFill>
              </a:rPr>
              <a:t>test plan </a:t>
            </a:r>
            <a:r>
              <a:rPr lang="en-US" altLang="zh-CN" sz="2000" dirty="0"/>
              <a:t>that documents the testing procedures for thoroughness, visibility, and for </a:t>
            </a:r>
            <a:r>
              <a:rPr lang="en-US" altLang="zh-CN" sz="2000" dirty="0">
                <a:solidFill>
                  <a:srgbClr val="FF0000"/>
                </a:solidFill>
              </a:rPr>
              <a:t>future maintenance</a:t>
            </a:r>
            <a:r>
              <a:rPr lang="en-US" altLang="zh-CN" sz="2000" dirty="0"/>
              <a:t>. </a:t>
            </a:r>
            <a:endParaRPr lang="en-US" altLang="zh-CN" sz="2000" dirty="0"/>
          </a:p>
          <a:p>
            <a:endParaRPr lang="en-US" altLang="zh-CN" sz="2000" dirty="0"/>
          </a:p>
          <a:p>
            <a:r>
              <a:rPr lang="en-US" altLang="zh-CN" sz="2000" dirty="0"/>
              <a:t>The test plan should include:</a:t>
            </a:r>
            <a:endParaRPr lang="en-US" altLang="zh-CN" sz="2000" dirty="0"/>
          </a:p>
          <a:p>
            <a:pPr marL="800100" lvl="1" indent="-342900">
              <a:buFont typeface="Arial" panose="020B0604020202090204" pitchFamily="34" charset="0"/>
              <a:buChar char="•"/>
            </a:pPr>
            <a:r>
              <a:rPr lang="en-US" altLang="zh-CN" sz="2000" dirty="0"/>
              <a:t>Description of testing approach.</a:t>
            </a:r>
            <a:endParaRPr lang="en-US" altLang="zh-CN" sz="2000" dirty="0"/>
          </a:p>
          <a:p>
            <a:pPr marL="800100" lvl="1" indent="-342900">
              <a:buFont typeface="Arial" panose="020B0604020202090204" pitchFamily="34" charset="0"/>
              <a:buChar char="•"/>
            </a:pPr>
            <a:r>
              <a:rPr lang="en-US" altLang="zh-CN" sz="2000" dirty="0"/>
              <a:t>List of test cases and related bugs.</a:t>
            </a:r>
            <a:endParaRPr lang="en-US" altLang="zh-CN" sz="2000" dirty="0"/>
          </a:p>
          <a:p>
            <a:pPr marL="800100" lvl="1" indent="-342900">
              <a:buFont typeface="Arial" panose="020B0604020202090204" pitchFamily="34" charset="0"/>
              <a:buChar char="•"/>
            </a:pPr>
            <a:r>
              <a:rPr lang="en-US" altLang="zh-CN" sz="2000" dirty="0"/>
              <a:t>Procedures for running the tests. </a:t>
            </a:r>
            <a:endParaRPr lang="en-US" altLang="zh-CN" sz="2000" dirty="0"/>
          </a:p>
          <a:p>
            <a:pPr marL="800100" lvl="1" indent="-342900">
              <a:buFont typeface="Arial" panose="020B0604020202090204" pitchFamily="34" charset="0"/>
              <a:buChar char="•"/>
            </a:pPr>
            <a:r>
              <a:rPr lang="en-US" altLang="zh-CN" sz="2000" dirty="0"/>
              <a:t>Test analysis report.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SQLite: An Example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564666" y="433211"/>
            <a:ext cx="4082254" cy="400110"/>
          </a:xfrm>
          <a:prstGeom prst="rect">
            <a:avLst/>
          </a:prstGeom>
          <a:noFill/>
        </p:spPr>
        <p:txBody>
          <a:bodyPr wrap="square">
            <a:spAutoFit/>
          </a:bodyPr>
          <a:lstStyle/>
          <a:p>
            <a:r>
              <a:rPr lang="en-US" altLang="zh-CN" sz="2000" dirty="0"/>
              <a:t>https://</a:t>
            </a:r>
            <a:r>
              <a:rPr lang="en-US" altLang="zh-CN" sz="2000" dirty="0" err="1"/>
              <a:t>www.sqlite.org</a:t>
            </a:r>
            <a:r>
              <a:rPr lang="en-US" altLang="zh-CN" sz="2000" dirty="0"/>
              <a:t>/</a:t>
            </a:r>
            <a:r>
              <a:rPr lang="en-US" altLang="zh-CN" sz="2000" dirty="0" err="1"/>
              <a:t>testing.html</a:t>
            </a:r>
            <a:endParaRPr lang="en-US" altLang="zh-CN" sz="2000" dirty="0"/>
          </a:p>
        </p:txBody>
      </p:sp>
      <p:sp>
        <p:nvSpPr>
          <p:cNvPr id="5" name="TextBox 4"/>
          <p:cNvSpPr txBox="1"/>
          <p:nvPr/>
        </p:nvSpPr>
        <p:spPr>
          <a:xfrm>
            <a:off x="0" y="1184145"/>
            <a:ext cx="10202304" cy="5016758"/>
          </a:xfrm>
          <a:prstGeom prst="rect">
            <a:avLst/>
          </a:prstGeom>
          <a:noFill/>
        </p:spPr>
        <p:txBody>
          <a:bodyPr wrap="square">
            <a:spAutoFit/>
          </a:bodyPr>
          <a:lstStyle/>
          <a:p>
            <a:pPr lvl="1"/>
            <a:r>
              <a:rPr lang="en-US" sz="2000" dirty="0"/>
              <a:t>640x more test code than application code </a:t>
            </a:r>
            <a:endParaRPr lang="en-US" sz="2000" dirty="0"/>
          </a:p>
          <a:p>
            <a:pPr marL="1257300" lvl="2" indent="-342900">
              <a:buFont typeface="Arial" panose="020B0604020202090204" pitchFamily="34" charset="0"/>
              <a:buChar char="•"/>
            </a:pPr>
            <a:r>
              <a:rPr lang="en-US" sz="2000" dirty="0"/>
              <a:t>Four independently developed test harnesses</a:t>
            </a:r>
            <a:endParaRPr lang="en-US" sz="2000" dirty="0"/>
          </a:p>
          <a:p>
            <a:pPr marL="1257300" lvl="2" indent="-342900">
              <a:buFont typeface="Arial" panose="020B0604020202090204" pitchFamily="34" charset="0"/>
              <a:buChar char="•"/>
            </a:pPr>
            <a:r>
              <a:rPr lang="en-US" sz="2000" dirty="0"/>
              <a:t>100% branch test coverage in an as-deployed configuration</a:t>
            </a:r>
            <a:endParaRPr lang="en-US" sz="2000" dirty="0"/>
          </a:p>
          <a:p>
            <a:pPr marL="1257300" lvl="2" indent="-342900">
              <a:buFont typeface="Arial" panose="020B0604020202090204" pitchFamily="34" charset="0"/>
              <a:buChar char="•"/>
            </a:pPr>
            <a:r>
              <a:rPr lang="en-US" sz="2000" dirty="0"/>
              <a:t>Millions and millions of test cases</a:t>
            </a:r>
            <a:endParaRPr lang="en-US" sz="2000" dirty="0"/>
          </a:p>
          <a:p>
            <a:pPr marL="1257300" lvl="2" indent="-342900">
              <a:buFont typeface="Arial" panose="020B0604020202090204" pitchFamily="34" charset="0"/>
              <a:buChar char="•"/>
            </a:pPr>
            <a:r>
              <a:rPr lang="en-US" sz="2000" dirty="0"/>
              <a:t>Out-of-memory tests</a:t>
            </a:r>
            <a:endParaRPr lang="en-US" sz="2000" dirty="0"/>
          </a:p>
          <a:p>
            <a:pPr marL="1257300" lvl="2" indent="-342900">
              <a:buFont typeface="Arial" panose="020B0604020202090204" pitchFamily="34" charset="0"/>
              <a:buChar char="•"/>
            </a:pPr>
            <a:r>
              <a:rPr lang="en-US" sz="2000" dirty="0"/>
              <a:t>I/O error tests</a:t>
            </a:r>
            <a:endParaRPr lang="en-US" sz="2000" dirty="0"/>
          </a:p>
          <a:p>
            <a:pPr marL="1257300" lvl="2" indent="-342900">
              <a:buFont typeface="Arial" panose="020B0604020202090204" pitchFamily="34" charset="0"/>
              <a:buChar char="•"/>
            </a:pPr>
            <a:r>
              <a:rPr lang="en-US" sz="2000" dirty="0"/>
              <a:t>Crash and power loss tests</a:t>
            </a:r>
            <a:endParaRPr lang="en-US" sz="2000" dirty="0"/>
          </a:p>
          <a:p>
            <a:pPr marL="1257300" lvl="2" indent="-342900">
              <a:buFont typeface="Arial" panose="020B0604020202090204" pitchFamily="34" charset="0"/>
              <a:buChar char="•"/>
            </a:pPr>
            <a:r>
              <a:rPr lang="en-US" sz="2000" dirty="0"/>
              <a:t>Fuzz tests</a:t>
            </a:r>
            <a:endParaRPr lang="en-US" sz="2000" dirty="0"/>
          </a:p>
          <a:p>
            <a:pPr marL="1257300" lvl="2" indent="-342900">
              <a:buFont typeface="Arial" panose="020B0604020202090204" pitchFamily="34" charset="0"/>
              <a:buChar char="•"/>
            </a:pPr>
            <a:r>
              <a:rPr lang="en-US" sz="2000" dirty="0"/>
              <a:t>Boundary value tests</a:t>
            </a:r>
            <a:endParaRPr lang="en-US" sz="2000" dirty="0"/>
          </a:p>
          <a:p>
            <a:pPr marL="1257300" lvl="2" indent="-342900">
              <a:buFont typeface="Arial" panose="020B0604020202090204" pitchFamily="34" charset="0"/>
              <a:buChar char="•"/>
            </a:pPr>
            <a:r>
              <a:rPr lang="en-US" sz="2000" dirty="0"/>
              <a:t>Disabled optimization tests</a:t>
            </a:r>
            <a:endParaRPr lang="en-US" sz="2000" dirty="0"/>
          </a:p>
          <a:p>
            <a:pPr marL="1257300" lvl="2" indent="-342900">
              <a:buFont typeface="Arial" panose="020B0604020202090204" pitchFamily="34" charset="0"/>
              <a:buChar char="•"/>
            </a:pPr>
            <a:r>
              <a:rPr lang="en-US" sz="2000" dirty="0"/>
              <a:t>Regression tests</a:t>
            </a:r>
            <a:endParaRPr lang="en-US" sz="2000" dirty="0"/>
          </a:p>
          <a:p>
            <a:pPr marL="1257300" lvl="2" indent="-342900">
              <a:buFont typeface="Arial" panose="020B0604020202090204" pitchFamily="34" charset="0"/>
              <a:buChar char="•"/>
            </a:pPr>
            <a:r>
              <a:rPr lang="en-US" sz="2000" dirty="0"/>
              <a:t>Malformed database tests</a:t>
            </a:r>
            <a:endParaRPr lang="en-US" sz="2000" dirty="0"/>
          </a:p>
          <a:p>
            <a:pPr marL="1257300" lvl="2" indent="-342900">
              <a:buFont typeface="Arial" panose="020B0604020202090204" pitchFamily="34" charset="0"/>
              <a:buChar char="•"/>
            </a:pPr>
            <a:r>
              <a:rPr lang="en-US" sz="2000" dirty="0"/>
              <a:t>Extensive use of assert() and run-time checks</a:t>
            </a:r>
            <a:endParaRPr lang="en-US" sz="2000" dirty="0"/>
          </a:p>
          <a:p>
            <a:pPr marL="1257300" lvl="2" indent="-342900">
              <a:buFont typeface="Arial" panose="020B0604020202090204" pitchFamily="34" charset="0"/>
              <a:buChar char="•"/>
            </a:pPr>
            <a:r>
              <a:rPr lang="en-US" sz="2000" dirty="0" err="1"/>
              <a:t>Valgrind</a:t>
            </a:r>
            <a:r>
              <a:rPr lang="en-US" sz="2000" dirty="0"/>
              <a:t> analysis</a:t>
            </a:r>
            <a:endParaRPr lang="en-US" sz="2000" dirty="0"/>
          </a:p>
          <a:p>
            <a:pPr marL="1257300" lvl="2" indent="-342900">
              <a:buFont typeface="Arial" panose="020B0604020202090204" pitchFamily="34" charset="0"/>
              <a:buChar char="•"/>
            </a:pPr>
            <a:r>
              <a:rPr lang="en-US" sz="2000" dirty="0"/>
              <a:t>Undefined behavior checks</a:t>
            </a:r>
            <a:endParaRPr lang="en-US" sz="2000" dirty="0"/>
          </a:p>
          <a:p>
            <a:pPr marL="1257300" lvl="2" indent="-342900">
              <a:buFont typeface="Arial" panose="020B0604020202090204" pitchFamily="34" charset="0"/>
              <a:buChar char="•"/>
            </a:pPr>
            <a:r>
              <a:rPr lang="en-US" sz="2000" dirty="0"/>
              <a:t>Checklists</a:t>
            </a:r>
            <a:endParaRPr lang="en-US" sz="2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Fixing Bugs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4401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Isolate the bug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Intermittent --&gt; repeatable</a:t>
            </a:r>
            <a:endParaRPr lang="en-US" altLang="zh-CN" sz="2000" dirty="0"/>
          </a:p>
          <a:p>
            <a:pPr marL="800100" lvl="1" indent="-342900">
              <a:buFont typeface="Arial" panose="020B0604020202090204" pitchFamily="34" charset="0"/>
              <a:buChar char="•"/>
            </a:pPr>
            <a:r>
              <a:rPr lang="en-US" altLang="zh-CN" sz="2000" dirty="0"/>
              <a:t>Complex example --&gt; simple example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Understand the bug and its context</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Root cause </a:t>
            </a:r>
            <a:endParaRPr lang="en-US" altLang="zh-CN" sz="2000" dirty="0"/>
          </a:p>
          <a:p>
            <a:pPr marL="800100" lvl="1" indent="-342900">
              <a:buFont typeface="Arial" panose="020B0604020202090204" pitchFamily="34" charset="0"/>
              <a:buChar char="•"/>
            </a:pPr>
            <a:r>
              <a:rPr lang="en-US" altLang="zh-CN" sz="2000" dirty="0"/>
              <a:t>Dependencies </a:t>
            </a:r>
            <a:endParaRPr lang="en-US" altLang="zh-CN" sz="2000" dirty="0"/>
          </a:p>
          <a:p>
            <a:pPr marL="800100" lvl="1" indent="-342900">
              <a:buFont typeface="Arial" panose="020B0604020202090204" pitchFamily="34" charset="0"/>
              <a:buChar char="•"/>
            </a:pPr>
            <a:r>
              <a:rPr lang="en-US" altLang="zh-CN" sz="2000" dirty="0"/>
              <a:t>Structural interactions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Fix the bug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Design changes</a:t>
            </a:r>
            <a:endParaRPr lang="en-US" altLang="zh-CN" sz="2000" dirty="0"/>
          </a:p>
          <a:p>
            <a:pPr marL="800100" lvl="1" indent="-342900">
              <a:buFont typeface="Arial" panose="020B0604020202090204" pitchFamily="34" charset="0"/>
              <a:buChar char="•"/>
            </a:pPr>
            <a:r>
              <a:rPr lang="en-US" altLang="zh-CN" sz="2000" dirty="0"/>
              <a:t>Documentation changes</a:t>
            </a:r>
            <a:endParaRPr lang="en-US" altLang="zh-CN" sz="2000" dirty="0"/>
          </a:p>
          <a:p>
            <a:pPr marL="800100" lvl="1" indent="-342900">
              <a:buFont typeface="Arial" panose="020B0604020202090204" pitchFamily="34" charset="0"/>
              <a:buChar char="•"/>
            </a:pPr>
            <a:r>
              <a:rPr lang="en-US" altLang="zh-CN" sz="2000" dirty="0"/>
              <a:t>Code changes</a:t>
            </a:r>
            <a:endParaRPr lang="en-US" altLang="zh-CN" sz="2000" dirty="0"/>
          </a:p>
          <a:p>
            <a:pPr marL="800100" lvl="1" indent="-342900">
              <a:buFont typeface="Arial" panose="020B0604020202090204" pitchFamily="34" charset="0"/>
              <a:buChar char="•"/>
            </a:pPr>
            <a:r>
              <a:rPr lang="en-US" altLang="zh-CN" sz="2000" dirty="0"/>
              <a:t>Create new test case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Moving the Bugs Around</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Fixing bugs is an error-prone process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When you fix a bug, fix its environment.</a:t>
            </a:r>
            <a:endParaRPr lang="en-US" altLang="zh-CN" sz="2000" dirty="0"/>
          </a:p>
          <a:p>
            <a:pPr marL="800100" lvl="1" indent="-342900">
              <a:buFont typeface="Arial" panose="020B0604020202090204" pitchFamily="34" charset="0"/>
              <a:buChar char="•"/>
            </a:pPr>
            <a:r>
              <a:rPr lang="en-US" altLang="zh-CN" sz="2000" dirty="0"/>
              <a:t>Bug fixes need static and dynamic testing.</a:t>
            </a:r>
            <a:endParaRPr lang="en-US" altLang="zh-CN" sz="2000" dirty="0"/>
          </a:p>
          <a:p>
            <a:pPr marL="800100" lvl="1" indent="-342900">
              <a:buFont typeface="Arial" panose="020B0604020202090204" pitchFamily="34" charset="0"/>
              <a:buChar char="•"/>
            </a:pPr>
            <a:r>
              <a:rPr lang="en-US" altLang="zh-CN" sz="2000" dirty="0"/>
              <a:t>Repeat all tests that have the slightest relevance (regression testing).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Bugs have a habit of returning </a:t>
            </a:r>
            <a:endParaRPr lang="en-US" altLang="zh-CN" sz="2000" b="1" dirty="0">
              <a:solidFill>
                <a:srgbClr val="515223"/>
              </a:solidFill>
              <a:latin typeface="Helvetica" pitchFamily="2" charset="0"/>
              <a:cs typeface="Arial" panose="020B0604020202090204" pitchFamily="34" charset="0"/>
            </a:endParaRPr>
          </a:p>
          <a:p>
            <a:r>
              <a:rPr lang="en-US" altLang="zh-CN" sz="2000" dirty="0"/>
              <a:t>When a bug is fixed, add the failure case to the test suite for future regression testing.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Persistence </a:t>
            </a:r>
            <a:endParaRPr lang="en-US" altLang="zh-CN" sz="2000" b="1" dirty="0">
              <a:solidFill>
                <a:srgbClr val="515223"/>
              </a:solidFill>
              <a:latin typeface="Helvetica" pitchFamily="2" charset="0"/>
              <a:cs typeface="Arial" panose="020B0604020202090204" pitchFamily="34" charset="0"/>
            </a:endParaRPr>
          </a:p>
          <a:p>
            <a:r>
              <a:rPr lang="en-US" altLang="zh-CN" sz="2000" dirty="0"/>
              <a:t>Most people work around a problem. The best people track down the root cause and fix it for ever</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Difficult Bugs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3477875"/>
          </a:xfrm>
          <a:prstGeom prst="rect">
            <a:avLst/>
          </a:prstGeom>
          <a:noFill/>
        </p:spPr>
        <p:txBody>
          <a:bodyPr wrap="square">
            <a:spAutoFit/>
          </a:bodyPr>
          <a:lstStyle/>
          <a:p>
            <a:r>
              <a:rPr lang="en-US" altLang="zh-CN" sz="2000" dirty="0"/>
              <a:t>Some bugs may be extremely difficult to track down and isolate. This is particularly true of intermittent failures.</a:t>
            </a:r>
            <a:endParaRPr lang="en-US" altLang="zh-CN" sz="2000" dirty="0"/>
          </a:p>
          <a:p>
            <a:pPr marL="800100" lvl="1" indent="-342900">
              <a:buFont typeface="Arial" panose="020B0604020202090204" pitchFamily="34" charset="0"/>
              <a:buChar char="•"/>
            </a:pPr>
            <a:r>
              <a:rPr lang="en-US" altLang="zh-CN" sz="2000" dirty="0"/>
              <a:t>A large central computer stops a few times every month with no dump or other diagnostic. </a:t>
            </a:r>
            <a:endParaRPr lang="en-US" altLang="zh-CN" sz="2000" dirty="0"/>
          </a:p>
          <a:p>
            <a:pPr marL="800100" lvl="1" indent="-342900">
              <a:buFont typeface="Arial" panose="020B0604020202090204" pitchFamily="34" charset="0"/>
              <a:buChar char="•"/>
            </a:pPr>
            <a:r>
              <a:rPr lang="en-US" altLang="zh-CN" sz="2000" dirty="0"/>
              <a:t>A database load dies after running for several days with no diagnostics. </a:t>
            </a:r>
            <a:endParaRPr lang="en-US" altLang="zh-CN" sz="2000" dirty="0"/>
          </a:p>
          <a:p>
            <a:pPr marL="800100" lvl="1" indent="-342900">
              <a:buFont typeface="Arial" panose="020B0604020202090204" pitchFamily="34" charset="0"/>
              <a:buChar char="•"/>
            </a:pPr>
            <a:r>
              <a:rPr lang="en-US" altLang="zh-CN" sz="2000" dirty="0"/>
              <a:t>An image processing system runs correctly, but uses huge amounts of memory. </a:t>
            </a:r>
            <a:endParaRPr lang="en-US" altLang="zh-CN" sz="2000" dirty="0"/>
          </a:p>
          <a:p>
            <a:endParaRPr lang="en-US" altLang="zh-CN" sz="2000" dirty="0"/>
          </a:p>
          <a:p>
            <a:r>
              <a:rPr lang="en-US" altLang="zh-CN" sz="2000" dirty="0">
                <a:solidFill>
                  <a:srgbClr val="FF0000"/>
                </a:solidFill>
              </a:rPr>
              <a:t>Such problems may require months of effort to track down. </a:t>
            </a:r>
            <a:endParaRPr lang="en-US" altLang="zh-CN" sz="2000" dirty="0">
              <a:solidFill>
                <a:srgbClr val="FF0000"/>
              </a:solidFill>
            </a:endParaRPr>
          </a:p>
          <a:p>
            <a:endParaRPr lang="en-US" altLang="zh-CN" sz="2000" dirty="0"/>
          </a:p>
          <a:p>
            <a:r>
              <a:rPr lang="en-US" altLang="zh-CN" sz="2000" dirty="0"/>
              <a:t>For a fictional example, see</a:t>
            </a:r>
            <a:r>
              <a:rPr lang="en-US" altLang="zh-CN" sz="2000" i="1" dirty="0"/>
              <a:t>: Ellen Ullman, The Bug: a Novel, (Doubleday 2003). </a:t>
            </a:r>
            <a:endParaRPr lang="en-US" altLang="zh-CN" sz="2000" b="1" i="1" dirty="0">
              <a:solidFill>
                <a:srgbClr val="FF0000"/>
              </a:solidFill>
              <a:latin typeface="Helvetica" pitchFamily="2" charset="0"/>
              <a:cs typeface="Arial" panose="020B060402020209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Tracking Down a Difficult Bugs: The Heisenbug </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511464" y="1072586"/>
            <a:ext cx="10854510" cy="707886"/>
          </a:xfrm>
          <a:prstGeom prst="rect">
            <a:avLst/>
          </a:prstGeom>
          <a:noFill/>
        </p:spPr>
        <p:txBody>
          <a:bodyPr wrap="none" rtlCol="0">
            <a:spAutoFit/>
          </a:bodyPr>
          <a:lstStyle/>
          <a:p>
            <a:r>
              <a:rPr lang="en-US" sz="2000" b="1" dirty="0">
                <a:solidFill>
                  <a:srgbClr val="515223"/>
                </a:solidFill>
                <a:latin typeface="Helvetica" pitchFamily="2" charset="0"/>
                <a:cs typeface="Arial" panose="020B0604020202090204" pitchFamily="34" charset="0"/>
              </a:rPr>
              <a:t>A heisenbug (named after the Heisenberg Uncertainty Principle) is a computer bug that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disappears or alters its characteristics when an attempt is made to study it.</a:t>
            </a:r>
            <a:endParaRPr lang="en-US" sz="2000" b="1" dirty="0">
              <a:solidFill>
                <a:srgbClr val="515223"/>
              </a:solidFill>
              <a:latin typeface="Helvetica" pitchFamily="2" charset="0"/>
              <a:cs typeface="Arial" panose="020B0604020202090204" pitchFamily="34" charset="0"/>
            </a:endParaRPr>
          </a:p>
        </p:txBody>
      </p:sp>
      <p:sp>
        <p:nvSpPr>
          <p:cNvPr id="7" name="TextBox 6"/>
          <p:cNvSpPr txBox="1"/>
          <p:nvPr/>
        </p:nvSpPr>
        <p:spPr>
          <a:xfrm>
            <a:off x="670791" y="2170559"/>
            <a:ext cx="9635836" cy="3170099"/>
          </a:xfrm>
          <a:prstGeom prst="rect">
            <a:avLst/>
          </a:prstGeom>
          <a:noFill/>
        </p:spPr>
        <p:txBody>
          <a:bodyPr wrap="square">
            <a:spAutoFit/>
          </a:bodyPr>
          <a:lstStyle/>
          <a:p>
            <a:r>
              <a:rPr lang="en-US" sz="2000" dirty="0">
                <a:solidFill>
                  <a:srgbClr val="C00000"/>
                </a:solidFill>
              </a:rPr>
              <a:t>Timing</a:t>
            </a:r>
            <a:r>
              <a:rPr lang="en-US" sz="2000" dirty="0"/>
              <a:t> While debugging, you run instructions line by line, the delay between operations might be orders of magnitude larger than in production (e.g., the interaction of different thread)</a:t>
            </a:r>
            <a:endParaRPr lang="en-US" sz="2000" dirty="0"/>
          </a:p>
          <a:p>
            <a:endParaRPr lang="en-US" sz="2000" dirty="0"/>
          </a:p>
          <a:p>
            <a:r>
              <a:rPr lang="en-US" sz="2000" dirty="0">
                <a:solidFill>
                  <a:srgbClr val="C00000"/>
                </a:solidFill>
              </a:rPr>
              <a:t>Memory</a:t>
            </a:r>
            <a:r>
              <a:rPr lang="en-US" sz="2000" dirty="0"/>
              <a:t> During debug the addresses of variables might change (e.g., affect the precision used for floating point comparisons in some languages)</a:t>
            </a:r>
            <a:endParaRPr lang="en-US" sz="2000" dirty="0"/>
          </a:p>
          <a:p>
            <a:endParaRPr lang="en-US" sz="2000" dirty="0"/>
          </a:p>
          <a:p>
            <a:r>
              <a:rPr lang="en-US" sz="2000" dirty="0">
                <a:solidFill>
                  <a:srgbClr val="C00000"/>
                </a:solidFill>
              </a:rPr>
              <a:t>Assertions</a:t>
            </a:r>
            <a:r>
              <a:rPr lang="en-US" sz="2000" dirty="0"/>
              <a:t> When your code is compiled with optimization options activated, assertions are usually disabled, while when compiling in dev mode locally they might likely be active. (Evaluating assertions might have side effects, e.g., timing)</a:t>
            </a:r>
            <a:endParaRPr lang="en-US" sz="2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Tracking Down a Difficult Bugs: The Heisenbug </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6"/>
          <p:cNvSpPr txBox="1"/>
          <p:nvPr/>
        </p:nvSpPr>
        <p:spPr>
          <a:xfrm>
            <a:off x="1004455" y="1257816"/>
            <a:ext cx="9635836" cy="4401205"/>
          </a:xfrm>
          <a:prstGeom prst="rect">
            <a:avLst/>
          </a:prstGeom>
          <a:noFill/>
        </p:spPr>
        <p:txBody>
          <a:bodyPr wrap="square">
            <a:spAutoFit/>
          </a:bodyPr>
          <a:lstStyle/>
          <a:p>
            <a:r>
              <a:rPr lang="en-US" sz="2000" dirty="0">
                <a:solidFill>
                  <a:srgbClr val="C00000"/>
                </a:solidFill>
              </a:rPr>
              <a:t>Side-effects of debugging</a:t>
            </a:r>
            <a:r>
              <a:rPr lang="en-US" sz="2000" dirty="0"/>
              <a:t> Adding logging or prints change the likelihood of the "wrong" interleaving between threads; the expressions checked in the debug's watches can have the same result, or even worse (if you are not careful) have side effects.</a:t>
            </a:r>
            <a:endParaRPr lang="en-US" sz="2000" dirty="0"/>
          </a:p>
          <a:p>
            <a:endParaRPr lang="en-US" sz="2000" dirty="0"/>
          </a:p>
          <a:p>
            <a:r>
              <a:rPr lang="en-US" sz="2000" dirty="0">
                <a:solidFill>
                  <a:srgbClr val="C00000"/>
                </a:solidFill>
              </a:rPr>
              <a:t>Latency</a:t>
            </a:r>
            <a:r>
              <a:rPr lang="zh-CN" altLang="en-US" sz="2000" dirty="0">
                <a:solidFill>
                  <a:srgbClr val="C00000"/>
                </a:solidFill>
              </a:rPr>
              <a:t> </a:t>
            </a:r>
            <a:r>
              <a:rPr lang="en-US" altLang="zh-CN" sz="2000" dirty="0"/>
              <a:t>I</a:t>
            </a:r>
            <a:r>
              <a:rPr lang="en-US" sz="2000" dirty="0"/>
              <a:t>f you are running debug locally, or with mocked services, the latency of sync calls will be orders of magnitude smaller.</a:t>
            </a:r>
            <a:endParaRPr lang="en-US" sz="2000" dirty="0"/>
          </a:p>
          <a:p>
            <a:endParaRPr lang="en-US" sz="2000" dirty="0"/>
          </a:p>
          <a:p>
            <a:r>
              <a:rPr lang="en-US" sz="2000" dirty="0">
                <a:solidFill>
                  <a:srgbClr val="C00000"/>
                </a:solidFill>
              </a:rPr>
              <a:t>Race conditions </a:t>
            </a:r>
            <a:r>
              <a:rPr lang="en-US" sz="2000" dirty="0"/>
              <a:t>Execution depends on operating systems, and on the resources available at runtime. Many of these bugs only happen when certain edge conditions are faced.</a:t>
            </a:r>
            <a:endParaRPr lang="en-US" sz="2000" dirty="0"/>
          </a:p>
          <a:p>
            <a:endParaRPr lang="en-US" sz="2000" dirty="0">
              <a:solidFill>
                <a:srgbClr val="C00000"/>
              </a:solidFill>
            </a:endParaRPr>
          </a:p>
          <a:p>
            <a:r>
              <a:rPr lang="en-US" sz="2000" dirty="0">
                <a:solidFill>
                  <a:srgbClr val="C00000"/>
                </a:solidFill>
              </a:rPr>
              <a:t>Randomization </a:t>
            </a:r>
            <a:r>
              <a:rPr lang="en-US" sz="2000" dirty="0"/>
              <a:t>Using randomization in your code might cause inconsistencies across different runs, including the happening of bug</a:t>
            </a:r>
            <a:endParaRPr lang="en-US" sz="2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When Fixing a Bug Creates a Problem for Customers</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3477875"/>
          </a:xfrm>
          <a:prstGeom prst="rect">
            <a:avLst/>
          </a:prstGeom>
          <a:noFill/>
        </p:spPr>
        <p:txBody>
          <a:bodyPr wrap="square">
            <a:spAutoFit/>
          </a:bodyPr>
          <a:lstStyle/>
          <a:p>
            <a:r>
              <a:rPr lang="en-US" altLang="zh-CN" sz="2000" dirty="0"/>
              <a:t>Sometimes customers will build applications that rely upon a bug. Fixing the bug will break the applications.</a:t>
            </a:r>
            <a:endParaRPr lang="en-US" altLang="zh-CN" sz="2000" dirty="0"/>
          </a:p>
          <a:p>
            <a:pPr marL="800100" lvl="1" indent="-342900">
              <a:buFont typeface="Arial" panose="020B0604020202090204" pitchFamily="34" charset="0"/>
              <a:buChar char="•"/>
            </a:pPr>
            <a:r>
              <a:rPr lang="en-US" altLang="zh-CN" sz="2000" dirty="0"/>
              <a:t>The graphics package with rotation about the Z-axis in the wrong direction.</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An application crashes with an emulator, even though the emulator is bug free. (Compensating bug problem.) </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The 3-pixel rendering problem with Microsoft’s Internet Explorer. </a:t>
            </a:r>
            <a:endParaRPr lang="en-US" altLang="zh-CN" sz="2000" dirty="0"/>
          </a:p>
          <a:p>
            <a:endParaRPr lang="en-US" altLang="zh-CN" sz="2000" dirty="0"/>
          </a:p>
          <a:p>
            <a:r>
              <a:rPr lang="en-US" altLang="zh-CN" sz="2000" dirty="0"/>
              <a:t>With each of these bugs the code was easy to fix, but releasing it would have caused problems for existing programs.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fr-FR" altLang="zh-CN" dirty="0"/>
              <a:t>A Note on Testing User Interfaces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User interfaces need several categories of testing.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During the </a:t>
            </a:r>
            <a:r>
              <a:rPr lang="en-US" altLang="zh-CN" sz="2000" dirty="0">
                <a:solidFill>
                  <a:srgbClr val="FF0000"/>
                </a:solidFill>
              </a:rPr>
              <a:t>design phase</a:t>
            </a:r>
            <a:r>
              <a:rPr lang="en-US" altLang="zh-CN" sz="2000" dirty="0"/>
              <a:t>, user testing is carried out with trial users to ensure that the design is usable. Design testing is also used to develop graphical elements and to validate the requirements.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During the </a:t>
            </a:r>
            <a:r>
              <a:rPr lang="en-US" altLang="zh-CN" sz="2000" dirty="0">
                <a:solidFill>
                  <a:srgbClr val="FF0000"/>
                </a:solidFill>
              </a:rPr>
              <a:t>implementation phase</a:t>
            </a:r>
            <a:r>
              <a:rPr lang="en-US" altLang="zh-CN" sz="2000" dirty="0"/>
              <a:t>, the user interface goes through the standard steps of unit and system testing to check the reliability of the implementation. </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Finally, </a:t>
            </a:r>
            <a:r>
              <a:rPr lang="en-US" altLang="zh-CN" sz="2000" dirty="0">
                <a:solidFill>
                  <a:srgbClr val="FF0000"/>
                </a:solidFill>
              </a:rPr>
              <a:t>acceptance testing </a:t>
            </a:r>
            <a:r>
              <a:rPr lang="en-US" altLang="zh-CN" sz="2000" dirty="0"/>
              <a:t>is carried out with users, on the complete system.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en-US" altLang="zh-CN" sz="3700" b="1" dirty="0">
                <a:solidFill>
                  <a:schemeClr val="accent1"/>
                </a:solidFill>
                <a:latin typeface="Helvetica" pitchFamily="2" charset="0"/>
                <a:cs typeface="+mn-ea"/>
              </a:rPr>
              <a:t>Acceptance Testing &amp; Delivery</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03</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THREE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Acceptance Testing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746411"/>
            <a:ext cx="11163995"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Acceptance testing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The complete system, including documentation, training materials, installation scripts, etc. is tested against the requirements by the client, assisted by the developers. </a:t>
            </a:r>
            <a:endParaRPr lang="en-US" altLang="zh-CN" sz="2000" dirty="0"/>
          </a:p>
          <a:p>
            <a:pPr marL="800100" lvl="1" indent="-342900">
              <a:buFont typeface="Arial" panose="020B0604020202090204" pitchFamily="34" charset="0"/>
              <a:buChar char="•"/>
            </a:pPr>
            <a:r>
              <a:rPr lang="en-US" altLang="zh-CN" sz="2000" dirty="0"/>
              <a:t>Each requirement is tested separately. </a:t>
            </a:r>
            <a:endParaRPr lang="en-US" altLang="zh-CN" sz="2000" dirty="0"/>
          </a:p>
          <a:p>
            <a:pPr marL="800100" lvl="1" indent="-342900">
              <a:buFont typeface="Arial" panose="020B0604020202090204" pitchFamily="34" charset="0"/>
              <a:buChar char="•"/>
            </a:pPr>
            <a:r>
              <a:rPr lang="en-US" altLang="zh-CN" sz="2000" dirty="0"/>
              <a:t>Scenarios are used to compare the expected outcomes with what the system does. </a:t>
            </a:r>
            <a:endParaRPr lang="en-US" altLang="zh-CN" sz="2000" dirty="0"/>
          </a:p>
          <a:p>
            <a:pPr marL="800100" lvl="1" indent="-342900">
              <a:buFont typeface="Arial" panose="020B0604020202090204" pitchFamily="34" charset="0"/>
              <a:buChar char="•"/>
            </a:pPr>
            <a:r>
              <a:rPr lang="en-US" altLang="zh-CN" sz="2000" dirty="0"/>
              <a:t>Emphasis is placed on how the system handles problems, errors, restarts, and other difficulties. </a:t>
            </a:r>
            <a:endParaRPr lang="en-US" altLang="zh-CN" sz="2000" dirty="0"/>
          </a:p>
          <a:p>
            <a:endParaRPr lang="en-US" altLang="zh-CN" sz="2000" dirty="0"/>
          </a:p>
          <a:p>
            <a:r>
              <a:rPr lang="en-US" altLang="zh-CN" sz="2000" dirty="0">
                <a:solidFill>
                  <a:srgbClr val="FF0000"/>
                </a:solidFill>
              </a:rPr>
              <a:t>Is the system we have built, the system that you wanted? Does it meet your requirements?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Acceptance Testing in the Modified Waterfall Model</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458201" y="1122039"/>
            <a:ext cx="9275597" cy="5003809"/>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2800" dirty="0"/>
              <a:t>Acceptance Testing with Iterative Development</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937068"/>
            <a:ext cx="11163995"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Iterative development </a:t>
            </a:r>
            <a:endParaRPr lang="en-US" altLang="zh-CN" sz="2000" b="1" dirty="0">
              <a:solidFill>
                <a:srgbClr val="515223"/>
              </a:solidFill>
              <a:latin typeface="Helvetica" pitchFamily="2" charset="0"/>
              <a:cs typeface="Arial" panose="020B0604020202090204" pitchFamily="34" charset="0"/>
            </a:endParaRPr>
          </a:p>
          <a:p>
            <a:r>
              <a:rPr lang="en-US" altLang="zh-CN" sz="2000" dirty="0"/>
              <a:t>If the client is properly involved in the development cycle:</a:t>
            </a:r>
            <a:endParaRPr lang="en-US" altLang="zh-CN" sz="2000" dirty="0"/>
          </a:p>
          <a:p>
            <a:pPr marL="800100" lvl="1" indent="-342900">
              <a:buFont typeface="Arial" panose="020B0604020202090204" pitchFamily="34" charset="0"/>
              <a:buChar char="•"/>
            </a:pPr>
            <a:r>
              <a:rPr lang="en-US" altLang="zh-CN" sz="2000" dirty="0"/>
              <a:t>The client will have tested many parts of the system, e.g., </a:t>
            </a:r>
            <a:endParaRPr lang="en-US" altLang="zh-CN" sz="2000" dirty="0"/>
          </a:p>
          <a:p>
            <a:pPr lvl="2"/>
            <a:r>
              <a:rPr lang="en-US" altLang="zh-CN" sz="2000" dirty="0"/>
              <a:t>At the end of each iteration </a:t>
            </a:r>
            <a:endParaRPr lang="en-US" altLang="zh-CN" sz="2000" dirty="0"/>
          </a:p>
          <a:p>
            <a:pPr lvl="2"/>
            <a:r>
              <a:rPr lang="en-US" altLang="zh-CN" sz="2000" dirty="0"/>
              <a:t>During user testing</a:t>
            </a:r>
            <a:endParaRPr lang="en-US" altLang="zh-CN" sz="2000" dirty="0"/>
          </a:p>
          <a:p>
            <a:pPr marL="800100" lvl="1" indent="-342900">
              <a:buFont typeface="Arial" panose="020B0604020202090204" pitchFamily="34" charset="0"/>
              <a:buChar char="•"/>
            </a:pPr>
            <a:r>
              <a:rPr lang="en-US" altLang="zh-CN" sz="2000" dirty="0"/>
              <a:t>Problems and suggestions for improvement will have been incorporated into the system.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BUT: There must still be an acceptance test of the final system before it is released.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t>Acceptance Testing with Agile Development</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62948" y="2339278"/>
            <a:ext cx="11163995"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Incremental development </a:t>
            </a:r>
            <a:endParaRPr lang="en-US" altLang="zh-CN" sz="2000" b="1" dirty="0">
              <a:solidFill>
                <a:srgbClr val="515223"/>
              </a:solidFill>
              <a:latin typeface="Helvetica" pitchFamily="2" charset="0"/>
              <a:cs typeface="Arial" panose="020B0604020202090204" pitchFamily="34" charset="0"/>
            </a:endParaRPr>
          </a:p>
          <a:p>
            <a:r>
              <a:rPr lang="en-US" altLang="zh-CN" sz="2000" dirty="0"/>
              <a:t>Acceptance testing is particularly important with agile development, since each sprint should end with completed code that is ready for release. </a:t>
            </a:r>
            <a:endParaRPr lang="en-US" altLang="zh-CN" sz="2000" dirty="0"/>
          </a:p>
          <a:p>
            <a:pPr marL="800100" lvl="1" indent="-342900">
              <a:buFont typeface="Arial" panose="020B0604020202090204" pitchFamily="34" charset="0"/>
              <a:buChar char="•"/>
            </a:pPr>
            <a:r>
              <a:rPr lang="en-US" altLang="zh-CN" sz="2000" dirty="0"/>
              <a:t>Each sprint should be a complete development process, ending with acceptance testing by the client and release. </a:t>
            </a:r>
            <a:endParaRPr lang="en-US" altLang="zh-CN" sz="2000" dirty="0"/>
          </a:p>
          <a:p>
            <a:pPr marL="800100" lvl="1" indent="-342900">
              <a:buFont typeface="Arial" panose="020B0604020202090204" pitchFamily="34" charset="0"/>
              <a:buChar char="•"/>
            </a:pPr>
            <a:r>
              <a:rPr lang="en-US" altLang="zh-CN" sz="2000" dirty="0"/>
              <a:t>If several sprints build on each other, each sprint may need to repeat the acceptance tests for earlier sprints to check that they are still met. </a:t>
            </a:r>
            <a:endParaRPr lang="en-US" altLang="zh-CN" sz="2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Resources for Acceptance Testing</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5" y="2302596"/>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Acceptance Testing is a important part of a software project.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It requires </a:t>
            </a:r>
            <a:r>
              <a:rPr lang="en-US" altLang="zh-CN" sz="2000" dirty="0">
                <a:solidFill>
                  <a:srgbClr val="FF0000"/>
                </a:solidFill>
              </a:rPr>
              <a:t>time</a:t>
            </a:r>
            <a:r>
              <a:rPr lang="en-US" altLang="zh-CN" sz="2000" dirty="0"/>
              <a:t> on the schedule.</a:t>
            </a:r>
            <a:endParaRPr lang="en-US" altLang="zh-CN" sz="2000" dirty="0"/>
          </a:p>
          <a:p>
            <a:pPr marL="800100" lvl="1" indent="-342900">
              <a:buFont typeface="Arial" panose="020B0604020202090204" pitchFamily="34" charset="0"/>
              <a:buChar char="•"/>
            </a:pPr>
            <a:r>
              <a:rPr lang="en-US" altLang="zh-CN" sz="2000" dirty="0"/>
              <a:t>It may require substantial </a:t>
            </a:r>
            <a:r>
              <a:rPr lang="en-US" altLang="zh-CN" sz="2000" dirty="0">
                <a:solidFill>
                  <a:srgbClr val="FF0000"/>
                </a:solidFill>
              </a:rPr>
              <a:t>investment</a:t>
            </a:r>
            <a:r>
              <a:rPr lang="en-US" altLang="zh-CN" sz="2000" dirty="0"/>
              <a:t> in test data, equipment, and test software.</a:t>
            </a:r>
            <a:endParaRPr lang="en-US" altLang="zh-CN" sz="2000" dirty="0"/>
          </a:p>
          <a:p>
            <a:pPr marL="800100" lvl="1" indent="-342900">
              <a:buFont typeface="Arial" panose="020B0604020202090204" pitchFamily="34" charset="0"/>
              <a:buChar char="•"/>
            </a:pPr>
            <a:r>
              <a:rPr lang="en-US" altLang="zh-CN" sz="2000" dirty="0"/>
              <a:t>Good testing requires good </a:t>
            </a:r>
            <a:r>
              <a:rPr lang="en-US" altLang="zh-CN" sz="2000" dirty="0">
                <a:solidFill>
                  <a:srgbClr val="FF0000"/>
                </a:solidFill>
              </a:rPr>
              <a:t>people</a:t>
            </a:r>
            <a:r>
              <a:rPr lang="en-US" altLang="zh-CN" sz="2000" dirty="0"/>
              <a:t>.</a:t>
            </a:r>
            <a:endParaRPr lang="en-US" altLang="zh-CN" sz="2000" dirty="0"/>
          </a:p>
          <a:p>
            <a:pPr marL="800100" lvl="1" indent="-342900">
              <a:buFont typeface="Arial" panose="020B0604020202090204" pitchFamily="34" charset="0"/>
              <a:buChar char="•"/>
            </a:pPr>
            <a:r>
              <a:rPr lang="en-US" altLang="zh-CN" sz="2000" dirty="0">
                <a:solidFill>
                  <a:srgbClr val="FF0000"/>
                </a:solidFill>
              </a:rPr>
              <a:t>Help</a:t>
            </a:r>
            <a:r>
              <a:rPr lang="en-US" altLang="zh-CN" sz="2000" dirty="0"/>
              <a:t> </a:t>
            </a:r>
            <a:r>
              <a:rPr lang="en-US" altLang="zh-CN" sz="2000" dirty="0">
                <a:solidFill>
                  <a:srgbClr val="FF0000"/>
                </a:solidFill>
              </a:rPr>
              <a:t>systems</a:t>
            </a:r>
            <a:r>
              <a:rPr lang="en-US" altLang="zh-CN" sz="2000" dirty="0"/>
              <a:t> and </a:t>
            </a:r>
            <a:r>
              <a:rPr lang="en-US" altLang="zh-CN" sz="2000" dirty="0">
                <a:solidFill>
                  <a:srgbClr val="FF0000"/>
                </a:solidFill>
              </a:rPr>
              <a:t>training</a:t>
            </a:r>
            <a:r>
              <a:rPr lang="en-US" altLang="zh-CN" sz="2000" dirty="0"/>
              <a:t> </a:t>
            </a:r>
            <a:r>
              <a:rPr lang="en-US" altLang="zh-CN" sz="2000" dirty="0">
                <a:solidFill>
                  <a:srgbClr val="FF0000"/>
                </a:solidFill>
              </a:rPr>
              <a:t>materials</a:t>
            </a:r>
            <a:r>
              <a:rPr lang="en-US" altLang="zh-CN" sz="2000" dirty="0"/>
              <a:t> are important parts of acceptance testing.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Acceptance Tests</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582387"/>
            <a:ext cx="9550399" cy="4401205"/>
          </a:xfrm>
          <a:prstGeom prst="rect">
            <a:avLst/>
          </a:prstGeom>
          <a:noFill/>
        </p:spPr>
        <p:txBody>
          <a:bodyPr wrap="square">
            <a:spAutoFit/>
          </a:bodyPr>
          <a:lstStyle/>
          <a:p>
            <a:pPr marL="342900" indent="-342900">
              <a:buFont typeface="Arial" panose="020B0604020202090204" pitchFamily="34" charset="0"/>
              <a:buChar char="•"/>
            </a:pPr>
            <a:r>
              <a:rPr lang="en-US" altLang="zh-CN" sz="2000" dirty="0"/>
              <a:t> </a:t>
            </a:r>
            <a:r>
              <a:rPr lang="en-US" altLang="zh-CN" sz="2000" dirty="0">
                <a:solidFill>
                  <a:srgbClr val="FF0000"/>
                </a:solidFill>
              </a:rPr>
              <a:t>Closed box by the client </a:t>
            </a:r>
            <a:r>
              <a:rPr lang="en-US" altLang="zh-CN" sz="2000" dirty="0"/>
              <a:t>without knowledge of the internals.</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 The entire system is tested as a whole.</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 The emphasis is on whether the system meets the requirements.</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 The tests should use real data in realistic situations, with actual users, administrators, and operators. </a:t>
            </a:r>
            <a:endParaRPr lang="en-US" altLang="zh-CN" sz="2000" dirty="0"/>
          </a:p>
          <a:p>
            <a:endParaRPr lang="en-US" altLang="zh-CN" sz="2000" dirty="0"/>
          </a:p>
          <a:p>
            <a:r>
              <a:rPr lang="en-US" altLang="zh-CN" sz="2000" dirty="0">
                <a:solidFill>
                  <a:srgbClr val="FF0000"/>
                </a:solidFill>
              </a:rPr>
              <a:t>The acceptance tests must be successfully completed before the new system can go live or replace a legacy system. </a:t>
            </a:r>
            <a:endParaRPr lang="en-US" altLang="zh-CN" sz="2000" dirty="0">
              <a:solidFill>
                <a:srgbClr val="FF0000"/>
              </a:solidFill>
            </a:endParaRPr>
          </a:p>
          <a:p>
            <a:endParaRPr lang="en-US" altLang="zh-CN" sz="2000" dirty="0"/>
          </a:p>
          <a:p>
            <a:r>
              <a:rPr lang="en-US" altLang="zh-CN" sz="2000" dirty="0">
                <a:solidFill>
                  <a:srgbClr val="FF0000"/>
                </a:solidFill>
              </a:rPr>
              <a:t>Completion of the acceptance tests may be a contractual requirement before the system is paid for.</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Techniques for Release</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990783" y="1141118"/>
            <a:ext cx="9550399" cy="5016758"/>
          </a:xfrm>
          <a:prstGeom prst="rect">
            <a:avLst/>
          </a:prstGeom>
          <a:noFill/>
        </p:spPr>
        <p:txBody>
          <a:bodyPr wrap="square">
            <a:spAutoFit/>
          </a:bodyPr>
          <a:lstStyle/>
          <a:p>
            <a:r>
              <a:rPr lang="en-US" altLang="zh-CN" sz="2000" dirty="0"/>
              <a:t>The transition from the previous version of a production system to a new release is challenging.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Parallel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new system alongside the old production system with same data and compare results.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Alpha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system in a realistic but non-production environment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Beta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system in a carefully monitored production environment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A/B Testing: </a:t>
            </a:r>
            <a:endParaRPr lang="en-US" altLang="zh-CN" sz="2000" b="1" dirty="0">
              <a:solidFill>
                <a:srgbClr val="515223"/>
              </a:solidFill>
              <a:latin typeface="Helvetica" pitchFamily="2" charset="0"/>
              <a:cs typeface="Arial" panose="020B0604020202090204" pitchFamily="34" charset="0"/>
            </a:endParaRPr>
          </a:p>
          <a:p>
            <a:r>
              <a:rPr lang="en-US" sz="2000" dirty="0"/>
              <a:t>Comparing two versions of a system against each other to determine which one performs better</a:t>
            </a:r>
            <a:endParaRPr lang="en-US" altLang="zh-CN" sz="2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Release: Parallel Testing</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Parallel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For data processing systems, such as financial systems, payroll, etc., the </a:t>
            </a:r>
            <a:r>
              <a:rPr lang="en-US" altLang="zh-CN" sz="2000" dirty="0">
                <a:solidFill>
                  <a:srgbClr val="FF0000"/>
                </a:solidFill>
              </a:rPr>
              <a:t>old</a:t>
            </a:r>
            <a:r>
              <a:rPr lang="en-US" altLang="zh-CN" sz="2000" dirty="0"/>
              <a:t> and the </a:t>
            </a:r>
            <a:r>
              <a:rPr lang="en-US" altLang="zh-CN" sz="2000" dirty="0">
                <a:solidFill>
                  <a:srgbClr val="FF0000"/>
                </a:solidFill>
              </a:rPr>
              <a:t>new</a:t>
            </a:r>
            <a:r>
              <a:rPr lang="en-US" altLang="zh-CN" sz="2000" dirty="0"/>
              <a:t> systems are run together for several productions cycles to check that the new system replicates the functionality of the old.</a:t>
            </a:r>
            <a:endParaRPr lang="en-US" altLang="zh-CN" sz="2000" dirty="0"/>
          </a:p>
          <a:p>
            <a:pPr marL="800100" lvl="1" indent="-342900">
              <a:buFont typeface="Arial" panose="020B0604020202090204" pitchFamily="34" charset="0"/>
              <a:buChar char="•"/>
            </a:pPr>
            <a:r>
              <a:rPr lang="en-US" altLang="zh-CN" sz="2000" dirty="0"/>
              <a:t>Requires two sets of everything (staff, equipment, etc.). </a:t>
            </a:r>
            <a:endParaRPr lang="en-US" altLang="zh-CN" sz="2000" dirty="0"/>
          </a:p>
          <a:p>
            <a:pPr marL="800100" lvl="1" indent="-342900">
              <a:buFont typeface="Arial" panose="020B0604020202090204" pitchFamily="34" charset="0"/>
              <a:buChar char="•"/>
            </a:pPr>
            <a:r>
              <a:rPr lang="en-US" altLang="zh-CN" sz="2000" dirty="0"/>
              <a:t>Requires software to control changeover (e.g., do not mail two sets of payments). </a:t>
            </a:r>
            <a:endParaRPr lang="en-US" altLang="zh-CN" sz="2000" dirty="0"/>
          </a:p>
          <a:p>
            <a:pPr marL="800100" lvl="1" indent="-342900">
              <a:buFont typeface="Arial" panose="020B0604020202090204" pitchFamily="34" charset="0"/>
              <a:buChar char="•"/>
            </a:pPr>
            <a:r>
              <a:rPr lang="en-US" altLang="zh-CN" sz="2000" dirty="0"/>
              <a:t>Requires automated scripts to compare results. </a:t>
            </a:r>
            <a:endParaRPr lang="en-US" altLang="zh-CN" sz="2000" dirty="0"/>
          </a:p>
          <a:p>
            <a:endParaRPr lang="en-US" altLang="zh-CN" sz="2000" dirty="0"/>
          </a:p>
          <a:p>
            <a:r>
              <a:rPr lang="en-US" altLang="zh-CN" sz="2000" dirty="0"/>
              <a:t>May take several months. Often, the new system will be brought into production in phases.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Release: Alpha and Beta Testing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1612081"/>
            <a:ext cx="9550399" cy="4093428"/>
          </a:xfrm>
          <a:prstGeom prst="rect">
            <a:avLst/>
          </a:prstGeom>
          <a:noFill/>
        </p:spPr>
        <p:txBody>
          <a:bodyPr wrap="square">
            <a:spAutoFit/>
          </a:bodyPr>
          <a:lstStyle/>
          <a:p>
            <a:r>
              <a:rPr lang="en-US" altLang="zh-CN" sz="2000" dirty="0"/>
              <a:t>Alpha testing can be done with software that lacks some functionality. Beta testing requires fully functional system.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Alpha and Beta testing must be managed. </a:t>
            </a:r>
            <a:endParaRPr lang="en-US" altLang="zh-CN" sz="2000" b="1" dirty="0">
              <a:solidFill>
                <a:srgbClr val="515223"/>
              </a:solidFill>
              <a:latin typeface="Helvetica" pitchFamily="2" charset="0"/>
              <a:cs typeface="Arial" panose="020B0604020202090204" pitchFamily="34" charset="0"/>
            </a:endParaRPr>
          </a:p>
          <a:p>
            <a:r>
              <a:rPr lang="en-US" altLang="zh-CN" sz="2000" dirty="0"/>
              <a:t>If you simply make versions of the software available to clients:</a:t>
            </a:r>
            <a:endParaRPr lang="en-US" altLang="zh-CN" sz="2000" dirty="0"/>
          </a:p>
          <a:p>
            <a:pPr marL="800100" lvl="1" indent="-342900">
              <a:buFont typeface="Arial" panose="020B0604020202090204" pitchFamily="34" charset="0"/>
              <a:buChar char="•"/>
            </a:pPr>
            <a:r>
              <a:rPr lang="en-US" altLang="zh-CN" sz="2000" dirty="0"/>
              <a:t>Many clients will never use it.</a:t>
            </a:r>
            <a:endParaRPr lang="en-US" altLang="zh-CN" sz="2000" dirty="0"/>
          </a:p>
          <a:p>
            <a:pPr marL="800100" lvl="1" indent="-342900">
              <a:buFont typeface="Arial" panose="020B0604020202090204" pitchFamily="34" charset="0"/>
              <a:buChar char="•"/>
            </a:pPr>
            <a:r>
              <a:rPr lang="en-US" altLang="zh-CN" sz="2000" dirty="0"/>
              <a:t>Other clients will use a few features. </a:t>
            </a:r>
            <a:endParaRPr lang="en-US" altLang="zh-CN" sz="2000" dirty="0"/>
          </a:p>
          <a:p>
            <a:pPr marL="800100" lvl="1" indent="-342900">
              <a:buFont typeface="Arial" panose="020B0604020202090204" pitchFamily="34" charset="0"/>
              <a:buChar char="•"/>
            </a:pPr>
            <a:r>
              <a:rPr lang="en-US" altLang="zh-CN" sz="2000" dirty="0"/>
              <a:t>Only a few clients will test it systematically. </a:t>
            </a:r>
            <a:endParaRPr lang="en-US" altLang="zh-CN" sz="2000" dirty="0"/>
          </a:p>
          <a:p>
            <a:pPr marL="800100" lvl="1" indent="-342900">
              <a:buFont typeface="Arial" panose="020B0604020202090204" pitchFamily="34" charset="0"/>
              <a:buChar char="•"/>
            </a:pPr>
            <a:r>
              <a:rPr lang="en-US" altLang="zh-CN" sz="2000" dirty="0"/>
              <a:t>Only a few clients will report problems systematically.</a:t>
            </a:r>
            <a:endParaRPr lang="en-US" altLang="zh-CN" sz="2000" dirty="0"/>
          </a:p>
          <a:p>
            <a:pPr lvl="1"/>
            <a:endParaRPr lang="en-US" altLang="zh-CN" sz="2000" dirty="0"/>
          </a:p>
          <a:p>
            <a:r>
              <a:rPr lang="en-US" altLang="zh-CN" sz="2000" dirty="0"/>
              <a:t>What </a:t>
            </a:r>
            <a:r>
              <a:rPr lang="en-US" altLang="zh-CN" sz="2000" dirty="0">
                <a:solidFill>
                  <a:srgbClr val="FF0000"/>
                </a:solidFill>
              </a:rPr>
              <a:t>incentives</a:t>
            </a:r>
            <a:r>
              <a:rPr lang="en-US" altLang="zh-CN" sz="2000" dirty="0"/>
              <a:t> can you give clients to test your software for you? </a:t>
            </a:r>
            <a:endParaRPr lang="en-US" altLang="zh-CN" sz="2000" dirty="0"/>
          </a:p>
          <a:p>
            <a:pPr marL="800100" lvl="1" indent="-342900">
              <a:buFont typeface="Arial" panose="020B0604020202090204" pitchFamily="34" charset="0"/>
              <a:buChar char="•"/>
            </a:pPr>
            <a:r>
              <a:rPr lang="en-US" altLang="zh-CN" sz="2000" dirty="0"/>
              <a:t>Financial (e.g., discounts on products) </a:t>
            </a:r>
            <a:endParaRPr lang="en-US" altLang="zh-CN" sz="2000" dirty="0"/>
          </a:p>
          <a:p>
            <a:pPr marL="800100" lvl="1" indent="-342900">
              <a:buFont typeface="Arial" panose="020B0604020202090204" pitchFamily="34" charset="0"/>
              <a:buChar char="•"/>
            </a:pPr>
            <a:r>
              <a:rPr lang="en-US" altLang="zh-CN" sz="2000" dirty="0"/>
              <a:t>Prestige (e.g., recognition, publicity)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A/B Testing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146976" y="1377032"/>
            <a:ext cx="10371924" cy="3447098"/>
          </a:xfrm>
          <a:prstGeom prst="rect">
            <a:avLst/>
          </a:prstGeom>
          <a:noFill/>
        </p:spPr>
        <p:txBody>
          <a:bodyPr wrap="square">
            <a:spAutoFit/>
          </a:bodyPr>
          <a:lstStyle/>
          <a:p>
            <a:r>
              <a:rPr lang="en-US" sz="2000" dirty="0"/>
              <a:t>In an A/B test, you take a webpage or app screen and modify it to create a second version of the same page. </a:t>
            </a:r>
            <a:endParaRPr lang="en-US" sz="2000" dirty="0"/>
          </a:p>
          <a:p>
            <a:endParaRPr lang="en-US" sz="2000" dirty="0"/>
          </a:p>
          <a:p>
            <a:r>
              <a:rPr lang="en-US" sz="2000" dirty="0"/>
              <a:t>Half of your traffic is shown the original version of the page (known as control or A) and half are shown the modified version of the page (the variation or B).</a:t>
            </a:r>
            <a:endParaRPr lang="en-US" sz="2000" dirty="0"/>
          </a:p>
          <a:p>
            <a:endParaRPr lang="en-US" dirty="0">
              <a:solidFill>
                <a:srgbClr val="E9EBF1"/>
              </a:solidFill>
              <a:highlight>
                <a:srgbClr val="10141D"/>
              </a:highlight>
              <a:latin typeface="Figtree"/>
            </a:endParaRPr>
          </a:p>
          <a:p>
            <a:r>
              <a:rPr lang="en-US" sz="2000" dirty="0"/>
              <a:t>As visitors are served either the control or variation, their engagement with each experience is collected and analyzed through statistical analysis. </a:t>
            </a:r>
            <a:endParaRPr lang="en-US" sz="2000" dirty="0"/>
          </a:p>
          <a:p>
            <a:endParaRPr lang="en-US" sz="2000" dirty="0"/>
          </a:p>
          <a:p>
            <a:r>
              <a:rPr lang="en-US" sz="2000" dirty="0"/>
              <a:t>Developers can then determine whether changing the experience (variation or B) had a positive, negative or neutral effect against the baseline (control or A).</a:t>
            </a:r>
            <a:endParaRPr lang="en-US" sz="2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Delivery</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2020812"/>
            <a:ext cx="9550399"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 good delivery package results in:</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happy client</a:t>
            </a:r>
            <a:endParaRPr lang="en-US" altLang="zh-CN" sz="2000" dirty="0"/>
          </a:p>
          <a:p>
            <a:pPr lvl="1"/>
            <a:r>
              <a:rPr lang="en-US" altLang="zh-CN" sz="2000" dirty="0"/>
              <a:t>happy users</a:t>
            </a:r>
            <a:endParaRPr lang="en-US" altLang="zh-CN" sz="2000" dirty="0"/>
          </a:p>
          <a:p>
            <a:pPr lvl="1"/>
            <a:r>
              <a:rPr lang="en-US" altLang="zh-CN" sz="2000" dirty="0"/>
              <a:t>less expense in support and maintenance </a:t>
            </a:r>
            <a:endParaRPr lang="en-US" altLang="zh-CN" sz="2000" dirty="0"/>
          </a:p>
          <a:p>
            <a:endParaRPr lang="en-US" altLang="zh-CN" sz="2000" dirty="0"/>
          </a:p>
          <a:p>
            <a:endParaRPr lang="en-US" altLang="zh-CN" sz="2000" dirty="0"/>
          </a:p>
          <a:p>
            <a:r>
              <a:rPr lang="en-US" altLang="zh-CN" sz="2000" dirty="0">
                <a:solidFill>
                  <a:srgbClr val="FF0000"/>
                </a:solidFill>
              </a:rPr>
              <a:t>But many projects rush the packaging, help systems, and training materials, give them to the least experienced members of the team, do not test them properly, and generally neglect this part of the software process.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Delivering the System</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2020812"/>
            <a:ext cx="9550399"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The best is the enemy of the good </a:t>
            </a:r>
            <a:endParaRPr lang="en-US" altLang="zh-CN" sz="2000" b="1" dirty="0">
              <a:solidFill>
                <a:srgbClr val="515223"/>
              </a:solidFill>
              <a:latin typeface="Helvetica" pitchFamily="2" charset="0"/>
              <a:cs typeface="Arial" panose="020B0604020202090204" pitchFamily="34" charset="0"/>
            </a:endParaRPr>
          </a:p>
          <a:p>
            <a:r>
              <a:rPr lang="en-US" altLang="zh-CN" sz="2000" dirty="0"/>
              <a:t>No system is ever perfect. </a:t>
            </a:r>
            <a:endParaRPr lang="en-US" altLang="zh-CN" sz="2000" dirty="0"/>
          </a:p>
          <a:p>
            <a:r>
              <a:rPr lang="en-US" altLang="zh-CN" sz="2000" dirty="0"/>
              <a:t>If you insist on perfection:</a:t>
            </a:r>
            <a:endParaRPr lang="en-US" altLang="zh-CN" sz="2000" dirty="0"/>
          </a:p>
          <a:p>
            <a:pPr lvl="1"/>
            <a:r>
              <a:rPr lang="en-US" altLang="zh-CN" sz="2000" dirty="0"/>
              <a:t>you will never release anything</a:t>
            </a:r>
            <a:endParaRPr lang="en-US" altLang="zh-CN" sz="2000" dirty="0"/>
          </a:p>
          <a:p>
            <a:pPr lvl="1"/>
            <a:r>
              <a:rPr lang="en-US" altLang="zh-CN" sz="2000" dirty="0"/>
              <a:t>you will still never reach perfection (because the ultimate test comes from the users) </a:t>
            </a:r>
            <a:endParaRPr lang="en-US" altLang="zh-CN" sz="2000" dirty="0"/>
          </a:p>
          <a:p>
            <a:endParaRPr lang="en-US" altLang="zh-CN" sz="2000" dirty="0"/>
          </a:p>
          <a:p>
            <a:r>
              <a:rPr lang="en-US" altLang="zh-CN" sz="2000" dirty="0">
                <a:solidFill>
                  <a:srgbClr val="FF0000"/>
                </a:solidFill>
              </a:rPr>
              <a:t>Learn what is essential to satisfy the client and focus on it.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Delivering the System</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10596" y="1868335"/>
            <a:ext cx="9550399" cy="3170099"/>
          </a:xfrm>
          <a:prstGeom prst="rect">
            <a:avLst/>
          </a:prstGeom>
          <a:noFill/>
        </p:spPr>
        <p:txBody>
          <a:bodyPr wrap="square">
            <a:spAutoFit/>
          </a:bodyPr>
          <a:lstStyle/>
          <a:p>
            <a:r>
              <a:rPr lang="en-US" altLang="zh-CN" sz="2000" dirty="0"/>
              <a:t>Pressures to get products to market and in operation often lead to bad decisions. </a:t>
            </a:r>
            <a:endParaRPr lang="en-US" altLang="zh-CN" sz="2000" dirty="0"/>
          </a:p>
          <a:p>
            <a:endParaRPr lang="en-US" altLang="zh-CN" sz="2000" dirty="0"/>
          </a:p>
          <a:p>
            <a:r>
              <a:rPr lang="en-US" altLang="zh-CN" sz="2000" dirty="0"/>
              <a:t>Trade-offs must be made between the cost of packaging, future support and maintenance, and the risk of later problems. </a:t>
            </a:r>
            <a:endParaRPr lang="en-US" altLang="zh-CN" sz="2000" dirty="0"/>
          </a:p>
          <a:p>
            <a:endParaRPr lang="en-US" altLang="zh-CN" sz="2000" dirty="0"/>
          </a:p>
          <a:p>
            <a:r>
              <a:rPr lang="en-US" altLang="zh-CN" sz="2000" dirty="0">
                <a:solidFill>
                  <a:srgbClr val="FF0000"/>
                </a:solidFill>
              </a:rPr>
              <a:t>All are expensive, but, in my experience, the pain of being late is usually less than the pain of putting a bad system into operation.</a:t>
            </a:r>
            <a:endParaRPr lang="en-US" altLang="zh-CN" sz="2000" dirty="0">
              <a:solidFill>
                <a:srgbClr val="FF0000"/>
              </a:solidFill>
            </a:endParaRPr>
          </a:p>
          <a:p>
            <a:endParaRPr lang="en-US" altLang="zh-CN" sz="2000" dirty="0"/>
          </a:p>
          <a:p>
            <a:r>
              <a:rPr lang="en-US" altLang="zh-CN" sz="2000" dirty="0"/>
              <a:t>Different categories of software product need different packaging and delivery procedures.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Delivery of Software</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文本框 4"/>
          <p:cNvSpPr txBox="1"/>
          <p:nvPr/>
        </p:nvSpPr>
        <p:spPr>
          <a:xfrm>
            <a:off x="602976" y="1418755"/>
            <a:ext cx="9550399" cy="4401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Packages that are shrink-wrapped or downloaded over the Internet </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Installation scripts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automatic</a:t>
            </a:r>
            <a:endParaRPr lang="en-US" altLang="zh-CN" sz="2000" dirty="0"/>
          </a:p>
          <a:p>
            <a:pPr marL="800100" lvl="1" indent="-342900">
              <a:buFont typeface="Arial" panose="020B0604020202090204" pitchFamily="34" charset="0"/>
              <a:buChar char="•"/>
            </a:pPr>
            <a:r>
              <a:rPr lang="en-US" altLang="zh-CN" sz="2000" dirty="0"/>
              <a:t>varieties of hardware and operating systems </a:t>
            </a:r>
            <a:endParaRPr lang="en-US" altLang="zh-CN" sz="2000" dirty="0"/>
          </a:p>
          <a:p>
            <a:pPr marL="800100" lvl="1" indent="-342900">
              <a:buFont typeface="Arial" panose="020B0604020202090204" pitchFamily="34" charset="0"/>
              <a:buChar char="•"/>
            </a:pPr>
            <a:r>
              <a:rPr lang="en-US" altLang="zh-CN" sz="2000" dirty="0"/>
              <a:t>uninstall, reinstall, etc.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Support (very expensive if it requires staff)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training</a:t>
            </a:r>
            <a:endParaRPr lang="en-US" altLang="zh-CN" sz="2000" dirty="0"/>
          </a:p>
          <a:p>
            <a:pPr marL="800100" lvl="1" indent="-342900">
              <a:buFont typeface="Arial" panose="020B0604020202090204" pitchFamily="34" charset="0"/>
              <a:buChar char="•"/>
            </a:pPr>
            <a:r>
              <a:rPr lang="en-US" altLang="zh-CN" sz="2000" dirty="0"/>
              <a:t>documentation (user, system administrator, expert user)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Maintenance</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client does not have source code</a:t>
            </a:r>
            <a:endParaRPr lang="en-US" altLang="zh-CN" sz="2000" dirty="0"/>
          </a:p>
          <a:p>
            <a:pPr marL="800100" lvl="1" indent="-342900">
              <a:buFont typeface="Arial" panose="020B0604020202090204" pitchFamily="34" charset="0"/>
              <a:buChar char="•"/>
            </a:pPr>
            <a:r>
              <a:rPr lang="en-US" altLang="zh-CN" sz="2000" dirty="0"/>
              <a:t>no bug fixing except with new release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Delivery of Software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830312"/>
            <a:ext cx="9550399"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Data processing system</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Acceptance</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Acceptance period may cover several months.</a:t>
            </a:r>
            <a:endParaRPr lang="en-US" altLang="zh-CN" sz="2000" dirty="0"/>
          </a:p>
          <a:p>
            <a:pPr marL="800100" lvl="1" indent="-342900">
              <a:buFont typeface="Arial" panose="020B0604020202090204" pitchFamily="34" charset="0"/>
              <a:buChar char="•"/>
            </a:pPr>
            <a:r>
              <a:rPr lang="en-US" altLang="zh-CN" sz="2000" dirty="0"/>
              <a:t>Client should be comfortable with complete system.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Support</a:t>
            </a:r>
            <a:r>
              <a:rPr lang="en-US" altLang="zh-CN" sz="2000" dirty="0"/>
              <a:t> </a:t>
            </a:r>
            <a:endParaRPr lang="en-US" altLang="zh-CN" sz="2000" dirty="0"/>
          </a:p>
          <a:p>
            <a:pPr marL="800100" lvl="1" indent="-342900">
              <a:buFont typeface="Arial" panose="020B0604020202090204" pitchFamily="34" charset="0"/>
              <a:buChar char="•"/>
            </a:pPr>
            <a:r>
              <a:rPr lang="en-US" altLang="zh-CN" sz="2000" dirty="0"/>
              <a:t>Client should be self-sufficient.</a:t>
            </a:r>
            <a:endParaRPr lang="en-US" altLang="zh-CN" sz="2000" dirty="0"/>
          </a:p>
          <a:p>
            <a:pPr marL="800100" lvl="1" indent="-342900">
              <a:buFont typeface="Arial" panose="020B0604020202090204" pitchFamily="34" charset="0"/>
              <a:buChar char="•"/>
            </a:pPr>
            <a:r>
              <a:rPr lang="en-US" altLang="zh-CN" sz="2000" dirty="0"/>
              <a:t>Documentation and training for system administrators and operators. </a:t>
            </a:r>
            <a:endParaRPr lang="en-US" altLang="zh-CN" sz="2000" dirty="0"/>
          </a:p>
          <a:p>
            <a:pPr marL="800100" lvl="1" indent="-342900">
              <a:buFont typeface="Arial" panose="020B0604020202090204" pitchFamily="34" charset="0"/>
              <a:buChar char="•"/>
            </a:pPr>
            <a:r>
              <a:rPr lang="en-US" altLang="zh-CN" sz="2000" dirty="0"/>
              <a:t>Well organized source code for maintenance.</a:t>
            </a:r>
            <a:endParaRPr lang="en-US" altLang="zh-CN" sz="2000" dirty="0"/>
          </a:p>
          <a:p>
            <a:pPr marL="800100" lvl="1" indent="-342900">
              <a:buFont typeface="Arial" panose="020B0604020202090204" pitchFamily="34" charset="0"/>
              <a:buChar char="•"/>
            </a:pPr>
            <a:r>
              <a:rPr lang="en-US" altLang="zh-CN" sz="2000" dirty="0"/>
              <a:t>Maintenance and support contracts.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Delivery of Software</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8789" y="1540752"/>
            <a:ext cx="9550399"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Embedded system </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Acceptance</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Hardware and software developed together.</a:t>
            </a:r>
            <a:endParaRPr lang="en-US" altLang="zh-CN" sz="2000" dirty="0"/>
          </a:p>
          <a:p>
            <a:pPr marL="800100" lvl="1" indent="-342900">
              <a:buFont typeface="Arial" panose="020B0604020202090204" pitchFamily="34" charset="0"/>
              <a:buChar char="•"/>
            </a:pPr>
            <a:r>
              <a:rPr lang="en-US" altLang="zh-CN" sz="2000" dirty="0"/>
              <a:t>Acceptance tests are a combination.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Maintenance</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Bug fixes may require servicing the hardware.</a:t>
            </a:r>
            <a:endParaRPr lang="en-US" altLang="zh-CN" sz="2000" dirty="0"/>
          </a:p>
          <a:p>
            <a:pPr marL="800100" lvl="1" indent="-342900">
              <a:buFont typeface="Arial" panose="020B0604020202090204" pitchFamily="34" charset="0"/>
              <a:buChar char="•"/>
            </a:pPr>
            <a:r>
              <a:rPr lang="en-US" altLang="zh-CN" sz="2000" dirty="0"/>
              <a:t>Errors may be expensive or dangerous.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Support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Training for support personnel. </a:t>
            </a:r>
            <a:endParaRPr lang="en-US" altLang="zh-CN" sz="2000" dirty="0"/>
          </a:p>
          <a:p>
            <a:pPr marL="800100" lvl="1" indent="-342900">
              <a:buFont typeface="Arial" panose="020B0604020202090204" pitchFamily="34" charset="0"/>
              <a:buChar char="•"/>
            </a:pPr>
            <a:r>
              <a:rPr lang="en-US" altLang="zh-CN" sz="2000" dirty="0"/>
              <a:t>Documentation and training for users. </a:t>
            </a:r>
            <a:r>
              <a:rPr lang="en-US" altLang="zh-CN" sz="2000" b="1" dirty="0">
                <a:solidFill>
                  <a:srgbClr val="515223"/>
                </a:solidFill>
                <a:latin typeface="Helvetica" pitchFamily="2" charset="0"/>
                <a:cs typeface="Arial" panose="020B0604020202090204" pitchFamily="34" charset="0"/>
              </a:rPr>
              <a: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Training and Usability</a:t>
            </a:r>
            <a:endParaRPr lang="en-US" sz="595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 well-designed system needs less training: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good conceptual model </a:t>
            </a:r>
            <a:endParaRPr lang="en-US" altLang="zh-CN" sz="2000" dirty="0"/>
          </a:p>
          <a:p>
            <a:pPr marL="800100" lvl="1" indent="-342900">
              <a:buFont typeface="Arial" panose="020B0604020202090204" pitchFamily="34" charset="0"/>
              <a:buChar char="•"/>
            </a:pPr>
            <a:r>
              <a:rPr lang="en-US" altLang="zh-CN" sz="2000" dirty="0"/>
              <a:t>intuitive interfaces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Different skill levels need different types of training: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Skilled users work from the conceptual model.</a:t>
            </a:r>
            <a:endParaRPr lang="en-US" altLang="zh-CN" sz="2000" dirty="0"/>
          </a:p>
          <a:p>
            <a:pPr marL="800100" lvl="1" indent="-342900">
              <a:buFont typeface="Arial" panose="020B0604020202090204" pitchFamily="34" charset="0"/>
              <a:buChar char="•"/>
            </a:pPr>
            <a:r>
              <a:rPr lang="en-US" altLang="zh-CN" sz="2000" dirty="0"/>
              <a:t>Less-skilled users prefer cookbook sets of instructions.</a:t>
            </a:r>
            <a:endParaRPr lang="en-US" altLang="zh-CN" sz="2000" dirty="0"/>
          </a:p>
          <a:p>
            <a:pPr marL="800100" lvl="1" indent="-342900">
              <a:buFont typeface="Arial" panose="020B0604020202090204" pitchFamily="34" charset="0"/>
              <a:buChar char="•"/>
            </a:pPr>
            <a:r>
              <a:rPr lang="en-US" altLang="zh-CN" sz="2000" dirty="0"/>
              <a:t>Occasional users will forget complex details, but remember general structure.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Help Systems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Resources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A good help system is a major sub-project (time-consuming, expensive).</a:t>
            </a:r>
            <a:endParaRPr lang="en-US" altLang="zh-CN" sz="2000" dirty="0"/>
          </a:p>
          <a:p>
            <a:pPr marL="800100" lvl="1" indent="-342900">
              <a:buFont typeface="Arial" panose="020B0604020202090204" pitchFamily="34" charset="0"/>
              <a:buChar char="•"/>
            </a:pPr>
            <a:r>
              <a:rPr lang="en-US" altLang="zh-CN" sz="2000" dirty="0"/>
              <a:t>A good help system saves user time and support staff (time-saving, cost-saving).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Help system design</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Users need many routes to find information (index by many terms, examples, mini-tutorials, etc.).</a:t>
            </a:r>
            <a:endParaRPr lang="en-US" altLang="zh-CN" sz="2000" dirty="0"/>
          </a:p>
          <a:p>
            <a:pPr marL="800100" lvl="1" indent="-342900">
              <a:buFont typeface="Arial" panose="020B0604020202090204" pitchFamily="34" charset="0"/>
              <a:buChar char="•"/>
            </a:pPr>
            <a:r>
              <a:rPr lang="en-US" altLang="zh-CN" sz="2000" dirty="0"/>
              <a:t>Help systems need to be tested with real users.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Categories of Documentation</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426452"/>
            <a:ext cx="9550399" cy="4401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Software development</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Requirements, design</a:t>
            </a:r>
            <a:endParaRPr lang="en-US" altLang="zh-CN" sz="2000" dirty="0"/>
          </a:p>
          <a:p>
            <a:pPr marL="800100" lvl="1" indent="-342900">
              <a:buFont typeface="Arial" panose="020B0604020202090204" pitchFamily="34" charset="0"/>
              <a:buChar char="•"/>
            </a:pPr>
            <a:r>
              <a:rPr lang="en-US" altLang="zh-CN" sz="2000" dirty="0"/>
              <a:t>Source code, test plans and results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User</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Introductory (various audiences)</a:t>
            </a:r>
            <a:endParaRPr lang="en-US" altLang="zh-CN" sz="2000" dirty="0"/>
          </a:p>
          <a:p>
            <a:pPr marL="800100" lvl="1" indent="-342900">
              <a:buFont typeface="Arial" panose="020B0604020202090204" pitchFamily="34" charset="0"/>
              <a:buChar char="•"/>
            </a:pPr>
            <a:r>
              <a:rPr lang="en-US" altLang="zh-CN" sz="2000" dirty="0"/>
              <a:t>User manual</a:t>
            </a:r>
            <a:endParaRPr lang="en-US" altLang="zh-CN" sz="2000" dirty="0"/>
          </a:p>
          <a:p>
            <a:pPr marL="800100" lvl="1" indent="-342900">
              <a:buFont typeface="Arial" panose="020B0604020202090204" pitchFamily="34" charset="0"/>
              <a:buChar char="•"/>
            </a:pPr>
            <a:r>
              <a:rPr lang="en-US" altLang="zh-CN" sz="2000" dirty="0"/>
              <a:t>Web site of known problems, FAQ, etc.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System administrator and operator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System manuals </a:t>
            </a:r>
            <a:br>
              <a:rPr lang="en-US" altLang="zh-CN" sz="2000" dirty="0"/>
            </a:br>
            <a:endParaRPr lang="en-US" altLang="zh-CN" sz="2000" dirty="0"/>
          </a:p>
          <a:p>
            <a:r>
              <a:rPr lang="en-US" altLang="zh-CN" sz="2000" b="1" dirty="0">
                <a:solidFill>
                  <a:srgbClr val="515223"/>
                </a:solidFill>
                <a:latin typeface="Helvetica" pitchFamily="2" charset="0"/>
                <a:cs typeface="Arial" panose="020B0604020202090204" pitchFamily="34" charset="0"/>
              </a:rPr>
              <a:t>Business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License, contract, etc.</a:t>
            </a:r>
            <a:endParaRPr lang="en-US" altLang="zh-CN" sz="2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Installation Tools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2828532"/>
            <a:ext cx="9550399"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Creating installation scripts may be a major sub-project.</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Different scripts, tools, and procedures for different categories of software.</a:t>
            </a:r>
            <a:endParaRPr lang="en-US" altLang="zh-CN" sz="2000" dirty="0"/>
          </a:p>
          <a:p>
            <a:pPr marL="800100" lvl="1" indent="-342900">
              <a:buFont typeface="Arial" panose="020B0604020202090204" pitchFamily="34" charset="0"/>
              <a:buChar char="•"/>
            </a:pPr>
            <a:r>
              <a:rPr lang="en-US" altLang="zh-CN" sz="2000" dirty="0"/>
              <a:t>Testing must be extensive with real users in their own environment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Delivery: Maintenance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2752332"/>
            <a:ext cx="9550399"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Most production programs are maintained by people other than the programmers who originally wrote them.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What factors make a program easy for somebody else to maintain?</a:t>
            </a:r>
            <a:endParaRPr lang="en-US" altLang="zh-CN" sz="2000" dirty="0"/>
          </a:p>
          <a:p>
            <a:pPr marL="800100" lvl="1" indent="-342900">
              <a:buFont typeface="Arial" panose="020B0604020202090204" pitchFamily="34" charset="0"/>
              <a:buChar char="•"/>
            </a:pPr>
            <a:r>
              <a:rPr lang="en-US" altLang="zh-CN" sz="2000" dirty="0"/>
              <a:t>What factors make a program hard for somebody else to maintain?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theme/theme1.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38535</Words>
  <Application>WPS Slides</Application>
  <PresentationFormat>Widescreen</PresentationFormat>
  <Paragraphs>1396</Paragraphs>
  <Slides>113</Slides>
  <Notes>12</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113</vt:i4>
      </vt:variant>
    </vt:vector>
  </HeadingPairs>
  <TitlesOfParts>
    <vt:vector size="133" baseType="lpstr">
      <vt:lpstr>Arial</vt:lpstr>
      <vt:lpstr>宋体</vt:lpstr>
      <vt:lpstr>Wingdings</vt:lpstr>
      <vt:lpstr>Helvetica Regular</vt:lpstr>
      <vt:lpstr>微软雅黑</vt:lpstr>
      <vt:lpstr>汉仪旗黑</vt:lpstr>
      <vt:lpstr>Helvetica</vt:lpstr>
      <vt:lpstr>宋体</vt:lpstr>
      <vt:lpstr>Arial Unicode MS</vt:lpstr>
      <vt:lpstr>黑体</vt:lpstr>
      <vt:lpstr>汉仪中黑KW</vt:lpstr>
      <vt:lpstr>等线</vt:lpstr>
      <vt:lpstr>汉仪中等线KW</vt:lpstr>
      <vt:lpstr>Calibri</vt:lpstr>
      <vt:lpstr>Helvetica Neue</vt:lpstr>
      <vt:lpstr>微软雅黑</vt:lpstr>
      <vt:lpstr>汉仪书宋二KW</vt:lpstr>
      <vt:lpstr>Figtree</vt:lpstr>
      <vt:lpstr>Thonburi</vt:lpstr>
      <vt:lpstr>1_Office 主题​​</vt:lpstr>
      <vt:lpstr>PowerPoint 演示文稿</vt:lpstr>
      <vt:lpstr>Heads Up</vt:lpstr>
      <vt:lpstr>Heads Up</vt:lpstr>
      <vt:lpstr>Heads Up</vt:lpstr>
      <vt:lpstr>PowerPoint 演示文稿</vt:lpstr>
      <vt:lpstr>Bugs, Faults, and Failures</vt:lpstr>
      <vt:lpstr>Terminology</vt:lpstr>
      <vt:lpstr>Failure of Requirements</vt:lpstr>
      <vt:lpstr>Failures: A Case Study</vt:lpstr>
      <vt:lpstr>Case Study: Analysis</vt:lpstr>
      <vt:lpstr>Case Study: Software Lessons</vt:lpstr>
      <vt:lpstr>Key Factors for Reliable Software</vt:lpstr>
      <vt:lpstr>Building Dependable Systems: Organizational Culture</vt:lpstr>
      <vt:lpstr>Building Dependable Systems: Organizational Culture</vt:lpstr>
      <vt:lpstr>Building Reliable Software: Quality Management Processes</vt:lpstr>
      <vt:lpstr>Building Reliable Software: Quality Management Processes</vt:lpstr>
      <vt:lpstr>Building Reliable Software: Communication with the Client</vt:lpstr>
      <vt:lpstr>Building Reliable Software: Complexity</vt:lpstr>
      <vt:lpstr>Building Reliable Software: Change</vt:lpstr>
      <vt:lpstr>Building Reliable Software: Fault Tolerance</vt:lpstr>
      <vt:lpstr>Fault Tolerance: Recovery</vt:lpstr>
      <vt:lpstr>Building Reliable Software: Small Teams and Small Projects</vt:lpstr>
      <vt:lpstr>Reliability Metrics</vt:lpstr>
      <vt:lpstr>Reliability Metrics for Distributed Systems</vt:lpstr>
      <vt:lpstr>Metrics: User Perception of Reliability</vt:lpstr>
      <vt:lpstr>Reliability Metrics for Requirements</vt:lpstr>
      <vt:lpstr>Metrics: Cost of Improved Reliability</vt:lpstr>
      <vt:lpstr>Example: Central Computing System</vt:lpstr>
      <vt:lpstr>Example: Central Computing System</vt:lpstr>
      <vt:lpstr>Example: Central Computing System</vt:lpstr>
      <vt:lpstr>PowerPoint 演示文稿</vt:lpstr>
      <vt:lpstr>Building Reliable Systems: Two Principles</vt:lpstr>
      <vt:lpstr>Static and Dynamic Verification</vt:lpstr>
      <vt:lpstr>Static Verification: Reviews</vt:lpstr>
      <vt:lpstr>Reviews</vt:lpstr>
      <vt:lpstr>The Review Meeting</vt:lpstr>
      <vt:lpstr>Benefits of Reviews</vt:lpstr>
      <vt:lpstr>Successful Reviews</vt:lpstr>
      <vt:lpstr>Static Verification: Pair Design and Pair Programming</vt:lpstr>
      <vt:lpstr>Static Verification: Program Inspections</vt:lpstr>
      <vt:lpstr>Static Verification: Analysis Tools</vt:lpstr>
      <vt:lpstr>Static Analysis Tools (continued)</vt:lpstr>
      <vt:lpstr>Static Analysis Tools in Programming Toolkits </vt:lpstr>
      <vt:lpstr>Static Analysis Tools in Programming Toolkits </vt:lpstr>
      <vt:lpstr>Dynamic Verification</vt:lpstr>
      <vt:lpstr>Dynamic Verification</vt:lpstr>
      <vt:lpstr>Types of Software Testing </vt:lpstr>
      <vt:lpstr>Terminologies</vt:lpstr>
      <vt:lpstr>Terminologies</vt:lpstr>
      <vt:lpstr>Terminologies</vt:lpstr>
      <vt:lpstr>Unit Test Design</vt:lpstr>
      <vt:lpstr>Test Cases</vt:lpstr>
      <vt:lpstr>Statement Coverage</vt:lpstr>
      <vt:lpstr>Branch Coverage</vt:lpstr>
      <vt:lpstr>Path Coverage</vt:lpstr>
      <vt:lpstr>Fuzz Test</vt:lpstr>
      <vt:lpstr>Unit Test: A Java Example</vt:lpstr>
      <vt:lpstr>Unit Test: A Java Example</vt:lpstr>
      <vt:lpstr>Unit Test: A Java Example</vt:lpstr>
      <vt:lpstr>Unit Test: A Java Example</vt:lpstr>
      <vt:lpstr>Unit Test: A Java Example</vt:lpstr>
      <vt:lpstr>System and Integration Test</vt:lpstr>
      <vt:lpstr>Incremental Testing (e.g., Daily Testing)</vt:lpstr>
      <vt:lpstr>PowerPoint 演示文稿</vt:lpstr>
      <vt:lpstr>Incremental Testing: an Example</vt:lpstr>
      <vt:lpstr>PowerPoint 演示文稿</vt:lpstr>
      <vt:lpstr>Regression Test</vt:lpstr>
      <vt:lpstr>Regression Test</vt:lpstr>
      <vt:lpstr>Continuous Integration (CI)</vt:lpstr>
      <vt:lpstr>CI Decisions</vt:lpstr>
      <vt:lpstr>Automation, Speed, &amp; Infrastructure</vt:lpstr>
      <vt:lpstr>Non-Functional Test</vt:lpstr>
      <vt:lpstr>Performance Bug</vt:lpstr>
      <vt:lpstr>Performance Test</vt:lpstr>
      <vt:lpstr>Performance Test</vt:lpstr>
      <vt:lpstr>Performance Test</vt:lpstr>
      <vt:lpstr>Performance Test Challenges</vt:lpstr>
      <vt:lpstr>Amdahl's Law</vt:lpstr>
      <vt:lpstr>Profiling</vt:lpstr>
      <vt:lpstr>Profiling Tools</vt:lpstr>
      <vt:lpstr>Monitoring</vt:lpstr>
      <vt:lpstr>Latency vs. Throughput</vt:lpstr>
      <vt:lpstr>Documentation of Testing</vt:lpstr>
      <vt:lpstr>SQLite: An Example</vt:lpstr>
      <vt:lpstr>Fixing Bugs</vt:lpstr>
      <vt:lpstr>Moving the Bugs Around</vt:lpstr>
      <vt:lpstr>Difficult Bugs</vt:lpstr>
      <vt:lpstr>Tracking Down a Difficult Bugs: The Heisenbug </vt:lpstr>
      <vt:lpstr>Tracking Down a Difficult Bugs: The Heisenbug </vt:lpstr>
      <vt:lpstr>When Fixing a Bug Creates a Problem for Customers</vt:lpstr>
      <vt:lpstr>A Note on Testing User Interfaces</vt:lpstr>
      <vt:lpstr>PowerPoint 演示文稿</vt:lpstr>
      <vt:lpstr>Acceptance Testing</vt:lpstr>
      <vt:lpstr>Acceptance Testing in the Modified Waterfall Model</vt:lpstr>
      <vt:lpstr>Acceptance Testing with Iterative Development</vt:lpstr>
      <vt:lpstr>Acceptance Testing with Agile Development</vt:lpstr>
      <vt:lpstr>Resources for Acceptance Testing</vt:lpstr>
      <vt:lpstr>Acceptance Tests</vt:lpstr>
      <vt:lpstr>Techniques for Release</vt:lpstr>
      <vt:lpstr>Release: Parallel Testing</vt:lpstr>
      <vt:lpstr>Release: Alpha and Beta Testing</vt:lpstr>
      <vt:lpstr>Release: A/B Testing</vt:lpstr>
      <vt:lpstr>Delivery</vt:lpstr>
      <vt:lpstr>Delivering the System</vt:lpstr>
      <vt:lpstr>Delivering the System</vt:lpstr>
      <vt:lpstr>Delivery of Software</vt:lpstr>
      <vt:lpstr>Delivery of Software</vt:lpstr>
      <vt:lpstr>Delivery of Software</vt:lpstr>
      <vt:lpstr>Training and Usability</vt:lpstr>
      <vt:lpstr>Help Systems</vt:lpstr>
      <vt:lpstr>Categories of Documentation</vt:lpstr>
      <vt:lpstr>Installation Tools</vt:lpstr>
      <vt:lpstr>Delivery: Maintenance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子豪 任</dc:creator>
  <cp:lastModifiedBy>刘光迟</cp:lastModifiedBy>
  <cp:revision>1213</cp:revision>
  <dcterms:created xsi:type="dcterms:W3CDTF">2025-05-08T23:43:38Z</dcterms:created>
  <dcterms:modified xsi:type="dcterms:W3CDTF">2025-05-08T23:43:38Z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9712261CF69CBC6BC9CA1C68B0429F33_42</vt:lpwstr>
  </property>
  <property fmtid="{D5CDD505-2E9C-101B-9397-08002B2CF9AE}" pid="3" name="KSOProductBuildVer">
    <vt:lpwstr>1033-7.3.1.8967</vt:lpwstr>
  </property>
</Properties>
</file>